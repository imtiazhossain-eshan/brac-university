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296400"/>
  <p:embeddedFontLst>
    <p:embeddedFont>
      <p:font typeface="Calibri" panose="020F0502020204030204" pitchFamily="34" charset="0"/>
      <p:regular r:id="rId39"/>
      <p:bold r:id="rId40"/>
      <p:italic r:id="rId41"/>
      <p:boldItalic r:id="rId42"/>
    </p:embeddedFont>
    <p:embeddedFont>
      <p:font typeface="Candara" panose="020E0502030303020204" pitchFamily="34" charset="0"/>
      <p:regular r:id="rId43"/>
      <p:bold r:id="rId44"/>
      <p:italic r:id="rId45"/>
      <p:boldItalic r:id="rId46"/>
    </p:embeddedFont>
    <p:embeddedFont>
      <p:font typeface="Tahoma" panose="020B0604030504040204" pitchFamily="34"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888">
          <p15:clr>
            <a:srgbClr val="A4A3A4"/>
          </p15:clr>
        </p15:guide>
        <p15:guide id="2" pos="288">
          <p15:clr>
            <a:srgbClr val="A4A3A4"/>
          </p15:clr>
        </p15:guide>
      </p15:sldGuideLst>
    </p:ext>
    <p:ext uri="{2D200454-40CA-4A62-9FC3-DE9A4176ACB9}">
      <p15:notesGuideLst xmlns:p15="http://schemas.microsoft.com/office/powerpoint/2012/main">
        <p15:guide id="1" orient="horz" pos="4880">
          <p15:clr>
            <a:srgbClr val="A4A3A4"/>
          </p15:clr>
        </p15:guide>
        <p15:guide id="2" pos="576">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GwcjZPAGwBVRJjRzcxt7NcPD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1640" y="60"/>
      </p:cViewPr>
      <p:guideLst>
        <p:guide orient="horz" pos="3888"/>
        <p:guide pos="288"/>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4880"/>
        <p:guide pos="57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648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6482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30"/>
              </a:spcBef>
              <a:spcAft>
                <a:spcPts val="0"/>
              </a:spcAft>
              <a:buSzPts val="1400"/>
              <a:buNone/>
              <a:defRPr sz="1100" b="0" i="0" u="none" strike="noStrike" cap="none">
                <a:solidFill>
                  <a:schemeClr val="dk1"/>
                </a:solidFill>
                <a:latin typeface="Candara"/>
                <a:ea typeface="Candara"/>
                <a:cs typeface="Candara"/>
                <a:sym typeface="Candara"/>
              </a:defRPr>
            </a:lvl1pPr>
            <a:lvl2pPr marL="914400" marR="0" lvl="1" indent="-228600" algn="l" rtl="0">
              <a:spcBef>
                <a:spcPts val="330"/>
              </a:spcBef>
              <a:spcAft>
                <a:spcPts val="0"/>
              </a:spcAft>
              <a:buSzPts val="1400"/>
              <a:buNone/>
              <a:defRPr sz="1100" b="0" i="0" u="none" strike="noStrike" cap="none">
                <a:solidFill>
                  <a:schemeClr val="dk1"/>
                </a:solidFill>
                <a:latin typeface="Candara"/>
                <a:ea typeface="Candara"/>
                <a:cs typeface="Candara"/>
                <a:sym typeface="Candara"/>
              </a:defRPr>
            </a:lvl2pPr>
            <a:lvl3pPr marL="1371600" marR="0" lvl="2" indent="-228600" algn="l" rtl="0">
              <a:spcBef>
                <a:spcPts val="330"/>
              </a:spcBef>
              <a:spcAft>
                <a:spcPts val="0"/>
              </a:spcAft>
              <a:buSzPts val="1400"/>
              <a:buNone/>
              <a:defRPr sz="1100" b="0" i="0" u="none" strike="noStrike" cap="none">
                <a:solidFill>
                  <a:schemeClr val="dk1"/>
                </a:solidFill>
                <a:latin typeface="Candara"/>
                <a:ea typeface="Candara"/>
                <a:cs typeface="Candara"/>
                <a:sym typeface="Candara"/>
              </a:defRPr>
            </a:lvl3pPr>
            <a:lvl4pPr marL="1828800" marR="0" lvl="3" indent="-228600" algn="l" rtl="0">
              <a:spcBef>
                <a:spcPts val="330"/>
              </a:spcBef>
              <a:spcAft>
                <a:spcPts val="0"/>
              </a:spcAft>
              <a:buSzPts val="1400"/>
              <a:buNone/>
              <a:defRPr sz="1100" b="0" i="0" u="none" strike="noStrike" cap="none">
                <a:solidFill>
                  <a:schemeClr val="dk1"/>
                </a:solidFill>
                <a:latin typeface="Candara"/>
                <a:ea typeface="Candara"/>
                <a:cs typeface="Candara"/>
                <a:sym typeface="Candara"/>
              </a:defRPr>
            </a:lvl4pPr>
            <a:lvl5pPr marL="2286000" marR="0" lvl="4" indent="-228600" algn="l" rtl="0">
              <a:spcBef>
                <a:spcPts val="330"/>
              </a:spcBef>
              <a:spcAft>
                <a:spcPts val="0"/>
              </a:spcAft>
              <a:buSzPts val="1400"/>
              <a:buNone/>
              <a:defRPr sz="1100" b="0" i="0" u="none" strike="noStrike" cap="none">
                <a:solidFill>
                  <a:schemeClr val="dk1"/>
                </a:solidFill>
                <a:latin typeface="Candara"/>
                <a:ea typeface="Candara"/>
                <a:cs typeface="Candara"/>
                <a:sym typeface="Candara"/>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1580"/>
            <a:ext cx="2971800" cy="46482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dk1"/>
                </a:solidFill>
                <a:latin typeface="Candara"/>
                <a:ea typeface="Candara"/>
                <a:cs typeface="Candara"/>
                <a:sym typeface="Candara"/>
              </a:rPr>
              <a:t>‹#›</a:t>
            </a:fld>
            <a:endParaRPr sz="1100" b="0" i="0" u="none" strike="noStrike" cap="none">
              <a:solidFill>
                <a:schemeClr val="dk1"/>
              </a:solidFill>
              <a:latin typeface="Candara"/>
              <a:ea typeface="Candara"/>
              <a:cs typeface="Candara"/>
              <a:sym typeface="Candara"/>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4" name="Google Shape;74;p1: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1: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1" name="Google Shape;81;p2: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2: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9" name="Google Shape;89;p3: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0" name="Google Shape;90;p3: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9" name="Google Shape;99;p4: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0" name="Google Shape;100;p4: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9" name="Google Shape;109;p5: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a:solidFill>
                  <a:schemeClr val="dk1"/>
                </a:solidFill>
              </a:rPr>
              <a:t>Whether you’re convincing your boss to open a new office in Europe or encouraging potential customers to try your products, you’ll use many of the same techniques of </a:t>
            </a:r>
            <a:r>
              <a:rPr lang="en-US" b="1">
                <a:solidFill>
                  <a:schemeClr val="dk1"/>
                </a:solidFill>
              </a:rPr>
              <a:t>persuasion</a:t>
            </a:r>
            <a:r>
              <a:rPr lang="en-US">
                <a:solidFill>
                  <a:schemeClr val="dk1"/>
                </a:solidFill>
              </a:rPr>
              <a:t>—the attempt to change an audience’s attitudes, beliefs, or actions. Successful professionals understand that persuasion is not about trickery or getting people to act against their own best interests; it’s about letting audiences know they have choices and presenting your offering in the best possible light.</a:t>
            </a:r>
            <a:endParaRPr/>
          </a:p>
          <a:p>
            <a:pPr marL="0" lvl="0" indent="0" algn="l" rtl="0">
              <a:spcBef>
                <a:spcPts val="330"/>
              </a:spcBef>
              <a:spcAft>
                <a:spcPts val="0"/>
              </a:spcAft>
              <a:buNone/>
            </a:pPr>
            <a:endParaRPr/>
          </a:p>
        </p:txBody>
      </p:sp>
      <p:sp>
        <p:nvSpPr>
          <p:cNvPr id="110" name="Google Shape;110;p5: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118" name="Google Shape;118;p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19" name="Google Shape;119;p6:notes"/>
          <p:cNvSpPr txBox="1">
            <a:spLocks noGrp="1"/>
          </p:cNvSpPr>
          <p:nvPr>
            <p:ph type="body" idx="1"/>
          </p:nvPr>
        </p:nvSpPr>
        <p:spPr>
          <a:xfrm>
            <a:off x="914400" y="4415790"/>
            <a:ext cx="5029200" cy="4183380"/>
          </a:xfrm>
          <a:prstGeom prst="rect">
            <a:avLst/>
          </a:prstGeom>
          <a:solidFill>
            <a:srgbClr val="FFFFFF"/>
          </a:solid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chemeClr val="dk1"/>
                </a:solidFill>
              </a:rPr>
              <a:t>In today’s business environment, having a great idea or a great product is no longer enough. Every day, untold numbers of good ideas go unnoticed and good products go unsold, simply because the messages meant to promote them aren’t compelling enough to be heard above the competitive noise.</a:t>
            </a:r>
            <a:endParaRPr/>
          </a:p>
          <a:p>
            <a:pPr marL="0" lvl="0" indent="0" algn="l" rtl="0">
              <a:spcBef>
                <a:spcPts val="330"/>
              </a:spcBef>
              <a:spcAft>
                <a:spcPts val="0"/>
              </a:spcAft>
              <a:buNone/>
            </a:pPr>
            <a:r>
              <a:rPr lang="en-US"/>
              <a:t>Creating successful persuasive messages demands careful attention to all four tasks in the planning step, starting with an insightful analysis of your purpose and your audience. </a:t>
            </a:r>
            <a:endParaRPr/>
          </a:p>
          <a:p>
            <a:pPr marL="0" lvl="0" indent="0" algn="l" rtl="0">
              <a:spcBef>
                <a:spcPts val="330"/>
              </a:spcBef>
              <a:spcAft>
                <a:spcPts val="0"/>
              </a:spcAft>
              <a:buNone/>
            </a:pPr>
            <a:endParaRPr/>
          </a:p>
          <a:p>
            <a:pPr marL="0" lvl="0" indent="0" algn="l" rtl="0">
              <a:spcBef>
                <a:spcPts val="330"/>
              </a:spcBef>
              <a:spcAft>
                <a:spcPts val="0"/>
              </a:spcAft>
              <a:buNone/>
            </a:pPr>
            <a:endParaRPr/>
          </a:p>
          <a:p>
            <a:pPr marL="0" lvl="0" indent="0" algn="l" rtl="0">
              <a:spcBef>
                <a:spcPts val="330"/>
              </a:spcBef>
              <a:spcAft>
                <a:spcPts val="0"/>
              </a:spcAft>
              <a:buNone/>
            </a:pPr>
            <a:endParaRPr/>
          </a:p>
          <a:p>
            <a:pPr marL="0" lvl="0" indent="0" algn="l" rtl="0">
              <a:spcBef>
                <a:spcPts val="33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7: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dirty="0"/>
              <a:t>A clear purpose is important in every message, but it is even more important in persuasive messages because you are asking the audience to do something. In defining your purpose, make sure you’re clear about what you really hope to achieve. </a:t>
            </a:r>
            <a:endParaRPr dirty="0"/>
          </a:p>
          <a:p>
            <a:pPr marL="0" marR="0" lvl="0" indent="0" algn="l" rtl="0">
              <a:lnSpc>
                <a:spcPct val="100000"/>
              </a:lnSpc>
              <a:spcBef>
                <a:spcPts val="330"/>
              </a:spcBef>
              <a:spcAft>
                <a:spcPts val="0"/>
              </a:spcAft>
              <a:buClr>
                <a:schemeClr val="dk1"/>
              </a:buClr>
              <a:buSzPts val="1100"/>
              <a:buFont typeface="Candara"/>
              <a:buNone/>
            </a:pPr>
            <a:r>
              <a:rPr lang="en-US" dirty="0"/>
              <a:t>The best persuasive messages are closely connected to your audience’s desires and interests. To understand and categorize audience needs, you can refer to specific information such as </a:t>
            </a:r>
            <a:r>
              <a:rPr lang="en-US" b="1" dirty="0"/>
              <a:t>demographics</a:t>
            </a:r>
            <a:r>
              <a:rPr lang="en-US" dirty="0"/>
              <a:t> (age, gender, occupation, income, education, and other quantifiable characteristics) and </a:t>
            </a:r>
            <a:r>
              <a:rPr lang="en-US" b="1" dirty="0"/>
              <a:t>psychographics</a:t>
            </a:r>
            <a:r>
              <a:rPr lang="en-US" dirty="0"/>
              <a:t> (personality, attitudes, lifestyle, and other psychological characteristics). Both types of information are strongly influenced by culture.</a:t>
            </a:r>
            <a:endParaRPr dirty="0"/>
          </a:p>
          <a:p>
            <a:pPr marL="0" lvl="0" indent="0" algn="l" rtl="0">
              <a:spcBef>
                <a:spcPts val="330"/>
              </a:spcBef>
              <a:spcAft>
                <a:spcPts val="0"/>
              </a:spcAft>
              <a:buNone/>
            </a:pPr>
            <a:r>
              <a:rPr lang="en-US" dirty="0"/>
              <a:t>If you aim to change someone’s attitudes, beliefs, or actions, you must understand his or her </a:t>
            </a:r>
            <a:r>
              <a:rPr lang="en-US" b="1" dirty="0"/>
              <a:t>motivation</a:t>
            </a:r>
            <a:r>
              <a:rPr lang="en-US" dirty="0"/>
              <a:t>—the combination of forces that drive people to satisfy their needs. The more closely a persuasive message aligns with a recipient’s existing motivation, the more effective the message is likely to be. </a:t>
            </a:r>
            <a:endParaRPr dirty="0"/>
          </a:p>
          <a:p>
            <a:pPr marL="0" lvl="0" indent="0" algn="l" rtl="0">
              <a:spcBef>
                <a:spcPts val="330"/>
              </a:spcBef>
              <a:spcAft>
                <a:spcPts val="0"/>
              </a:spcAft>
              <a:buNone/>
            </a:pPr>
            <a:endParaRPr dirty="0"/>
          </a:p>
        </p:txBody>
      </p:sp>
      <p:sp>
        <p:nvSpPr>
          <p:cNvPr id="132" name="Google Shape;132;p7: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8" name="Google Shape;148;p8: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dirty="0">
                <a:solidFill>
                  <a:schemeClr val="dk1"/>
                </a:solidFill>
              </a:rPr>
              <a:t>Once your situation analysis is complete, you need to gather the information necessary to create a compelling persuasive message. You’ll learn more about the types of information to include for persuasive </a:t>
            </a:r>
            <a:r>
              <a:rPr lang="en-US" i="1" dirty="0">
                <a:solidFill>
                  <a:schemeClr val="dk1"/>
                </a:solidFill>
              </a:rPr>
              <a:t>business messages </a:t>
            </a:r>
            <a:r>
              <a:rPr lang="en-US" dirty="0">
                <a:solidFill>
                  <a:schemeClr val="dk1"/>
                </a:solidFill>
              </a:rPr>
              <a:t>and </a:t>
            </a:r>
            <a:r>
              <a:rPr lang="en-US" i="1" dirty="0">
                <a:solidFill>
                  <a:schemeClr val="dk1"/>
                </a:solidFill>
              </a:rPr>
              <a:t>marketing and sales messages </a:t>
            </a:r>
            <a:r>
              <a:rPr lang="en-US" dirty="0">
                <a:solidFill>
                  <a:schemeClr val="dk1"/>
                </a:solidFill>
              </a:rPr>
              <a:t>later in this chapter. </a:t>
            </a:r>
            <a:r>
              <a:rPr lang="en-US" sz="1100" dirty="0">
                <a:solidFill>
                  <a:schemeClr val="dk1"/>
                </a:solidFill>
                <a:latin typeface="Candara"/>
                <a:ea typeface="Candara"/>
                <a:cs typeface="Candara"/>
                <a:sym typeface="Candara"/>
              </a:rPr>
              <a:t>Chapter 11 presents advice on how to find the information you need.</a:t>
            </a:r>
            <a:endParaRPr dirty="0"/>
          </a:p>
          <a:p>
            <a:pPr marL="0" lvl="0" indent="0" algn="l" rtl="0">
              <a:spcBef>
                <a:spcPts val="330"/>
              </a:spcBef>
              <a:spcAft>
                <a:spcPts val="0"/>
              </a:spcAft>
              <a:buNone/>
            </a:pPr>
            <a:endParaRPr dirty="0"/>
          </a:p>
        </p:txBody>
      </p:sp>
      <p:sp>
        <p:nvSpPr>
          <p:cNvPr id="149" name="Google Shape;149;p8: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4" name="Google Shape;164;p9: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a:solidFill>
                  <a:schemeClr val="dk1"/>
                </a:solidFill>
                <a:latin typeface="Candara"/>
                <a:ea typeface="Candara"/>
                <a:cs typeface="Candara"/>
                <a:sym typeface="Candara"/>
              </a:rPr>
              <a:t>Media and channel choices are always important, of course, but these decisions are particularly sensitive with persuasive messages because such messages are often unexpected or even unwelcome. For instance, some people don’t mind promotional email messages for products they’re interested in; others resent every piece of commercial email they receive. </a:t>
            </a:r>
            <a:endParaRPr/>
          </a:p>
          <a:p>
            <a:pPr marL="0" lvl="0" indent="0" algn="l" rtl="0">
              <a:spcBef>
                <a:spcPts val="330"/>
              </a:spcBef>
              <a:spcAft>
                <a:spcPts val="0"/>
              </a:spcAft>
              <a:buNone/>
            </a:pPr>
            <a:r>
              <a:rPr lang="en-US" sz="1100">
                <a:solidFill>
                  <a:schemeClr val="dk1"/>
                </a:solidFill>
                <a:latin typeface="Candara"/>
                <a:ea typeface="Candara"/>
                <a:cs typeface="Candara"/>
                <a:sym typeface="Candara"/>
              </a:rPr>
              <a:t>Persuasive messages can be found in virtually every communication medium, from instant messages and podcasts to radio advertisements and skywriting. In fact, advertising agencies employ media specialists whose only jobs are to analyze the media options available and select the most cost-effective combination for each client and each advertising campaign.</a:t>
            </a:r>
            <a:endParaRPr/>
          </a:p>
        </p:txBody>
      </p:sp>
      <p:sp>
        <p:nvSpPr>
          <p:cNvPr id="165" name="Google Shape;165;p9: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79" name="Google Shape;179;p10: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nature of persuasion is to convince your audience to change their attitudes, beliefs, or actions, so most persuasive messages use an indirect approach. In contrast, when you have a close relationship with your audience, and the message is welcome or neutral, a direct approach can be effective. </a:t>
            </a:r>
            <a:endParaRPr/>
          </a:p>
          <a:p>
            <a:pPr marL="0" lvl="0" indent="0" algn="l" rtl="0">
              <a:spcBef>
                <a:spcPts val="330"/>
              </a:spcBef>
              <a:spcAft>
                <a:spcPts val="0"/>
              </a:spcAft>
              <a:buNone/>
            </a:pPr>
            <a:r>
              <a:rPr lang="en-US"/>
              <a:t>Your choice between the direct and indirect approaches is also influenced by the extent of your authority, expertise, or power in an organization. Think carefully about your corporate culture and what your audience expects before selecting your approach.</a:t>
            </a:r>
            <a:endParaRPr/>
          </a:p>
          <a:p>
            <a:pPr marL="0" lvl="0" indent="0" algn="l" rtl="0">
              <a:spcBef>
                <a:spcPts val="330"/>
              </a:spcBef>
              <a:spcAft>
                <a:spcPts val="0"/>
              </a:spcAft>
              <a:buNone/>
            </a:pPr>
            <a:endParaRPr/>
          </a:p>
        </p:txBody>
      </p:sp>
      <p:sp>
        <p:nvSpPr>
          <p:cNvPr id="180" name="Google Shape;180;p10: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1: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191" name="Google Shape;191;p1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1: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Arial"/>
                <a:ea typeface="Arial"/>
                <a:cs typeface="Arial"/>
                <a:sym typeface="Arial"/>
              </a:rPr>
              <a:t>The generally uninvited and occasionally even unwelcome nature of persuasive messages means the "you" attitude is more critical than ever. Most people won't even pay attention to your message, much less respond to it, if it isn’t about them. You can encourage a more welcome reception by doing the following:</a:t>
            </a:r>
            <a:endParaRPr sz="1200">
              <a:latin typeface="Arial"/>
              <a:ea typeface="Arial"/>
              <a:cs typeface="Arial"/>
              <a:sym typeface="Arial"/>
            </a:endParaRPr>
          </a:p>
          <a:p>
            <a:pPr marL="0" lvl="0" indent="0" algn="l" rtl="0">
              <a:spcBef>
                <a:spcPts val="330"/>
              </a:spcBef>
              <a:spcAft>
                <a:spcPts val="0"/>
              </a:spcAft>
              <a:buNone/>
            </a:pPr>
            <a:r>
              <a:rPr lang="en-US" sz="1200" b="1">
                <a:latin typeface="Arial"/>
                <a:ea typeface="Arial"/>
                <a:cs typeface="Arial"/>
                <a:sym typeface="Arial"/>
              </a:rPr>
              <a:t>Using positive and polite language.</a:t>
            </a:r>
            <a:r>
              <a:rPr lang="en-US" sz="1200">
                <a:latin typeface="Arial"/>
                <a:ea typeface="Arial"/>
                <a:cs typeface="Arial"/>
                <a:sym typeface="Arial"/>
              </a:rPr>
              <a:t> Positive language usually happens naturally with persuasive messages because you are promoting an idea or a product you believe in. </a:t>
            </a:r>
            <a:endParaRPr sz="1200">
              <a:latin typeface="Arial"/>
              <a:ea typeface="Arial"/>
              <a:cs typeface="Arial"/>
              <a:sym typeface="Arial"/>
            </a:endParaRPr>
          </a:p>
          <a:p>
            <a:pPr marL="0" lvl="0" indent="0" algn="l" rtl="0">
              <a:spcBef>
                <a:spcPts val="330"/>
              </a:spcBef>
              <a:spcAft>
                <a:spcPts val="0"/>
              </a:spcAft>
              <a:buNone/>
            </a:pPr>
            <a:r>
              <a:rPr lang="en-US" sz="1200" b="1">
                <a:latin typeface="Arial"/>
                <a:ea typeface="Arial"/>
                <a:cs typeface="Arial"/>
                <a:sym typeface="Arial"/>
              </a:rPr>
              <a:t>Understanding and respecting cultural differences</a:t>
            </a:r>
            <a:r>
              <a:rPr lang="en-US" sz="1200">
                <a:latin typeface="Arial"/>
                <a:ea typeface="Arial"/>
                <a:cs typeface="Arial"/>
                <a:sym typeface="Arial"/>
              </a:rPr>
              <a:t>. Be sure to understand cultural expectations. For example, a message that seems forthright and direct in a low-context culture might seem brash and intrusive in a high-context culture. Your understanding and respect for cultural differences will help you satisfy the needs of your audience and will help your audience respect you. That’s because persuasion is different in different cultures. In France, using an aggressive, hard-sell technique is no way to win respect. Such an approach would probably antagonize your audience. In Germany, where people tend to focus on technical matters, plan on verifying any figures you use for support, and make sure they are exact. In Sweden, audiences tend to focus on theoretical questions and strategic implications, whereas U.S. audiences are usually concerned with more practical matters.</a:t>
            </a:r>
            <a:endParaRPr sz="1200">
              <a:latin typeface="Arial"/>
              <a:ea typeface="Arial"/>
              <a:cs typeface="Arial"/>
              <a:sym typeface="Arial"/>
            </a:endParaRPr>
          </a:p>
          <a:p>
            <a:pPr marL="0" lvl="0" indent="0" algn="l" rtl="0">
              <a:spcBef>
                <a:spcPts val="330"/>
              </a:spcBef>
              <a:spcAft>
                <a:spcPts val="0"/>
              </a:spcAft>
              <a:buNone/>
            </a:pPr>
            <a:r>
              <a:rPr lang="en-US" sz="1200" b="1">
                <a:latin typeface="Arial"/>
                <a:ea typeface="Arial"/>
                <a:cs typeface="Arial"/>
                <a:sym typeface="Arial"/>
              </a:rPr>
              <a:t>Being sensitive to organizational cultures</a:t>
            </a:r>
            <a:r>
              <a:rPr lang="en-US" sz="1200">
                <a:latin typeface="Arial"/>
                <a:ea typeface="Arial"/>
                <a:cs typeface="Arial"/>
                <a:sym typeface="Arial"/>
              </a:rPr>
              <a:t>. Just as social culture affects the success of a persuasive message, so too does the culture within various organizations. Some organizations handle disagreement and conflict in an indirect, behind-the-scenes way, whereas others accept and even encourage open discussion and sharing of differing viewpoints.</a:t>
            </a:r>
            <a:endParaRPr sz="12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200">
                <a:latin typeface="Arial"/>
                <a:ea typeface="Arial"/>
                <a:cs typeface="Arial"/>
                <a:sym typeface="Arial"/>
              </a:rPr>
              <a:t>As with individuals, an organization's culture or subculture heavily influences the effectiveness of messages. All the previous messages in an organization have established a tradition that defines persuasive writing within that culture. When you accept and use these traditions, you establish one type of common ground with your audience. If you reject or never learn these traditions, you'll have difficulty achieving that common ground, which damages both your credibility and your persuasion attempts.</a:t>
            </a:r>
            <a:endParaRPr sz="1200">
              <a:latin typeface="Arial"/>
              <a:ea typeface="Arial"/>
              <a:cs typeface="Arial"/>
              <a:sym typeface="Arial"/>
            </a:endParaRPr>
          </a:p>
          <a:p>
            <a:pPr marL="0" lvl="0" indent="0" algn="l" rtl="0">
              <a:spcBef>
                <a:spcPts val="330"/>
              </a:spcBef>
              <a:spcAft>
                <a:spcPts val="0"/>
              </a:spcAft>
              <a:buNone/>
            </a:pPr>
            <a:r>
              <a:rPr lang="en-US" sz="1200" b="1">
                <a:latin typeface="Arial"/>
                <a:ea typeface="Arial"/>
                <a:cs typeface="Arial"/>
                <a:sym typeface="Arial"/>
              </a:rPr>
              <a:t>Taking steps to establish your credibility</a:t>
            </a:r>
            <a:r>
              <a:rPr lang="en-US" sz="1200">
                <a:latin typeface="Arial"/>
                <a:ea typeface="Arial"/>
                <a:cs typeface="Arial"/>
                <a:sym typeface="Arial"/>
              </a:rPr>
              <a:t>. You can boost your credibility by using simple language, providing objective evidence, identifying your sources, finding common ground, being fair and logical, and showing that you have your audience’s best interests at heart. </a:t>
            </a:r>
            <a:endParaRPr sz="1200">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4" name="Google Shape;204;p12: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Finally, when you are trying to persuade a skeptical or hostile audience, credibility is essential. Use these techniques:</a:t>
            </a:r>
            <a:endParaRPr dirty="0"/>
          </a:p>
          <a:p>
            <a:pPr marL="171450" lvl="0" indent="-171450" algn="l" rtl="0">
              <a:spcBef>
                <a:spcPts val="330"/>
              </a:spcBef>
              <a:spcAft>
                <a:spcPts val="0"/>
              </a:spcAft>
              <a:buClr>
                <a:schemeClr val="dk1"/>
              </a:buClr>
              <a:buSzPts val="1100"/>
              <a:buFont typeface="Arial"/>
              <a:buChar char="•"/>
            </a:pPr>
            <a:r>
              <a:rPr lang="en-US" dirty="0"/>
              <a:t>Use simple language to avoid suspicions of fantastic claims and emotional manipulation.</a:t>
            </a:r>
            <a:endParaRPr dirty="0"/>
          </a:p>
          <a:p>
            <a:pPr marL="171450" lvl="0" indent="-171450" algn="l" rtl="0">
              <a:spcBef>
                <a:spcPts val="330"/>
              </a:spcBef>
              <a:spcAft>
                <a:spcPts val="0"/>
              </a:spcAft>
              <a:buClr>
                <a:schemeClr val="dk1"/>
              </a:buClr>
              <a:buSzPts val="1100"/>
              <a:buFont typeface="Arial"/>
              <a:buChar char="•"/>
            </a:pPr>
            <a:r>
              <a:rPr lang="en-US" dirty="0"/>
              <a:t>Provide objective evidence for the claims and promises you make.</a:t>
            </a:r>
            <a:endParaRPr dirty="0"/>
          </a:p>
          <a:p>
            <a:pPr marL="171450" lvl="0" indent="-171450" algn="l" rtl="0">
              <a:spcBef>
                <a:spcPts val="330"/>
              </a:spcBef>
              <a:spcAft>
                <a:spcPts val="0"/>
              </a:spcAft>
              <a:buClr>
                <a:schemeClr val="dk1"/>
              </a:buClr>
              <a:buSzPts val="1100"/>
              <a:buFont typeface="Arial"/>
              <a:buChar char="•"/>
            </a:pPr>
            <a:r>
              <a:rPr lang="en-US" dirty="0"/>
              <a:t>Identify your sources, especially if your audience already respects those sources. Examples: experts. celebrity endorsers</a:t>
            </a:r>
            <a:endParaRPr dirty="0"/>
          </a:p>
          <a:p>
            <a:pPr marL="171450" lvl="0" indent="-171450" algn="l" rtl="0">
              <a:spcBef>
                <a:spcPts val="330"/>
              </a:spcBef>
              <a:spcAft>
                <a:spcPts val="0"/>
              </a:spcAft>
              <a:buClr>
                <a:schemeClr val="dk1"/>
              </a:buClr>
              <a:buSzPts val="1100"/>
              <a:buFont typeface="Arial"/>
              <a:buChar char="•"/>
            </a:pPr>
            <a:r>
              <a:rPr lang="en-US" dirty="0"/>
              <a:t>Establish common ground by emphasizing beliefs, attitudes, and background experiences you have in common with the audience.</a:t>
            </a:r>
            <a:endParaRPr dirty="0"/>
          </a:p>
          <a:p>
            <a:pPr marL="171450" lvl="0" indent="-171450" algn="l" rtl="0">
              <a:spcBef>
                <a:spcPts val="330"/>
              </a:spcBef>
              <a:spcAft>
                <a:spcPts val="0"/>
              </a:spcAft>
              <a:buClr>
                <a:schemeClr val="dk1"/>
              </a:buClr>
              <a:buSzPts val="1100"/>
              <a:buFont typeface="Arial"/>
              <a:buChar char="•"/>
            </a:pPr>
            <a:r>
              <a:rPr lang="en-US" dirty="0"/>
              <a:t>Be objective and present fair and logical arguments.</a:t>
            </a:r>
            <a:endParaRPr dirty="0"/>
          </a:p>
          <a:p>
            <a:pPr marL="171450" lvl="0" indent="-171450" algn="l" rtl="0">
              <a:spcBef>
                <a:spcPts val="330"/>
              </a:spcBef>
              <a:spcAft>
                <a:spcPts val="0"/>
              </a:spcAft>
              <a:buClr>
                <a:schemeClr val="dk1"/>
              </a:buClr>
              <a:buSzPts val="1100"/>
              <a:buFont typeface="Arial"/>
              <a:buChar char="•"/>
            </a:pPr>
            <a:r>
              <a:rPr lang="en-US" dirty="0"/>
              <a:t>Display your willingness to keep your audience’s best interests at heart.</a:t>
            </a:r>
            <a:endParaRPr dirty="0"/>
          </a:p>
          <a:p>
            <a:pPr marL="171450" lvl="0" indent="-171450" algn="l" rtl="0">
              <a:spcBef>
                <a:spcPts val="330"/>
              </a:spcBef>
              <a:spcAft>
                <a:spcPts val="0"/>
              </a:spcAft>
              <a:buClr>
                <a:schemeClr val="dk1"/>
              </a:buClr>
              <a:buSzPts val="1100"/>
              <a:buFont typeface="Arial"/>
              <a:buChar char="•"/>
            </a:pPr>
            <a:r>
              <a:rPr lang="en-US" dirty="0"/>
              <a:t>Persuade with logic, evidence, and compelling narratives, rather than trying to coerce with high-pressure, “hard sell” tactics.</a:t>
            </a:r>
            <a:endParaRPr dirty="0"/>
          </a:p>
          <a:p>
            <a:pPr marL="171450" lvl="0" indent="-171450" algn="l" rtl="0">
              <a:spcBef>
                <a:spcPts val="330"/>
              </a:spcBef>
              <a:spcAft>
                <a:spcPts val="0"/>
              </a:spcAft>
              <a:buClr>
                <a:schemeClr val="dk1"/>
              </a:buClr>
              <a:buSzPts val="1100"/>
              <a:buFont typeface="Arial"/>
              <a:buChar char="•"/>
            </a:pPr>
            <a:r>
              <a:rPr lang="en-US" dirty="0"/>
              <a:t>Whenever possible, try to build your credibility before you present a major proposal or ask for a major decision. That way, audiences don’t have to evaluate both you and your message at the same time.</a:t>
            </a:r>
            <a:endParaRPr dirty="0"/>
          </a:p>
          <a:p>
            <a:pPr marL="171450" lvl="0" indent="-101600" algn="l" rtl="0">
              <a:spcBef>
                <a:spcPts val="330"/>
              </a:spcBef>
              <a:spcAft>
                <a:spcPts val="0"/>
              </a:spcAft>
              <a:buClr>
                <a:schemeClr val="dk1"/>
              </a:buClr>
              <a:buSzPts val="1100"/>
              <a:buFont typeface="Arial"/>
              <a:buNone/>
            </a:pPr>
            <a:endParaRPr dirty="0"/>
          </a:p>
          <a:p>
            <a:pPr marL="171450" lvl="0" indent="-101600" algn="l" rtl="0">
              <a:spcBef>
                <a:spcPts val="330"/>
              </a:spcBef>
              <a:spcAft>
                <a:spcPts val="0"/>
              </a:spcAft>
              <a:buClr>
                <a:schemeClr val="dk1"/>
              </a:buClr>
              <a:buSzPts val="1100"/>
              <a:buFont typeface="Arial"/>
              <a:buNone/>
            </a:pPr>
            <a:endParaRPr dirty="0"/>
          </a:p>
          <a:p>
            <a:pPr marL="171450" lvl="0" indent="-101600" algn="l" rtl="0">
              <a:spcBef>
                <a:spcPts val="330"/>
              </a:spcBef>
              <a:spcAft>
                <a:spcPts val="0"/>
              </a:spcAft>
              <a:buClr>
                <a:schemeClr val="dk1"/>
              </a:buClr>
              <a:buSzPts val="1100"/>
              <a:buFont typeface="Arial"/>
              <a:buNone/>
            </a:pPr>
            <a:endParaRPr dirty="0"/>
          </a:p>
        </p:txBody>
      </p:sp>
      <p:sp>
        <p:nvSpPr>
          <p:cNvPr id="205" name="Google Shape;205;p12: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3: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221" name="Google Shape;221;p1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22" name="Google Shape;222;p13:notes"/>
          <p:cNvSpPr txBox="1">
            <a:spLocks noGrp="1"/>
          </p:cNvSpPr>
          <p:nvPr>
            <p:ph type="body" idx="1"/>
          </p:nvPr>
        </p:nvSpPr>
        <p:spPr>
          <a:xfrm>
            <a:off x="914400" y="4415790"/>
            <a:ext cx="5029200" cy="418338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a:t>Professionals know that details can make or break a persuasive message, so they don’t skimp on this part of the writing process. When you evaluate your content, judge your argument objectively and don’t overestimate your credibility. If possible, ask an experienced colleague who knows your audience well to review your draft. </a:t>
            </a:r>
            <a:endParaRPr/>
          </a:p>
          <a:p>
            <a:pPr marL="0" marR="0" lvl="0" indent="0" algn="l" rtl="0">
              <a:lnSpc>
                <a:spcPct val="100000"/>
              </a:lnSpc>
              <a:spcBef>
                <a:spcPts val="330"/>
              </a:spcBef>
              <a:spcAft>
                <a:spcPts val="0"/>
              </a:spcAft>
              <a:buClr>
                <a:schemeClr val="dk1"/>
              </a:buClr>
              <a:buSzPts val="1100"/>
              <a:buFont typeface="Candara"/>
              <a:buNone/>
            </a:pPr>
            <a:r>
              <a:rPr lang="en-US"/>
              <a:t>As you produce your message, make sure your design elements complement your argument. Meticulous proofreading will identify mechanical or spelling errors that would weaken your persuasive potential. Finally, make sure your distribution methods fit your audience’s expectations, as well as your purpose.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34" name="Google Shape;234;p14: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sz="1100">
                <a:solidFill>
                  <a:schemeClr val="dk1"/>
                </a:solidFill>
              </a:rPr>
              <a:t>Your success as a businessperson is closely tied to your ability to encourage others to accept new ideas, change old habits, or act on your recommendations. Unless your career takes you into marketing and sales, most of your persuasive messages will be designed to elicit a preferred response in a non-sales situation. Within the context of the three-step process, effective persuasion involves four essential strategies: framing your arguments, balancing emotional and logical appeals, reinforcing your position, and anticipating objections.</a:t>
            </a:r>
            <a:endParaRPr/>
          </a:p>
          <a:p>
            <a:pPr marL="0" lvl="0" indent="0" algn="l" rtl="0">
              <a:spcBef>
                <a:spcPts val="330"/>
              </a:spcBef>
              <a:spcAft>
                <a:spcPts val="0"/>
              </a:spcAft>
              <a:buNone/>
            </a:pPr>
            <a:endParaRPr/>
          </a:p>
          <a:p>
            <a:pPr marL="0" lvl="0" indent="0" algn="l" rtl="0">
              <a:spcBef>
                <a:spcPts val="330"/>
              </a:spcBef>
              <a:spcAft>
                <a:spcPts val="0"/>
              </a:spcAft>
              <a:buNone/>
            </a:pPr>
            <a:endParaRPr/>
          </a:p>
        </p:txBody>
      </p:sp>
      <p:sp>
        <p:nvSpPr>
          <p:cNvPr id="235" name="Google Shape;235;p14: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3" name="Google Shape;243;p15: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Many persuasive messages follow some variation of the indirect approach. One of the most commonly used variations is called the </a:t>
            </a:r>
            <a:r>
              <a:rPr lang="en-US" b="1"/>
              <a:t>AIDA model</a:t>
            </a:r>
            <a:r>
              <a:rPr lang="en-US"/>
              <a:t>, which organizes your presentation into four phases:</a:t>
            </a:r>
            <a:endParaRPr/>
          </a:p>
          <a:p>
            <a:pPr marL="171450" lvl="0" indent="-171450" algn="l" rtl="0">
              <a:spcBef>
                <a:spcPts val="330"/>
              </a:spcBef>
              <a:spcAft>
                <a:spcPts val="0"/>
              </a:spcAft>
              <a:buClr>
                <a:schemeClr val="dk1"/>
              </a:buClr>
              <a:buSzPts val="1100"/>
              <a:buFont typeface="Arial"/>
              <a:buChar char="•"/>
            </a:pPr>
            <a:r>
              <a:rPr lang="en-US" b="1"/>
              <a:t>Attention.</a:t>
            </a:r>
            <a:r>
              <a:rPr lang="en-US"/>
              <a:t> Your first objective is to encourage your audience to want to hear about your problem, idea, or new product—whatever your main idea is. Be sure to find some common ground on which to build your case.</a:t>
            </a:r>
            <a:endParaRPr/>
          </a:p>
          <a:p>
            <a:pPr marL="171450" lvl="0" indent="-171450" algn="l" rtl="0">
              <a:spcBef>
                <a:spcPts val="330"/>
              </a:spcBef>
              <a:spcAft>
                <a:spcPts val="0"/>
              </a:spcAft>
              <a:buClr>
                <a:schemeClr val="dk1"/>
              </a:buClr>
              <a:buSzPts val="1100"/>
              <a:buFont typeface="Arial"/>
              <a:buChar char="•"/>
            </a:pPr>
            <a:r>
              <a:rPr lang="en-US" b="1"/>
              <a:t>Interest.</a:t>
            </a:r>
            <a:r>
              <a:rPr lang="en-US"/>
              <a:t> Provide additional details that prompt audience members to imagine how the solution might benefit them.</a:t>
            </a:r>
            <a:endParaRPr/>
          </a:p>
          <a:p>
            <a:pPr marL="171450" lvl="0" indent="-171450" algn="l" rtl="0">
              <a:spcBef>
                <a:spcPts val="330"/>
              </a:spcBef>
              <a:spcAft>
                <a:spcPts val="0"/>
              </a:spcAft>
              <a:buClr>
                <a:schemeClr val="dk1"/>
              </a:buClr>
              <a:buSzPts val="1100"/>
              <a:buFont typeface="Arial"/>
              <a:buChar char="•"/>
            </a:pPr>
            <a:r>
              <a:rPr lang="en-US" b="1"/>
              <a:t>Desire. </a:t>
            </a:r>
            <a:r>
              <a:rPr lang="en-US"/>
              <a:t>Help audience members embrace your idea by explaining how the change will benefit them and answering potential objections.</a:t>
            </a:r>
            <a:endParaRPr/>
          </a:p>
          <a:p>
            <a:pPr marL="171450" lvl="0" indent="-171450" algn="l" rtl="0">
              <a:spcBef>
                <a:spcPts val="330"/>
              </a:spcBef>
              <a:spcAft>
                <a:spcPts val="0"/>
              </a:spcAft>
              <a:buClr>
                <a:schemeClr val="dk1"/>
              </a:buClr>
              <a:buSzPts val="1100"/>
              <a:buFont typeface="Arial"/>
              <a:buChar char="•"/>
            </a:pPr>
            <a:r>
              <a:rPr lang="en-US" b="1"/>
              <a:t>Action.</a:t>
            </a:r>
            <a:r>
              <a:rPr lang="en-US"/>
              <a:t> Suggest the specific action you want your audience to take. Include a deadline, when applicable.</a:t>
            </a:r>
            <a:endParaRPr/>
          </a:p>
          <a:p>
            <a:pPr marL="0" lvl="0" indent="0" algn="l" rtl="0">
              <a:spcBef>
                <a:spcPts val="330"/>
              </a:spcBef>
              <a:spcAft>
                <a:spcPts val="0"/>
              </a:spcAft>
              <a:buNone/>
            </a:pPr>
            <a:r>
              <a:rPr lang="en-US"/>
              <a:t>The AIDA model is tailor-made for using the indirect approach, allowing you to save your main idea for the action phase. However, it can also be modified for the direct approach. In either case, the AIDA model does have limitations—for example, talking </a:t>
            </a:r>
            <a:r>
              <a:rPr lang="en-US" i="1"/>
              <a:t>at</a:t>
            </a:r>
            <a:r>
              <a:rPr lang="en-US"/>
              <a:t> audiences rather than </a:t>
            </a:r>
            <a:r>
              <a:rPr lang="en-US" i="1"/>
              <a:t>with</a:t>
            </a:r>
            <a:r>
              <a:rPr lang="en-US"/>
              <a:t> them and focusing on single events, not long-term relationships. As you’ll learn in this chapter, a more conversational approach is better with today’s social media. </a:t>
            </a:r>
            <a:endParaRPr/>
          </a:p>
          <a:p>
            <a:pPr marL="0" lvl="0" indent="0" algn="l" rtl="0">
              <a:spcBef>
                <a:spcPts val="315"/>
              </a:spcBef>
              <a:spcAft>
                <a:spcPts val="0"/>
              </a:spcAft>
              <a:buClr>
                <a:schemeClr val="dk1"/>
              </a:buClr>
              <a:buSzPts val="1050"/>
              <a:buFont typeface="Arial"/>
              <a:buNone/>
            </a:pPr>
            <a:endParaRPr sz="1050"/>
          </a:p>
        </p:txBody>
      </p:sp>
      <p:sp>
        <p:nvSpPr>
          <p:cNvPr id="244" name="Google Shape;244;p15: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6: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260" name="Google Shape;260;p1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16: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Candara"/>
              <a:buNone/>
            </a:pPr>
            <a:r>
              <a:rPr lang="en-US">
                <a:solidFill>
                  <a:srgbClr val="000000"/>
                </a:solidFill>
              </a:rPr>
              <a:t>Most persuasive messages include both emotional and logical appeals. </a:t>
            </a:r>
            <a:r>
              <a:rPr lang="en-US"/>
              <a:t>The key is finding the right balance for each message. </a:t>
            </a:r>
            <a:endParaRPr/>
          </a:p>
          <a:p>
            <a:pPr marL="0" lvl="0" indent="0" algn="l" rtl="0">
              <a:spcBef>
                <a:spcPts val="330"/>
              </a:spcBef>
              <a:spcAft>
                <a:spcPts val="0"/>
              </a:spcAft>
              <a:buNone/>
            </a:pPr>
            <a:r>
              <a:rPr lang="en-US"/>
              <a:t>An </a:t>
            </a:r>
            <a:r>
              <a:rPr lang="en-US" b="1" i="0"/>
              <a:t>emotional appeal </a:t>
            </a:r>
            <a:r>
              <a:rPr lang="en-US"/>
              <a:t>calls on human feelings, basing the argument on audience needs or sympathies. For instance, you can make use of the emotion inspired by words such as </a:t>
            </a:r>
            <a:r>
              <a:rPr lang="en-US" i="1"/>
              <a:t>freedom, success, prestige, compassion, </a:t>
            </a:r>
            <a:r>
              <a:rPr lang="en-US"/>
              <a:t>and </a:t>
            </a:r>
            <a:r>
              <a:rPr lang="en-US" i="1"/>
              <a:t>comfort</a:t>
            </a:r>
            <a:r>
              <a:rPr lang="en-US"/>
              <a:t>. Such words put your audience in a certain frame of mind and help people accept your message. </a:t>
            </a:r>
            <a:endParaRPr/>
          </a:p>
          <a:p>
            <a:pPr marL="0" lvl="0" indent="0" algn="l" rtl="0">
              <a:spcBef>
                <a:spcPts val="330"/>
              </a:spcBef>
              <a:spcAft>
                <a:spcPts val="0"/>
              </a:spcAft>
              <a:buNone/>
            </a:pPr>
            <a:r>
              <a:rPr lang="en-US"/>
              <a:t>Many marketing and sales messages rely heavily on emotional appeals, but most persuasive business messages rely more on logic; and even if your audience’s emotions influence their decision, they’ll look for logical support as well. A </a:t>
            </a:r>
            <a:r>
              <a:rPr lang="en-US" b="1" i="0"/>
              <a:t>logical appeal </a:t>
            </a:r>
            <a:r>
              <a:rPr lang="en-US"/>
              <a:t>uses one of three types of reasoning:</a:t>
            </a:r>
            <a:endParaRPr/>
          </a:p>
          <a:p>
            <a:pPr marL="228600" lvl="0" indent="-228600" algn="l" rtl="0">
              <a:spcBef>
                <a:spcPts val="330"/>
              </a:spcBef>
              <a:spcAft>
                <a:spcPts val="0"/>
              </a:spcAft>
              <a:buClr>
                <a:schemeClr val="dk1"/>
              </a:buClr>
              <a:buSzPts val="1100"/>
              <a:buFont typeface="Calibri"/>
              <a:buAutoNum type="arabicPeriod"/>
            </a:pPr>
            <a:r>
              <a:rPr lang="en-US"/>
              <a:t>With </a:t>
            </a:r>
            <a:r>
              <a:rPr lang="en-US" i="1"/>
              <a:t>analogy</a:t>
            </a:r>
            <a:r>
              <a:rPr lang="en-US"/>
              <a:t>, you reason from specific evidence to specific evidence. </a:t>
            </a:r>
            <a:endParaRPr/>
          </a:p>
          <a:p>
            <a:pPr marL="228600" lvl="0" indent="-228600" algn="l" rtl="0">
              <a:spcBef>
                <a:spcPts val="330"/>
              </a:spcBef>
              <a:spcAft>
                <a:spcPts val="0"/>
              </a:spcAft>
              <a:buClr>
                <a:schemeClr val="dk1"/>
              </a:buClr>
              <a:buSzPts val="1100"/>
              <a:buFont typeface="Calibri"/>
              <a:buAutoNum type="arabicPeriod"/>
            </a:pPr>
            <a:r>
              <a:rPr lang="en-US"/>
              <a:t>With </a:t>
            </a:r>
            <a:r>
              <a:rPr lang="en-US" i="1"/>
              <a:t>induction</a:t>
            </a:r>
            <a:r>
              <a:rPr lang="en-US"/>
              <a:t>, you work from specific evidence to a general conclusion. </a:t>
            </a:r>
            <a:endParaRPr/>
          </a:p>
          <a:p>
            <a:pPr marL="228600" lvl="0" indent="-228600" algn="l" rtl="0">
              <a:spcBef>
                <a:spcPts val="330"/>
              </a:spcBef>
              <a:spcAft>
                <a:spcPts val="0"/>
              </a:spcAft>
              <a:buClr>
                <a:schemeClr val="dk1"/>
              </a:buClr>
              <a:buSzPts val="1100"/>
              <a:buFont typeface="Calibri"/>
              <a:buAutoNum type="arabicPeriod"/>
            </a:pPr>
            <a:r>
              <a:rPr lang="en-US"/>
              <a:t>With </a:t>
            </a:r>
            <a:r>
              <a:rPr lang="en-US" i="1"/>
              <a:t>deduction</a:t>
            </a:r>
            <a:r>
              <a:rPr lang="en-US"/>
              <a:t>, you work from a generalization to a specific conclusion. </a:t>
            </a:r>
            <a:endParaRPr/>
          </a:p>
          <a:p>
            <a:pPr marL="0" lvl="0" indent="0" algn="l" rtl="0">
              <a:spcBef>
                <a:spcPts val="330"/>
              </a:spcBef>
              <a:spcAft>
                <a:spcPts val="0"/>
              </a:spcAft>
              <a:buNone/>
            </a:pPr>
            <a:endParaRPr/>
          </a:p>
          <a:p>
            <a:pPr marL="0" lvl="0" indent="0" algn="l" rtl="0">
              <a:spcBef>
                <a:spcPts val="33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7: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274" name="Google Shape;274;p1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p17: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1" i="0" u="none" strike="noStrike">
                <a:solidFill>
                  <a:schemeClr val="dk1"/>
                </a:solidFill>
                <a:latin typeface="Candara"/>
                <a:ea typeface="Candara"/>
                <a:cs typeface="Candara"/>
                <a:sym typeface="Candara"/>
              </a:rPr>
              <a:t>Figure 10.3 Balancing Logical and Emotional Appeals</a:t>
            </a:r>
            <a:endParaRPr/>
          </a:p>
          <a:p>
            <a:pPr marL="0" lvl="0" indent="0" algn="l" rtl="0">
              <a:spcBef>
                <a:spcPts val="330"/>
              </a:spcBef>
              <a:spcAft>
                <a:spcPts val="0"/>
              </a:spcAft>
              <a:buNone/>
            </a:pPr>
            <a:endParaRPr sz="1100" b="0" i="0" u="none" strike="noStrike">
              <a:solidFill>
                <a:schemeClr val="dk1"/>
              </a:solidFill>
              <a:latin typeface="Candara"/>
              <a:ea typeface="Candara"/>
              <a:cs typeface="Candara"/>
              <a:sym typeface="Candara"/>
            </a:endParaRPr>
          </a:p>
          <a:p>
            <a:pPr marL="0" lvl="0" indent="0" algn="l" rtl="0">
              <a:spcBef>
                <a:spcPts val="330"/>
              </a:spcBef>
              <a:spcAft>
                <a:spcPts val="0"/>
              </a:spcAft>
              <a:buNone/>
            </a:pPr>
            <a:r>
              <a:rPr lang="en-US" sz="1100" b="0" i="0" u="none" strike="noStrike">
                <a:solidFill>
                  <a:schemeClr val="dk1"/>
                </a:solidFill>
                <a:latin typeface="Candara"/>
                <a:ea typeface="Candara"/>
                <a:cs typeface="Candara"/>
                <a:sym typeface="Candara"/>
              </a:rPr>
              <a:t>Whenever you plan a persuasive message, imagine you have a knob that turns from emotion at one extreme to logic at the other, letting you adjust the relative proportions of each type of appeal. Compare these two outlines for a proposal that asks management to fund an on-site daycare center. The version on the left relies heavily on emotional appeals, whereas the version on the right uses logical appeals (inductive reasoning, specifically). Through your choice of words, images, and supporting details, you can adjust the emotional/logical ratio in every message.</a:t>
            </a:r>
            <a:endParaRPr/>
          </a:p>
          <a:p>
            <a:pPr marL="0" lvl="0" indent="0" algn="l" rtl="0">
              <a:spcBef>
                <a:spcPts val="33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83" name="Google Shape;283;p18: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a:solidFill>
                  <a:schemeClr val="dk1"/>
                </a:solidFill>
                <a:latin typeface="Candara"/>
                <a:ea typeface="Candara"/>
                <a:cs typeface="Candara"/>
                <a:sym typeface="Candara"/>
              </a:rPr>
              <a:t>Every method of reasoning is vulnerable to misuse. To avoid faulty logic, follow these guidelines:</a:t>
            </a:r>
            <a:endParaRPr/>
          </a:p>
          <a:p>
            <a:pPr marL="171450" lvl="0" indent="-171450" algn="l" rtl="0">
              <a:spcBef>
                <a:spcPts val="330"/>
              </a:spcBef>
              <a:spcAft>
                <a:spcPts val="0"/>
              </a:spcAft>
              <a:buClr>
                <a:schemeClr val="dk1"/>
              </a:buClr>
              <a:buSzPts val="1100"/>
              <a:buFont typeface="Arial"/>
              <a:buChar char="•"/>
            </a:pPr>
            <a:r>
              <a:rPr lang="en-US" sz="1100" b="1">
                <a:solidFill>
                  <a:schemeClr val="dk1"/>
                </a:solidFill>
                <a:latin typeface="Candara"/>
                <a:ea typeface="Candara"/>
                <a:cs typeface="Candara"/>
                <a:sym typeface="Candara"/>
              </a:rPr>
              <a:t>Avoid hasty generalizations. </a:t>
            </a:r>
            <a:r>
              <a:rPr lang="en-US" sz="1100">
                <a:solidFill>
                  <a:schemeClr val="dk1"/>
                </a:solidFill>
                <a:latin typeface="Candara"/>
                <a:ea typeface="Candara"/>
                <a:cs typeface="Candara"/>
                <a:sym typeface="Candara"/>
              </a:rPr>
              <a:t>Make sure you have plenty of evidence before drawing conclusions.</a:t>
            </a:r>
            <a:endParaRPr/>
          </a:p>
          <a:p>
            <a:pPr marL="171450" lvl="0" indent="-171450" algn="l" rtl="0">
              <a:spcBef>
                <a:spcPts val="330"/>
              </a:spcBef>
              <a:spcAft>
                <a:spcPts val="0"/>
              </a:spcAft>
              <a:buClr>
                <a:schemeClr val="dk1"/>
              </a:buClr>
              <a:buSzPts val="1100"/>
              <a:buFont typeface="Arial"/>
              <a:buChar char="•"/>
            </a:pPr>
            <a:r>
              <a:rPr lang="en-US" sz="1100" b="1">
                <a:solidFill>
                  <a:schemeClr val="dk1"/>
                </a:solidFill>
                <a:latin typeface="Candara"/>
                <a:ea typeface="Candara"/>
                <a:cs typeface="Candara"/>
                <a:sym typeface="Candara"/>
              </a:rPr>
              <a:t>Avoid circular reasoning. </a:t>
            </a:r>
            <a:r>
              <a:rPr lang="en-US" sz="1100">
                <a:solidFill>
                  <a:schemeClr val="dk1"/>
                </a:solidFill>
                <a:latin typeface="Candara"/>
                <a:ea typeface="Candara"/>
                <a:cs typeface="Candara"/>
                <a:sym typeface="Candara"/>
              </a:rPr>
              <a:t>Circular reasoning involves supporting your claim by restating it in different words. The statement “We know temporary workers cannot handle this task because temps are unqualified for it” doesn’t prove anything because the claim and the supporting evidence are essentially identical.</a:t>
            </a:r>
            <a:endParaRPr/>
          </a:p>
          <a:p>
            <a:pPr marL="171450" lvl="0" indent="-171450" algn="l" rtl="0">
              <a:spcBef>
                <a:spcPts val="330"/>
              </a:spcBef>
              <a:spcAft>
                <a:spcPts val="0"/>
              </a:spcAft>
              <a:buClr>
                <a:schemeClr val="dk1"/>
              </a:buClr>
              <a:buSzPts val="1100"/>
              <a:buFont typeface="Arial"/>
              <a:buChar char="•"/>
            </a:pPr>
            <a:r>
              <a:rPr lang="en-US" sz="1100" b="1">
                <a:solidFill>
                  <a:schemeClr val="dk1"/>
                </a:solidFill>
                <a:latin typeface="Candara"/>
                <a:ea typeface="Candara"/>
                <a:cs typeface="Candara"/>
                <a:sym typeface="Candara"/>
              </a:rPr>
              <a:t>Avoid attacking an opponent. </a:t>
            </a:r>
            <a:r>
              <a:rPr lang="en-US" sz="1100">
                <a:solidFill>
                  <a:schemeClr val="dk1"/>
                </a:solidFill>
                <a:latin typeface="Candara"/>
                <a:ea typeface="Candara"/>
                <a:cs typeface="Candara"/>
                <a:sym typeface="Candara"/>
              </a:rPr>
              <a:t>Attack the argument your opponent is making, not your opponent’s character.</a:t>
            </a:r>
            <a:endParaRPr/>
          </a:p>
          <a:p>
            <a:pPr marL="171450" lvl="0" indent="-171450" algn="l" rtl="0">
              <a:spcBef>
                <a:spcPts val="330"/>
              </a:spcBef>
              <a:spcAft>
                <a:spcPts val="0"/>
              </a:spcAft>
              <a:buClr>
                <a:schemeClr val="dk1"/>
              </a:buClr>
              <a:buSzPts val="1100"/>
              <a:buFont typeface="Arial"/>
              <a:buChar char="•"/>
            </a:pPr>
            <a:r>
              <a:rPr lang="en-US" sz="1100" b="1">
                <a:solidFill>
                  <a:schemeClr val="dk1"/>
                </a:solidFill>
                <a:latin typeface="Candara"/>
                <a:ea typeface="Candara"/>
                <a:cs typeface="Candara"/>
                <a:sym typeface="Candara"/>
              </a:rPr>
              <a:t>Avoid oversimplifying a complex issue. </a:t>
            </a:r>
            <a:r>
              <a:rPr lang="en-US" sz="1100">
                <a:solidFill>
                  <a:schemeClr val="dk1"/>
                </a:solidFill>
                <a:latin typeface="Candara"/>
                <a:ea typeface="Candara"/>
                <a:cs typeface="Candara"/>
                <a:sym typeface="Candara"/>
              </a:rPr>
              <a:t>For example, don’t reduce a complex situation to a simple “either/or” statement if the situation isn’t that simple.</a:t>
            </a:r>
            <a:endParaRPr/>
          </a:p>
          <a:p>
            <a:pPr marL="171450" lvl="0" indent="-171450" algn="l" rtl="0">
              <a:spcBef>
                <a:spcPts val="330"/>
              </a:spcBef>
              <a:spcAft>
                <a:spcPts val="0"/>
              </a:spcAft>
              <a:buClr>
                <a:schemeClr val="dk1"/>
              </a:buClr>
              <a:buSzPts val="1100"/>
              <a:buFont typeface="Arial"/>
              <a:buChar char="•"/>
            </a:pPr>
            <a:r>
              <a:rPr lang="en-US" sz="1100" b="1">
                <a:solidFill>
                  <a:schemeClr val="dk1"/>
                </a:solidFill>
                <a:latin typeface="Candara"/>
                <a:ea typeface="Candara"/>
                <a:cs typeface="Candara"/>
                <a:sym typeface="Candara"/>
              </a:rPr>
              <a:t>Avoid mistaken assumptions of cause and effect. </a:t>
            </a:r>
            <a:r>
              <a:rPr lang="en-US" sz="1100">
                <a:solidFill>
                  <a:schemeClr val="dk1"/>
                </a:solidFill>
                <a:latin typeface="Candara"/>
                <a:ea typeface="Candara"/>
                <a:cs typeface="Candara"/>
                <a:sym typeface="Candara"/>
              </a:rPr>
              <a:t>If you can’t isolate the impact of a specific factor, you can’t assume that it’s the cause of whatever effect you’re discussing. You lowered prices, and sales went up. Were lower prices the cause? Maybe, but the sales increase might have been caused by a better advertising campaign, changes in the weather, or some other factor.</a:t>
            </a:r>
            <a:endParaRPr/>
          </a:p>
          <a:p>
            <a:pPr marL="171450" lvl="0" indent="-171450" algn="l" rtl="0">
              <a:spcBef>
                <a:spcPts val="330"/>
              </a:spcBef>
              <a:spcAft>
                <a:spcPts val="0"/>
              </a:spcAft>
              <a:buClr>
                <a:schemeClr val="dk1"/>
              </a:buClr>
              <a:buSzPts val="1100"/>
              <a:buFont typeface="Arial"/>
              <a:buChar char="•"/>
            </a:pPr>
            <a:r>
              <a:rPr lang="en-US" sz="1100" b="1">
                <a:solidFill>
                  <a:schemeClr val="dk1"/>
                </a:solidFill>
                <a:latin typeface="Candara"/>
                <a:ea typeface="Candara"/>
                <a:cs typeface="Candara"/>
                <a:sym typeface="Candara"/>
              </a:rPr>
              <a:t>Avoid faulty analogies. </a:t>
            </a:r>
            <a:r>
              <a:rPr lang="en-US" sz="1100">
                <a:solidFill>
                  <a:schemeClr val="dk1"/>
                </a:solidFill>
                <a:latin typeface="Candara"/>
                <a:ea typeface="Candara"/>
                <a:cs typeface="Candara"/>
                <a:sym typeface="Candara"/>
              </a:rPr>
              <a:t>Be sure that the two objects or situations being compared are similar enough for the analogy to hold. For instance, explaining that an Internet firewall is like a prison wall is a poor analogy, because a firewall keeps things out, whereas a prison wall keeps things in.</a:t>
            </a:r>
            <a:endParaRPr/>
          </a:p>
          <a:p>
            <a:pPr marL="0" lvl="0" indent="0" algn="l" rtl="0">
              <a:spcBef>
                <a:spcPts val="330"/>
              </a:spcBef>
              <a:spcAft>
                <a:spcPts val="0"/>
              </a:spcAft>
              <a:buNone/>
            </a:pPr>
            <a:r>
              <a:rPr lang="en-US" sz="1100">
                <a:solidFill>
                  <a:schemeClr val="dk1"/>
                </a:solidFill>
                <a:latin typeface="Candara"/>
                <a:ea typeface="Candara"/>
                <a:cs typeface="Candara"/>
                <a:sym typeface="Candara"/>
              </a:rPr>
              <a:t> </a:t>
            </a:r>
            <a:endParaRPr/>
          </a:p>
          <a:p>
            <a:pPr marL="0" lvl="0" indent="0" algn="l" rtl="0">
              <a:spcBef>
                <a:spcPts val="330"/>
              </a:spcBef>
              <a:spcAft>
                <a:spcPts val="0"/>
              </a:spcAft>
              <a:buNone/>
            </a:pPr>
            <a:endParaRPr/>
          </a:p>
        </p:txBody>
      </p:sp>
      <p:sp>
        <p:nvSpPr>
          <p:cNvPr id="284" name="Google Shape;284;p18: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3" name="Google Shape;293;p19: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After you have worked out the basic elements of your argument, step back and look for ways to bolster the strength of your position. Are your claims supported by </a:t>
            </a:r>
            <a:r>
              <a:rPr lang="en-US" i="1"/>
              <a:t>believable evidence</a:t>
            </a:r>
            <a:r>
              <a:rPr lang="en-US"/>
              <a:t>?</a:t>
            </a:r>
            <a:endParaRPr/>
          </a:p>
          <a:p>
            <a:pPr marL="0" lvl="0" indent="0" algn="l" rtl="0">
              <a:spcBef>
                <a:spcPts val="330"/>
              </a:spcBef>
              <a:spcAft>
                <a:spcPts val="0"/>
              </a:spcAft>
              <a:buNone/>
            </a:pPr>
            <a:r>
              <a:rPr lang="en-US"/>
              <a:t>Next, examine your language. Can you find more </a:t>
            </a:r>
            <a:r>
              <a:rPr lang="en-US" i="1"/>
              <a:t>powerful words</a:t>
            </a:r>
            <a:r>
              <a:rPr lang="en-US"/>
              <a:t> to convey your message? As with any powerful tool, be sure to use vivid language and abstractions carefully and honestly.</a:t>
            </a:r>
            <a:endParaRPr/>
          </a:p>
          <a:p>
            <a:pPr marL="0" lvl="0" indent="0" algn="l" rtl="0">
              <a:spcBef>
                <a:spcPts val="330"/>
              </a:spcBef>
              <a:spcAft>
                <a:spcPts val="0"/>
              </a:spcAft>
              <a:buNone/>
            </a:pPr>
            <a:r>
              <a:rPr lang="en-US"/>
              <a:t>In addition to individual word choices, consider using </a:t>
            </a:r>
            <a:r>
              <a:rPr lang="en-US" i="1"/>
              <a:t>metaphors </a:t>
            </a:r>
            <a:r>
              <a:rPr lang="en-US"/>
              <a:t>and other </a:t>
            </a:r>
            <a:r>
              <a:rPr lang="en-US" i="0"/>
              <a:t>figures of speech</a:t>
            </a:r>
            <a:r>
              <a:rPr lang="en-US"/>
              <a:t>. In a similar way, </a:t>
            </a:r>
            <a:r>
              <a:rPr lang="en-US" i="1"/>
              <a:t>brief stories </a:t>
            </a:r>
            <a:r>
              <a:rPr lang="en-US" i="0"/>
              <a:t>(anecdotes) </a:t>
            </a:r>
            <a:r>
              <a:rPr lang="en-US"/>
              <a:t>can help your audience grasp the meaning and importance of your arguments. </a:t>
            </a:r>
            <a:endParaRPr/>
          </a:p>
          <a:p>
            <a:pPr marL="0" lvl="0" indent="0" algn="l" rtl="0">
              <a:spcBef>
                <a:spcPts val="330"/>
              </a:spcBef>
              <a:spcAft>
                <a:spcPts val="0"/>
              </a:spcAft>
              <a:buNone/>
            </a:pPr>
            <a:r>
              <a:rPr lang="en-US"/>
              <a:t>Beyond the specific wording of your message, look for other forces and factors that can reinforce your position. When you are asking for something, your audience members will find it easier to grant your request if they stand to </a:t>
            </a:r>
            <a:r>
              <a:rPr lang="en-US" i="1"/>
              <a:t>benefit</a:t>
            </a:r>
            <a:r>
              <a:rPr lang="en-US"/>
              <a:t> from it as well. </a:t>
            </a:r>
            <a:endParaRPr/>
          </a:p>
        </p:txBody>
      </p:sp>
      <p:sp>
        <p:nvSpPr>
          <p:cNvPr id="294" name="Google Shape;294;p19: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0" name="Google Shape;310;p20: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Even the most powerful persuasive messages can expect to encounter some initial resistance. Anticipate as many objections as you can and address them in your initial message before your audience can even bring them up. By doing so, you can remove the potentially negative elements from the conversation and keep the focus on positive communication.</a:t>
            </a:r>
            <a:endParaRPr/>
          </a:p>
          <a:p>
            <a:pPr marL="0" lvl="0" indent="0" algn="l" rtl="0">
              <a:spcBef>
                <a:spcPts val="330"/>
              </a:spcBef>
              <a:spcAft>
                <a:spcPts val="0"/>
              </a:spcAft>
              <a:buNone/>
            </a:pPr>
            <a:r>
              <a:rPr lang="en-US"/>
              <a:t>If you expect a hostile audience, one biased against your plan from the beginning, present all sides—cover all options, explaining the pros and cons of each. You’ll gain additional credibility if you present these options before presenting the recommendation or decision. People support what they help create, so involve your audience in the design of the solution, if you can.  </a:t>
            </a:r>
            <a:endParaRPr/>
          </a:p>
          <a:p>
            <a:pPr marL="0" lvl="0" indent="0" algn="l" rtl="0">
              <a:spcBef>
                <a:spcPts val="330"/>
              </a:spcBef>
              <a:spcAft>
                <a:spcPts val="0"/>
              </a:spcAft>
              <a:buNone/>
            </a:pPr>
            <a:endParaRPr/>
          </a:p>
        </p:txBody>
      </p:sp>
      <p:sp>
        <p:nvSpPr>
          <p:cNvPr id="311" name="Google Shape;311;p20: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1: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325" name="Google Shape;325;p2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p21: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When you believe in a concept or project, it’s easy to get caught up in your own emotions and forget to see things from the perspective of your audience. When putting together persuasive arguments, avoid common mistakes such as the following:</a:t>
            </a:r>
            <a:endParaRPr/>
          </a:p>
          <a:p>
            <a:pPr marL="171450" marR="0" lvl="0" indent="-171450" algn="l" rtl="0">
              <a:lnSpc>
                <a:spcPct val="100000"/>
              </a:lnSpc>
              <a:spcBef>
                <a:spcPts val="330"/>
              </a:spcBef>
              <a:spcAft>
                <a:spcPts val="0"/>
              </a:spcAft>
              <a:buClr>
                <a:srgbClr val="000000"/>
              </a:buClr>
              <a:buSzPts val="1100"/>
              <a:buFont typeface="Arial"/>
              <a:buChar char="•"/>
            </a:pPr>
            <a:r>
              <a:rPr lang="en-US" b="1">
                <a:solidFill>
                  <a:srgbClr val="000000"/>
                </a:solidFill>
              </a:rPr>
              <a:t>Using a hard sell.</a:t>
            </a:r>
            <a:r>
              <a:rPr lang="en-US">
                <a:solidFill>
                  <a:srgbClr val="000000"/>
                </a:solidFill>
              </a:rPr>
              <a:t> </a:t>
            </a:r>
            <a:r>
              <a:rPr lang="en-US">
                <a:solidFill>
                  <a:schemeClr val="dk1"/>
                </a:solidFill>
              </a:rPr>
              <a:t>Don’t push. No one likes being pressured into making a decision. In contrast, a “soft sell” is more like a comfortable conversation that uses calm, rational persuasion.</a:t>
            </a:r>
            <a:endParaRPr>
              <a:solidFill>
                <a:srgbClr val="000000"/>
              </a:solidFill>
            </a:endParaRPr>
          </a:p>
          <a:p>
            <a:pPr marL="171450" lvl="0" indent="-171450" algn="l" rtl="0">
              <a:spcBef>
                <a:spcPts val="330"/>
              </a:spcBef>
              <a:spcAft>
                <a:spcPts val="0"/>
              </a:spcAft>
              <a:buClr>
                <a:srgbClr val="000000"/>
              </a:buClr>
              <a:buSzPts val="1100"/>
              <a:buFont typeface="Arial"/>
              <a:buChar char="•"/>
            </a:pPr>
            <a:r>
              <a:rPr lang="en-US" b="1">
                <a:solidFill>
                  <a:srgbClr val="000000"/>
                </a:solidFill>
              </a:rPr>
              <a:t>Resisting compromise.</a:t>
            </a:r>
            <a:r>
              <a:rPr lang="en-US">
                <a:solidFill>
                  <a:srgbClr val="000000"/>
                </a:solidFill>
              </a:rPr>
              <a:t> Persuasion is a process of give and take. A persuader rarely changes another person’s behavior or viewpoint without altering his or her own views in the process.</a:t>
            </a:r>
            <a:endParaRPr/>
          </a:p>
          <a:p>
            <a:pPr marL="171450" lvl="0" indent="-171450" algn="l" rtl="0">
              <a:spcBef>
                <a:spcPts val="330"/>
              </a:spcBef>
              <a:spcAft>
                <a:spcPts val="0"/>
              </a:spcAft>
              <a:buClr>
                <a:srgbClr val="000000"/>
              </a:buClr>
              <a:buSzPts val="1100"/>
              <a:buFont typeface="Arial"/>
              <a:buChar char="•"/>
            </a:pPr>
            <a:r>
              <a:rPr lang="en-US" b="1">
                <a:solidFill>
                  <a:srgbClr val="000000"/>
                </a:solidFill>
              </a:rPr>
              <a:t>Relying solely on great arguments. </a:t>
            </a:r>
            <a:r>
              <a:rPr lang="en-US" b="0">
                <a:solidFill>
                  <a:srgbClr val="000000"/>
                </a:solidFill>
              </a:rPr>
              <a:t>G</a:t>
            </a:r>
            <a:r>
              <a:rPr lang="en-US">
                <a:solidFill>
                  <a:srgbClr val="000000"/>
                </a:solidFill>
              </a:rPr>
              <a:t>reat arguments matter, but they are only one part of the equation. Connecting with your audience on the right emotional level, and communicating through vivid language are all just as important; they bring your argument to life.</a:t>
            </a:r>
            <a:endParaRPr/>
          </a:p>
          <a:p>
            <a:pPr marL="171450" lvl="0" indent="-171450" algn="l" rtl="0">
              <a:spcBef>
                <a:spcPts val="330"/>
              </a:spcBef>
              <a:spcAft>
                <a:spcPts val="0"/>
              </a:spcAft>
              <a:buClr>
                <a:srgbClr val="000000"/>
              </a:buClr>
              <a:buSzPts val="1100"/>
              <a:buFont typeface="Arial"/>
              <a:buChar char="•"/>
            </a:pPr>
            <a:r>
              <a:rPr lang="en-US" b="1">
                <a:solidFill>
                  <a:srgbClr val="000000"/>
                </a:solidFill>
              </a:rPr>
              <a:t>Assuming persuasion is a one-shot effort.</a:t>
            </a:r>
            <a:r>
              <a:rPr lang="en-US">
                <a:solidFill>
                  <a:srgbClr val="000000"/>
                </a:solidFill>
              </a:rPr>
              <a:t> Persuasion is a process, not a one-time event. More often than not, persuasion involves listening to others, testing a position, developing a new position, more testing, more compromise, and so on.</a:t>
            </a:r>
            <a:endParaRPr/>
          </a:p>
          <a:p>
            <a:pPr marL="0" lvl="0" indent="0" algn="l" rtl="0">
              <a:spcBef>
                <a:spcPts val="33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40" name="Google Shape;340;p22: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sz="1100">
                <a:solidFill>
                  <a:schemeClr val="dk1"/>
                </a:solidFill>
              </a:rPr>
              <a:t>Throughout your career, you’ll have numerous opportunities to write persuasive messages within your organization. In addition, many of the routine requests you studied in Chapter 8 can become persuasive messages, if you want a non-routine result or believe that you haven’t received fair treatment. Most of these messages can be divided into persuasive requests for action, persuasive presentations of ideas, and persuasive claims and requests for adjustment.</a:t>
            </a:r>
            <a:endParaRPr/>
          </a:p>
        </p:txBody>
      </p:sp>
      <p:sp>
        <p:nvSpPr>
          <p:cNvPr id="341" name="Google Shape;341;p22: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3: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355" name="Google Shape;355;p2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6" name="Google Shape;356;p23: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a:solidFill>
                  <a:schemeClr val="dk1"/>
                </a:solidFill>
                <a:latin typeface="Candara"/>
                <a:ea typeface="Candara"/>
                <a:cs typeface="Candara"/>
                <a:sym typeface="Candara"/>
              </a:rPr>
              <a:t>The bulk of your persuasive business messages will involve requests for action. In some cases, your request will be anticipated, so the direct approach is fine. In others, you’ll need to introduce your intention indirectly, and the AIDA model or a similar approach is ideal for this purpose.</a:t>
            </a:r>
            <a:endParaRPr/>
          </a:p>
          <a:p>
            <a:pPr marL="0" lvl="0" indent="0" algn="l" rtl="0">
              <a:spcBef>
                <a:spcPts val="33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4: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369" name="Google Shape;369;p2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24: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Candara"/>
              <a:buNone/>
            </a:pPr>
            <a:r>
              <a:rPr lang="en-US" sz="1100">
                <a:solidFill>
                  <a:schemeClr val="dk1"/>
                </a:solidFill>
                <a:latin typeface="Candara"/>
                <a:ea typeface="Candara"/>
                <a:cs typeface="Candara"/>
                <a:sym typeface="Candara"/>
              </a:rPr>
              <a:t>You may encounter situations in which you simply want to change attitudes or beliefs about a particular topic, without asking the audience to decide or do anything—at least not yet. The goal of your first message might be nothing more than encouraging your audience to consider a new idea, reexamine long-held opinions, or to admit to the possibility of new ways of thinking.</a:t>
            </a:r>
            <a:endParaRPr/>
          </a:p>
          <a:p>
            <a:pPr marL="0" lvl="0" indent="0" algn="l" rtl="0">
              <a:spcBef>
                <a:spcPts val="33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5: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384" name="Google Shape;384;p2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25: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a:solidFill>
                  <a:schemeClr val="dk1"/>
                </a:solidFill>
                <a:latin typeface="Candara"/>
                <a:ea typeface="Candara"/>
                <a:cs typeface="Candara"/>
                <a:sym typeface="Candara"/>
              </a:rPr>
              <a:t>Most claims are routine messages and use the direct approach. However, consumers and business professionals sometimes encounter situations in which they believe they haven’t received a fair deal by following normal procedures. These situations require a more persuasive message.</a:t>
            </a:r>
            <a:endParaRPr/>
          </a:p>
          <a:p>
            <a:pPr marL="0" lvl="0" indent="0" algn="l" rtl="0">
              <a:spcBef>
                <a:spcPts val="330"/>
              </a:spcBef>
              <a:spcAft>
                <a:spcPts val="0"/>
              </a:spcAft>
              <a:buNone/>
            </a:pPr>
            <a:r>
              <a:rPr lang="en-US" sz="1100">
                <a:solidFill>
                  <a:schemeClr val="dk1"/>
                </a:solidFill>
                <a:latin typeface="Candara"/>
                <a:ea typeface="Candara"/>
                <a:cs typeface="Candara"/>
                <a:sym typeface="Candara"/>
              </a:rPr>
              <a:t>The key ingredients of a good persuasive claim are a complete and specific review of the facts, and a confident and positive tone based on your right to be satisfied with every transaction. </a:t>
            </a:r>
            <a:endParaRPr/>
          </a:p>
          <a:p>
            <a:pPr marL="228600" lvl="0" indent="-228600" algn="l" rtl="0">
              <a:spcBef>
                <a:spcPts val="330"/>
              </a:spcBef>
              <a:spcAft>
                <a:spcPts val="0"/>
              </a:spcAft>
              <a:buClr>
                <a:schemeClr val="dk1"/>
              </a:buClr>
              <a:buSzPts val="1100"/>
              <a:buFont typeface="Calibri"/>
              <a:buAutoNum type="arabicPeriod"/>
            </a:pPr>
            <a:r>
              <a:rPr lang="en-US" sz="1100">
                <a:solidFill>
                  <a:schemeClr val="dk1"/>
                </a:solidFill>
                <a:latin typeface="Candara"/>
                <a:ea typeface="Candara"/>
                <a:cs typeface="Candara"/>
                <a:sym typeface="Candara"/>
              </a:rPr>
              <a:t>Begin persuasive claims by outlining the problem and continue by reviewing what has been done about it so far, if anything. Be clear, calm, and complete when presenting your case. Be specific about how you would like to see the situation resolved.</a:t>
            </a:r>
            <a:endParaRPr/>
          </a:p>
          <a:p>
            <a:pPr marL="228600" lvl="0" indent="-228600" algn="l" rtl="0">
              <a:spcBef>
                <a:spcPts val="330"/>
              </a:spcBef>
              <a:spcAft>
                <a:spcPts val="0"/>
              </a:spcAft>
              <a:buClr>
                <a:schemeClr val="dk1"/>
              </a:buClr>
              <a:buSzPts val="1100"/>
              <a:buFont typeface="Calibri"/>
              <a:buAutoNum type="arabicPeriod"/>
            </a:pPr>
            <a:r>
              <a:rPr lang="en-US" sz="1100">
                <a:solidFill>
                  <a:schemeClr val="dk1"/>
                </a:solidFill>
                <a:latin typeface="Candara"/>
                <a:ea typeface="Candara"/>
                <a:cs typeface="Candara"/>
                <a:sym typeface="Candara"/>
              </a:rPr>
              <a:t>Next, give your reader a good reason for granting your claim. Show how the individual or organization is responsible for the problem, and appeal to your reader’s sense of fair play, goodwill, or moral responsibility. Explain how you feel about the problem, but don’t get carried away and don’t make threats. People generally respond most favorably to requests that are calm and reasonable. </a:t>
            </a:r>
            <a:endParaRPr/>
          </a:p>
          <a:p>
            <a:pPr marL="228600" lvl="0" indent="-228600" algn="l" rtl="0">
              <a:spcBef>
                <a:spcPts val="330"/>
              </a:spcBef>
              <a:spcAft>
                <a:spcPts val="0"/>
              </a:spcAft>
              <a:buClr>
                <a:schemeClr val="dk1"/>
              </a:buClr>
              <a:buSzPts val="1100"/>
              <a:buFont typeface="Calibri"/>
              <a:buAutoNum type="arabicPeriod"/>
            </a:pPr>
            <a:r>
              <a:rPr lang="en-US" sz="1100">
                <a:solidFill>
                  <a:schemeClr val="dk1"/>
                </a:solidFill>
                <a:latin typeface="Candara"/>
                <a:ea typeface="Candara"/>
                <a:cs typeface="Candara"/>
                <a:sym typeface="Candara"/>
              </a:rPr>
              <a:t>Close on a respectful note that reflects how a successful resolution of the situation will repair or maintain a mutually beneficial working relationship.</a:t>
            </a:r>
            <a:endParaRPr/>
          </a:p>
          <a:p>
            <a:pPr marL="0" lvl="0" indent="0" algn="l" rtl="0">
              <a:spcBef>
                <a:spcPts val="330"/>
              </a:spcBef>
              <a:spcAft>
                <a:spcPts val="0"/>
              </a:spcAft>
              <a:buNone/>
            </a:pPr>
            <a:r>
              <a:rPr lang="en-US" sz="1100">
                <a:solidFill>
                  <a:schemeClr val="dk1"/>
                </a:solidFill>
                <a:latin typeface="Candara"/>
                <a:ea typeface="Candara"/>
                <a:cs typeface="Candara"/>
                <a:sym typeface="Candara"/>
              </a:rPr>
              <a:t> </a:t>
            </a:r>
            <a:endParaRPr/>
          </a:p>
          <a:p>
            <a:pPr marL="0" lvl="0" indent="0" algn="l" rtl="0">
              <a:spcBef>
                <a:spcPts val="33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00" name="Google Shape;400;p26: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Marketing and sales messages use the same techniques as other persuasive messages, with the added emphasis of encouraging someone to participate in a commercial transaction. </a:t>
            </a:r>
            <a:endParaRPr/>
          </a:p>
          <a:p>
            <a:pPr marL="0" lvl="0" indent="0" algn="l" rtl="0">
              <a:spcBef>
                <a:spcPts val="330"/>
              </a:spcBef>
              <a:spcAft>
                <a:spcPts val="0"/>
              </a:spcAft>
              <a:buClr>
                <a:schemeClr val="dk1"/>
              </a:buClr>
              <a:buSzPts val="1100"/>
              <a:buFont typeface="Candara"/>
              <a:buNone/>
            </a:pPr>
            <a:r>
              <a:rPr lang="en-US" b="1" i="0"/>
              <a:t>Marketing messages </a:t>
            </a:r>
            <a:r>
              <a:rPr lang="en-US"/>
              <a:t>usher potential buyers through the purchasing process without asking them to make an immediate decision; that’s when </a:t>
            </a:r>
            <a:r>
              <a:rPr lang="en-US" b="1" i="0"/>
              <a:t>sales messages </a:t>
            </a:r>
            <a:r>
              <a:rPr lang="en-US"/>
              <a:t>take over, encouraging potential buyers to make a purchase decision then and there. </a:t>
            </a:r>
            <a:endParaRPr/>
          </a:p>
          <a:p>
            <a:pPr marL="0" lvl="0" indent="0" algn="l" rtl="0">
              <a:spcBef>
                <a:spcPts val="330"/>
              </a:spcBef>
              <a:spcAft>
                <a:spcPts val="0"/>
              </a:spcAft>
              <a:buNone/>
            </a:pPr>
            <a:endParaRPr/>
          </a:p>
        </p:txBody>
      </p:sp>
      <p:sp>
        <p:nvSpPr>
          <p:cNvPr id="401" name="Google Shape;401;p26: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7: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09" name="Google Shape;409;p27: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Successful marketing and sales messages start with an understanding of </a:t>
            </a:r>
            <a:r>
              <a:rPr lang="en-US" b="1"/>
              <a:t>audience needs</a:t>
            </a:r>
            <a:r>
              <a:rPr lang="en-US"/>
              <a:t>. Depending on the product and the market, these needs can range from a few functional considerations to a complicated mix of logical and emotional issues. </a:t>
            </a:r>
            <a:endParaRPr/>
          </a:p>
          <a:p>
            <a:pPr marL="0" lvl="0" indent="0" algn="l" rtl="0">
              <a:spcBef>
                <a:spcPts val="330"/>
              </a:spcBef>
              <a:spcAft>
                <a:spcPts val="0"/>
              </a:spcAft>
              <a:buNone/>
            </a:pPr>
            <a:r>
              <a:rPr lang="en-US"/>
              <a:t>Marketing and sales messages are in </a:t>
            </a:r>
            <a:r>
              <a:rPr lang="en-US" b="1"/>
              <a:t>competition</a:t>
            </a:r>
            <a:r>
              <a:rPr lang="en-US"/>
              <a:t> with messages from other companies that are intended for the same audience. Finding a unique message in crowded markets can be challenging.</a:t>
            </a:r>
            <a:endParaRPr/>
          </a:p>
          <a:p>
            <a:pPr marL="0" lvl="0" indent="0" algn="l" rtl="0">
              <a:spcBef>
                <a:spcPts val="330"/>
              </a:spcBef>
              <a:spcAft>
                <a:spcPts val="0"/>
              </a:spcAft>
              <a:buNone/>
            </a:pPr>
            <a:r>
              <a:rPr lang="en-US"/>
              <a:t>With insight into audience needs and competitive offerings, the next step is to decide which features and benefits to highlight. </a:t>
            </a:r>
            <a:r>
              <a:rPr lang="en-US" b="1"/>
              <a:t>Selling points</a:t>
            </a:r>
            <a:r>
              <a:rPr lang="en-US"/>
              <a:t> are the most attractive features of an idea or product. </a:t>
            </a:r>
            <a:r>
              <a:rPr lang="en-US" b="1"/>
              <a:t>Benefits</a:t>
            </a:r>
            <a:r>
              <a:rPr lang="en-US"/>
              <a:t> are the particular advantages that users will realize from those features. Selling points focus on what the product does. Benefits focus on what the user experiences or gains. </a:t>
            </a:r>
            <a:endParaRPr/>
          </a:p>
          <a:p>
            <a:pPr marL="0" lvl="0" indent="0" algn="l" rtl="0">
              <a:spcBef>
                <a:spcPts val="330"/>
              </a:spcBef>
              <a:spcAft>
                <a:spcPts val="0"/>
              </a:spcAft>
              <a:buNone/>
            </a:pPr>
            <a:r>
              <a:rPr lang="en-US"/>
              <a:t>Marketing and sales messages often encounter </a:t>
            </a:r>
            <a:r>
              <a:rPr lang="en-US" b="1"/>
              <a:t>objections</a:t>
            </a:r>
            <a:r>
              <a:rPr lang="en-US"/>
              <a:t>. As with persuasive business messages, it’s best to identify them up front and try to address as many as you can. Of course, any attempts to minimize perceptions of price or other potential negatives must be done ethically. </a:t>
            </a:r>
            <a:endParaRPr/>
          </a:p>
          <a:p>
            <a:pPr marL="0" lvl="0" indent="0" algn="l" rtl="0">
              <a:spcBef>
                <a:spcPts val="330"/>
              </a:spcBef>
              <a:spcAft>
                <a:spcPts val="0"/>
              </a:spcAft>
              <a:buNone/>
            </a:pPr>
            <a:endParaRPr/>
          </a:p>
        </p:txBody>
      </p:sp>
      <p:sp>
        <p:nvSpPr>
          <p:cNvPr id="410" name="Google Shape;410;p27: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8: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422" name="Google Shape;422;p28: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3" name="Google Shape;423;p28: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Most marketing and sales messages are prepared according to the AIDA plan, or some variation of it. Here are the key points of using the AIDA model:</a:t>
            </a:r>
            <a:endParaRPr/>
          </a:p>
          <a:p>
            <a:pPr marL="171450" marR="0" lvl="0" indent="-171450" algn="l" rtl="0">
              <a:lnSpc>
                <a:spcPct val="100000"/>
              </a:lnSpc>
              <a:spcBef>
                <a:spcPts val="330"/>
              </a:spcBef>
              <a:spcAft>
                <a:spcPts val="0"/>
              </a:spcAft>
              <a:buClr>
                <a:schemeClr val="dk1"/>
              </a:buClr>
              <a:buSzPts val="1100"/>
              <a:buFont typeface="Arial"/>
              <a:buChar char="•"/>
            </a:pPr>
            <a:r>
              <a:rPr lang="en-US">
                <a:solidFill>
                  <a:schemeClr val="dk1"/>
                </a:solidFill>
              </a:rPr>
              <a:t>Advertisers try to get </a:t>
            </a:r>
            <a:r>
              <a:rPr lang="en-US" b="1">
                <a:solidFill>
                  <a:schemeClr val="dk1"/>
                </a:solidFill>
              </a:rPr>
              <a:t>attention</a:t>
            </a:r>
            <a:r>
              <a:rPr lang="en-US">
                <a:solidFill>
                  <a:schemeClr val="dk1"/>
                </a:solidFill>
              </a:rPr>
              <a:t> by offering an exciting product benefit, a piece of interesting news, an appeal to people’s emotions or sense of financial value, or a unique solution to a common problem. Marketers can also use evocative images, music, animation, or video.</a:t>
            </a:r>
            <a:endParaRPr/>
          </a:p>
          <a:p>
            <a:pPr marL="171450" marR="0" lvl="0" indent="-171450" algn="l" rtl="0">
              <a:lnSpc>
                <a:spcPct val="100000"/>
              </a:lnSpc>
              <a:spcBef>
                <a:spcPts val="330"/>
              </a:spcBef>
              <a:spcAft>
                <a:spcPts val="0"/>
              </a:spcAft>
              <a:buClr>
                <a:schemeClr val="dk1"/>
              </a:buClr>
              <a:buSzPts val="1100"/>
              <a:buFont typeface="Arial"/>
              <a:buChar char="•"/>
            </a:pPr>
            <a:r>
              <a:rPr lang="en-US">
                <a:solidFill>
                  <a:schemeClr val="dk1"/>
                </a:solidFill>
              </a:rPr>
              <a:t>After catching the reader’s or viewer’s attention, your next step is to build </a:t>
            </a:r>
            <a:r>
              <a:rPr lang="en-US" b="1">
                <a:solidFill>
                  <a:schemeClr val="dk1"/>
                </a:solidFill>
              </a:rPr>
              <a:t>interest</a:t>
            </a:r>
            <a:r>
              <a:rPr lang="en-US">
                <a:solidFill>
                  <a:schemeClr val="dk1"/>
                </a:solidFill>
              </a:rPr>
              <a:t> in the product, company, or idea you are promoting. A common technique is to “pay off” the promise made in the headline by explaining how you can deliver those benefits.</a:t>
            </a:r>
            <a:endParaRPr/>
          </a:p>
          <a:p>
            <a:pPr marL="171450" lvl="0" indent="-171450" algn="l" rtl="0">
              <a:spcBef>
                <a:spcPts val="330"/>
              </a:spcBef>
              <a:spcAft>
                <a:spcPts val="0"/>
              </a:spcAft>
              <a:buClr>
                <a:schemeClr val="dk1"/>
              </a:buClr>
              <a:buSzPts val="1100"/>
              <a:buFont typeface="Arial"/>
              <a:buChar char="•"/>
            </a:pPr>
            <a:r>
              <a:rPr lang="en-US"/>
              <a:t>Next, boost the audience’s </a:t>
            </a:r>
            <a:r>
              <a:rPr lang="en-US" b="1"/>
              <a:t>desire</a:t>
            </a:r>
            <a:r>
              <a:rPr lang="en-US"/>
              <a:t> for your product or service by expanding on how it will benefit them. Focus on their practical and emotional needs; then, explain how your product or service will meet those needs. And address their potential objections and doubts with demonstrations, testimonials, and money-back guarantees.</a:t>
            </a:r>
            <a:endParaRPr/>
          </a:p>
          <a:p>
            <a:pPr marL="171450" lvl="0" indent="-171450" algn="l" rtl="0">
              <a:spcBef>
                <a:spcPts val="330"/>
              </a:spcBef>
              <a:spcAft>
                <a:spcPts val="0"/>
              </a:spcAft>
              <a:buClr>
                <a:schemeClr val="dk1"/>
              </a:buClr>
              <a:buSzPts val="1100"/>
              <a:buFont typeface="Arial"/>
              <a:buChar char="•"/>
            </a:pPr>
            <a:r>
              <a:rPr lang="en-US"/>
              <a:t>The final step in the AIDA model is persuading the audience to take </a:t>
            </a:r>
            <a:r>
              <a:rPr lang="en-US" b="1"/>
              <a:t>action</a:t>
            </a:r>
            <a:r>
              <a:rPr lang="en-US"/>
              <a:t>, such as placing an order by phone or online. The keys to a successful call to action are making it as easy and risk-free as possible. If the process is confusing or time-consuming, you’ll lose potential customers.</a:t>
            </a:r>
            <a:endParaRPr/>
          </a:p>
          <a:p>
            <a:pPr marL="0" lvl="0" indent="0" algn="l" rtl="0">
              <a:spcBef>
                <a:spcPts val="330"/>
              </a:spcBef>
              <a:spcAft>
                <a:spcPts val="0"/>
              </a:spcAft>
              <a:buNone/>
            </a:pPr>
            <a:endParaRPr/>
          </a:p>
          <a:p>
            <a:pPr marL="0" marR="0" lvl="0" indent="0" algn="l" rtl="0">
              <a:lnSpc>
                <a:spcPct val="100000"/>
              </a:lnSpc>
              <a:spcBef>
                <a:spcPts val="330"/>
              </a:spcBef>
              <a:spcAft>
                <a:spcPts val="0"/>
              </a:spcAft>
              <a:buClr>
                <a:schemeClr val="dk1"/>
              </a:buClr>
              <a:buSzPts val="1100"/>
              <a:buFont typeface="Candara"/>
              <a:buNone/>
            </a:pPr>
            <a:endParaRPr>
              <a:solidFill>
                <a:schemeClr val="dk1"/>
              </a:solidFill>
            </a:endParaRPr>
          </a:p>
          <a:p>
            <a:pPr marL="0" lvl="0" indent="0" algn="l" rtl="0">
              <a:spcBef>
                <a:spcPts val="33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9: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435" name="Google Shape;435;p29: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6" name="Google Shape;436;p29: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chemeClr val="dk1"/>
                </a:solidFill>
              </a:rPr>
              <a:t>The AIDA model and similar approaches have been successful with marketing and sales messages for decades, but in the social media landscape, consumers are more apt to look for product information from other consumers, not the companies marketing those products. The following guidelines will help you write effective promotional messages for social media.</a:t>
            </a:r>
            <a:endParaRPr/>
          </a:p>
          <a:p>
            <a:pPr marL="0" lvl="0" indent="0" algn="l" rtl="0">
              <a:spcBef>
                <a:spcPts val="330"/>
              </a:spcBef>
              <a:spcAft>
                <a:spcPts val="0"/>
              </a:spcAft>
              <a:buNone/>
            </a:pPr>
            <a:r>
              <a:rPr lang="en-US" b="1">
                <a:solidFill>
                  <a:schemeClr val="dk1"/>
                </a:solidFill>
              </a:rPr>
              <a:t>Get involved in online conversations. </a:t>
            </a:r>
            <a:r>
              <a:rPr lang="en-US">
                <a:solidFill>
                  <a:schemeClr val="dk1"/>
                </a:solidFill>
              </a:rPr>
              <a:t>Your emphasis should shift to encouraging and participating in online conversations.</a:t>
            </a:r>
            <a:endParaRPr/>
          </a:p>
          <a:p>
            <a:pPr marL="0" lvl="0" indent="0" algn="l" rtl="0">
              <a:spcBef>
                <a:spcPts val="330"/>
              </a:spcBef>
              <a:spcAft>
                <a:spcPts val="0"/>
              </a:spcAft>
              <a:buClr>
                <a:schemeClr val="dk1"/>
              </a:buClr>
              <a:buSzPts val="1100"/>
              <a:buFont typeface="Candara"/>
              <a:buNone/>
            </a:pPr>
            <a:r>
              <a:rPr lang="en-US" b="1"/>
              <a:t>Facilitate community building.</a:t>
            </a:r>
            <a:r>
              <a:rPr lang="en-US"/>
              <a:t> Make sure customers and other audiences can connect with your company and each other. Accomplishing this goal can be as simple as activating the commenting feature on a blog, or it may involve having a more elaborate social commerce system.</a:t>
            </a:r>
            <a:endParaRPr/>
          </a:p>
          <a:p>
            <a:pPr marL="0" lvl="0" indent="0" algn="l" rtl="0">
              <a:spcBef>
                <a:spcPts val="330"/>
              </a:spcBef>
              <a:spcAft>
                <a:spcPts val="0"/>
              </a:spcAft>
              <a:buClr>
                <a:schemeClr val="dk1"/>
              </a:buClr>
              <a:buSzPts val="1100"/>
              <a:buFont typeface="Candara"/>
              <a:buNone/>
            </a:pPr>
            <a:r>
              <a:rPr lang="en-US" b="1"/>
              <a:t>Listen at least as much as you talk. </a:t>
            </a:r>
            <a:r>
              <a:rPr lang="en-US"/>
              <a:t>Listening is essential for online conversations, just as it is for in-person conversations. A variety of tools can help, from free alerts on search engines to sophisticated linguistic monitoring systems. </a:t>
            </a:r>
            <a:endParaRPr/>
          </a:p>
          <a:p>
            <a:pPr marL="0" lvl="0" indent="0" algn="l" rtl="0">
              <a:spcBef>
                <a:spcPts val="330"/>
              </a:spcBef>
              <a:spcAft>
                <a:spcPts val="0"/>
              </a:spcAft>
              <a:buClr>
                <a:schemeClr val="dk1"/>
              </a:buClr>
              <a:buSzPts val="1100"/>
              <a:buFont typeface="Candara"/>
              <a:buNone/>
            </a:pPr>
            <a:r>
              <a:rPr lang="en-US" b="1"/>
              <a:t>Initiate and respond to conversations within the community.</a:t>
            </a:r>
            <a:r>
              <a:rPr lang="en-US"/>
              <a:t> Make sure you provide the information customers need. Use an objective, conversational style; people in social networks want useful information, not “advertising speak.”</a:t>
            </a:r>
            <a:endParaRPr/>
          </a:p>
          <a:p>
            <a:pPr marL="0" marR="0" lvl="0" indent="0" algn="l" rtl="0">
              <a:lnSpc>
                <a:spcPct val="100000"/>
              </a:lnSpc>
              <a:spcBef>
                <a:spcPts val="330"/>
              </a:spcBef>
              <a:spcAft>
                <a:spcPts val="0"/>
              </a:spcAft>
              <a:buClr>
                <a:schemeClr val="dk1"/>
              </a:buClr>
              <a:buSzPts val="1100"/>
              <a:buFont typeface="Candara"/>
              <a:buNone/>
            </a:pPr>
            <a:r>
              <a:rPr lang="en-US" b="1"/>
              <a:t>Provide information that people want. </a:t>
            </a:r>
            <a:r>
              <a:rPr lang="en-US"/>
              <a:t>Whether it’s industry-insider news, product guides, or brief answers to FAQs, fill the information gap about your company and its products. </a:t>
            </a:r>
            <a:endParaRPr/>
          </a:p>
          <a:p>
            <a:pPr marL="0" lvl="0" indent="0" algn="l" rtl="0">
              <a:spcBef>
                <a:spcPts val="330"/>
              </a:spcBef>
              <a:spcAft>
                <a:spcPts val="0"/>
              </a:spcAft>
              <a:buClr>
                <a:schemeClr val="dk1"/>
              </a:buClr>
              <a:buSzPts val="1100"/>
              <a:buFont typeface="Candara"/>
              <a:buNone/>
            </a:pPr>
            <a:r>
              <a:rPr lang="en-US" b="1"/>
              <a:t>Identify and support your champions.</a:t>
            </a:r>
            <a:r>
              <a:rPr lang="en-US"/>
              <a:t> In marketing, </a:t>
            </a:r>
            <a:r>
              <a:rPr lang="en-US" i="1"/>
              <a:t>champions</a:t>
            </a:r>
            <a:r>
              <a:rPr lang="en-US"/>
              <a:t> are enthusiastic fans of your company and its products. They help spread your message, defend you against detractors, and help other customers use your products. </a:t>
            </a:r>
            <a:endParaRPr/>
          </a:p>
          <a:p>
            <a:pPr marL="0" lvl="0" indent="0" algn="l" rtl="0">
              <a:spcBef>
                <a:spcPts val="330"/>
              </a:spcBef>
              <a:spcAft>
                <a:spcPts val="0"/>
              </a:spcAft>
              <a:buClr>
                <a:schemeClr val="dk1"/>
              </a:buClr>
              <a:buSzPts val="1100"/>
              <a:buFont typeface="Candara"/>
              <a:buNone/>
            </a:pPr>
            <a:r>
              <a:rPr lang="en-US" b="1"/>
              <a:t>Be authentic; be transparent; be real. </a:t>
            </a:r>
            <a:r>
              <a:rPr lang="en-US"/>
              <a:t>Social media audiences respond poorly to fake blogs and superficial attempts to be “social.” Instead, they respond positively to companies that are open and conversational about themselves, their products, and subjects of shared interest. </a:t>
            </a:r>
            <a:endParaRPr/>
          </a:p>
          <a:p>
            <a:pPr marL="0" lvl="0" indent="0" algn="l" rtl="0">
              <a:spcBef>
                <a:spcPts val="330"/>
              </a:spcBef>
              <a:spcAft>
                <a:spcPts val="0"/>
              </a:spcAft>
              <a:buClr>
                <a:schemeClr val="dk1"/>
              </a:buClr>
              <a:buSzPts val="1100"/>
              <a:buFont typeface="Candara"/>
              <a:buNone/>
            </a:pPr>
            <a:r>
              <a:rPr lang="en-US" b="1"/>
              <a:t>Integrate conventional marketing and sales strategies at the right time and in the right places.</a:t>
            </a:r>
            <a:r>
              <a:rPr lang="en-US"/>
              <a:t> The AIDA approach is still valid for specific communication tasks, such as conventional advertising and the product promotion pages on your website.</a:t>
            </a:r>
            <a:endParaRPr/>
          </a:p>
          <a:p>
            <a:pPr marL="0" lvl="0" indent="0" algn="l" rtl="0">
              <a:spcBef>
                <a:spcPts val="330"/>
              </a:spcBef>
              <a:spcAft>
                <a:spcPts val="0"/>
              </a:spcAft>
              <a:buClr>
                <a:schemeClr val="dk1"/>
              </a:buClr>
              <a:buSzPts val="1100"/>
              <a:buFont typeface="Candara"/>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0: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
        <p:nvSpPr>
          <p:cNvPr id="448" name="Google Shape;448;p30: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9" name="Google Shape;449;p30: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b="1" i="0" u="none" strike="noStrike">
                <a:solidFill>
                  <a:schemeClr val="dk1"/>
                </a:solidFill>
                <a:latin typeface="Candara"/>
                <a:ea typeface="Candara"/>
                <a:cs typeface="Candara"/>
                <a:sym typeface="Candara"/>
              </a:rPr>
              <a:t>Figure 10.6 Promotional Messages in Social Media</a:t>
            </a:r>
            <a:endParaRPr/>
          </a:p>
          <a:p>
            <a:pPr marL="0" lvl="0" indent="0" algn="l" rtl="0">
              <a:spcBef>
                <a:spcPts val="330"/>
              </a:spcBef>
              <a:spcAft>
                <a:spcPts val="0"/>
              </a:spcAft>
              <a:buNone/>
            </a:pPr>
            <a:r>
              <a:rPr lang="en-US" sz="1100" b="0" i="0" u="none" strike="noStrike">
                <a:solidFill>
                  <a:schemeClr val="dk1"/>
                </a:solidFill>
                <a:latin typeface="Candara"/>
                <a:ea typeface="Candara"/>
                <a:cs typeface="Candara"/>
                <a:sym typeface="Candara"/>
              </a:rPr>
              <a:t>Persuasive communication on social media often avoids overt promotion and instead tries to engage the target audience, as Fezzari Bicycles did with this post on Google+.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31: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57" name="Google Shape;457;p31: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100">
                <a:solidFill>
                  <a:schemeClr val="dk1"/>
                </a:solidFill>
                <a:latin typeface="Candara"/>
                <a:ea typeface="Candara"/>
                <a:cs typeface="Candara"/>
                <a:sym typeface="Candara"/>
              </a:rPr>
              <a:t>Mobile advertising and mobile commerce (also known as </a:t>
            </a:r>
            <a:r>
              <a:rPr lang="en-US" sz="1100" i="1">
                <a:solidFill>
                  <a:schemeClr val="dk1"/>
                </a:solidFill>
                <a:latin typeface="Candara"/>
                <a:ea typeface="Candara"/>
                <a:cs typeface="Candara"/>
                <a:sym typeface="Candara"/>
              </a:rPr>
              <a:t>m-commerce</a:t>
            </a:r>
            <a:r>
              <a:rPr lang="en-US" sz="1100">
                <a:solidFill>
                  <a:schemeClr val="dk1"/>
                </a:solidFill>
                <a:latin typeface="Candara"/>
                <a:ea typeface="Candara"/>
                <a:cs typeface="Candara"/>
                <a:sym typeface="Candara"/>
              </a:rPr>
              <a:t>) are two of the hottest developments in marketing communications. Companies are pursuing mobile marketing because mobile devices now play such a big role in consumer buying behavior. </a:t>
            </a:r>
            <a:endParaRPr/>
          </a:p>
          <a:p>
            <a:pPr marL="0" lvl="0" indent="0" algn="l" rtl="0">
              <a:spcBef>
                <a:spcPts val="330"/>
              </a:spcBef>
              <a:spcAft>
                <a:spcPts val="0"/>
              </a:spcAft>
              <a:buNone/>
            </a:pPr>
            <a:r>
              <a:rPr lang="en-US" sz="1100">
                <a:solidFill>
                  <a:schemeClr val="dk1"/>
                </a:solidFill>
                <a:latin typeface="Candara"/>
                <a:ea typeface="Candara"/>
                <a:cs typeface="Candara"/>
                <a:sym typeface="Candara"/>
              </a:rPr>
              <a:t>If you are involved with creating mobile marketing or sales messages, keep two essential points in mind. First, like all mobile messages, promotional messages need to be kept short and simple. Second, the mobile experience needs to be fast and straightforward. Mobile users are often time-constrained, and they will quickly abandon websites that don’t load quickly or are confusing to navigate.</a:t>
            </a:r>
            <a:endParaRPr/>
          </a:p>
          <a:p>
            <a:pPr marL="0" lvl="0" indent="0" algn="l" rtl="0">
              <a:spcBef>
                <a:spcPts val="330"/>
              </a:spcBef>
              <a:spcAft>
                <a:spcPts val="0"/>
              </a:spcAft>
              <a:buNone/>
            </a:pPr>
            <a:endParaRPr/>
          </a:p>
        </p:txBody>
      </p:sp>
      <p:sp>
        <p:nvSpPr>
          <p:cNvPr id="458" name="Google Shape;458;p31: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2: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0" name="Google Shape;470;p32: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32: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3: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9" name="Google Shape;479;p33: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The word </a:t>
            </a:r>
            <a:r>
              <a:rPr lang="en-US" i="1"/>
              <a:t>persuasion</a:t>
            </a:r>
            <a:r>
              <a:rPr lang="en-US"/>
              <a:t> has negative connotations for some people, especially in a marketing or sales context. However, effective businesspeople view persuasion as a positive force, aligning their own interests with what is best for their audiences, and giving them the freedom to choose. To maintain the highest standards of business ethics, demonstrate the “you attitude” by showing honest concern for the needs and interests of your audience. </a:t>
            </a:r>
            <a:endParaRPr/>
          </a:p>
          <a:p>
            <a:pPr marL="0" lvl="0" indent="0" algn="l" rtl="0">
              <a:spcBef>
                <a:spcPts val="330"/>
              </a:spcBef>
              <a:spcAft>
                <a:spcPts val="0"/>
              </a:spcAft>
              <a:buNone/>
            </a:pPr>
            <a:r>
              <a:rPr lang="en-US"/>
              <a:t>As marketing and selling grow increasingly complex, so do the legal ramifications of marketing and sales messages. In the United States, the Federal Trade Commission (FTC) has the authority to impose penalties against advertisers who violate federal standards for truthful advertising. Therefore, all marketers must understand the basic legal aspects of promotional communication. </a:t>
            </a:r>
            <a:endParaRPr/>
          </a:p>
        </p:txBody>
      </p:sp>
      <p:sp>
        <p:nvSpPr>
          <p:cNvPr id="480" name="Google Shape;480;p33: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4: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91" name="Google Shape;491;p34: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Candara"/>
              <a:buNone/>
            </a:pPr>
            <a:r>
              <a:rPr lang="en-US"/>
              <a:t>All marketers need to understand these basic legal aspects of promotional communication:</a:t>
            </a:r>
            <a:endParaRPr/>
          </a:p>
          <a:p>
            <a:pPr marL="171450" lvl="0" indent="-171450" algn="l" rtl="0">
              <a:spcBef>
                <a:spcPts val="330"/>
              </a:spcBef>
              <a:spcAft>
                <a:spcPts val="0"/>
              </a:spcAft>
              <a:buClr>
                <a:schemeClr val="dk1"/>
              </a:buClr>
              <a:buSzPts val="1100"/>
              <a:buFont typeface="Arial"/>
              <a:buChar char="•"/>
            </a:pPr>
            <a:r>
              <a:rPr lang="en-US"/>
              <a:t>Marketing and sales messages must be truthful and not deceptive.</a:t>
            </a:r>
            <a:endParaRPr/>
          </a:p>
          <a:p>
            <a:pPr marL="171450" lvl="0" indent="-171450" algn="l" rtl="0">
              <a:spcBef>
                <a:spcPts val="330"/>
              </a:spcBef>
              <a:spcAft>
                <a:spcPts val="0"/>
              </a:spcAft>
              <a:buClr>
                <a:schemeClr val="dk1"/>
              </a:buClr>
              <a:buSzPts val="1100"/>
              <a:buFont typeface="Arial"/>
              <a:buChar char="•"/>
            </a:pPr>
            <a:r>
              <a:rPr lang="en-US"/>
              <a:t>Your claims must be supported by evidence.</a:t>
            </a:r>
            <a:endParaRPr/>
          </a:p>
          <a:p>
            <a:pPr marL="171450" lvl="0" indent="-171450" algn="l" rtl="0">
              <a:spcBef>
                <a:spcPts val="330"/>
              </a:spcBef>
              <a:spcAft>
                <a:spcPts val="0"/>
              </a:spcAft>
              <a:buClr>
                <a:schemeClr val="dk1"/>
              </a:buClr>
              <a:buSzPts val="1100"/>
              <a:buFont typeface="Arial"/>
              <a:buChar char="•"/>
            </a:pPr>
            <a:r>
              <a:rPr lang="en-US"/>
              <a:t>“Bait and switch” advertising is illegal.</a:t>
            </a:r>
            <a:endParaRPr/>
          </a:p>
          <a:p>
            <a:pPr marL="0" lvl="0" indent="0" algn="l" rtl="0">
              <a:spcBef>
                <a:spcPts val="330"/>
              </a:spcBef>
              <a:spcAft>
                <a:spcPts val="0"/>
              </a:spcAft>
              <a:buClr>
                <a:schemeClr val="dk1"/>
              </a:buClr>
              <a:buSzPts val="1100"/>
              <a:buFont typeface="Candara"/>
              <a:buNone/>
            </a:pPr>
            <a:endParaRPr/>
          </a:p>
        </p:txBody>
      </p:sp>
      <p:sp>
        <p:nvSpPr>
          <p:cNvPr id="492" name="Google Shape;492;p34: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35: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07" name="Google Shape;507;p35: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171450" marR="0" lvl="0" indent="-171450" algn="l" rtl="0">
              <a:lnSpc>
                <a:spcPct val="100000"/>
              </a:lnSpc>
              <a:spcBef>
                <a:spcPts val="0"/>
              </a:spcBef>
              <a:spcAft>
                <a:spcPts val="0"/>
              </a:spcAft>
              <a:buClr>
                <a:schemeClr val="dk1"/>
              </a:buClr>
              <a:buSzPts val="1100"/>
              <a:buFont typeface="Arial"/>
              <a:buChar char="•"/>
            </a:pPr>
            <a:r>
              <a:rPr lang="en-US"/>
              <a:t>Marketing messages and websites aimed at children and minors are subject to special rules.</a:t>
            </a:r>
            <a:endParaRPr/>
          </a:p>
          <a:p>
            <a:pPr marL="171450" marR="0" lvl="0" indent="-171450" algn="l" rtl="0">
              <a:lnSpc>
                <a:spcPct val="100000"/>
              </a:lnSpc>
              <a:spcBef>
                <a:spcPts val="330"/>
              </a:spcBef>
              <a:spcAft>
                <a:spcPts val="0"/>
              </a:spcAft>
              <a:buClr>
                <a:schemeClr val="dk1"/>
              </a:buClr>
              <a:buSzPts val="1100"/>
              <a:buFont typeface="Arial"/>
              <a:buChar char="•"/>
            </a:pPr>
            <a:r>
              <a:rPr lang="en-US"/>
              <a:t>Marketing and sales messages are considered binding contracts in many states.</a:t>
            </a:r>
            <a:endParaRPr/>
          </a:p>
          <a:p>
            <a:pPr marL="171450" marR="0" lvl="0" indent="-171450" algn="l" rtl="0">
              <a:lnSpc>
                <a:spcPct val="100000"/>
              </a:lnSpc>
              <a:spcBef>
                <a:spcPts val="330"/>
              </a:spcBef>
              <a:spcAft>
                <a:spcPts val="0"/>
              </a:spcAft>
              <a:buClr>
                <a:schemeClr val="dk1"/>
              </a:buClr>
              <a:buSzPts val="1100"/>
              <a:buFont typeface="Arial"/>
              <a:buChar char="•"/>
            </a:pPr>
            <a:r>
              <a:rPr lang="en-US"/>
              <a:t>In most cases, you can’t use a person’s name, photograph, or other form of identity without permission.</a:t>
            </a:r>
            <a:endParaRPr/>
          </a:p>
          <a:p>
            <a:pPr marL="0" marR="0" lvl="0" indent="0" algn="l" rtl="0">
              <a:lnSpc>
                <a:spcPct val="100000"/>
              </a:lnSpc>
              <a:spcBef>
                <a:spcPts val="330"/>
              </a:spcBef>
              <a:spcAft>
                <a:spcPts val="0"/>
              </a:spcAft>
              <a:buClr>
                <a:schemeClr val="dk1"/>
              </a:buClr>
              <a:buSzPts val="1100"/>
              <a:buFont typeface="Arial"/>
              <a:buNone/>
            </a:pPr>
            <a:r>
              <a:rPr lang="en-US"/>
              <a:t>Before launching a marketing or sales campaign, marketers must also be up to date on the latest regulations affecting spam, customer privacy, and data security.</a:t>
            </a:r>
            <a:endParaRPr/>
          </a:p>
          <a:p>
            <a:pPr marL="0" marR="0" lvl="0" indent="0" algn="l" rtl="0">
              <a:lnSpc>
                <a:spcPct val="100000"/>
              </a:lnSpc>
              <a:spcBef>
                <a:spcPts val="330"/>
              </a:spcBef>
              <a:spcAft>
                <a:spcPts val="0"/>
              </a:spcAft>
              <a:buClr>
                <a:schemeClr val="dk1"/>
              </a:buClr>
              <a:buSzPts val="1100"/>
              <a:buFont typeface="Arial"/>
              <a:buNone/>
            </a:pPr>
            <a:endParaRPr/>
          </a:p>
        </p:txBody>
      </p:sp>
      <p:sp>
        <p:nvSpPr>
          <p:cNvPr id="508" name="Google Shape;508;p35: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36:notes"/>
          <p:cNvSpPr>
            <a:spLocks noGrp="1" noRot="1" noChangeAspect="1"/>
          </p:cNvSpPr>
          <p:nvPr>
            <p:ph type="sldImg" idx="2"/>
          </p:nvPr>
        </p:nvSpPr>
        <p:spPr>
          <a:xfrm>
            <a:off x="11049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23" name="Google Shape;523;p36:notes"/>
          <p:cNvSpPr txBox="1">
            <a:spLocks noGrp="1"/>
          </p:cNvSpPr>
          <p:nvPr>
            <p:ph type="body" idx="1"/>
          </p:nvPr>
        </p:nvSpPr>
        <p:spPr>
          <a:xfrm>
            <a:off x="914400" y="4415790"/>
            <a:ext cx="5029200" cy="41833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24" name="Google Shape;524;p36:notes"/>
          <p:cNvSpPr txBox="1">
            <a:spLocks noGrp="1"/>
          </p:cNvSpPr>
          <p:nvPr>
            <p:ph type="sldNum" idx="12"/>
          </p:nvPr>
        </p:nvSpPr>
        <p:spPr>
          <a:xfrm>
            <a:off x="3886200" y="8831580"/>
            <a:ext cx="2971800" cy="46482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38"/>
          <p:cNvSpPr txBox="1">
            <a:spLocks noGrp="1"/>
          </p:cNvSpPr>
          <p:nvPr>
            <p:ph type="ctrTitle"/>
          </p:nvPr>
        </p:nvSpPr>
        <p:spPr>
          <a:xfrm>
            <a:off x="457200" y="1981200"/>
            <a:ext cx="8229600" cy="1676399"/>
          </a:xfrm>
          <a:prstGeom prst="rect">
            <a:avLst/>
          </a:prstGeom>
          <a:solidFill>
            <a:schemeClr val="dk2"/>
          </a:solidFill>
          <a:ln w="9525" cap="flat" cmpd="sng">
            <a:solidFill>
              <a:srgbClr val="292929"/>
            </a:solidFill>
            <a:prstDash val="solid"/>
            <a:round/>
            <a:headEnd type="none" w="sm" len="sm"/>
            <a:tailEnd type="none" w="sm" len="sm"/>
          </a:ln>
          <a:effectLst>
            <a:outerShdw blurRad="50800" dist="76200" dir="8100000" algn="tr" rotWithShape="0">
              <a:srgbClr val="000000">
                <a:alpha val="20000"/>
              </a:srgbClr>
            </a:outerShdw>
          </a:effectLst>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42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38"/>
          <p:cNvSpPr txBox="1">
            <a:spLocks noGrp="1"/>
          </p:cNvSpPr>
          <p:nvPr>
            <p:ph type="subTitle" idx="1"/>
          </p:nvPr>
        </p:nvSpPr>
        <p:spPr>
          <a:xfrm>
            <a:off x="609600" y="3886200"/>
            <a:ext cx="7924800" cy="1905000"/>
          </a:xfrm>
          <a:prstGeom prst="rect">
            <a:avLst/>
          </a:prstGeom>
          <a:noFill/>
          <a:ln>
            <a:noFill/>
          </a:ln>
        </p:spPr>
        <p:txBody>
          <a:bodyPr spcFirstLastPara="1" wrap="square" lIns="91425" tIns="45700" rIns="91425" bIns="45700" anchor="t" anchorCtr="0">
            <a:noAutofit/>
          </a:bodyPr>
          <a:lstStyle>
            <a:lvl1pPr lvl="0" algn="ctr">
              <a:spcBef>
                <a:spcPts val="620"/>
              </a:spcBef>
              <a:spcAft>
                <a:spcPts val="0"/>
              </a:spcAft>
              <a:buClr>
                <a:schemeClr val="dk1"/>
              </a:buClr>
              <a:buSzPts val="3100"/>
              <a:buFont typeface="Candara"/>
              <a:buNone/>
              <a:defRPr sz="3100"/>
            </a:lvl1pPr>
            <a:lvl2pPr lvl="1" algn="ctr">
              <a:spcBef>
                <a:spcPts val="560"/>
              </a:spcBef>
              <a:spcAft>
                <a:spcPts val="0"/>
              </a:spcAft>
              <a:buClr>
                <a:schemeClr val="dk1"/>
              </a:buClr>
              <a:buSzPts val="2800"/>
              <a:buFont typeface="Candara"/>
              <a:buNone/>
              <a:defRPr/>
            </a:lvl2pPr>
            <a:lvl3pPr lvl="2" algn="ctr">
              <a:spcBef>
                <a:spcPts val="560"/>
              </a:spcBef>
              <a:spcAft>
                <a:spcPts val="0"/>
              </a:spcAft>
              <a:buClr>
                <a:schemeClr val="dk1"/>
              </a:buClr>
              <a:buSzPts val="2800"/>
              <a:buFont typeface="Candara"/>
              <a:buNone/>
              <a:defRPr/>
            </a:lvl3pPr>
            <a:lvl4pPr lvl="3" algn="ctr">
              <a:spcBef>
                <a:spcPts val="560"/>
              </a:spcBef>
              <a:spcAft>
                <a:spcPts val="0"/>
              </a:spcAft>
              <a:buClr>
                <a:schemeClr val="dk1"/>
              </a:buClr>
              <a:buSzPts val="2800"/>
              <a:buFont typeface="Candara"/>
              <a:buNone/>
              <a:defRPr/>
            </a:lvl4pPr>
            <a:lvl5pPr lvl="4" algn="ctr">
              <a:spcBef>
                <a:spcPts val="560"/>
              </a:spcBef>
              <a:spcAft>
                <a:spcPts val="0"/>
              </a:spcAft>
              <a:buClr>
                <a:schemeClr val="dk1"/>
              </a:buClr>
              <a:buSzPts val="2800"/>
              <a:buFont typeface="Candara"/>
              <a:buNone/>
              <a:defRPr/>
            </a:lvl5pPr>
            <a:lvl6pPr lvl="5" algn="ctr">
              <a:spcBef>
                <a:spcPts val="640"/>
              </a:spcBef>
              <a:spcAft>
                <a:spcPts val="0"/>
              </a:spcAft>
              <a:buClr>
                <a:schemeClr val="dk1"/>
              </a:buClr>
              <a:buSzPts val="3200"/>
              <a:buFont typeface="Arial"/>
              <a:buNone/>
              <a:defRPr/>
            </a:lvl6pPr>
            <a:lvl7pPr lvl="6" algn="ctr">
              <a:spcBef>
                <a:spcPts val="640"/>
              </a:spcBef>
              <a:spcAft>
                <a:spcPts val="0"/>
              </a:spcAft>
              <a:buClr>
                <a:schemeClr val="dk1"/>
              </a:buClr>
              <a:buSzPts val="3200"/>
              <a:buFont typeface="Arial"/>
              <a:buNone/>
              <a:defRPr/>
            </a:lvl7pPr>
            <a:lvl8pPr lvl="7" algn="ctr">
              <a:spcBef>
                <a:spcPts val="640"/>
              </a:spcBef>
              <a:spcAft>
                <a:spcPts val="0"/>
              </a:spcAft>
              <a:buClr>
                <a:schemeClr val="dk1"/>
              </a:buClr>
              <a:buSzPts val="3200"/>
              <a:buFont typeface="Arial"/>
              <a:buNone/>
              <a:defRPr/>
            </a:lvl8pPr>
            <a:lvl9pPr lvl="8" algn="ctr">
              <a:spcBef>
                <a:spcPts val="640"/>
              </a:spcBef>
              <a:spcAft>
                <a:spcPts val="0"/>
              </a:spcAft>
              <a:buClr>
                <a:schemeClr val="dk1"/>
              </a:buClr>
              <a:buSzPts val="3200"/>
              <a:buFont typeface="Arial"/>
              <a:buNone/>
              <a:defRPr/>
            </a:lvl9pPr>
          </a:lstStyle>
          <a:p>
            <a:endParaRPr/>
          </a:p>
        </p:txBody>
      </p:sp>
      <p:sp>
        <p:nvSpPr>
          <p:cNvPr id="17" name="Google Shape;17;p38"/>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8"/>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i="0" u="none" strike="noStrike" cap="none">
                <a:solidFill>
                  <a:srgbClr val="4D4D4D"/>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4D4D4D"/>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4D4D4D"/>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4D4D4D"/>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4D4D4D"/>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4D4D4D"/>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4D4D4D"/>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4D4D4D"/>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9"/>
          <p:cNvSpPr txBox="1">
            <a:spLocks noGrp="1"/>
          </p:cNvSpPr>
          <p:nvPr>
            <p:ph type="title"/>
          </p:nvPr>
        </p:nvSpPr>
        <p:spPr>
          <a:xfrm>
            <a:off x="457200" y="381000"/>
            <a:ext cx="8229600" cy="16002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39"/>
          <p:cNvSpPr txBox="1">
            <a:spLocks noGrp="1"/>
          </p:cNvSpPr>
          <p:nvPr>
            <p:ph type="body" idx="1"/>
          </p:nvPr>
        </p:nvSpPr>
        <p:spPr>
          <a:xfrm>
            <a:off x="609600" y="2057400"/>
            <a:ext cx="7924800" cy="4038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9"/>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9"/>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i="0" u="none" strike="noStrike" cap="none">
                <a:solidFill>
                  <a:srgbClr val="4D4D4D"/>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4D4D4D"/>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4D4D4D"/>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4D4D4D"/>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4D4D4D"/>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4D4D4D"/>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4D4D4D"/>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4D4D4D"/>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40"/>
          <p:cNvSpPr txBox="1">
            <a:spLocks noGrp="1"/>
          </p:cNvSpPr>
          <p:nvPr>
            <p:ph type="title"/>
          </p:nvPr>
        </p:nvSpPr>
        <p:spPr>
          <a:xfrm>
            <a:off x="457200" y="381000"/>
            <a:ext cx="8229600" cy="16002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40"/>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0"/>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i="0" u="none" strike="noStrike" cap="none">
                <a:solidFill>
                  <a:srgbClr val="4D4D4D"/>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4D4D4D"/>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4D4D4D"/>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4D4D4D"/>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4D4D4D"/>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4D4D4D"/>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4D4D4D"/>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4D4D4D"/>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1"/>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1"/>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2"/>
          <p:cNvSpPr txBox="1">
            <a:spLocks noGrp="1"/>
          </p:cNvSpPr>
          <p:nvPr>
            <p:ph type="title"/>
          </p:nvPr>
        </p:nvSpPr>
        <p:spPr>
          <a:xfrm>
            <a:off x="722313" y="4406900"/>
            <a:ext cx="7772400" cy="1362075"/>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t" anchorCtr="0">
            <a:noAutofit/>
          </a:bodyPr>
          <a:lstStyle>
            <a:lvl1pPr lvl="0" algn="l">
              <a:lnSpc>
                <a:spcPct val="90000"/>
              </a:lnSpc>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Candara"/>
              <a:buNone/>
              <a:defRPr sz="2000"/>
            </a:lvl1pPr>
            <a:lvl2pPr marL="914400" lvl="1" indent="-228600" algn="l">
              <a:spcBef>
                <a:spcPts val="360"/>
              </a:spcBef>
              <a:spcAft>
                <a:spcPts val="0"/>
              </a:spcAft>
              <a:buClr>
                <a:schemeClr val="dk1"/>
              </a:buClr>
              <a:buSzPts val="1800"/>
              <a:buFont typeface="Candara"/>
              <a:buNone/>
              <a:defRPr sz="1800"/>
            </a:lvl2pPr>
            <a:lvl3pPr marL="1371600" lvl="2" indent="-228600" algn="l">
              <a:spcBef>
                <a:spcPts val="320"/>
              </a:spcBef>
              <a:spcAft>
                <a:spcPts val="0"/>
              </a:spcAft>
              <a:buClr>
                <a:schemeClr val="dk1"/>
              </a:buClr>
              <a:buSzPts val="1600"/>
              <a:buFont typeface="Candara"/>
              <a:buNone/>
              <a:defRPr sz="1600"/>
            </a:lvl3pPr>
            <a:lvl4pPr marL="1828800" lvl="3" indent="-228600" algn="l">
              <a:spcBef>
                <a:spcPts val="280"/>
              </a:spcBef>
              <a:spcAft>
                <a:spcPts val="0"/>
              </a:spcAft>
              <a:buClr>
                <a:schemeClr val="dk1"/>
              </a:buClr>
              <a:buSzPts val="1400"/>
              <a:buFont typeface="Candara"/>
              <a:buNone/>
              <a:defRPr sz="1400"/>
            </a:lvl4pPr>
            <a:lvl5pPr marL="2286000" lvl="4" indent="-228600" algn="l">
              <a:spcBef>
                <a:spcPts val="280"/>
              </a:spcBef>
              <a:spcAft>
                <a:spcPts val="0"/>
              </a:spcAft>
              <a:buClr>
                <a:schemeClr val="dk1"/>
              </a:buClr>
              <a:buSzPts val="1400"/>
              <a:buFont typeface="Candara"/>
              <a:buNone/>
              <a:defRPr sz="1400"/>
            </a:lvl5pPr>
            <a:lvl6pPr marL="2743200" lvl="5" indent="-228600" algn="l">
              <a:spcBef>
                <a:spcPts val="280"/>
              </a:spcBef>
              <a:spcAft>
                <a:spcPts val="0"/>
              </a:spcAft>
              <a:buClr>
                <a:schemeClr val="dk1"/>
              </a:buClr>
              <a:buSzPts val="1400"/>
              <a:buFont typeface="Arial"/>
              <a:buNone/>
              <a:defRPr sz="1400"/>
            </a:lvl6pPr>
            <a:lvl7pPr marL="3200400" lvl="6" indent="-228600" algn="l">
              <a:spcBef>
                <a:spcPts val="280"/>
              </a:spcBef>
              <a:spcAft>
                <a:spcPts val="0"/>
              </a:spcAft>
              <a:buClr>
                <a:schemeClr val="dk1"/>
              </a:buClr>
              <a:buSzPts val="1400"/>
              <a:buFont typeface="Arial"/>
              <a:buNone/>
              <a:defRPr sz="1400"/>
            </a:lvl7pPr>
            <a:lvl8pPr marL="3657600" lvl="7" indent="-228600" algn="l">
              <a:spcBef>
                <a:spcPts val="280"/>
              </a:spcBef>
              <a:spcAft>
                <a:spcPts val="0"/>
              </a:spcAft>
              <a:buClr>
                <a:schemeClr val="dk1"/>
              </a:buClr>
              <a:buSzPts val="1400"/>
              <a:buFont typeface="Arial"/>
              <a:buNone/>
              <a:defRPr sz="1400"/>
            </a:lvl8pPr>
            <a:lvl9pPr marL="4114800" lvl="8" indent="-228600" algn="l">
              <a:spcBef>
                <a:spcPts val="280"/>
              </a:spcBef>
              <a:spcAft>
                <a:spcPts val="0"/>
              </a:spcAft>
              <a:buClr>
                <a:schemeClr val="dk1"/>
              </a:buClr>
              <a:buSzPts val="1400"/>
              <a:buFont typeface="Arial"/>
              <a:buNone/>
              <a:defRPr sz="1400"/>
            </a:lvl9pPr>
          </a:lstStyle>
          <a:p>
            <a:endParaRPr/>
          </a:p>
        </p:txBody>
      </p:sp>
      <p:sp>
        <p:nvSpPr>
          <p:cNvPr id="34" name="Google Shape;34;p42"/>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2"/>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43"/>
          <p:cNvSpPr txBox="1">
            <a:spLocks noGrp="1"/>
          </p:cNvSpPr>
          <p:nvPr>
            <p:ph type="title"/>
          </p:nvPr>
        </p:nvSpPr>
        <p:spPr>
          <a:xfrm>
            <a:off x="457200" y="381000"/>
            <a:ext cx="8229600" cy="16002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43"/>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Candara"/>
              <a:buChar char="•"/>
              <a:defRPr sz="2800"/>
            </a:lvl1pPr>
            <a:lvl2pPr marL="914400" lvl="1" indent="-381000" algn="l">
              <a:spcBef>
                <a:spcPts val="480"/>
              </a:spcBef>
              <a:spcAft>
                <a:spcPts val="0"/>
              </a:spcAft>
              <a:buClr>
                <a:schemeClr val="dk1"/>
              </a:buClr>
              <a:buSzPts val="2400"/>
              <a:buFont typeface="Candara"/>
              <a:buChar char="–"/>
              <a:defRPr sz="2400"/>
            </a:lvl2pPr>
            <a:lvl3pPr marL="1371600" lvl="2" indent="-355600" algn="l">
              <a:spcBef>
                <a:spcPts val="400"/>
              </a:spcBef>
              <a:spcAft>
                <a:spcPts val="0"/>
              </a:spcAft>
              <a:buClr>
                <a:schemeClr val="dk1"/>
              </a:buClr>
              <a:buSzPts val="2000"/>
              <a:buFont typeface="Candara"/>
              <a:buChar char="•"/>
              <a:defRPr sz="2000"/>
            </a:lvl3pPr>
            <a:lvl4pPr marL="1828800" lvl="3" indent="-342900" algn="l">
              <a:spcBef>
                <a:spcPts val="360"/>
              </a:spcBef>
              <a:spcAft>
                <a:spcPts val="0"/>
              </a:spcAft>
              <a:buClr>
                <a:schemeClr val="dk1"/>
              </a:buClr>
              <a:buSzPts val="1800"/>
              <a:buFont typeface="Candara"/>
              <a:buChar char="–"/>
              <a:defRPr sz="1800"/>
            </a:lvl4pPr>
            <a:lvl5pPr marL="2286000" lvl="4" indent="-342900" algn="l">
              <a:spcBef>
                <a:spcPts val="360"/>
              </a:spcBef>
              <a:spcAft>
                <a:spcPts val="0"/>
              </a:spcAft>
              <a:buClr>
                <a:schemeClr val="dk1"/>
              </a:buClr>
              <a:buSzPts val="1800"/>
              <a:buFont typeface="Candara"/>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39" name="Google Shape;39;p43"/>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Candara"/>
              <a:buChar char="•"/>
              <a:defRPr sz="2800"/>
            </a:lvl1pPr>
            <a:lvl2pPr marL="914400" lvl="1" indent="-381000" algn="l">
              <a:spcBef>
                <a:spcPts val="480"/>
              </a:spcBef>
              <a:spcAft>
                <a:spcPts val="0"/>
              </a:spcAft>
              <a:buClr>
                <a:schemeClr val="dk1"/>
              </a:buClr>
              <a:buSzPts val="2400"/>
              <a:buFont typeface="Candara"/>
              <a:buChar char="–"/>
              <a:defRPr sz="2400"/>
            </a:lvl2pPr>
            <a:lvl3pPr marL="1371600" lvl="2" indent="-355600" algn="l">
              <a:spcBef>
                <a:spcPts val="400"/>
              </a:spcBef>
              <a:spcAft>
                <a:spcPts val="0"/>
              </a:spcAft>
              <a:buClr>
                <a:schemeClr val="dk1"/>
              </a:buClr>
              <a:buSzPts val="2000"/>
              <a:buFont typeface="Candara"/>
              <a:buChar char="•"/>
              <a:defRPr sz="2000"/>
            </a:lvl3pPr>
            <a:lvl4pPr marL="1828800" lvl="3" indent="-342900" algn="l">
              <a:spcBef>
                <a:spcPts val="360"/>
              </a:spcBef>
              <a:spcAft>
                <a:spcPts val="0"/>
              </a:spcAft>
              <a:buClr>
                <a:schemeClr val="dk1"/>
              </a:buClr>
              <a:buSzPts val="1800"/>
              <a:buFont typeface="Candara"/>
              <a:buChar char="–"/>
              <a:defRPr sz="1800"/>
            </a:lvl4pPr>
            <a:lvl5pPr marL="2286000" lvl="4" indent="-342900" algn="l">
              <a:spcBef>
                <a:spcPts val="360"/>
              </a:spcBef>
              <a:spcAft>
                <a:spcPts val="0"/>
              </a:spcAft>
              <a:buClr>
                <a:schemeClr val="dk1"/>
              </a:buClr>
              <a:buSzPts val="1800"/>
              <a:buFont typeface="Candara"/>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0" name="Google Shape;40;p43"/>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3"/>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44"/>
          <p:cNvSpPr txBox="1">
            <a:spLocks noGrp="1"/>
          </p:cNvSpPr>
          <p:nvPr>
            <p:ph type="title"/>
          </p:nvPr>
        </p:nvSpPr>
        <p:spPr>
          <a:xfrm>
            <a:off x="457200" y="274638"/>
            <a:ext cx="8229600" cy="11430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4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Candara"/>
              <a:buNone/>
              <a:defRPr sz="2400" b="1"/>
            </a:lvl1pPr>
            <a:lvl2pPr marL="914400" lvl="1" indent="-228600" algn="l">
              <a:spcBef>
                <a:spcPts val="400"/>
              </a:spcBef>
              <a:spcAft>
                <a:spcPts val="0"/>
              </a:spcAft>
              <a:buClr>
                <a:schemeClr val="dk1"/>
              </a:buClr>
              <a:buSzPts val="2000"/>
              <a:buFont typeface="Candara"/>
              <a:buNone/>
              <a:defRPr sz="2000" b="1"/>
            </a:lvl2pPr>
            <a:lvl3pPr marL="1371600" lvl="2" indent="-228600" algn="l">
              <a:spcBef>
                <a:spcPts val="360"/>
              </a:spcBef>
              <a:spcAft>
                <a:spcPts val="0"/>
              </a:spcAft>
              <a:buClr>
                <a:schemeClr val="dk1"/>
              </a:buClr>
              <a:buSzPts val="1800"/>
              <a:buFont typeface="Candara"/>
              <a:buNone/>
              <a:defRPr sz="1800" b="1"/>
            </a:lvl3pPr>
            <a:lvl4pPr marL="1828800" lvl="3" indent="-228600" algn="l">
              <a:spcBef>
                <a:spcPts val="320"/>
              </a:spcBef>
              <a:spcAft>
                <a:spcPts val="0"/>
              </a:spcAft>
              <a:buClr>
                <a:schemeClr val="dk1"/>
              </a:buClr>
              <a:buSzPts val="1600"/>
              <a:buFont typeface="Candara"/>
              <a:buNone/>
              <a:defRPr sz="1600" b="1"/>
            </a:lvl4pPr>
            <a:lvl5pPr marL="2286000" lvl="4" indent="-228600" algn="l">
              <a:spcBef>
                <a:spcPts val="320"/>
              </a:spcBef>
              <a:spcAft>
                <a:spcPts val="0"/>
              </a:spcAft>
              <a:buClr>
                <a:schemeClr val="dk1"/>
              </a:buClr>
              <a:buSzPts val="1600"/>
              <a:buFont typeface="Candara"/>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5" name="Google Shape;45;p4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Candara"/>
              <a:buChar char="•"/>
              <a:defRPr sz="2400"/>
            </a:lvl1pPr>
            <a:lvl2pPr marL="914400" lvl="1" indent="-355600" algn="l">
              <a:spcBef>
                <a:spcPts val="400"/>
              </a:spcBef>
              <a:spcAft>
                <a:spcPts val="0"/>
              </a:spcAft>
              <a:buClr>
                <a:schemeClr val="dk1"/>
              </a:buClr>
              <a:buSzPts val="2000"/>
              <a:buFont typeface="Candara"/>
              <a:buChar char="–"/>
              <a:defRPr sz="2000"/>
            </a:lvl2pPr>
            <a:lvl3pPr marL="1371600" lvl="2" indent="-342900" algn="l">
              <a:spcBef>
                <a:spcPts val="360"/>
              </a:spcBef>
              <a:spcAft>
                <a:spcPts val="0"/>
              </a:spcAft>
              <a:buClr>
                <a:schemeClr val="dk1"/>
              </a:buClr>
              <a:buSzPts val="1800"/>
              <a:buFont typeface="Candara"/>
              <a:buChar char="•"/>
              <a:defRPr sz="1800"/>
            </a:lvl3pPr>
            <a:lvl4pPr marL="1828800" lvl="3" indent="-330200" algn="l">
              <a:spcBef>
                <a:spcPts val="320"/>
              </a:spcBef>
              <a:spcAft>
                <a:spcPts val="0"/>
              </a:spcAft>
              <a:buClr>
                <a:schemeClr val="dk1"/>
              </a:buClr>
              <a:buSzPts val="1600"/>
              <a:buFont typeface="Candara"/>
              <a:buChar char="–"/>
              <a:defRPr sz="1600"/>
            </a:lvl4pPr>
            <a:lvl5pPr marL="2286000" lvl="4" indent="-330200" algn="l">
              <a:spcBef>
                <a:spcPts val="320"/>
              </a:spcBef>
              <a:spcAft>
                <a:spcPts val="0"/>
              </a:spcAft>
              <a:buClr>
                <a:schemeClr val="dk1"/>
              </a:buClr>
              <a:buSzPts val="1600"/>
              <a:buFont typeface="Candara"/>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6" name="Google Shape;46;p4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Candara"/>
              <a:buNone/>
              <a:defRPr sz="2400" b="1"/>
            </a:lvl1pPr>
            <a:lvl2pPr marL="914400" lvl="1" indent="-228600" algn="l">
              <a:spcBef>
                <a:spcPts val="400"/>
              </a:spcBef>
              <a:spcAft>
                <a:spcPts val="0"/>
              </a:spcAft>
              <a:buClr>
                <a:schemeClr val="dk1"/>
              </a:buClr>
              <a:buSzPts val="2000"/>
              <a:buFont typeface="Candara"/>
              <a:buNone/>
              <a:defRPr sz="2000" b="1"/>
            </a:lvl2pPr>
            <a:lvl3pPr marL="1371600" lvl="2" indent="-228600" algn="l">
              <a:spcBef>
                <a:spcPts val="360"/>
              </a:spcBef>
              <a:spcAft>
                <a:spcPts val="0"/>
              </a:spcAft>
              <a:buClr>
                <a:schemeClr val="dk1"/>
              </a:buClr>
              <a:buSzPts val="1800"/>
              <a:buFont typeface="Candara"/>
              <a:buNone/>
              <a:defRPr sz="1800" b="1"/>
            </a:lvl3pPr>
            <a:lvl4pPr marL="1828800" lvl="3" indent="-228600" algn="l">
              <a:spcBef>
                <a:spcPts val="320"/>
              </a:spcBef>
              <a:spcAft>
                <a:spcPts val="0"/>
              </a:spcAft>
              <a:buClr>
                <a:schemeClr val="dk1"/>
              </a:buClr>
              <a:buSzPts val="1600"/>
              <a:buFont typeface="Candara"/>
              <a:buNone/>
              <a:defRPr sz="1600" b="1"/>
            </a:lvl4pPr>
            <a:lvl5pPr marL="2286000" lvl="4" indent="-228600" algn="l">
              <a:spcBef>
                <a:spcPts val="320"/>
              </a:spcBef>
              <a:spcAft>
                <a:spcPts val="0"/>
              </a:spcAft>
              <a:buClr>
                <a:schemeClr val="dk1"/>
              </a:buClr>
              <a:buSzPts val="1600"/>
              <a:buFont typeface="Candara"/>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7" name="Google Shape;47;p4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Candara"/>
              <a:buChar char="•"/>
              <a:defRPr sz="2400"/>
            </a:lvl1pPr>
            <a:lvl2pPr marL="914400" lvl="1" indent="-355600" algn="l">
              <a:spcBef>
                <a:spcPts val="400"/>
              </a:spcBef>
              <a:spcAft>
                <a:spcPts val="0"/>
              </a:spcAft>
              <a:buClr>
                <a:schemeClr val="dk1"/>
              </a:buClr>
              <a:buSzPts val="2000"/>
              <a:buFont typeface="Candara"/>
              <a:buChar char="–"/>
              <a:defRPr sz="2000"/>
            </a:lvl2pPr>
            <a:lvl3pPr marL="1371600" lvl="2" indent="-342900" algn="l">
              <a:spcBef>
                <a:spcPts val="360"/>
              </a:spcBef>
              <a:spcAft>
                <a:spcPts val="0"/>
              </a:spcAft>
              <a:buClr>
                <a:schemeClr val="dk1"/>
              </a:buClr>
              <a:buSzPts val="1800"/>
              <a:buFont typeface="Candara"/>
              <a:buChar char="•"/>
              <a:defRPr sz="1800"/>
            </a:lvl3pPr>
            <a:lvl4pPr marL="1828800" lvl="3" indent="-330200" algn="l">
              <a:spcBef>
                <a:spcPts val="320"/>
              </a:spcBef>
              <a:spcAft>
                <a:spcPts val="0"/>
              </a:spcAft>
              <a:buClr>
                <a:schemeClr val="dk1"/>
              </a:buClr>
              <a:buSzPts val="1600"/>
              <a:buFont typeface="Candara"/>
              <a:buChar char="–"/>
              <a:defRPr sz="1600"/>
            </a:lvl4pPr>
            <a:lvl5pPr marL="2286000" lvl="4" indent="-330200" algn="l">
              <a:spcBef>
                <a:spcPts val="320"/>
              </a:spcBef>
              <a:spcAft>
                <a:spcPts val="0"/>
              </a:spcAft>
              <a:buClr>
                <a:schemeClr val="dk1"/>
              </a:buClr>
              <a:buSzPts val="1600"/>
              <a:buFont typeface="Candara"/>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8" name="Google Shape;48;p44"/>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4"/>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45"/>
          <p:cNvSpPr txBox="1">
            <a:spLocks noGrp="1"/>
          </p:cNvSpPr>
          <p:nvPr>
            <p:ph type="title"/>
          </p:nvPr>
        </p:nvSpPr>
        <p:spPr>
          <a:xfrm>
            <a:off x="457200" y="273050"/>
            <a:ext cx="3008313" cy="116205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4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Candara"/>
              <a:buChar char="•"/>
              <a:defRPr sz="3200"/>
            </a:lvl1pPr>
            <a:lvl2pPr marL="914400" lvl="1" indent="-406400" algn="l">
              <a:spcBef>
                <a:spcPts val="560"/>
              </a:spcBef>
              <a:spcAft>
                <a:spcPts val="0"/>
              </a:spcAft>
              <a:buClr>
                <a:schemeClr val="dk1"/>
              </a:buClr>
              <a:buSzPts val="2800"/>
              <a:buFont typeface="Candara"/>
              <a:buChar char="–"/>
              <a:defRPr sz="2800"/>
            </a:lvl2pPr>
            <a:lvl3pPr marL="1371600" lvl="2" indent="-381000" algn="l">
              <a:spcBef>
                <a:spcPts val="480"/>
              </a:spcBef>
              <a:spcAft>
                <a:spcPts val="0"/>
              </a:spcAft>
              <a:buClr>
                <a:schemeClr val="dk1"/>
              </a:buClr>
              <a:buSzPts val="2400"/>
              <a:buFont typeface="Candara"/>
              <a:buChar char="•"/>
              <a:defRPr sz="2400"/>
            </a:lvl3pPr>
            <a:lvl4pPr marL="1828800" lvl="3" indent="-355600" algn="l">
              <a:spcBef>
                <a:spcPts val="400"/>
              </a:spcBef>
              <a:spcAft>
                <a:spcPts val="0"/>
              </a:spcAft>
              <a:buClr>
                <a:schemeClr val="dk1"/>
              </a:buClr>
              <a:buSzPts val="2000"/>
              <a:buFont typeface="Candara"/>
              <a:buChar char="–"/>
              <a:defRPr sz="2000"/>
            </a:lvl4pPr>
            <a:lvl5pPr marL="2286000" lvl="4" indent="-355600" algn="l">
              <a:spcBef>
                <a:spcPts val="400"/>
              </a:spcBef>
              <a:spcAft>
                <a:spcPts val="0"/>
              </a:spcAft>
              <a:buClr>
                <a:schemeClr val="dk1"/>
              </a:buClr>
              <a:buSzPts val="2000"/>
              <a:buFont typeface="Candara"/>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53" name="Google Shape;53;p4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Candara"/>
              <a:buNone/>
              <a:defRPr sz="1400"/>
            </a:lvl1pPr>
            <a:lvl2pPr marL="914400" lvl="1" indent="-228600" algn="l">
              <a:spcBef>
                <a:spcPts val="240"/>
              </a:spcBef>
              <a:spcAft>
                <a:spcPts val="0"/>
              </a:spcAft>
              <a:buClr>
                <a:schemeClr val="dk1"/>
              </a:buClr>
              <a:buSzPts val="1200"/>
              <a:buFont typeface="Candara"/>
              <a:buNone/>
              <a:defRPr sz="1200"/>
            </a:lvl2pPr>
            <a:lvl3pPr marL="1371600" lvl="2" indent="-228600" algn="l">
              <a:spcBef>
                <a:spcPts val="200"/>
              </a:spcBef>
              <a:spcAft>
                <a:spcPts val="0"/>
              </a:spcAft>
              <a:buClr>
                <a:schemeClr val="dk1"/>
              </a:buClr>
              <a:buSzPts val="1000"/>
              <a:buFont typeface="Candara"/>
              <a:buNone/>
              <a:defRPr sz="1000"/>
            </a:lvl3pPr>
            <a:lvl4pPr marL="1828800" lvl="3" indent="-228600" algn="l">
              <a:spcBef>
                <a:spcPts val="180"/>
              </a:spcBef>
              <a:spcAft>
                <a:spcPts val="0"/>
              </a:spcAft>
              <a:buClr>
                <a:schemeClr val="dk1"/>
              </a:buClr>
              <a:buSzPts val="900"/>
              <a:buFont typeface="Candara"/>
              <a:buNone/>
              <a:defRPr sz="900"/>
            </a:lvl4pPr>
            <a:lvl5pPr marL="2286000" lvl="4" indent="-228600" algn="l">
              <a:spcBef>
                <a:spcPts val="180"/>
              </a:spcBef>
              <a:spcAft>
                <a:spcPts val="0"/>
              </a:spcAft>
              <a:buClr>
                <a:schemeClr val="dk1"/>
              </a:buClr>
              <a:buSzPts val="900"/>
              <a:buFont typeface="Candara"/>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54" name="Google Shape;54;p45"/>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5"/>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46"/>
          <p:cNvSpPr txBox="1">
            <a:spLocks noGrp="1"/>
          </p:cNvSpPr>
          <p:nvPr>
            <p:ph type="title"/>
          </p:nvPr>
        </p:nvSpPr>
        <p:spPr>
          <a:xfrm>
            <a:off x="1792288" y="4800600"/>
            <a:ext cx="5486400" cy="566738"/>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46"/>
          <p:cNvSpPr>
            <a:spLocks noGrp="1"/>
          </p:cNvSpPr>
          <p:nvPr>
            <p:ph type="pic" idx="2"/>
          </p:nvPr>
        </p:nvSpPr>
        <p:spPr>
          <a:xfrm>
            <a:off x="1792288" y="612775"/>
            <a:ext cx="5486400" cy="4114800"/>
          </a:xfrm>
          <a:prstGeom prst="rect">
            <a:avLst/>
          </a:prstGeom>
          <a:noFill/>
          <a:ln>
            <a:noFill/>
          </a:ln>
        </p:spPr>
      </p:sp>
      <p:sp>
        <p:nvSpPr>
          <p:cNvPr id="59" name="Google Shape;59;p4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Candara"/>
              <a:buNone/>
              <a:defRPr sz="1400"/>
            </a:lvl1pPr>
            <a:lvl2pPr marL="914400" lvl="1" indent="-228600" algn="l">
              <a:spcBef>
                <a:spcPts val="240"/>
              </a:spcBef>
              <a:spcAft>
                <a:spcPts val="0"/>
              </a:spcAft>
              <a:buClr>
                <a:schemeClr val="dk1"/>
              </a:buClr>
              <a:buSzPts val="1200"/>
              <a:buFont typeface="Candara"/>
              <a:buNone/>
              <a:defRPr sz="1200"/>
            </a:lvl2pPr>
            <a:lvl3pPr marL="1371600" lvl="2" indent="-228600" algn="l">
              <a:spcBef>
                <a:spcPts val="200"/>
              </a:spcBef>
              <a:spcAft>
                <a:spcPts val="0"/>
              </a:spcAft>
              <a:buClr>
                <a:schemeClr val="dk1"/>
              </a:buClr>
              <a:buSzPts val="1000"/>
              <a:buFont typeface="Candara"/>
              <a:buNone/>
              <a:defRPr sz="1000"/>
            </a:lvl3pPr>
            <a:lvl4pPr marL="1828800" lvl="3" indent="-228600" algn="l">
              <a:spcBef>
                <a:spcPts val="180"/>
              </a:spcBef>
              <a:spcAft>
                <a:spcPts val="0"/>
              </a:spcAft>
              <a:buClr>
                <a:schemeClr val="dk1"/>
              </a:buClr>
              <a:buSzPts val="900"/>
              <a:buFont typeface="Candara"/>
              <a:buNone/>
              <a:defRPr sz="900"/>
            </a:lvl4pPr>
            <a:lvl5pPr marL="2286000" lvl="4" indent="-228600" algn="l">
              <a:spcBef>
                <a:spcPts val="180"/>
              </a:spcBef>
              <a:spcAft>
                <a:spcPts val="0"/>
              </a:spcAft>
              <a:buClr>
                <a:schemeClr val="dk1"/>
              </a:buClr>
              <a:buSzPts val="900"/>
              <a:buFont typeface="Candara"/>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0" name="Google Shape;60;p46"/>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6"/>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47"/>
          <p:cNvSpPr txBox="1">
            <a:spLocks noGrp="1"/>
          </p:cNvSpPr>
          <p:nvPr>
            <p:ph type="title"/>
          </p:nvPr>
        </p:nvSpPr>
        <p:spPr>
          <a:xfrm>
            <a:off x="457200" y="381000"/>
            <a:ext cx="8229600" cy="16002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47"/>
          <p:cNvSpPr txBox="1">
            <a:spLocks noGrp="1"/>
          </p:cNvSpPr>
          <p:nvPr>
            <p:ph type="body" idx="1"/>
          </p:nvPr>
        </p:nvSpPr>
        <p:spPr>
          <a:xfrm rot="5400000">
            <a:off x="2552700" y="114300"/>
            <a:ext cx="4038600" cy="792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47"/>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7"/>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7"/>
        <p:cNvGrpSpPr/>
        <p:nvPr/>
      </p:nvGrpSpPr>
      <p:grpSpPr>
        <a:xfrm>
          <a:off x="0" y="0"/>
          <a:ext cx="0" cy="0"/>
          <a:chOff x="0" y="0"/>
          <a:chExt cx="0" cy="0"/>
        </a:xfrm>
      </p:grpSpPr>
      <p:sp>
        <p:nvSpPr>
          <p:cNvPr id="68" name="Google Shape;68;p48"/>
          <p:cNvSpPr txBox="1">
            <a:spLocks noGrp="1"/>
          </p:cNvSpPr>
          <p:nvPr>
            <p:ph type="title"/>
          </p:nvPr>
        </p:nvSpPr>
        <p:spPr>
          <a:xfrm rot="5400000">
            <a:off x="4800600" y="2209800"/>
            <a:ext cx="5715000" cy="20574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48"/>
          <p:cNvSpPr txBox="1">
            <a:spLocks noGrp="1"/>
          </p:cNvSpPr>
          <p:nvPr>
            <p:ph type="body" idx="1"/>
          </p:nvPr>
        </p:nvSpPr>
        <p:spPr>
          <a:xfrm rot="5400000">
            <a:off x="609600" y="228600"/>
            <a:ext cx="5715000"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 name="Google Shape;70;p48"/>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8"/>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sz="1200" b="0">
                <a:solidFill>
                  <a:srgbClr val="4D4D4D"/>
                </a:solidFill>
                <a:latin typeface="Calibri"/>
                <a:ea typeface="Calibri"/>
                <a:cs typeface="Calibri"/>
                <a:sym typeface="Calibri"/>
              </a:defRPr>
            </a:lvl1pPr>
            <a:lvl2pPr marL="0" lvl="1" indent="0" algn="r">
              <a:spcBef>
                <a:spcPts val="0"/>
              </a:spcBef>
              <a:spcAft>
                <a:spcPts val="0"/>
              </a:spcAft>
              <a:buNone/>
              <a:defRPr sz="1200" b="0">
                <a:solidFill>
                  <a:srgbClr val="4D4D4D"/>
                </a:solidFill>
                <a:latin typeface="Calibri"/>
                <a:ea typeface="Calibri"/>
                <a:cs typeface="Calibri"/>
                <a:sym typeface="Calibri"/>
              </a:defRPr>
            </a:lvl2pPr>
            <a:lvl3pPr marL="0" lvl="2" indent="0" algn="r">
              <a:spcBef>
                <a:spcPts val="0"/>
              </a:spcBef>
              <a:spcAft>
                <a:spcPts val="0"/>
              </a:spcAft>
              <a:buNone/>
              <a:defRPr sz="1200" b="0">
                <a:solidFill>
                  <a:srgbClr val="4D4D4D"/>
                </a:solidFill>
                <a:latin typeface="Calibri"/>
                <a:ea typeface="Calibri"/>
                <a:cs typeface="Calibri"/>
                <a:sym typeface="Calibri"/>
              </a:defRPr>
            </a:lvl3pPr>
            <a:lvl4pPr marL="0" lvl="3" indent="0" algn="r">
              <a:spcBef>
                <a:spcPts val="0"/>
              </a:spcBef>
              <a:spcAft>
                <a:spcPts val="0"/>
              </a:spcAft>
              <a:buNone/>
              <a:defRPr sz="1200" b="0">
                <a:solidFill>
                  <a:srgbClr val="4D4D4D"/>
                </a:solidFill>
                <a:latin typeface="Calibri"/>
                <a:ea typeface="Calibri"/>
                <a:cs typeface="Calibri"/>
                <a:sym typeface="Calibri"/>
              </a:defRPr>
            </a:lvl4pPr>
            <a:lvl5pPr marL="0" lvl="4" indent="0" algn="r">
              <a:spcBef>
                <a:spcPts val="0"/>
              </a:spcBef>
              <a:spcAft>
                <a:spcPts val="0"/>
              </a:spcAft>
              <a:buNone/>
              <a:defRPr sz="1200" b="0">
                <a:solidFill>
                  <a:srgbClr val="4D4D4D"/>
                </a:solidFill>
                <a:latin typeface="Calibri"/>
                <a:ea typeface="Calibri"/>
                <a:cs typeface="Calibri"/>
                <a:sym typeface="Calibri"/>
              </a:defRPr>
            </a:lvl5pPr>
            <a:lvl6pPr marL="0" lvl="5" indent="0" algn="r">
              <a:spcBef>
                <a:spcPts val="0"/>
              </a:spcBef>
              <a:spcAft>
                <a:spcPts val="0"/>
              </a:spcAft>
              <a:buNone/>
              <a:defRPr sz="1200" b="0">
                <a:solidFill>
                  <a:srgbClr val="4D4D4D"/>
                </a:solidFill>
                <a:latin typeface="Calibri"/>
                <a:ea typeface="Calibri"/>
                <a:cs typeface="Calibri"/>
                <a:sym typeface="Calibri"/>
              </a:defRPr>
            </a:lvl6pPr>
            <a:lvl7pPr marL="0" lvl="6" indent="0" algn="r">
              <a:spcBef>
                <a:spcPts val="0"/>
              </a:spcBef>
              <a:spcAft>
                <a:spcPts val="0"/>
              </a:spcAft>
              <a:buNone/>
              <a:defRPr sz="1200" b="0">
                <a:solidFill>
                  <a:srgbClr val="4D4D4D"/>
                </a:solidFill>
                <a:latin typeface="Calibri"/>
                <a:ea typeface="Calibri"/>
                <a:cs typeface="Calibri"/>
                <a:sym typeface="Calibri"/>
              </a:defRPr>
            </a:lvl7pPr>
            <a:lvl8pPr marL="0" lvl="7" indent="0" algn="r">
              <a:spcBef>
                <a:spcPts val="0"/>
              </a:spcBef>
              <a:spcAft>
                <a:spcPts val="0"/>
              </a:spcAft>
              <a:buNone/>
              <a:defRPr sz="1200" b="0">
                <a:solidFill>
                  <a:srgbClr val="4D4D4D"/>
                </a:solidFill>
                <a:latin typeface="Calibri"/>
                <a:ea typeface="Calibri"/>
                <a:cs typeface="Calibri"/>
                <a:sym typeface="Calibri"/>
              </a:defRPr>
            </a:lvl8pPr>
            <a:lvl9pPr marL="0" lvl="8" indent="0" algn="r">
              <a:spcBef>
                <a:spcPts val="0"/>
              </a:spcBef>
              <a:spcAft>
                <a:spcPts val="0"/>
              </a:spcAft>
              <a:buNone/>
              <a:defRPr sz="1200" b="0">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57200" y="381000"/>
            <a:ext cx="8229600" cy="1600200"/>
          </a:xfrm>
          <a:prstGeom prst="rect">
            <a:avLst/>
          </a:prstGeom>
          <a:solidFill>
            <a:srgbClr val="292929"/>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lvl1pPr marR="0" lvl="0" algn="ctr" rtl="0">
              <a:lnSpc>
                <a:spcPct val="90000"/>
              </a:lnSpc>
              <a:spcBef>
                <a:spcPts val="0"/>
              </a:spcBef>
              <a:spcAft>
                <a:spcPts val="0"/>
              </a:spcAft>
              <a:buSzPts val="1400"/>
              <a:buNone/>
              <a:defRPr sz="4800" b="1" i="0" u="none" strike="noStrike" cap="none">
                <a:solidFill>
                  <a:schemeClr val="lt1"/>
                </a:solidFill>
                <a:latin typeface="Candara"/>
                <a:ea typeface="Candara"/>
                <a:cs typeface="Candara"/>
                <a:sym typeface="Candara"/>
              </a:defRPr>
            </a:lvl1pPr>
            <a:lvl2pPr marR="0" lvl="1" algn="ctr" rtl="0">
              <a:spcBef>
                <a:spcPts val="0"/>
              </a:spcBef>
              <a:spcAft>
                <a:spcPts val="0"/>
              </a:spcAft>
              <a:buSzPts val="1400"/>
              <a:buNone/>
              <a:defRPr sz="4400" b="1" i="0" u="none" strike="noStrike" cap="none">
                <a:solidFill>
                  <a:schemeClr val="dk2"/>
                </a:solidFill>
                <a:latin typeface="Tahoma"/>
                <a:ea typeface="Tahoma"/>
                <a:cs typeface="Tahoma"/>
                <a:sym typeface="Tahoma"/>
              </a:defRPr>
            </a:lvl2pPr>
            <a:lvl3pPr marR="0" lvl="2" algn="ctr" rtl="0">
              <a:spcBef>
                <a:spcPts val="0"/>
              </a:spcBef>
              <a:spcAft>
                <a:spcPts val="0"/>
              </a:spcAft>
              <a:buSzPts val="1400"/>
              <a:buNone/>
              <a:defRPr sz="4400" b="1" i="0" u="none" strike="noStrike" cap="none">
                <a:solidFill>
                  <a:schemeClr val="dk2"/>
                </a:solidFill>
                <a:latin typeface="Tahoma"/>
                <a:ea typeface="Tahoma"/>
                <a:cs typeface="Tahoma"/>
                <a:sym typeface="Tahoma"/>
              </a:defRPr>
            </a:lvl3pPr>
            <a:lvl4pPr marR="0" lvl="3" algn="ctr" rtl="0">
              <a:spcBef>
                <a:spcPts val="0"/>
              </a:spcBef>
              <a:spcAft>
                <a:spcPts val="0"/>
              </a:spcAft>
              <a:buSzPts val="1400"/>
              <a:buNone/>
              <a:defRPr sz="4400" b="1" i="0" u="none" strike="noStrike" cap="none">
                <a:solidFill>
                  <a:schemeClr val="dk2"/>
                </a:solidFill>
                <a:latin typeface="Tahoma"/>
                <a:ea typeface="Tahoma"/>
                <a:cs typeface="Tahoma"/>
                <a:sym typeface="Tahoma"/>
              </a:defRPr>
            </a:lvl4pPr>
            <a:lvl5pPr marR="0" lvl="4" algn="ctr" rtl="0">
              <a:spcBef>
                <a:spcPts val="0"/>
              </a:spcBef>
              <a:spcAft>
                <a:spcPts val="0"/>
              </a:spcAft>
              <a:buSzPts val="1400"/>
              <a:buNone/>
              <a:defRPr sz="4400" b="1" i="0" u="none" strike="noStrike" cap="none">
                <a:solidFill>
                  <a:schemeClr val="dk2"/>
                </a:solidFill>
                <a:latin typeface="Tahoma"/>
                <a:ea typeface="Tahoma"/>
                <a:cs typeface="Tahoma"/>
                <a:sym typeface="Tahoma"/>
              </a:defRPr>
            </a:lvl5pPr>
            <a:lvl6pPr marR="0" lvl="5" algn="ctr" rtl="0">
              <a:spcBef>
                <a:spcPts val="0"/>
              </a:spcBef>
              <a:spcAft>
                <a:spcPts val="0"/>
              </a:spcAft>
              <a:buSzPts val="1400"/>
              <a:buNone/>
              <a:defRPr sz="4400" b="1" i="0" u="none" strike="noStrike" cap="none">
                <a:solidFill>
                  <a:schemeClr val="dk2"/>
                </a:solidFill>
                <a:latin typeface="Tahoma"/>
                <a:ea typeface="Tahoma"/>
                <a:cs typeface="Tahoma"/>
                <a:sym typeface="Tahoma"/>
              </a:defRPr>
            </a:lvl6pPr>
            <a:lvl7pPr marR="0" lvl="6" algn="ctr" rtl="0">
              <a:spcBef>
                <a:spcPts val="0"/>
              </a:spcBef>
              <a:spcAft>
                <a:spcPts val="0"/>
              </a:spcAft>
              <a:buSzPts val="1400"/>
              <a:buNone/>
              <a:defRPr sz="4400" b="1" i="0" u="none" strike="noStrike" cap="none">
                <a:solidFill>
                  <a:schemeClr val="dk2"/>
                </a:solidFill>
                <a:latin typeface="Tahoma"/>
                <a:ea typeface="Tahoma"/>
                <a:cs typeface="Tahoma"/>
                <a:sym typeface="Tahoma"/>
              </a:defRPr>
            </a:lvl7pPr>
            <a:lvl8pPr marR="0" lvl="7" algn="ctr" rtl="0">
              <a:spcBef>
                <a:spcPts val="0"/>
              </a:spcBef>
              <a:spcAft>
                <a:spcPts val="0"/>
              </a:spcAft>
              <a:buSzPts val="1400"/>
              <a:buNone/>
              <a:defRPr sz="4400" b="1" i="0" u="none" strike="noStrike" cap="none">
                <a:solidFill>
                  <a:schemeClr val="dk2"/>
                </a:solidFill>
                <a:latin typeface="Tahoma"/>
                <a:ea typeface="Tahoma"/>
                <a:cs typeface="Tahoma"/>
                <a:sym typeface="Tahoma"/>
              </a:defRPr>
            </a:lvl8pPr>
            <a:lvl9pPr marR="0" lvl="8" algn="ctr" rtl="0">
              <a:spcBef>
                <a:spcPts val="0"/>
              </a:spcBef>
              <a:spcAft>
                <a:spcPts val="0"/>
              </a:spcAft>
              <a:buSzPts val="1400"/>
              <a:buNone/>
              <a:defRPr sz="4400" b="1" i="0" u="none" strike="noStrike" cap="none">
                <a:solidFill>
                  <a:schemeClr val="dk2"/>
                </a:solidFill>
                <a:latin typeface="Tahoma"/>
                <a:ea typeface="Tahoma"/>
                <a:cs typeface="Tahoma"/>
                <a:sym typeface="Tahoma"/>
              </a:defRPr>
            </a:lvl9pPr>
          </a:lstStyle>
          <a:p>
            <a:endParaRPr/>
          </a:p>
        </p:txBody>
      </p:sp>
      <p:sp>
        <p:nvSpPr>
          <p:cNvPr id="11" name="Google Shape;11;p37"/>
          <p:cNvSpPr txBox="1">
            <a:spLocks noGrp="1"/>
          </p:cNvSpPr>
          <p:nvPr>
            <p:ph type="body" idx="1"/>
          </p:nvPr>
        </p:nvSpPr>
        <p:spPr>
          <a:xfrm>
            <a:off x="609600" y="2057400"/>
            <a:ext cx="7924800" cy="4038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Candara"/>
              <a:buChar char="•"/>
              <a:defRPr sz="3200" b="0" i="0" u="none" strike="noStrike" cap="none">
                <a:solidFill>
                  <a:schemeClr val="dk1"/>
                </a:solidFill>
                <a:latin typeface="Candara"/>
                <a:ea typeface="Candara"/>
                <a:cs typeface="Candara"/>
                <a:sym typeface="Candara"/>
              </a:defRPr>
            </a:lvl1pPr>
            <a:lvl2pPr marL="914400" marR="0" lvl="1" indent="-406400" algn="l" rtl="0">
              <a:spcBef>
                <a:spcPts val="560"/>
              </a:spcBef>
              <a:spcAft>
                <a:spcPts val="0"/>
              </a:spcAft>
              <a:buClr>
                <a:schemeClr val="dk1"/>
              </a:buClr>
              <a:buSzPts val="2800"/>
              <a:buFont typeface="Candara"/>
              <a:buChar char="–"/>
              <a:defRPr sz="2800" b="0" i="0" u="none" strike="noStrike" cap="none">
                <a:solidFill>
                  <a:schemeClr val="dk1"/>
                </a:solidFill>
                <a:latin typeface="Candara"/>
                <a:ea typeface="Candara"/>
                <a:cs typeface="Candara"/>
                <a:sym typeface="Candara"/>
              </a:defRPr>
            </a:lvl2pPr>
            <a:lvl3pPr marL="1371600" marR="0" lvl="2" indent="-406400" algn="l" rtl="0">
              <a:spcBef>
                <a:spcPts val="560"/>
              </a:spcBef>
              <a:spcAft>
                <a:spcPts val="0"/>
              </a:spcAft>
              <a:buClr>
                <a:schemeClr val="dk1"/>
              </a:buClr>
              <a:buSzPts val="2800"/>
              <a:buFont typeface="Candara"/>
              <a:buChar char="•"/>
              <a:defRPr sz="2800" b="0" i="0" u="none" strike="noStrike" cap="none">
                <a:solidFill>
                  <a:schemeClr val="dk1"/>
                </a:solidFill>
                <a:latin typeface="Candara"/>
                <a:ea typeface="Candara"/>
                <a:cs typeface="Candara"/>
                <a:sym typeface="Candara"/>
              </a:defRPr>
            </a:lvl3pPr>
            <a:lvl4pPr marL="1828800" marR="0" lvl="3" indent="-406400" algn="l" rtl="0">
              <a:spcBef>
                <a:spcPts val="560"/>
              </a:spcBef>
              <a:spcAft>
                <a:spcPts val="0"/>
              </a:spcAft>
              <a:buClr>
                <a:schemeClr val="dk1"/>
              </a:buClr>
              <a:buSzPts val="2800"/>
              <a:buFont typeface="Candara"/>
              <a:buChar char="–"/>
              <a:defRPr sz="2800" b="0" i="0" u="none" strike="noStrike" cap="none">
                <a:solidFill>
                  <a:schemeClr val="dk1"/>
                </a:solidFill>
                <a:latin typeface="Candara"/>
                <a:ea typeface="Candara"/>
                <a:cs typeface="Candara"/>
                <a:sym typeface="Candara"/>
              </a:defRPr>
            </a:lvl4pPr>
            <a:lvl5pPr marL="2286000" marR="0" lvl="4" indent="-406400" algn="l" rtl="0">
              <a:spcBef>
                <a:spcPts val="560"/>
              </a:spcBef>
              <a:spcAft>
                <a:spcPts val="0"/>
              </a:spcAft>
              <a:buClr>
                <a:schemeClr val="dk1"/>
              </a:buClr>
              <a:buSzPts val="2800"/>
              <a:buFont typeface="Candara"/>
              <a:buChar char="»"/>
              <a:defRPr sz="2800" b="0" i="0" u="none" strike="noStrike" cap="none">
                <a:solidFill>
                  <a:schemeClr val="dk1"/>
                </a:solidFill>
                <a:latin typeface="Candara"/>
                <a:ea typeface="Candara"/>
                <a:cs typeface="Candara"/>
                <a:sym typeface="Candara"/>
              </a:defRPr>
            </a:lvl5pPr>
            <a:lvl6pPr marL="2743200" marR="0" lvl="5" indent="-431800" algn="l" rtl="0">
              <a:spcBef>
                <a:spcPts val="640"/>
              </a:spcBef>
              <a:spcAft>
                <a:spcPts val="0"/>
              </a:spcAft>
              <a:buClr>
                <a:schemeClr val="dk1"/>
              </a:buClr>
              <a:buSzPts val="3200"/>
              <a:buFont typeface="Arial"/>
              <a:buChar char="»"/>
              <a:defRPr sz="3200" b="1" i="0" u="none" strike="noStrike" cap="none">
                <a:solidFill>
                  <a:schemeClr val="dk1"/>
                </a:solidFill>
                <a:latin typeface="Arial"/>
                <a:ea typeface="Arial"/>
                <a:cs typeface="Arial"/>
                <a:sym typeface="Arial"/>
              </a:defRPr>
            </a:lvl6pPr>
            <a:lvl7pPr marL="3200400" marR="0" lvl="6" indent="-431800" algn="l" rtl="0">
              <a:spcBef>
                <a:spcPts val="640"/>
              </a:spcBef>
              <a:spcAft>
                <a:spcPts val="0"/>
              </a:spcAft>
              <a:buClr>
                <a:schemeClr val="dk1"/>
              </a:buClr>
              <a:buSzPts val="3200"/>
              <a:buFont typeface="Arial"/>
              <a:buChar char="»"/>
              <a:defRPr sz="3200" b="1" i="0" u="none" strike="noStrike" cap="none">
                <a:solidFill>
                  <a:schemeClr val="dk1"/>
                </a:solidFill>
                <a:latin typeface="Arial"/>
                <a:ea typeface="Arial"/>
                <a:cs typeface="Arial"/>
                <a:sym typeface="Arial"/>
              </a:defRPr>
            </a:lvl7pPr>
            <a:lvl8pPr marL="3657600" marR="0" lvl="7" indent="-431800" algn="l" rtl="0">
              <a:spcBef>
                <a:spcPts val="640"/>
              </a:spcBef>
              <a:spcAft>
                <a:spcPts val="0"/>
              </a:spcAft>
              <a:buClr>
                <a:schemeClr val="dk1"/>
              </a:buClr>
              <a:buSzPts val="3200"/>
              <a:buFont typeface="Arial"/>
              <a:buChar char="»"/>
              <a:defRPr sz="3200" b="1" i="0" u="none" strike="noStrike" cap="none">
                <a:solidFill>
                  <a:schemeClr val="dk1"/>
                </a:solidFill>
                <a:latin typeface="Arial"/>
                <a:ea typeface="Arial"/>
                <a:cs typeface="Arial"/>
                <a:sym typeface="Arial"/>
              </a:defRPr>
            </a:lvl8pPr>
            <a:lvl9pPr marL="4114800" marR="0" lvl="8" indent="-431800" algn="l" rtl="0">
              <a:spcBef>
                <a:spcPts val="640"/>
              </a:spcBef>
              <a:spcAft>
                <a:spcPts val="0"/>
              </a:spcAft>
              <a:buClr>
                <a:schemeClr val="dk1"/>
              </a:buClr>
              <a:buSzPts val="3200"/>
              <a:buFont typeface="Arial"/>
              <a:buChar char="»"/>
              <a:defRPr sz="3200" b="1" i="0" u="none" strike="noStrike" cap="none">
                <a:solidFill>
                  <a:schemeClr val="dk1"/>
                </a:solidFill>
                <a:latin typeface="Arial"/>
                <a:ea typeface="Arial"/>
                <a:cs typeface="Arial"/>
                <a:sym typeface="Arial"/>
              </a:defRPr>
            </a:lvl9pPr>
          </a:lstStyle>
          <a:p>
            <a:endParaRPr/>
          </a:p>
        </p:txBody>
      </p:sp>
      <p:sp>
        <p:nvSpPr>
          <p:cNvPr id="12" name="Google Shape;12;p37"/>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rgbClr val="4D4D4D"/>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37"/>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200" b="0" i="0" u="none" strike="noStrike" cap="none">
                <a:solidFill>
                  <a:srgbClr val="4D4D4D"/>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4D4D4D"/>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4D4D4D"/>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4D4D4D"/>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4D4D4D"/>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4D4D4D"/>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4D4D4D"/>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4D4D4D"/>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4D4D4D"/>
                </a:solidFill>
                <a:latin typeface="Calibri"/>
                <a:ea typeface="Calibri"/>
                <a:cs typeface="Calibri"/>
                <a:sym typeface="Calibri"/>
              </a:defRPr>
            </a:lvl9pPr>
          </a:lstStyle>
          <a:p>
            <a:pPr marL="0" lvl="0" indent="0" algn="r" rtl="0">
              <a:spcBef>
                <a:spcPts val="0"/>
              </a:spcBef>
              <a:spcAft>
                <a:spcPts val="0"/>
              </a:spcAft>
              <a:buNone/>
            </a:pPr>
            <a:r>
              <a:rPr lang="en-US"/>
              <a:t>Chapter 10 - </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pic>
        <p:nvPicPr>
          <p:cNvPr id="78" name="Google Shape;78;p1"/>
          <p:cNvPicPr preferRelativeResize="0"/>
          <p:nvPr/>
        </p:nvPicPr>
        <p:blipFill rotWithShape="1">
          <a:blip r:embed="rId3">
            <a:alphaModFix/>
          </a:blip>
          <a:srcRect/>
          <a:stretch/>
        </p:blipFill>
        <p:spPr>
          <a:xfrm>
            <a:off x="1600200" y="152400"/>
            <a:ext cx="5715000" cy="6033291"/>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txBox="1">
            <a:spLocks noGrp="1"/>
          </p:cNvSpPr>
          <p:nvPr>
            <p:ph type="ctrTitle"/>
          </p:nvPr>
        </p:nvSpPr>
        <p:spPr>
          <a:xfrm>
            <a:off x="457200" y="1981200"/>
            <a:ext cx="8229600" cy="1676399"/>
          </a:xfrm>
          <a:prstGeom prst="rect">
            <a:avLst/>
          </a:prstGeom>
          <a:solidFill>
            <a:schemeClr val="dk2"/>
          </a:solidFill>
          <a:ln w="9525" cap="flat" cmpd="sng">
            <a:solidFill>
              <a:srgbClr val="292929"/>
            </a:solidFill>
            <a:prstDash val="solid"/>
            <a:round/>
            <a:headEnd type="none" w="sm" len="sm"/>
            <a:tailEnd type="none" w="sm" len="sm"/>
          </a:ln>
          <a:effectLst>
            <a:outerShdw blurRad="50800" dist="76200" dir="8100000" algn="tr" rotWithShape="0">
              <a:srgbClr val="000000">
                <a:alpha val="2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Excellence in </a:t>
            </a:r>
            <a:br>
              <a:rPr lang="en-US"/>
            </a:br>
            <a:r>
              <a:rPr lang="en-US"/>
              <a:t>Business Communication</a:t>
            </a:r>
            <a:endParaRPr/>
          </a:p>
        </p:txBody>
      </p:sp>
      <p:sp>
        <p:nvSpPr>
          <p:cNvPr id="85" name="Google Shape;85;p2"/>
          <p:cNvSpPr txBox="1">
            <a:spLocks noGrp="1"/>
          </p:cNvSpPr>
          <p:nvPr>
            <p:ph type="subTitle" idx="1"/>
          </p:nvPr>
        </p:nvSpPr>
        <p:spPr>
          <a:xfrm>
            <a:off x="609600" y="3886200"/>
            <a:ext cx="7924800" cy="1905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100"/>
              <a:buFont typeface="Candara"/>
              <a:buNone/>
            </a:pPr>
            <a:r>
              <a:rPr lang="en-US" b="1"/>
              <a:t>Chapter 9</a:t>
            </a:r>
            <a:endParaRPr/>
          </a:p>
          <a:p>
            <a:pPr marL="0" lvl="0" indent="0" algn="ctr" rtl="0">
              <a:spcBef>
                <a:spcPts val="620"/>
              </a:spcBef>
              <a:spcAft>
                <a:spcPts val="0"/>
              </a:spcAft>
              <a:buClr>
                <a:schemeClr val="dk1"/>
              </a:buClr>
              <a:buSzPts val="3100"/>
              <a:buFont typeface="Candara"/>
              <a:buNone/>
            </a:pPr>
            <a:r>
              <a:rPr lang="en-US" b="1"/>
              <a:t>Writing Persuasive Messages</a:t>
            </a:r>
            <a:endParaRPr b="1"/>
          </a:p>
        </p:txBody>
      </p:sp>
      <p:sp>
        <p:nvSpPr>
          <p:cNvPr id="86" name="Google Shape;86;p2"/>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3"/>
          <p:cNvSpPr txBox="1">
            <a:spLocks noGrp="1"/>
          </p:cNvSpPr>
          <p:nvPr>
            <p:ph type="body" idx="1"/>
          </p:nvPr>
        </p:nvSpPr>
        <p:spPr>
          <a:xfrm>
            <a:off x="533400" y="2057400"/>
            <a:ext cx="8153400" cy="4038600"/>
          </a:xfrm>
          <a:prstGeom prst="rect">
            <a:avLst/>
          </a:prstGeom>
          <a:noFill/>
          <a:ln>
            <a:noFill/>
          </a:ln>
        </p:spPr>
        <p:txBody>
          <a:bodyPr spcFirstLastPara="1" wrap="square" lIns="91425" tIns="45700" rIns="91425" bIns="45700" anchor="t" anchorCtr="0">
            <a:noAutofit/>
          </a:bodyPr>
          <a:lstStyle/>
          <a:p>
            <a:pPr marL="514350" lvl="0" indent="-514350" algn="l" rtl="0">
              <a:spcBef>
                <a:spcPts val="0"/>
              </a:spcBef>
              <a:spcAft>
                <a:spcPts val="0"/>
              </a:spcAft>
              <a:buClr>
                <a:schemeClr val="dk1"/>
              </a:buClr>
              <a:buSzPts val="3200"/>
              <a:buFont typeface="Tahoma"/>
              <a:buAutoNum type="arabicPeriod"/>
            </a:pPr>
            <a:r>
              <a:rPr lang="en-US" b="0"/>
              <a:t>Apply the three-step writing process to persuasive messages.</a:t>
            </a:r>
            <a:endParaRPr/>
          </a:p>
          <a:p>
            <a:pPr marL="514350" lvl="0" indent="-514350" algn="l" rtl="0">
              <a:spcBef>
                <a:spcPts val="600"/>
              </a:spcBef>
              <a:spcAft>
                <a:spcPts val="0"/>
              </a:spcAft>
              <a:buClr>
                <a:schemeClr val="dk1"/>
              </a:buClr>
              <a:buSzPts val="3200"/>
              <a:buFont typeface="Tahoma"/>
              <a:buAutoNum type="arabicPeriod"/>
            </a:pPr>
            <a:r>
              <a:rPr lang="en-US"/>
              <a:t>Describe an effective strategy for developing persuasive business messages, and i</a:t>
            </a:r>
            <a:r>
              <a:rPr lang="en-US" b="0"/>
              <a:t>dentify the three most common categories of persuasive business messages.</a:t>
            </a:r>
            <a:endParaRPr/>
          </a:p>
          <a:p>
            <a:pPr marL="342900" lvl="0" indent="-139700" algn="l" rtl="0">
              <a:spcBef>
                <a:spcPts val="600"/>
              </a:spcBef>
              <a:spcAft>
                <a:spcPts val="0"/>
              </a:spcAft>
              <a:buClr>
                <a:schemeClr val="dk1"/>
              </a:buClr>
              <a:buSzPts val="3200"/>
              <a:buFont typeface="Candara"/>
              <a:buNone/>
            </a:pPr>
            <a:endParaRPr/>
          </a:p>
        </p:txBody>
      </p:sp>
      <p:sp>
        <p:nvSpPr>
          <p:cNvPr id="93" name="Google Shape;93;p3"/>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94" name="Google Shape;94;p3"/>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a:t>
            </a:fld>
            <a:endParaRPr/>
          </a:p>
        </p:txBody>
      </p:sp>
      <p:sp>
        <p:nvSpPr>
          <p:cNvPr id="95" name="Google Shape;95;p3"/>
          <p:cNvSpPr/>
          <p:nvPr/>
        </p:nvSpPr>
        <p:spPr>
          <a:xfrm>
            <a:off x="457200" y="1981200"/>
            <a:ext cx="8229600" cy="4191000"/>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p:txBody>
      </p:sp>
      <p:sp>
        <p:nvSpPr>
          <p:cNvPr id="96" name="Google Shape;96;p3"/>
          <p:cNvSpPr txBox="1">
            <a:spLocks noGrp="1"/>
          </p:cNvSpPr>
          <p:nvPr>
            <p:ph type="title"/>
          </p:nvPr>
        </p:nvSpPr>
        <p:spPr>
          <a:xfrm>
            <a:off x="457200" y="381000"/>
            <a:ext cx="8229600" cy="1600200"/>
          </a:xfrm>
          <a:prstGeom prst="rect">
            <a:avLst/>
          </a:prstGeom>
          <a:solidFill>
            <a:schemeClr val="accent6"/>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5400">
                <a:solidFill>
                  <a:schemeClr val="lt1"/>
                </a:solidFill>
              </a:rPr>
              <a:t>Learning Objectives </a:t>
            </a:r>
            <a:r>
              <a:rPr lang="en-US" sz="2400">
                <a:solidFill>
                  <a:schemeClr val="lt1"/>
                </a:solidFill>
              </a:rPr>
              <a:t>(1 of 2)</a:t>
            </a:r>
            <a:endParaRPr sz="240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body" idx="1"/>
          </p:nvPr>
        </p:nvSpPr>
        <p:spPr>
          <a:xfrm>
            <a:off x="533400" y="2057400"/>
            <a:ext cx="8077200" cy="4038600"/>
          </a:xfrm>
          <a:prstGeom prst="rect">
            <a:avLst/>
          </a:prstGeom>
          <a:noFill/>
          <a:ln>
            <a:noFill/>
          </a:ln>
        </p:spPr>
        <p:txBody>
          <a:bodyPr spcFirstLastPara="1" wrap="square" lIns="91425" tIns="45700" rIns="91425" bIns="45700" anchor="t" anchorCtr="0">
            <a:noAutofit/>
          </a:bodyPr>
          <a:lstStyle/>
          <a:p>
            <a:pPr marL="514350" lvl="0" indent="-514350" algn="l" rtl="0">
              <a:spcBef>
                <a:spcPts val="0"/>
              </a:spcBef>
              <a:spcAft>
                <a:spcPts val="0"/>
              </a:spcAft>
              <a:buClr>
                <a:schemeClr val="dk1"/>
              </a:buClr>
              <a:buSzPts val="3200"/>
              <a:buFont typeface="Tahoma"/>
              <a:buAutoNum type="arabicPeriod" startAt="3"/>
            </a:pPr>
            <a:r>
              <a:rPr lang="en-US" b="0"/>
              <a:t>Describe an effective strategy for developing marketing and sales messages, and explain how to modify </a:t>
            </a:r>
            <a:r>
              <a:rPr lang="en-US"/>
              <a:t>your</a:t>
            </a:r>
            <a:r>
              <a:rPr lang="en-US" b="0"/>
              <a:t> approach when writing promotional messages for social media</a:t>
            </a:r>
            <a:r>
              <a:rPr lang="en-US"/>
              <a:t>.</a:t>
            </a:r>
            <a:endParaRPr/>
          </a:p>
          <a:p>
            <a:pPr marL="514350" lvl="0" indent="-514350" algn="l" rtl="0">
              <a:spcBef>
                <a:spcPts val="600"/>
              </a:spcBef>
              <a:spcAft>
                <a:spcPts val="0"/>
              </a:spcAft>
              <a:buClr>
                <a:schemeClr val="dk1"/>
              </a:buClr>
              <a:buSzPts val="3200"/>
              <a:buFont typeface="Tahoma"/>
              <a:buAutoNum type="arabicPeriod" startAt="3"/>
            </a:pPr>
            <a:r>
              <a:rPr lang="en-US" b="0"/>
              <a:t>Identify steps you can take to avoid ethical lapses in marketing and sales messages. </a:t>
            </a:r>
            <a:endParaRPr/>
          </a:p>
          <a:p>
            <a:pPr marL="342900" lvl="0" indent="-139700" algn="l" rtl="0">
              <a:spcBef>
                <a:spcPts val="600"/>
              </a:spcBef>
              <a:spcAft>
                <a:spcPts val="0"/>
              </a:spcAft>
              <a:buClr>
                <a:schemeClr val="dk1"/>
              </a:buClr>
              <a:buSzPts val="3200"/>
              <a:buFont typeface="Candara"/>
              <a:buNone/>
            </a:pPr>
            <a:endParaRPr/>
          </a:p>
        </p:txBody>
      </p:sp>
      <p:sp>
        <p:nvSpPr>
          <p:cNvPr id="103" name="Google Shape;103;p4"/>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04" name="Google Shape;104;p4"/>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4</a:t>
            </a:fld>
            <a:endParaRPr/>
          </a:p>
        </p:txBody>
      </p:sp>
      <p:sp>
        <p:nvSpPr>
          <p:cNvPr id="105" name="Google Shape;105;p4"/>
          <p:cNvSpPr/>
          <p:nvPr/>
        </p:nvSpPr>
        <p:spPr>
          <a:xfrm>
            <a:off x="457200" y="1981200"/>
            <a:ext cx="8229600" cy="4191000"/>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a:buNone/>
            </a:pPr>
            <a:endParaRPr sz="2800" b="0" i="0" u="none" strike="noStrike" cap="none">
              <a:solidFill>
                <a:schemeClr val="dk1"/>
              </a:solidFill>
              <a:latin typeface="Times New Roman"/>
              <a:ea typeface="Times New Roman"/>
              <a:cs typeface="Times New Roman"/>
              <a:sym typeface="Times New Roman"/>
            </a:endParaRPr>
          </a:p>
        </p:txBody>
      </p:sp>
      <p:sp>
        <p:nvSpPr>
          <p:cNvPr id="106" name="Google Shape;106;p4"/>
          <p:cNvSpPr txBox="1">
            <a:spLocks noGrp="1"/>
          </p:cNvSpPr>
          <p:nvPr>
            <p:ph type="title"/>
          </p:nvPr>
        </p:nvSpPr>
        <p:spPr>
          <a:xfrm>
            <a:off x="457200" y="381000"/>
            <a:ext cx="8229600" cy="1600200"/>
          </a:xfrm>
          <a:prstGeom prst="rect">
            <a:avLst/>
          </a:prstGeom>
          <a:solidFill>
            <a:srgbClr val="F79646"/>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5400">
                <a:solidFill>
                  <a:schemeClr val="lt1"/>
                </a:solidFill>
              </a:rPr>
              <a:t>Learning Objectives </a:t>
            </a:r>
            <a:r>
              <a:rPr lang="en-US" sz="2400">
                <a:solidFill>
                  <a:schemeClr val="lt1"/>
                </a:solidFill>
              </a:rPr>
              <a:t>(2 of 2)</a:t>
            </a:r>
            <a:endParaRPr sz="240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5"/>
          <p:cNvSpPr txBox="1">
            <a:spLocks noGrp="1"/>
          </p:cNvSpPr>
          <p:nvPr>
            <p:ph type="ctrTitle"/>
          </p:nvPr>
        </p:nvSpPr>
        <p:spPr>
          <a:xfrm>
            <a:off x="457200" y="1981200"/>
            <a:ext cx="8229600" cy="1676399"/>
          </a:xfrm>
          <a:prstGeom prst="rect">
            <a:avLst/>
          </a:prstGeom>
          <a:solidFill>
            <a:schemeClr val="dk2"/>
          </a:solidFill>
          <a:ln w="9525" cap="flat" cmpd="sng">
            <a:solidFill>
              <a:srgbClr val="292929"/>
            </a:solidFill>
            <a:prstDash val="solid"/>
            <a:round/>
            <a:headEnd type="none" w="sm" len="sm"/>
            <a:tailEnd type="none" w="sm" len="sm"/>
          </a:ln>
          <a:effectLst>
            <a:outerShdw blurRad="50800" dist="76200" dir="8100000" algn="tr" rotWithShape="0">
              <a:srgbClr val="000000">
                <a:alpha val="2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Using the Three-Step Process for Persuasive Messages</a:t>
            </a:r>
            <a:endParaRPr/>
          </a:p>
        </p:txBody>
      </p:sp>
      <p:sp>
        <p:nvSpPr>
          <p:cNvPr id="113" name="Google Shape;113;p5"/>
          <p:cNvSpPr txBox="1">
            <a:spLocks noGrp="1"/>
          </p:cNvSpPr>
          <p:nvPr>
            <p:ph type="subTitle" idx="1"/>
          </p:nvPr>
        </p:nvSpPr>
        <p:spPr>
          <a:xfrm>
            <a:off x="609600" y="3886200"/>
            <a:ext cx="7924800" cy="1905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100"/>
              <a:buFont typeface="Candara"/>
              <a:buNone/>
            </a:pPr>
            <a:r>
              <a:rPr lang="en-US"/>
              <a:t>(LO 1) Apply the three-step writing process to persuasive messages.</a:t>
            </a:r>
            <a:endParaRPr/>
          </a:p>
        </p:txBody>
      </p:sp>
      <p:sp>
        <p:nvSpPr>
          <p:cNvPr id="114" name="Google Shape;114;p5"/>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15" name="Google Shape;115;p5"/>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5</a:t>
            </a:fld>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6"/>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22" name="Google Shape;122;p6"/>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6</a:t>
            </a:fld>
            <a:endParaRPr/>
          </a:p>
        </p:txBody>
      </p:sp>
      <p:grpSp>
        <p:nvGrpSpPr>
          <p:cNvPr id="123" name="Google Shape;123;p6"/>
          <p:cNvGrpSpPr/>
          <p:nvPr/>
        </p:nvGrpSpPr>
        <p:grpSpPr>
          <a:xfrm>
            <a:off x="457200" y="1981200"/>
            <a:ext cx="8229600" cy="4191000"/>
            <a:chOff x="457200" y="1981200"/>
            <a:chExt cx="8229600" cy="4191000"/>
          </a:xfrm>
        </p:grpSpPr>
        <p:sp>
          <p:nvSpPr>
            <p:cNvPr id="124" name="Google Shape;124;p6"/>
            <p:cNvSpPr/>
            <p:nvPr/>
          </p:nvSpPr>
          <p:spPr>
            <a:xfrm>
              <a:off x="4572000" y="19812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Gather the Information</a:t>
              </a:r>
              <a:endParaRPr sz="3600" b="0" i="0" u="none" strike="noStrike" cap="none">
                <a:solidFill>
                  <a:schemeClr val="dk1"/>
                </a:solidFill>
                <a:latin typeface="Candara"/>
                <a:ea typeface="Candara"/>
                <a:cs typeface="Candara"/>
                <a:sym typeface="Candara"/>
              </a:endParaRPr>
            </a:p>
          </p:txBody>
        </p:sp>
        <p:sp>
          <p:nvSpPr>
            <p:cNvPr id="125" name="Google Shape;125;p6"/>
            <p:cNvSpPr/>
            <p:nvPr/>
          </p:nvSpPr>
          <p:spPr>
            <a:xfrm>
              <a:off x="4572000" y="40767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Organize the Message</a:t>
              </a:r>
              <a:endParaRPr/>
            </a:p>
          </p:txBody>
        </p:sp>
        <p:sp>
          <p:nvSpPr>
            <p:cNvPr id="126" name="Google Shape;126;p6"/>
            <p:cNvSpPr/>
            <p:nvPr/>
          </p:nvSpPr>
          <p:spPr>
            <a:xfrm flipH="1">
              <a:off x="457200" y="19812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Analyze the Situation</a:t>
              </a:r>
              <a:endParaRPr/>
            </a:p>
          </p:txBody>
        </p:sp>
        <p:sp>
          <p:nvSpPr>
            <p:cNvPr id="127" name="Google Shape;127;p6"/>
            <p:cNvSpPr/>
            <p:nvPr/>
          </p:nvSpPr>
          <p:spPr>
            <a:xfrm flipH="1">
              <a:off x="457200" y="40767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Select the Medium</a:t>
              </a:r>
              <a:endParaRPr/>
            </a:p>
          </p:txBody>
        </p:sp>
      </p:grpSp>
      <p:sp>
        <p:nvSpPr>
          <p:cNvPr id="128" name="Google Shape;128;p6"/>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Step 1: Planning </a:t>
            </a:r>
            <a:br>
              <a:rPr lang="en-US">
                <a:solidFill>
                  <a:schemeClr val="lt1"/>
                </a:solidFill>
              </a:rPr>
            </a:br>
            <a:r>
              <a:rPr lang="en-US">
                <a:solidFill>
                  <a:schemeClr val="lt1"/>
                </a:solidFill>
              </a:rPr>
              <a:t>Persuasive Messages</a:t>
            </a:r>
            <a:endParaRPr>
              <a:solidFill>
                <a:schemeClr val="lt1"/>
              </a:solidFil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Analyzing the Situation</a:t>
            </a:r>
            <a:endParaRPr/>
          </a:p>
        </p:txBody>
      </p:sp>
      <p:sp>
        <p:nvSpPr>
          <p:cNvPr id="135" name="Google Shape;135;p7"/>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36" name="Google Shape;136;p7"/>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7</a:t>
            </a:fld>
            <a:endParaRPr/>
          </a:p>
        </p:txBody>
      </p:sp>
      <p:grpSp>
        <p:nvGrpSpPr>
          <p:cNvPr id="137" name="Google Shape;137;p7"/>
          <p:cNvGrpSpPr/>
          <p:nvPr/>
        </p:nvGrpSpPr>
        <p:grpSpPr>
          <a:xfrm>
            <a:off x="472440" y="2057399"/>
            <a:ext cx="8199120" cy="4037072"/>
            <a:chOff x="472440" y="2057399"/>
            <a:chExt cx="8199120" cy="4037072"/>
          </a:xfrm>
        </p:grpSpPr>
        <p:sp>
          <p:nvSpPr>
            <p:cNvPr id="138" name="Google Shape;138;p7"/>
            <p:cNvSpPr/>
            <p:nvPr/>
          </p:nvSpPr>
          <p:spPr>
            <a:xfrm>
              <a:off x="472440" y="2057399"/>
              <a:ext cx="8199120" cy="913364"/>
            </a:xfrm>
            <a:custGeom>
              <a:avLst/>
              <a:gdLst/>
              <a:ahLst/>
              <a:cxnLst/>
              <a:rect l="l" t="t" r="r" b="b"/>
              <a:pathLst>
                <a:path w="7442001" h="918765" extrusionOk="0">
                  <a:moveTo>
                    <a:pt x="0" y="91877"/>
                  </a:moveTo>
                  <a:cubicBezTo>
                    <a:pt x="0" y="41135"/>
                    <a:pt x="41135" y="0"/>
                    <a:pt x="91877" y="0"/>
                  </a:cubicBezTo>
                  <a:lnTo>
                    <a:pt x="7350125" y="0"/>
                  </a:lnTo>
                  <a:cubicBezTo>
                    <a:pt x="7400867" y="0"/>
                    <a:pt x="7442002" y="41135"/>
                    <a:pt x="7442002" y="91877"/>
                  </a:cubicBezTo>
                  <a:cubicBezTo>
                    <a:pt x="7442002" y="336881"/>
                    <a:pt x="7442001" y="581885"/>
                    <a:pt x="7442001" y="826889"/>
                  </a:cubicBezTo>
                  <a:cubicBezTo>
                    <a:pt x="7442001" y="877631"/>
                    <a:pt x="7400866" y="918766"/>
                    <a:pt x="7350124" y="918766"/>
                  </a:cubicBezTo>
                  <a:lnTo>
                    <a:pt x="91877" y="918765"/>
                  </a:lnTo>
                  <a:cubicBezTo>
                    <a:pt x="41135" y="918765"/>
                    <a:pt x="0" y="877630"/>
                    <a:pt x="0" y="826888"/>
                  </a:cubicBezTo>
                  <a:lnTo>
                    <a:pt x="0" y="91877"/>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103100" tIns="77700" rIns="103100" bIns="77700" anchor="ctr" anchorCtr="0">
              <a:noAutofit/>
            </a:bodyPr>
            <a:lstStyle/>
            <a:p>
              <a:pPr marL="0" marR="0" lvl="0" indent="0" algn="ctr"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Gauging Audience Desires and Interests</a:t>
              </a:r>
              <a:endParaRPr sz="3600" b="0" i="0" u="none" strike="noStrike" cap="none">
                <a:solidFill>
                  <a:schemeClr val="dk1"/>
                </a:solidFill>
                <a:latin typeface="Candara"/>
                <a:ea typeface="Candara"/>
                <a:cs typeface="Candara"/>
                <a:sym typeface="Candara"/>
              </a:endParaRPr>
            </a:p>
          </p:txBody>
        </p:sp>
        <p:grpSp>
          <p:nvGrpSpPr>
            <p:cNvPr id="139" name="Google Shape;139;p7"/>
            <p:cNvGrpSpPr/>
            <p:nvPr/>
          </p:nvGrpSpPr>
          <p:grpSpPr>
            <a:xfrm>
              <a:off x="680224" y="3135170"/>
              <a:ext cx="7783552" cy="2959301"/>
              <a:chOff x="521970" y="3135170"/>
              <a:chExt cx="8100060" cy="2959301"/>
            </a:xfrm>
          </p:grpSpPr>
          <p:sp>
            <p:nvSpPr>
              <p:cNvPr id="140" name="Google Shape;140;p7"/>
              <p:cNvSpPr/>
              <p:nvPr/>
            </p:nvSpPr>
            <p:spPr>
              <a:xfrm>
                <a:off x="521970" y="3135170"/>
                <a:ext cx="918765" cy="913364"/>
              </a:xfrm>
              <a:prstGeom prst="roundRect">
                <a:avLst>
                  <a:gd name="adj" fmla="val 16670"/>
                </a:avLst>
              </a:prstGeom>
              <a:solidFill>
                <a:srgbClr val="009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a:off x="1495861" y="3135170"/>
                <a:ext cx="7126169" cy="913364"/>
              </a:xfrm>
              <a:custGeom>
                <a:avLst/>
                <a:gdLst/>
                <a:ahLst/>
                <a:cxnLst/>
                <a:rect l="l" t="t" r="r" b="b"/>
                <a:pathLst>
                  <a:path w="6468109" h="918765" extrusionOk="0">
                    <a:moveTo>
                      <a:pt x="0" y="153158"/>
                    </a:moveTo>
                    <a:cubicBezTo>
                      <a:pt x="0" y="68571"/>
                      <a:pt x="68571" y="0"/>
                      <a:pt x="153158" y="0"/>
                    </a:cubicBezTo>
                    <a:lnTo>
                      <a:pt x="6314951" y="0"/>
                    </a:lnTo>
                    <a:cubicBezTo>
                      <a:pt x="6399538" y="0"/>
                      <a:pt x="6468109" y="68571"/>
                      <a:pt x="6468109" y="153158"/>
                    </a:cubicBezTo>
                    <a:lnTo>
                      <a:pt x="6468109" y="765607"/>
                    </a:lnTo>
                    <a:cubicBezTo>
                      <a:pt x="6468109" y="850194"/>
                      <a:pt x="6399538" y="918765"/>
                      <a:pt x="6314951" y="918765"/>
                    </a:cubicBezTo>
                    <a:lnTo>
                      <a:pt x="153158" y="918765"/>
                    </a:lnTo>
                    <a:cubicBezTo>
                      <a:pt x="68571" y="918765"/>
                      <a:pt x="0" y="850194"/>
                      <a:pt x="0" y="765607"/>
                    </a:cubicBezTo>
                    <a:lnTo>
                      <a:pt x="0" y="153158"/>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251100" tIns="251100" rIns="251100" bIns="251100" anchor="ctr" anchorCtr="0">
                <a:noAutofit/>
              </a:bodyPr>
              <a:lstStyle/>
              <a:p>
                <a:pPr marL="0" marR="0" lvl="0" indent="0" algn="l"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Demographic Information</a:t>
                </a:r>
                <a:endParaRPr sz="3600" b="0" i="0" u="none" strike="noStrike" cap="none">
                  <a:solidFill>
                    <a:schemeClr val="dk1"/>
                  </a:solidFill>
                  <a:latin typeface="Candara"/>
                  <a:ea typeface="Candara"/>
                  <a:cs typeface="Candara"/>
                  <a:sym typeface="Candara"/>
                </a:endParaRPr>
              </a:p>
            </p:txBody>
          </p:sp>
          <p:sp>
            <p:nvSpPr>
              <p:cNvPr id="142" name="Google Shape;142;p7"/>
              <p:cNvSpPr/>
              <p:nvPr/>
            </p:nvSpPr>
            <p:spPr>
              <a:xfrm>
                <a:off x="521970" y="4158137"/>
                <a:ext cx="918765" cy="913364"/>
              </a:xfrm>
              <a:prstGeom prst="roundRect">
                <a:avLst>
                  <a:gd name="adj" fmla="val 16670"/>
                </a:avLst>
              </a:prstGeom>
              <a:solidFill>
                <a:srgbClr val="009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a:off x="1495861" y="4158137"/>
                <a:ext cx="7126169" cy="913364"/>
              </a:xfrm>
              <a:custGeom>
                <a:avLst/>
                <a:gdLst/>
                <a:ahLst/>
                <a:cxnLst/>
                <a:rect l="l" t="t" r="r" b="b"/>
                <a:pathLst>
                  <a:path w="6468109" h="918765" extrusionOk="0">
                    <a:moveTo>
                      <a:pt x="0" y="153158"/>
                    </a:moveTo>
                    <a:cubicBezTo>
                      <a:pt x="0" y="68571"/>
                      <a:pt x="68571" y="0"/>
                      <a:pt x="153158" y="0"/>
                    </a:cubicBezTo>
                    <a:lnTo>
                      <a:pt x="6314951" y="0"/>
                    </a:lnTo>
                    <a:cubicBezTo>
                      <a:pt x="6399538" y="0"/>
                      <a:pt x="6468109" y="68571"/>
                      <a:pt x="6468109" y="153158"/>
                    </a:cubicBezTo>
                    <a:lnTo>
                      <a:pt x="6468109" y="765607"/>
                    </a:lnTo>
                    <a:cubicBezTo>
                      <a:pt x="6468109" y="850194"/>
                      <a:pt x="6399538" y="918765"/>
                      <a:pt x="6314951" y="918765"/>
                    </a:cubicBezTo>
                    <a:lnTo>
                      <a:pt x="153158" y="918765"/>
                    </a:lnTo>
                    <a:cubicBezTo>
                      <a:pt x="68571" y="918765"/>
                      <a:pt x="0" y="850194"/>
                      <a:pt x="0" y="765607"/>
                    </a:cubicBezTo>
                    <a:lnTo>
                      <a:pt x="0" y="153158"/>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251100" tIns="251100" rIns="251100" bIns="251100" anchor="ctr" anchorCtr="0">
                <a:noAutofit/>
              </a:bodyPr>
              <a:lstStyle/>
              <a:p>
                <a:pPr marL="0" marR="0" lvl="0" indent="0" algn="l"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Psychographic Information</a:t>
                </a:r>
                <a:endParaRPr sz="3600" b="0" i="0" u="none" strike="noStrike" cap="none">
                  <a:solidFill>
                    <a:schemeClr val="dk1"/>
                  </a:solidFill>
                  <a:latin typeface="Candara"/>
                  <a:ea typeface="Candara"/>
                  <a:cs typeface="Candara"/>
                  <a:sym typeface="Candara"/>
                </a:endParaRPr>
              </a:p>
            </p:txBody>
          </p:sp>
          <p:sp>
            <p:nvSpPr>
              <p:cNvPr id="144" name="Google Shape;144;p7"/>
              <p:cNvSpPr/>
              <p:nvPr/>
            </p:nvSpPr>
            <p:spPr>
              <a:xfrm>
                <a:off x="521970" y="5181106"/>
                <a:ext cx="918765" cy="913364"/>
              </a:xfrm>
              <a:prstGeom prst="roundRect">
                <a:avLst>
                  <a:gd name="adj" fmla="val 16670"/>
                </a:avLst>
              </a:prstGeom>
              <a:solidFill>
                <a:srgbClr val="009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p:nvPr/>
            </p:nvSpPr>
            <p:spPr>
              <a:xfrm>
                <a:off x="1495861" y="5181107"/>
                <a:ext cx="7126169" cy="913364"/>
              </a:xfrm>
              <a:custGeom>
                <a:avLst/>
                <a:gdLst/>
                <a:ahLst/>
                <a:cxnLst/>
                <a:rect l="l" t="t" r="r" b="b"/>
                <a:pathLst>
                  <a:path w="6468109" h="918765" extrusionOk="0">
                    <a:moveTo>
                      <a:pt x="0" y="153158"/>
                    </a:moveTo>
                    <a:cubicBezTo>
                      <a:pt x="0" y="68571"/>
                      <a:pt x="68571" y="0"/>
                      <a:pt x="153158" y="0"/>
                    </a:cubicBezTo>
                    <a:lnTo>
                      <a:pt x="6314951" y="0"/>
                    </a:lnTo>
                    <a:cubicBezTo>
                      <a:pt x="6399538" y="0"/>
                      <a:pt x="6468109" y="68571"/>
                      <a:pt x="6468109" y="153158"/>
                    </a:cubicBezTo>
                    <a:lnTo>
                      <a:pt x="6468109" y="765607"/>
                    </a:lnTo>
                    <a:cubicBezTo>
                      <a:pt x="6468109" y="850194"/>
                      <a:pt x="6399538" y="918765"/>
                      <a:pt x="6314951" y="918765"/>
                    </a:cubicBezTo>
                    <a:lnTo>
                      <a:pt x="153158" y="918765"/>
                    </a:lnTo>
                    <a:cubicBezTo>
                      <a:pt x="68571" y="918765"/>
                      <a:pt x="0" y="850194"/>
                      <a:pt x="0" y="765607"/>
                    </a:cubicBezTo>
                    <a:lnTo>
                      <a:pt x="0" y="153158"/>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251100" tIns="251100" rIns="251100" bIns="251100" anchor="ctr" anchorCtr="0">
                <a:noAutofit/>
              </a:bodyPr>
              <a:lstStyle/>
              <a:p>
                <a:pPr marL="0" marR="0" lvl="0" indent="0" algn="l"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Audience’s Level of Motivation</a:t>
                </a:r>
                <a:endParaRPr sz="3600" b="0" i="0" u="none" strike="noStrike" cap="none">
                  <a:solidFill>
                    <a:schemeClr val="dk1"/>
                  </a:solidFill>
                  <a:latin typeface="Candara"/>
                  <a:ea typeface="Candara"/>
                  <a:cs typeface="Candara"/>
                  <a:sym typeface="Candara"/>
                </a:endParaRPr>
              </a:p>
            </p:txBody>
          </p:sp>
        </p:grpSp>
      </p:gr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Gathering Information</a:t>
            </a:r>
            <a:endParaRPr/>
          </a:p>
        </p:txBody>
      </p:sp>
      <p:sp>
        <p:nvSpPr>
          <p:cNvPr id="152" name="Google Shape;152;p8"/>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53" name="Google Shape;153;p8"/>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8</a:t>
            </a:fld>
            <a:endParaRPr/>
          </a:p>
        </p:txBody>
      </p:sp>
      <p:grpSp>
        <p:nvGrpSpPr>
          <p:cNvPr id="154" name="Google Shape;154;p8"/>
          <p:cNvGrpSpPr/>
          <p:nvPr/>
        </p:nvGrpSpPr>
        <p:grpSpPr>
          <a:xfrm>
            <a:off x="533400" y="2209800"/>
            <a:ext cx="8077200" cy="3733800"/>
            <a:chOff x="533400" y="2209800"/>
            <a:chExt cx="8077200" cy="3733800"/>
          </a:xfrm>
        </p:grpSpPr>
        <p:sp>
          <p:nvSpPr>
            <p:cNvPr id="155" name="Google Shape;155;p8"/>
            <p:cNvSpPr/>
            <p:nvPr/>
          </p:nvSpPr>
          <p:spPr>
            <a:xfrm>
              <a:off x="1536700" y="2209800"/>
              <a:ext cx="6070600" cy="1354394"/>
            </a:xfrm>
            <a:prstGeom prst="flowChartAlternateProcess">
              <a:avLst/>
            </a:prstGeom>
            <a:solidFill>
              <a:srgbClr val="F8F8F8"/>
            </a:solidFill>
            <a:ln w="9525" cap="flat" cmpd="sng">
              <a:solidFill>
                <a:srgbClr val="7F7F7F"/>
              </a:solidFill>
              <a:prstDash val="solid"/>
              <a:round/>
              <a:headEnd type="none" w="sm" len="sm"/>
              <a:tailEnd type="none" w="sm" len="sm"/>
            </a:ln>
            <a:effectLst>
              <a:outerShdw blurRad="152400" dist="114300" dir="5400000" sx="89000" sy="89000"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Persuasive and Compelling</a:t>
              </a:r>
              <a:endParaRPr/>
            </a:p>
          </p:txBody>
        </p:sp>
        <p:cxnSp>
          <p:nvCxnSpPr>
            <p:cNvPr id="156" name="Google Shape;156;p8"/>
            <p:cNvCxnSpPr>
              <a:stCxn id="155" idx="2"/>
              <a:endCxn id="157" idx="0"/>
            </p:cNvCxnSpPr>
            <p:nvPr/>
          </p:nvCxnSpPr>
          <p:spPr>
            <a:xfrm rot="5400000">
              <a:off x="2947500" y="2407394"/>
              <a:ext cx="467700" cy="2781300"/>
            </a:xfrm>
            <a:prstGeom prst="bentConnector3">
              <a:avLst>
                <a:gd name="adj1" fmla="val 50000"/>
              </a:avLst>
            </a:prstGeom>
            <a:noFill/>
            <a:ln w="19050" cap="flat" cmpd="sng">
              <a:solidFill>
                <a:srgbClr val="BFBFBF"/>
              </a:solidFill>
              <a:prstDash val="solid"/>
              <a:round/>
              <a:headEnd type="none" w="sm" len="sm"/>
              <a:tailEnd type="none" w="sm" len="sm"/>
            </a:ln>
          </p:spPr>
        </p:cxnSp>
        <p:cxnSp>
          <p:nvCxnSpPr>
            <p:cNvPr id="158" name="Google Shape;158;p8"/>
            <p:cNvCxnSpPr>
              <a:stCxn id="155" idx="2"/>
              <a:endCxn id="159" idx="0"/>
            </p:cNvCxnSpPr>
            <p:nvPr/>
          </p:nvCxnSpPr>
          <p:spPr>
            <a:xfrm rot="-5400000" flipH="1">
              <a:off x="5728800" y="2407394"/>
              <a:ext cx="467700" cy="2781300"/>
            </a:xfrm>
            <a:prstGeom prst="bentConnector3">
              <a:avLst>
                <a:gd name="adj1" fmla="val 50000"/>
              </a:avLst>
            </a:prstGeom>
            <a:noFill/>
            <a:ln w="19050" cap="flat" cmpd="sng">
              <a:solidFill>
                <a:srgbClr val="BFBFBF"/>
              </a:solidFill>
              <a:prstDash val="solid"/>
              <a:round/>
              <a:headEnd type="none" w="sm" len="sm"/>
              <a:tailEnd type="none" w="sm" len="sm"/>
            </a:ln>
          </p:spPr>
        </p:cxnSp>
        <p:sp>
          <p:nvSpPr>
            <p:cNvPr id="159" name="Google Shape;159;p8"/>
            <p:cNvSpPr/>
            <p:nvPr/>
          </p:nvSpPr>
          <p:spPr>
            <a:xfrm>
              <a:off x="6096000" y="4032032"/>
              <a:ext cx="2514600" cy="1911568"/>
            </a:xfrm>
            <a:prstGeom prst="flowChartAlternateProcess">
              <a:avLst/>
            </a:prstGeom>
            <a:solidFill>
              <a:srgbClr val="F8F8F8"/>
            </a:solidFill>
            <a:ln w="9525" cap="flat" cmpd="sng">
              <a:solidFill>
                <a:srgbClr val="7F7F7F"/>
              </a:solidFill>
              <a:prstDash val="solid"/>
              <a:round/>
              <a:headEnd type="none" w="sm" len="sm"/>
              <a:tailEnd type="none" w="sm" len="sm"/>
            </a:ln>
            <a:effectLst>
              <a:outerShdw blurRad="76200" sy="23000" kx="1200000" algn="br"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Sales Messages</a:t>
              </a:r>
              <a:endParaRPr sz="3000" b="0" i="0" u="none" strike="noStrike" cap="none">
                <a:solidFill>
                  <a:schemeClr val="dk1"/>
                </a:solidFill>
                <a:latin typeface="Candara"/>
                <a:ea typeface="Candara"/>
                <a:cs typeface="Candara"/>
                <a:sym typeface="Candara"/>
              </a:endParaRPr>
            </a:p>
          </p:txBody>
        </p:sp>
        <p:sp>
          <p:nvSpPr>
            <p:cNvPr id="157" name="Google Shape;157;p8"/>
            <p:cNvSpPr/>
            <p:nvPr/>
          </p:nvSpPr>
          <p:spPr>
            <a:xfrm>
              <a:off x="533400" y="4032032"/>
              <a:ext cx="2514600" cy="1911568"/>
            </a:xfrm>
            <a:prstGeom prst="flowChartAlternateProcess">
              <a:avLst/>
            </a:prstGeom>
            <a:solidFill>
              <a:srgbClr val="F8F8F8"/>
            </a:solidFill>
            <a:ln w="9525" cap="flat" cmpd="sng">
              <a:solidFill>
                <a:srgbClr val="7F7F7F"/>
              </a:solidFill>
              <a:prstDash val="solid"/>
              <a:round/>
              <a:headEnd type="none" w="sm" len="sm"/>
              <a:tailEnd type="none" w="sm" len="sm"/>
            </a:ln>
            <a:effectLst>
              <a:outerShdw blurRad="76200" sy="23000" kx="-1200000" algn="bl"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Business Messages</a:t>
              </a:r>
              <a:endParaRPr sz="3000" b="0" i="0" u="none" strike="noStrike" cap="none">
                <a:solidFill>
                  <a:schemeClr val="dk1"/>
                </a:solidFill>
                <a:latin typeface="Candara"/>
                <a:ea typeface="Candara"/>
                <a:cs typeface="Candara"/>
                <a:sym typeface="Candara"/>
              </a:endParaRPr>
            </a:p>
          </p:txBody>
        </p:sp>
        <p:sp>
          <p:nvSpPr>
            <p:cNvPr id="160" name="Google Shape;160;p8"/>
            <p:cNvSpPr/>
            <p:nvPr/>
          </p:nvSpPr>
          <p:spPr>
            <a:xfrm>
              <a:off x="3314700" y="4032032"/>
              <a:ext cx="2514600" cy="1911568"/>
            </a:xfrm>
            <a:prstGeom prst="flowChartAlternateProcess">
              <a:avLst/>
            </a:prstGeom>
            <a:solidFill>
              <a:srgbClr val="F8F8F8"/>
            </a:solidFill>
            <a:ln w="9525" cap="flat" cmpd="sng">
              <a:solidFill>
                <a:srgbClr val="7F7F7F"/>
              </a:solidFill>
              <a:prstDash val="solid"/>
              <a:round/>
              <a:headEnd type="none" w="sm" len="sm"/>
              <a:tailEnd type="none" w="sm" len="sm"/>
            </a:ln>
            <a:effectLst>
              <a:outerShdw blurRad="152400" dist="114300" dir="5400000" sx="89000" sy="89000"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Marketing Messages</a:t>
              </a:r>
              <a:endParaRPr sz="3000" b="0" i="0" u="none" strike="noStrike" cap="none">
                <a:solidFill>
                  <a:schemeClr val="dk1"/>
                </a:solidFill>
                <a:latin typeface="Candara"/>
                <a:ea typeface="Candara"/>
                <a:cs typeface="Candara"/>
                <a:sym typeface="Candara"/>
              </a:endParaRPr>
            </a:p>
          </p:txBody>
        </p:sp>
        <p:cxnSp>
          <p:nvCxnSpPr>
            <p:cNvPr id="161" name="Google Shape;161;p8"/>
            <p:cNvCxnSpPr/>
            <p:nvPr/>
          </p:nvCxnSpPr>
          <p:spPr>
            <a:xfrm>
              <a:off x="4572000" y="3564194"/>
              <a:ext cx="0" cy="467838"/>
            </a:xfrm>
            <a:prstGeom prst="straightConnector1">
              <a:avLst/>
            </a:prstGeom>
            <a:noFill/>
            <a:ln w="19050" cap="flat" cmpd="sng">
              <a:solidFill>
                <a:srgbClr val="BFBFBF"/>
              </a:solidFill>
              <a:prstDash val="solid"/>
              <a:round/>
              <a:headEnd type="none" w="sm" len="sm"/>
              <a:tailEnd type="none" w="sm" len="sm"/>
            </a:ln>
          </p:spPr>
        </p:cxn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9"/>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400"/>
              <a:t>Selecting the Right Combination of Medium and Channel</a:t>
            </a:r>
            <a:endParaRPr sz="4400"/>
          </a:p>
        </p:txBody>
      </p:sp>
      <p:sp>
        <p:nvSpPr>
          <p:cNvPr id="168" name="Google Shape;168;p9"/>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69" name="Google Shape;169;p9"/>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9</a:t>
            </a:fld>
            <a:endParaRPr/>
          </a:p>
        </p:txBody>
      </p:sp>
      <p:grpSp>
        <p:nvGrpSpPr>
          <p:cNvPr id="170" name="Google Shape;170;p9"/>
          <p:cNvGrpSpPr/>
          <p:nvPr/>
        </p:nvGrpSpPr>
        <p:grpSpPr>
          <a:xfrm>
            <a:off x="457200" y="2183205"/>
            <a:ext cx="8229601" cy="3862983"/>
            <a:chOff x="457200" y="2183205"/>
            <a:chExt cx="8229601" cy="3862983"/>
          </a:xfrm>
        </p:grpSpPr>
        <p:sp>
          <p:nvSpPr>
            <p:cNvPr id="171" name="Google Shape;171;p9"/>
            <p:cNvSpPr/>
            <p:nvPr/>
          </p:nvSpPr>
          <p:spPr>
            <a:xfrm>
              <a:off x="762001" y="2335568"/>
              <a:ext cx="7924800" cy="1054819"/>
            </a:xfrm>
            <a:custGeom>
              <a:avLst/>
              <a:gdLst/>
              <a:ahLst/>
              <a:cxnLst/>
              <a:rect l="l" t="t" r="r" b="b"/>
              <a:pathLst>
                <a:path w="3375421" h="1054819" extrusionOk="0">
                  <a:moveTo>
                    <a:pt x="0" y="0"/>
                  </a:moveTo>
                  <a:lnTo>
                    <a:pt x="3375421" y="0"/>
                  </a:lnTo>
                  <a:lnTo>
                    <a:pt x="3375421" y="1054819"/>
                  </a:lnTo>
                  <a:lnTo>
                    <a:pt x="0" y="1054819"/>
                  </a:lnTo>
                  <a:lnTo>
                    <a:pt x="0" y="0"/>
                  </a:lnTo>
                  <a:close/>
                </a:path>
              </a:pathLst>
            </a:custGeom>
            <a:solidFill>
              <a:schemeClr val="lt1">
                <a:alpha val="40000"/>
              </a:schemeClr>
            </a:solidFill>
            <a:ln w="9525" cap="flat" cmpd="sng">
              <a:solidFill>
                <a:srgbClr val="A5A5A5"/>
              </a:solidFill>
              <a:prstDash val="solid"/>
              <a:round/>
              <a:headEnd type="none" w="sm" len="sm"/>
              <a:tailEnd type="none" w="sm" len="sm"/>
            </a:ln>
          </p:spPr>
          <p:txBody>
            <a:bodyPr spcFirstLastPara="1" wrap="square" lIns="714450" tIns="190500" rIns="190500" bIns="190500" anchor="ctr" anchorCtr="0">
              <a:noAutofit/>
            </a:bodyPr>
            <a:lstStyle/>
            <a:p>
              <a:pPr marL="0" marR="0" lvl="0" indent="0" algn="l"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 Nature of Persuasive Messages</a:t>
              </a:r>
              <a:endParaRPr sz="3600" b="0" i="0" u="none" strike="noStrike" cap="none">
                <a:solidFill>
                  <a:schemeClr val="dk1"/>
                </a:solidFill>
                <a:latin typeface="Candara"/>
                <a:ea typeface="Candara"/>
                <a:cs typeface="Candara"/>
                <a:sym typeface="Candara"/>
              </a:endParaRPr>
            </a:p>
          </p:txBody>
        </p:sp>
        <p:sp>
          <p:nvSpPr>
            <p:cNvPr id="172" name="Google Shape;172;p9"/>
            <p:cNvSpPr/>
            <p:nvPr/>
          </p:nvSpPr>
          <p:spPr>
            <a:xfrm>
              <a:off x="457200" y="2183205"/>
              <a:ext cx="914399" cy="952194"/>
            </a:xfrm>
            <a:prstGeom prst="rect">
              <a:avLst/>
            </a:prstGeom>
            <a:solidFill>
              <a:srgbClr val="C5C8A9"/>
            </a:solidFill>
            <a:ln>
              <a:noFill/>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762001" y="3663468"/>
              <a:ext cx="7924800" cy="1054819"/>
            </a:xfrm>
            <a:custGeom>
              <a:avLst/>
              <a:gdLst/>
              <a:ahLst/>
              <a:cxnLst/>
              <a:rect l="l" t="t" r="r" b="b"/>
              <a:pathLst>
                <a:path w="3375421" h="1054819" extrusionOk="0">
                  <a:moveTo>
                    <a:pt x="0" y="0"/>
                  </a:moveTo>
                  <a:lnTo>
                    <a:pt x="3375421" y="0"/>
                  </a:lnTo>
                  <a:lnTo>
                    <a:pt x="3375421" y="1054819"/>
                  </a:lnTo>
                  <a:lnTo>
                    <a:pt x="0" y="1054819"/>
                  </a:lnTo>
                  <a:lnTo>
                    <a:pt x="0" y="0"/>
                  </a:lnTo>
                  <a:close/>
                </a:path>
              </a:pathLst>
            </a:custGeom>
            <a:solidFill>
              <a:schemeClr val="lt1">
                <a:alpha val="40000"/>
              </a:schemeClr>
            </a:solidFill>
            <a:ln w="9525" cap="flat" cmpd="sng">
              <a:solidFill>
                <a:srgbClr val="A5A5A5"/>
              </a:solidFill>
              <a:prstDash val="solid"/>
              <a:round/>
              <a:headEnd type="none" w="sm" len="sm"/>
              <a:tailEnd type="none" w="sm" len="sm"/>
            </a:ln>
          </p:spPr>
          <p:txBody>
            <a:bodyPr spcFirstLastPara="1" wrap="square" lIns="714450" tIns="190500" rIns="190500" bIns="190500" anchor="ctr" anchorCtr="0">
              <a:noAutofit/>
            </a:bodyPr>
            <a:lstStyle/>
            <a:p>
              <a:pPr marL="0" marR="0" lvl="0" indent="0" algn="l"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 Range of Consumer Attitudes</a:t>
              </a:r>
              <a:endParaRPr sz="3600" b="0" i="0" u="none" strike="noStrike" cap="none">
                <a:solidFill>
                  <a:schemeClr val="dk1"/>
                </a:solidFill>
                <a:latin typeface="Candara"/>
                <a:ea typeface="Candara"/>
                <a:cs typeface="Candara"/>
                <a:sym typeface="Candara"/>
              </a:endParaRPr>
            </a:p>
          </p:txBody>
        </p:sp>
        <p:sp>
          <p:nvSpPr>
            <p:cNvPr id="174" name="Google Shape;174;p9"/>
            <p:cNvSpPr/>
            <p:nvPr/>
          </p:nvSpPr>
          <p:spPr>
            <a:xfrm>
              <a:off x="457200" y="3511105"/>
              <a:ext cx="914399" cy="952194"/>
            </a:xfrm>
            <a:prstGeom prst="rect">
              <a:avLst/>
            </a:prstGeom>
            <a:solidFill>
              <a:srgbClr val="C5C8A9"/>
            </a:solidFill>
            <a:ln>
              <a:noFill/>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762001" y="4991369"/>
              <a:ext cx="7924800" cy="1054819"/>
            </a:xfrm>
            <a:custGeom>
              <a:avLst/>
              <a:gdLst/>
              <a:ahLst/>
              <a:cxnLst/>
              <a:rect l="l" t="t" r="r" b="b"/>
              <a:pathLst>
                <a:path w="3375421" h="1054819" extrusionOk="0">
                  <a:moveTo>
                    <a:pt x="0" y="0"/>
                  </a:moveTo>
                  <a:lnTo>
                    <a:pt x="3375421" y="0"/>
                  </a:lnTo>
                  <a:lnTo>
                    <a:pt x="3375421" y="1054819"/>
                  </a:lnTo>
                  <a:lnTo>
                    <a:pt x="0" y="1054819"/>
                  </a:lnTo>
                  <a:lnTo>
                    <a:pt x="0" y="0"/>
                  </a:lnTo>
                  <a:close/>
                </a:path>
              </a:pathLst>
            </a:custGeom>
            <a:solidFill>
              <a:schemeClr val="lt1">
                <a:alpha val="40000"/>
              </a:schemeClr>
            </a:solidFill>
            <a:ln w="9525" cap="flat" cmpd="sng">
              <a:solidFill>
                <a:srgbClr val="A5A5A5"/>
              </a:solidFill>
              <a:prstDash val="solid"/>
              <a:round/>
              <a:headEnd type="none" w="sm" len="sm"/>
              <a:tailEnd type="none" w="sm" len="sm"/>
            </a:ln>
          </p:spPr>
          <p:txBody>
            <a:bodyPr spcFirstLastPara="1" wrap="square" lIns="714450" tIns="190500" rIns="190500" bIns="190500" anchor="ctr" anchorCtr="0">
              <a:noAutofit/>
            </a:bodyPr>
            <a:lstStyle/>
            <a:p>
              <a:pPr marL="0" marR="0" lvl="0" indent="0" algn="l"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 Variety of Communication Media</a:t>
              </a:r>
              <a:endParaRPr sz="3600" b="0" i="0" u="none" strike="noStrike" cap="none">
                <a:solidFill>
                  <a:schemeClr val="dk1"/>
                </a:solidFill>
                <a:latin typeface="Candara"/>
                <a:ea typeface="Candara"/>
                <a:cs typeface="Candara"/>
                <a:sym typeface="Candara"/>
              </a:endParaRPr>
            </a:p>
          </p:txBody>
        </p:sp>
        <p:sp>
          <p:nvSpPr>
            <p:cNvPr id="176" name="Google Shape;176;p9"/>
            <p:cNvSpPr/>
            <p:nvPr/>
          </p:nvSpPr>
          <p:spPr>
            <a:xfrm>
              <a:off x="457200" y="4839006"/>
              <a:ext cx="914399" cy="952194"/>
            </a:xfrm>
            <a:prstGeom prst="rect">
              <a:avLst/>
            </a:prstGeom>
            <a:solidFill>
              <a:srgbClr val="C5C8A9"/>
            </a:solidFill>
            <a:ln>
              <a:noFill/>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0"/>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Organizing Your Information</a:t>
            </a:r>
            <a:endParaRPr/>
          </a:p>
        </p:txBody>
      </p:sp>
      <p:sp>
        <p:nvSpPr>
          <p:cNvPr id="183" name="Google Shape;183;p10"/>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84" name="Google Shape;184;p10"/>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10</a:t>
            </a:fld>
            <a:endParaRPr/>
          </a:p>
        </p:txBody>
      </p:sp>
      <p:grpSp>
        <p:nvGrpSpPr>
          <p:cNvPr id="185" name="Google Shape;185;p10"/>
          <p:cNvGrpSpPr/>
          <p:nvPr/>
        </p:nvGrpSpPr>
        <p:grpSpPr>
          <a:xfrm>
            <a:off x="457200" y="1981200"/>
            <a:ext cx="8229600" cy="4191000"/>
            <a:chOff x="457200" y="1981200"/>
            <a:chExt cx="8229600" cy="4191000"/>
          </a:xfrm>
        </p:grpSpPr>
        <p:sp>
          <p:nvSpPr>
            <p:cNvPr id="186" name="Google Shape;186;p10"/>
            <p:cNvSpPr/>
            <p:nvPr/>
          </p:nvSpPr>
          <p:spPr>
            <a:xfrm>
              <a:off x="457200" y="1981200"/>
              <a:ext cx="8229600" cy="1600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The Direct or the Indirect Approach?</a:t>
              </a:r>
              <a:endParaRPr/>
            </a:p>
          </p:txBody>
        </p:sp>
        <p:sp>
          <p:nvSpPr>
            <p:cNvPr id="187" name="Google Shape;187;p10"/>
            <p:cNvSpPr/>
            <p:nvPr/>
          </p:nvSpPr>
          <p:spPr>
            <a:xfrm>
              <a:off x="457200" y="3581400"/>
              <a:ext cx="4114800" cy="2590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What Is Your Relationship with the Audience?</a:t>
              </a:r>
              <a:endParaRPr sz="3200" b="0" i="0" u="none" strike="noStrike" cap="none">
                <a:solidFill>
                  <a:schemeClr val="dk1"/>
                </a:solidFill>
                <a:latin typeface="Candara"/>
                <a:ea typeface="Candara"/>
                <a:cs typeface="Candara"/>
                <a:sym typeface="Candara"/>
              </a:endParaRPr>
            </a:p>
          </p:txBody>
        </p:sp>
        <p:sp>
          <p:nvSpPr>
            <p:cNvPr id="188" name="Google Shape;188;p10"/>
            <p:cNvSpPr/>
            <p:nvPr/>
          </p:nvSpPr>
          <p:spPr>
            <a:xfrm>
              <a:off x="4572000" y="3581400"/>
              <a:ext cx="4114800" cy="2590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What Is the Extent of Your Power, Authority, or Expertise?</a:t>
              </a:r>
              <a:endParaRPr sz="3200" b="0" i="0" u="none" strike="noStrike" cap="none">
                <a:solidFill>
                  <a:schemeClr val="dk1"/>
                </a:solidFill>
                <a:latin typeface="Candara"/>
                <a:ea typeface="Candara"/>
                <a:cs typeface="Candara"/>
                <a:sym typeface="Candara"/>
              </a:endParaRPr>
            </a:p>
          </p:txBody>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1"/>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Step 2: Writing </a:t>
            </a:r>
            <a:br>
              <a:rPr lang="en-US">
                <a:solidFill>
                  <a:schemeClr val="lt1"/>
                </a:solidFill>
              </a:rPr>
            </a:br>
            <a:r>
              <a:rPr lang="en-US">
                <a:solidFill>
                  <a:schemeClr val="lt1"/>
                </a:solidFill>
              </a:rPr>
              <a:t>Persuasive Messages</a:t>
            </a:r>
            <a:endParaRPr>
              <a:solidFill>
                <a:schemeClr val="lt1"/>
              </a:solidFill>
            </a:endParaRPr>
          </a:p>
        </p:txBody>
      </p:sp>
      <p:sp>
        <p:nvSpPr>
          <p:cNvPr id="195" name="Google Shape;195;p11"/>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196" name="Google Shape;196;p11"/>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11</a:t>
            </a:fld>
            <a:endParaRPr/>
          </a:p>
        </p:txBody>
      </p:sp>
      <p:grpSp>
        <p:nvGrpSpPr>
          <p:cNvPr id="197" name="Google Shape;197;p11"/>
          <p:cNvGrpSpPr/>
          <p:nvPr/>
        </p:nvGrpSpPr>
        <p:grpSpPr>
          <a:xfrm>
            <a:off x="457200" y="1981200"/>
            <a:ext cx="8229600" cy="4191000"/>
            <a:chOff x="457200" y="1981200"/>
            <a:chExt cx="8229600" cy="4191000"/>
          </a:xfrm>
        </p:grpSpPr>
        <p:sp>
          <p:nvSpPr>
            <p:cNvPr id="198" name="Google Shape;198;p11"/>
            <p:cNvSpPr/>
            <p:nvPr/>
          </p:nvSpPr>
          <p:spPr>
            <a:xfrm>
              <a:off x="4572000" y="19812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Respect Cultural Differences</a:t>
              </a:r>
              <a:endParaRPr/>
            </a:p>
          </p:txBody>
        </p:sp>
        <p:sp>
          <p:nvSpPr>
            <p:cNvPr id="199" name="Google Shape;199;p11"/>
            <p:cNvSpPr/>
            <p:nvPr/>
          </p:nvSpPr>
          <p:spPr>
            <a:xfrm>
              <a:off x="4572000" y="40767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Establish Your Credibility</a:t>
              </a:r>
              <a:endParaRPr/>
            </a:p>
          </p:txBody>
        </p:sp>
        <p:sp>
          <p:nvSpPr>
            <p:cNvPr id="200" name="Google Shape;200;p11"/>
            <p:cNvSpPr/>
            <p:nvPr/>
          </p:nvSpPr>
          <p:spPr>
            <a:xfrm flipH="1">
              <a:off x="457200" y="19812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Use Positive and Polite Language</a:t>
              </a:r>
              <a:endParaRPr sz="3600" b="0" i="0" u="none" strike="noStrike" cap="none">
                <a:solidFill>
                  <a:schemeClr val="dk1"/>
                </a:solidFill>
                <a:latin typeface="Candara"/>
                <a:ea typeface="Candara"/>
                <a:cs typeface="Candara"/>
                <a:sym typeface="Candara"/>
              </a:endParaRPr>
            </a:p>
          </p:txBody>
        </p:sp>
        <p:sp>
          <p:nvSpPr>
            <p:cNvPr id="201" name="Google Shape;201;p11"/>
            <p:cNvSpPr/>
            <p:nvPr/>
          </p:nvSpPr>
          <p:spPr>
            <a:xfrm flipH="1">
              <a:off x="457200" y="40767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Understand Culture </a:t>
              </a:r>
              <a:endParaRPr/>
            </a:p>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in Organizations</a:t>
              </a:r>
              <a:endParaRPr sz="3600" b="0" i="0" u="none" strike="noStrike" cap="none">
                <a:solidFill>
                  <a:schemeClr val="dk1"/>
                </a:solidFill>
                <a:latin typeface="Candara"/>
                <a:ea typeface="Candara"/>
                <a:cs typeface="Candara"/>
                <a:sym typeface="Candara"/>
              </a:endParaRP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2"/>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Building Your Credibility</a:t>
            </a:r>
            <a:endParaRPr/>
          </a:p>
        </p:txBody>
      </p:sp>
      <p:sp>
        <p:nvSpPr>
          <p:cNvPr id="208" name="Google Shape;208;p12"/>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09" name="Google Shape;209;p12"/>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12</a:t>
            </a:fld>
            <a:endParaRPr/>
          </a:p>
        </p:txBody>
      </p:sp>
      <p:grpSp>
        <p:nvGrpSpPr>
          <p:cNvPr id="210" name="Google Shape;210;p12"/>
          <p:cNvGrpSpPr/>
          <p:nvPr/>
        </p:nvGrpSpPr>
        <p:grpSpPr>
          <a:xfrm>
            <a:off x="609600" y="2057400"/>
            <a:ext cx="7924801" cy="4091378"/>
            <a:chOff x="609600" y="2057400"/>
            <a:chExt cx="7924801" cy="4091378"/>
          </a:xfrm>
        </p:grpSpPr>
        <p:sp>
          <p:nvSpPr>
            <p:cNvPr id="211" name="Google Shape;211;p12"/>
            <p:cNvSpPr/>
            <p:nvPr/>
          </p:nvSpPr>
          <p:spPr>
            <a:xfrm>
              <a:off x="1093430" y="2082889"/>
              <a:ext cx="7440970" cy="839999"/>
            </a:xfrm>
            <a:custGeom>
              <a:avLst/>
              <a:gdLst/>
              <a:ahLst/>
              <a:cxnLst/>
              <a:rect l="l" t="t" r="r" b="b"/>
              <a:pathLst>
                <a:path w="5472684" h="839997" extrusionOk="0">
                  <a:moveTo>
                    <a:pt x="5472684" y="839996"/>
                  </a:moveTo>
                  <a:lnTo>
                    <a:pt x="419998" y="839996"/>
                  </a:lnTo>
                  <a:lnTo>
                    <a:pt x="0" y="419998"/>
                  </a:lnTo>
                  <a:lnTo>
                    <a:pt x="419998" y="1"/>
                  </a:lnTo>
                  <a:lnTo>
                    <a:pt x="5472684" y="1"/>
                  </a:lnTo>
                  <a:lnTo>
                    <a:pt x="5472684" y="839996"/>
                  </a:lnTo>
                  <a:close/>
                </a:path>
              </a:pathLst>
            </a:custGeom>
            <a:solidFill>
              <a:srgbClr val="F8F8F8"/>
            </a:solidFill>
            <a:ln>
              <a:noFill/>
            </a:ln>
            <a:effectLst>
              <a:outerShdw blurRad="40000" dist="23000" dir="5400000" rotWithShape="0">
                <a:srgbClr val="000000">
                  <a:alpha val="34901"/>
                </a:srgbClr>
              </a:outerShdw>
            </a:effectLst>
          </p:spPr>
          <p:txBody>
            <a:bodyPr spcFirstLastPara="1" wrap="square" lIns="580400" tIns="152400" rIns="284475" bIns="152400" anchor="ctr" anchorCtr="0">
              <a:noAutofit/>
            </a:bodyPr>
            <a:lstStyle/>
            <a:p>
              <a:pPr marL="0" marR="0" lvl="0" indent="0" algn="l" rtl="0">
                <a:lnSpc>
                  <a:spcPct val="90000"/>
                </a:lnSpc>
                <a:spcBef>
                  <a:spcPts val="0"/>
                </a:spcBef>
                <a:spcAft>
                  <a:spcPts val="0"/>
                </a:spcAft>
                <a:buNone/>
              </a:pPr>
              <a:r>
                <a:rPr lang="en-US" sz="3200" b="0" i="0" u="none" strike="noStrike" cap="none">
                  <a:solidFill>
                    <a:schemeClr val="dk1"/>
                  </a:solidFill>
                  <a:latin typeface="Candara"/>
                  <a:ea typeface="Candara"/>
                  <a:cs typeface="Candara"/>
                  <a:sym typeface="Candara"/>
                </a:rPr>
                <a:t>Providing Objective Evidence</a:t>
              </a:r>
              <a:endParaRPr sz="3200" b="0" i="0" u="none" strike="noStrike" cap="none">
                <a:solidFill>
                  <a:schemeClr val="dk1"/>
                </a:solidFill>
                <a:latin typeface="Candara"/>
                <a:ea typeface="Candara"/>
                <a:cs typeface="Candara"/>
                <a:sym typeface="Candara"/>
              </a:endParaRPr>
            </a:p>
          </p:txBody>
        </p:sp>
        <p:sp>
          <p:nvSpPr>
            <p:cNvPr id="212" name="Google Shape;212;p12"/>
            <p:cNvSpPr/>
            <p:nvPr/>
          </p:nvSpPr>
          <p:spPr>
            <a:xfrm>
              <a:off x="609600" y="2057400"/>
              <a:ext cx="967660" cy="890978"/>
            </a:xfrm>
            <a:prstGeom prst="ellipse">
              <a:avLst/>
            </a:prstGeom>
            <a:solidFill>
              <a:schemeClr val="accent6"/>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Calibri"/>
                <a:ea typeface="Calibri"/>
                <a:cs typeface="Calibri"/>
                <a:sym typeface="Calibri"/>
              </a:endParaRPr>
            </a:p>
          </p:txBody>
        </p:sp>
        <p:sp>
          <p:nvSpPr>
            <p:cNvPr id="213" name="Google Shape;213;p12"/>
            <p:cNvSpPr/>
            <p:nvPr/>
          </p:nvSpPr>
          <p:spPr>
            <a:xfrm>
              <a:off x="1093430" y="3149689"/>
              <a:ext cx="7440970" cy="839999"/>
            </a:xfrm>
            <a:custGeom>
              <a:avLst/>
              <a:gdLst/>
              <a:ahLst/>
              <a:cxnLst/>
              <a:rect l="l" t="t" r="r" b="b"/>
              <a:pathLst>
                <a:path w="5472684" h="839997" extrusionOk="0">
                  <a:moveTo>
                    <a:pt x="5472684" y="839996"/>
                  </a:moveTo>
                  <a:lnTo>
                    <a:pt x="419998" y="839996"/>
                  </a:lnTo>
                  <a:lnTo>
                    <a:pt x="0" y="419998"/>
                  </a:lnTo>
                  <a:lnTo>
                    <a:pt x="419998" y="1"/>
                  </a:lnTo>
                  <a:lnTo>
                    <a:pt x="5472684" y="1"/>
                  </a:lnTo>
                  <a:lnTo>
                    <a:pt x="5472684" y="839996"/>
                  </a:lnTo>
                  <a:close/>
                </a:path>
              </a:pathLst>
            </a:custGeom>
            <a:solidFill>
              <a:srgbClr val="F8F8F8"/>
            </a:solidFill>
            <a:ln>
              <a:noFill/>
            </a:ln>
            <a:effectLst>
              <a:outerShdw blurRad="40000" dist="23000" dir="5400000" rotWithShape="0">
                <a:srgbClr val="000000">
                  <a:alpha val="34901"/>
                </a:srgbClr>
              </a:outerShdw>
            </a:effectLst>
          </p:spPr>
          <p:txBody>
            <a:bodyPr spcFirstLastPara="1" wrap="square" lIns="580400" tIns="152400" rIns="284475" bIns="152400" anchor="ctr" anchorCtr="0">
              <a:noAutofit/>
            </a:bodyPr>
            <a:lstStyle/>
            <a:p>
              <a:pPr marL="0" marR="0" lvl="0" indent="0" algn="l" rtl="0">
                <a:lnSpc>
                  <a:spcPct val="90000"/>
                </a:lnSpc>
                <a:spcBef>
                  <a:spcPts val="0"/>
                </a:spcBef>
                <a:spcAft>
                  <a:spcPts val="0"/>
                </a:spcAft>
                <a:buNone/>
              </a:pPr>
              <a:r>
                <a:rPr lang="en-US" sz="3200" b="0" i="0" u="none" strike="noStrike" cap="none">
                  <a:solidFill>
                    <a:schemeClr val="dk1"/>
                  </a:solidFill>
                  <a:latin typeface="Candara"/>
                  <a:ea typeface="Candara"/>
                  <a:cs typeface="Candara"/>
                  <a:sym typeface="Candara"/>
                </a:rPr>
                <a:t> Identifying Your Source Materials</a:t>
              </a:r>
              <a:endParaRPr/>
            </a:p>
          </p:txBody>
        </p:sp>
        <p:sp>
          <p:nvSpPr>
            <p:cNvPr id="214" name="Google Shape;214;p12"/>
            <p:cNvSpPr/>
            <p:nvPr/>
          </p:nvSpPr>
          <p:spPr>
            <a:xfrm>
              <a:off x="609600" y="3124200"/>
              <a:ext cx="967660" cy="890978"/>
            </a:xfrm>
            <a:prstGeom prst="ellipse">
              <a:avLst/>
            </a:prstGeom>
            <a:solidFill>
              <a:srgbClr val="F79646"/>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Calibri"/>
                <a:ea typeface="Calibri"/>
                <a:cs typeface="Calibri"/>
                <a:sym typeface="Calibri"/>
              </a:endParaRPr>
            </a:p>
          </p:txBody>
        </p:sp>
        <p:sp>
          <p:nvSpPr>
            <p:cNvPr id="215" name="Google Shape;215;p12"/>
            <p:cNvSpPr/>
            <p:nvPr/>
          </p:nvSpPr>
          <p:spPr>
            <a:xfrm>
              <a:off x="1093430" y="4216489"/>
              <a:ext cx="7440970" cy="839998"/>
            </a:xfrm>
            <a:custGeom>
              <a:avLst/>
              <a:gdLst/>
              <a:ahLst/>
              <a:cxnLst/>
              <a:rect l="l" t="t" r="r" b="b"/>
              <a:pathLst>
                <a:path w="5472684" h="839997" extrusionOk="0">
                  <a:moveTo>
                    <a:pt x="5472684" y="839996"/>
                  </a:moveTo>
                  <a:lnTo>
                    <a:pt x="419998" y="839996"/>
                  </a:lnTo>
                  <a:lnTo>
                    <a:pt x="0" y="419998"/>
                  </a:lnTo>
                  <a:lnTo>
                    <a:pt x="419998" y="1"/>
                  </a:lnTo>
                  <a:lnTo>
                    <a:pt x="5472684" y="1"/>
                  </a:lnTo>
                  <a:lnTo>
                    <a:pt x="5472684" y="839996"/>
                  </a:lnTo>
                  <a:close/>
                </a:path>
              </a:pathLst>
            </a:custGeom>
            <a:solidFill>
              <a:srgbClr val="F8F8F8"/>
            </a:solidFill>
            <a:ln>
              <a:noFill/>
            </a:ln>
            <a:effectLst>
              <a:outerShdw blurRad="40000" dist="23000" dir="5400000" rotWithShape="0">
                <a:srgbClr val="000000">
                  <a:alpha val="34901"/>
                </a:srgbClr>
              </a:outerShdw>
            </a:effectLst>
          </p:spPr>
          <p:txBody>
            <a:bodyPr spcFirstLastPara="1" wrap="square" lIns="580400" tIns="152400" rIns="284475" bIns="152400" anchor="ctr" anchorCtr="0">
              <a:noAutofit/>
            </a:bodyPr>
            <a:lstStyle/>
            <a:p>
              <a:pPr marL="0" marR="0" lvl="0" indent="0" algn="l" rtl="0">
                <a:lnSpc>
                  <a:spcPct val="90000"/>
                </a:lnSpc>
                <a:spcBef>
                  <a:spcPts val="0"/>
                </a:spcBef>
                <a:spcAft>
                  <a:spcPts val="0"/>
                </a:spcAft>
                <a:buNone/>
              </a:pPr>
              <a:r>
                <a:rPr lang="en-US" sz="3200" b="0" i="0" u="none" strike="noStrike" cap="none">
                  <a:solidFill>
                    <a:schemeClr val="dk1"/>
                  </a:solidFill>
                  <a:latin typeface="Candara"/>
                  <a:ea typeface="Candara"/>
                  <a:cs typeface="Candara"/>
                  <a:sym typeface="Candara"/>
                </a:rPr>
                <a:t> Focusing on the Audience’s Interests</a:t>
              </a:r>
              <a:endParaRPr/>
            </a:p>
          </p:txBody>
        </p:sp>
        <p:sp>
          <p:nvSpPr>
            <p:cNvPr id="216" name="Google Shape;216;p12"/>
            <p:cNvSpPr/>
            <p:nvPr/>
          </p:nvSpPr>
          <p:spPr>
            <a:xfrm>
              <a:off x="609600" y="4191000"/>
              <a:ext cx="967660" cy="890978"/>
            </a:xfrm>
            <a:prstGeom prst="ellipse">
              <a:avLst/>
            </a:prstGeom>
            <a:solidFill>
              <a:srgbClr val="F79646"/>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3200" b="0" i="0" u="none" strike="noStrike" cap="none">
                <a:solidFill>
                  <a:schemeClr val="lt1"/>
                </a:solidFill>
                <a:latin typeface="Calibri"/>
                <a:ea typeface="Calibri"/>
                <a:cs typeface="Calibri"/>
                <a:sym typeface="Calibri"/>
              </a:endParaRPr>
            </a:p>
          </p:txBody>
        </p:sp>
        <p:sp>
          <p:nvSpPr>
            <p:cNvPr id="217" name="Google Shape;217;p12"/>
            <p:cNvSpPr/>
            <p:nvPr/>
          </p:nvSpPr>
          <p:spPr>
            <a:xfrm>
              <a:off x="1093430" y="5283289"/>
              <a:ext cx="7440971" cy="839998"/>
            </a:xfrm>
            <a:custGeom>
              <a:avLst/>
              <a:gdLst/>
              <a:ahLst/>
              <a:cxnLst/>
              <a:rect l="l" t="t" r="r" b="b"/>
              <a:pathLst>
                <a:path w="5472684" h="839997" extrusionOk="0">
                  <a:moveTo>
                    <a:pt x="5472684" y="839996"/>
                  </a:moveTo>
                  <a:lnTo>
                    <a:pt x="419998" y="839996"/>
                  </a:lnTo>
                  <a:lnTo>
                    <a:pt x="0" y="419998"/>
                  </a:lnTo>
                  <a:lnTo>
                    <a:pt x="419998" y="1"/>
                  </a:lnTo>
                  <a:lnTo>
                    <a:pt x="5472684" y="1"/>
                  </a:lnTo>
                  <a:lnTo>
                    <a:pt x="5472684" y="839996"/>
                  </a:lnTo>
                  <a:close/>
                </a:path>
              </a:pathLst>
            </a:custGeom>
            <a:solidFill>
              <a:srgbClr val="F8F8F8"/>
            </a:solidFill>
            <a:ln>
              <a:noFill/>
            </a:ln>
            <a:effectLst>
              <a:outerShdw blurRad="40000" dist="23000" dir="5400000" rotWithShape="0">
                <a:srgbClr val="000000">
                  <a:alpha val="34901"/>
                </a:srgbClr>
              </a:outerShdw>
            </a:effectLst>
          </p:spPr>
          <p:txBody>
            <a:bodyPr spcFirstLastPara="1" wrap="square" lIns="580400" tIns="152400" rIns="284475" bIns="152400" anchor="ctr" anchorCtr="0">
              <a:noAutofit/>
            </a:bodyPr>
            <a:lstStyle/>
            <a:p>
              <a:pPr marL="0" marR="0" lvl="0" indent="0" algn="l" rtl="0">
                <a:lnSpc>
                  <a:spcPct val="90000"/>
                </a:lnSpc>
                <a:spcBef>
                  <a:spcPts val="0"/>
                </a:spcBef>
                <a:spcAft>
                  <a:spcPts val="0"/>
                </a:spcAft>
                <a:buNone/>
              </a:pPr>
              <a:r>
                <a:rPr lang="en-US" sz="3200" b="0" i="0" u="none" strike="noStrike" cap="none">
                  <a:solidFill>
                    <a:schemeClr val="dk1"/>
                  </a:solidFill>
                  <a:latin typeface="Candara"/>
                  <a:ea typeface="Candara"/>
                  <a:cs typeface="Candara"/>
                  <a:sym typeface="Candara"/>
                </a:rPr>
                <a:t> Establishing Common Ground</a:t>
              </a:r>
              <a:endParaRPr sz="3200" b="0" i="0" u="none" strike="noStrike" cap="none">
                <a:solidFill>
                  <a:schemeClr val="dk1"/>
                </a:solidFill>
                <a:latin typeface="Candara"/>
                <a:ea typeface="Candara"/>
                <a:cs typeface="Candara"/>
                <a:sym typeface="Candara"/>
              </a:endParaRPr>
            </a:p>
          </p:txBody>
        </p:sp>
        <p:sp>
          <p:nvSpPr>
            <p:cNvPr id="218" name="Google Shape;218;p12"/>
            <p:cNvSpPr/>
            <p:nvPr/>
          </p:nvSpPr>
          <p:spPr>
            <a:xfrm>
              <a:off x="609600" y="5257800"/>
              <a:ext cx="967660" cy="890978"/>
            </a:xfrm>
            <a:prstGeom prst="ellipse">
              <a:avLst/>
            </a:prstGeom>
            <a:solidFill>
              <a:srgbClr val="F79646"/>
            </a:solidFill>
            <a:ln>
              <a:noFill/>
            </a:ln>
            <a:effectLst>
              <a:outerShdw blurRad="44450" dist="27940" dir="5400000" algn="ctr">
                <a:srgbClr val="000000">
                  <a:alpha val="31764"/>
                </a:srgbClr>
              </a:outerShdw>
            </a:effectLst>
          </p:spPr>
          <p:txBody>
            <a:bodyPr spcFirstLastPara="1" wrap="square" lIns="91425" tIns="45700" rIns="91425" bIns="45700" anchor="b" anchorCtr="0">
              <a:noAutofit/>
            </a:bodyPr>
            <a:lstStyle/>
            <a:p>
              <a:pPr marL="0" marR="0" lvl="0" indent="0" algn="ctr" rtl="0">
                <a:spcBef>
                  <a:spcPts val="0"/>
                </a:spcBef>
                <a:spcAft>
                  <a:spcPts val="0"/>
                </a:spcAft>
                <a:buNone/>
              </a:pPr>
              <a:endParaRPr sz="3200" b="0" i="0" u="none" strike="noStrike" cap="none">
                <a:solidFill>
                  <a:schemeClr val="lt1"/>
                </a:solidFill>
                <a:latin typeface="Calibri"/>
                <a:ea typeface="Calibri"/>
                <a:cs typeface="Calibri"/>
                <a:sym typeface="Calibri"/>
              </a:endParaRPr>
            </a:p>
          </p:txBody>
        </p:sp>
      </p:gr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3"/>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25" name="Google Shape;225;p13"/>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13</a:t>
            </a:fld>
            <a:endParaRPr/>
          </a:p>
        </p:txBody>
      </p:sp>
      <p:sp>
        <p:nvSpPr>
          <p:cNvPr id="226" name="Google Shape;226;p13"/>
          <p:cNvSpPr txBox="1">
            <a:spLocks noGrp="1"/>
          </p:cNvSpPr>
          <p:nvPr>
            <p:ph type="title"/>
          </p:nvPr>
        </p:nvSpPr>
        <p:spPr>
          <a:xfrm>
            <a:off x="457200" y="381000"/>
            <a:ext cx="8229600" cy="1600200"/>
          </a:xfrm>
          <a:prstGeom prst="rect">
            <a:avLst/>
          </a:prstGeom>
          <a:solidFill>
            <a:schemeClr val="dk2"/>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800">
                <a:solidFill>
                  <a:schemeClr val="lt1"/>
                </a:solidFill>
              </a:rPr>
              <a:t>Step 3: Completing </a:t>
            </a:r>
            <a:br>
              <a:rPr lang="en-US" sz="4800">
                <a:solidFill>
                  <a:schemeClr val="lt1"/>
                </a:solidFill>
              </a:rPr>
            </a:br>
            <a:r>
              <a:rPr lang="en-US" sz="4800">
                <a:solidFill>
                  <a:schemeClr val="lt1"/>
                </a:solidFill>
              </a:rPr>
              <a:t>Persuasive Messages</a:t>
            </a:r>
            <a:endParaRPr sz="4800">
              <a:solidFill>
                <a:schemeClr val="lt1"/>
              </a:solidFill>
            </a:endParaRPr>
          </a:p>
        </p:txBody>
      </p:sp>
      <p:grpSp>
        <p:nvGrpSpPr>
          <p:cNvPr id="227" name="Google Shape;227;p13"/>
          <p:cNvGrpSpPr/>
          <p:nvPr/>
        </p:nvGrpSpPr>
        <p:grpSpPr>
          <a:xfrm>
            <a:off x="457200" y="1981200"/>
            <a:ext cx="8229600" cy="4191000"/>
            <a:chOff x="457200" y="1981200"/>
            <a:chExt cx="8229600" cy="4191000"/>
          </a:xfrm>
        </p:grpSpPr>
        <p:sp>
          <p:nvSpPr>
            <p:cNvPr id="228" name="Google Shape;228;p13"/>
            <p:cNvSpPr/>
            <p:nvPr/>
          </p:nvSpPr>
          <p:spPr>
            <a:xfrm>
              <a:off x="4572000" y="19812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Produce Your Message</a:t>
              </a:r>
              <a:endParaRPr sz="3600" b="0" i="0" u="none" strike="noStrike" cap="none">
                <a:solidFill>
                  <a:schemeClr val="dk1"/>
                </a:solidFill>
                <a:latin typeface="Candara"/>
                <a:ea typeface="Candara"/>
                <a:cs typeface="Candara"/>
                <a:sym typeface="Candara"/>
              </a:endParaRPr>
            </a:p>
          </p:txBody>
        </p:sp>
        <p:sp>
          <p:nvSpPr>
            <p:cNvPr id="229" name="Google Shape;229;p13"/>
            <p:cNvSpPr/>
            <p:nvPr/>
          </p:nvSpPr>
          <p:spPr>
            <a:xfrm>
              <a:off x="4572000" y="40767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Distribute Your Message</a:t>
              </a:r>
              <a:endParaRPr sz="3600" b="0" i="0" u="none" strike="noStrike" cap="none">
                <a:solidFill>
                  <a:schemeClr val="dk1"/>
                </a:solidFill>
                <a:latin typeface="Candara"/>
                <a:ea typeface="Candara"/>
                <a:cs typeface="Candara"/>
                <a:sym typeface="Candara"/>
              </a:endParaRPr>
            </a:p>
          </p:txBody>
        </p:sp>
        <p:sp>
          <p:nvSpPr>
            <p:cNvPr id="230" name="Google Shape;230;p13"/>
            <p:cNvSpPr/>
            <p:nvPr/>
          </p:nvSpPr>
          <p:spPr>
            <a:xfrm flipH="1">
              <a:off x="457200" y="19812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Evaluate Your Content</a:t>
              </a:r>
              <a:endParaRPr sz="3600" b="0" i="0" u="none" strike="noStrike" cap="none">
                <a:solidFill>
                  <a:schemeClr val="dk1"/>
                </a:solidFill>
                <a:latin typeface="Candara"/>
                <a:ea typeface="Candara"/>
                <a:cs typeface="Candara"/>
                <a:sym typeface="Candara"/>
              </a:endParaRPr>
            </a:p>
          </p:txBody>
        </p:sp>
        <p:sp>
          <p:nvSpPr>
            <p:cNvPr id="231" name="Google Shape;231;p13"/>
            <p:cNvSpPr/>
            <p:nvPr/>
          </p:nvSpPr>
          <p:spPr>
            <a:xfrm flipH="1">
              <a:off x="457200" y="4076700"/>
              <a:ext cx="4114800" cy="2095500"/>
            </a:xfrm>
            <a:prstGeom prst="foldedCorner">
              <a:avLst>
                <a:gd name="adj" fmla="val 16667"/>
              </a:avLst>
            </a:prstGeom>
            <a:solidFill>
              <a:schemeClr val="lt1"/>
            </a:solid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Proofread Your Message</a:t>
              </a:r>
              <a:endParaRPr sz="3600" b="0" i="0" u="none" strike="noStrike" cap="none">
                <a:solidFill>
                  <a:schemeClr val="dk1"/>
                </a:solidFill>
                <a:latin typeface="Candara"/>
                <a:ea typeface="Candara"/>
                <a:cs typeface="Candara"/>
                <a:sym typeface="Candara"/>
              </a:endParaRPr>
            </a:p>
          </p:txBody>
        </p: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ctrTitle"/>
          </p:nvPr>
        </p:nvSpPr>
        <p:spPr>
          <a:xfrm>
            <a:off x="457200" y="1981200"/>
            <a:ext cx="8229600" cy="1676399"/>
          </a:xfrm>
          <a:prstGeom prst="rect">
            <a:avLst/>
          </a:prstGeom>
          <a:solidFill>
            <a:schemeClr val="dk2"/>
          </a:solidFill>
          <a:ln w="9525" cap="flat" cmpd="sng">
            <a:solidFill>
              <a:srgbClr val="292929"/>
            </a:solidFill>
            <a:prstDash val="solid"/>
            <a:round/>
            <a:headEnd type="none" w="sm" len="sm"/>
            <a:tailEnd type="none" w="sm" len="sm"/>
          </a:ln>
          <a:effectLst>
            <a:outerShdw blurRad="50800" dist="76200" dir="8100000" algn="tr" rotWithShape="0">
              <a:srgbClr val="000000">
                <a:alpha val="2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Developing Persuasive </a:t>
            </a:r>
            <a:br>
              <a:rPr lang="en-US"/>
            </a:br>
            <a:r>
              <a:rPr lang="en-US"/>
              <a:t>Business Messages</a:t>
            </a:r>
            <a:endParaRPr/>
          </a:p>
        </p:txBody>
      </p:sp>
      <p:sp>
        <p:nvSpPr>
          <p:cNvPr id="238" name="Google Shape;238;p14"/>
          <p:cNvSpPr txBox="1">
            <a:spLocks noGrp="1"/>
          </p:cNvSpPr>
          <p:nvPr>
            <p:ph type="subTitle" idx="1"/>
          </p:nvPr>
        </p:nvSpPr>
        <p:spPr>
          <a:xfrm>
            <a:off x="609600" y="3886200"/>
            <a:ext cx="7924800" cy="1905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100"/>
              <a:buFont typeface="Candara"/>
              <a:buNone/>
            </a:pPr>
            <a:r>
              <a:rPr lang="en-US"/>
              <a:t>(LO 2) Describe an effective strategy for developing persuasive business messages, and identify the three most common categories of persuasive business messages.</a:t>
            </a:r>
            <a:endParaRPr/>
          </a:p>
        </p:txBody>
      </p:sp>
      <p:sp>
        <p:nvSpPr>
          <p:cNvPr id="239" name="Google Shape;239;p14"/>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40" name="Google Shape;240;p14"/>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14</a:t>
            </a:fld>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5"/>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Framing Your Arguments</a:t>
            </a:r>
            <a:br>
              <a:rPr lang="en-US">
                <a:solidFill>
                  <a:schemeClr val="lt1"/>
                </a:solidFill>
              </a:rPr>
            </a:br>
            <a:r>
              <a:rPr lang="en-US" sz="3600"/>
              <a:t>(the AIDA Model)</a:t>
            </a:r>
            <a:endParaRPr sz="3600">
              <a:solidFill>
                <a:schemeClr val="lt1"/>
              </a:solidFill>
            </a:endParaRPr>
          </a:p>
        </p:txBody>
      </p:sp>
      <p:sp>
        <p:nvSpPr>
          <p:cNvPr id="247" name="Google Shape;247;p15"/>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48" name="Google Shape;248;p15"/>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15</a:t>
            </a:fld>
            <a:endParaRPr/>
          </a:p>
        </p:txBody>
      </p:sp>
      <p:grpSp>
        <p:nvGrpSpPr>
          <p:cNvPr id="249" name="Google Shape;249;p15"/>
          <p:cNvGrpSpPr/>
          <p:nvPr/>
        </p:nvGrpSpPr>
        <p:grpSpPr>
          <a:xfrm>
            <a:off x="457200" y="1981200"/>
            <a:ext cx="8229600" cy="4191000"/>
            <a:chOff x="457200" y="1981200"/>
            <a:chExt cx="8229600" cy="4191000"/>
          </a:xfrm>
        </p:grpSpPr>
        <p:sp>
          <p:nvSpPr>
            <p:cNvPr id="250" name="Google Shape;250;p15"/>
            <p:cNvSpPr/>
            <p:nvPr/>
          </p:nvSpPr>
          <p:spPr>
            <a:xfrm>
              <a:off x="457200" y="1981200"/>
              <a:ext cx="19050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1" i="0" u="none" strike="noStrike" cap="none">
                  <a:solidFill>
                    <a:schemeClr val="dk1"/>
                  </a:solidFill>
                  <a:latin typeface="Candara"/>
                  <a:ea typeface="Candara"/>
                  <a:cs typeface="Candara"/>
                  <a:sym typeface="Candara"/>
                </a:rPr>
                <a:t>A</a:t>
              </a:r>
              <a:r>
                <a:rPr lang="en-US" sz="3000" b="0" i="0" u="none" strike="noStrike" cap="none">
                  <a:solidFill>
                    <a:schemeClr val="dk1"/>
                  </a:solidFill>
                  <a:latin typeface="Candara"/>
                  <a:ea typeface="Candara"/>
                  <a:cs typeface="Candara"/>
                  <a:sym typeface="Candara"/>
                </a:rPr>
                <a:t>ttention</a:t>
              </a:r>
              <a:endParaRPr/>
            </a:p>
          </p:txBody>
        </p:sp>
        <p:sp>
          <p:nvSpPr>
            <p:cNvPr id="251" name="Google Shape;251;p15"/>
            <p:cNvSpPr/>
            <p:nvPr/>
          </p:nvSpPr>
          <p:spPr>
            <a:xfrm>
              <a:off x="457200" y="3028950"/>
              <a:ext cx="19050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1" i="0" u="none" strike="noStrike" cap="none">
                  <a:solidFill>
                    <a:schemeClr val="dk1"/>
                  </a:solidFill>
                  <a:latin typeface="Candara"/>
                  <a:ea typeface="Candara"/>
                  <a:cs typeface="Candara"/>
                  <a:sym typeface="Candara"/>
                </a:rPr>
                <a:t>I</a:t>
              </a:r>
              <a:r>
                <a:rPr lang="en-US" sz="3000" b="0" i="0" u="none" strike="noStrike" cap="none">
                  <a:solidFill>
                    <a:schemeClr val="dk1"/>
                  </a:solidFill>
                  <a:latin typeface="Candara"/>
                  <a:ea typeface="Candara"/>
                  <a:cs typeface="Candara"/>
                  <a:sym typeface="Candara"/>
                </a:rPr>
                <a:t>nterest</a:t>
              </a:r>
              <a:endParaRPr/>
            </a:p>
          </p:txBody>
        </p:sp>
        <p:sp>
          <p:nvSpPr>
            <p:cNvPr id="252" name="Google Shape;252;p15"/>
            <p:cNvSpPr/>
            <p:nvPr/>
          </p:nvSpPr>
          <p:spPr>
            <a:xfrm>
              <a:off x="457200" y="4076700"/>
              <a:ext cx="19050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1" i="0" u="none" strike="noStrike" cap="none">
                  <a:solidFill>
                    <a:schemeClr val="dk1"/>
                  </a:solidFill>
                  <a:latin typeface="Candara"/>
                  <a:ea typeface="Candara"/>
                  <a:cs typeface="Candara"/>
                  <a:sym typeface="Candara"/>
                </a:rPr>
                <a:t>D</a:t>
              </a:r>
              <a:r>
                <a:rPr lang="en-US" sz="3000" b="0" i="0" u="none" strike="noStrike" cap="none">
                  <a:solidFill>
                    <a:schemeClr val="dk1"/>
                  </a:solidFill>
                  <a:latin typeface="Candara"/>
                  <a:ea typeface="Candara"/>
                  <a:cs typeface="Candara"/>
                  <a:sym typeface="Candara"/>
                </a:rPr>
                <a:t>esire</a:t>
              </a:r>
              <a:endParaRPr/>
            </a:p>
          </p:txBody>
        </p:sp>
        <p:sp>
          <p:nvSpPr>
            <p:cNvPr id="253" name="Google Shape;253;p15"/>
            <p:cNvSpPr/>
            <p:nvPr/>
          </p:nvSpPr>
          <p:spPr>
            <a:xfrm>
              <a:off x="457200" y="5124450"/>
              <a:ext cx="19050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1" i="0" u="none" strike="noStrike" cap="none">
                  <a:solidFill>
                    <a:schemeClr val="dk1"/>
                  </a:solidFill>
                  <a:latin typeface="Candara"/>
                  <a:ea typeface="Candara"/>
                  <a:cs typeface="Candara"/>
                  <a:sym typeface="Candara"/>
                </a:rPr>
                <a:t>A</a:t>
              </a:r>
              <a:r>
                <a:rPr lang="en-US" sz="3000" b="0" i="0" u="none" strike="noStrike" cap="none">
                  <a:solidFill>
                    <a:schemeClr val="dk1"/>
                  </a:solidFill>
                  <a:latin typeface="Candara"/>
                  <a:ea typeface="Candara"/>
                  <a:cs typeface="Candara"/>
                  <a:sym typeface="Candara"/>
                </a:rPr>
                <a:t>ction</a:t>
              </a:r>
              <a:endParaRPr/>
            </a:p>
          </p:txBody>
        </p:sp>
        <p:sp>
          <p:nvSpPr>
            <p:cNvPr id="254" name="Google Shape;254;p15"/>
            <p:cNvSpPr/>
            <p:nvPr/>
          </p:nvSpPr>
          <p:spPr>
            <a:xfrm>
              <a:off x="2362200" y="1981200"/>
              <a:ext cx="63246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Catch the Audience’s Attention</a:t>
              </a:r>
              <a:endParaRPr/>
            </a:p>
          </p:txBody>
        </p:sp>
        <p:sp>
          <p:nvSpPr>
            <p:cNvPr id="255" name="Google Shape;255;p15"/>
            <p:cNvSpPr/>
            <p:nvPr/>
          </p:nvSpPr>
          <p:spPr>
            <a:xfrm>
              <a:off x="2362200" y="3028950"/>
              <a:ext cx="63246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Provide Additional Details or Benefits</a:t>
              </a:r>
              <a:endParaRPr sz="3000" b="0" i="0" u="none" strike="noStrike" cap="none">
                <a:solidFill>
                  <a:schemeClr val="dk1"/>
                </a:solidFill>
                <a:latin typeface="Candara"/>
                <a:ea typeface="Candara"/>
                <a:cs typeface="Candara"/>
                <a:sym typeface="Candara"/>
              </a:endParaRPr>
            </a:p>
          </p:txBody>
        </p:sp>
        <p:sp>
          <p:nvSpPr>
            <p:cNvPr id="256" name="Google Shape;256;p15"/>
            <p:cNvSpPr/>
            <p:nvPr/>
          </p:nvSpPr>
          <p:spPr>
            <a:xfrm>
              <a:off x="2362200" y="4076700"/>
              <a:ext cx="63246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Explain Benefits; Address Objections</a:t>
              </a:r>
              <a:endParaRPr sz="3000" b="0" i="0" u="none" strike="noStrike" cap="none">
                <a:solidFill>
                  <a:schemeClr val="dk1"/>
                </a:solidFill>
                <a:latin typeface="Candara"/>
                <a:ea typeface="Candara"/>
                <a:cs typeface="Candara"/>
                <a:sym typeface="Candara"/>
              </a:endParaRPr>
            </a:p>
          </p:txBody>
        </p:sp>
        <p:sp>
          <p:nvSpPr>
            <p:cNvPr id="257" name="Google Shape;257;p15"/>
            <p:cNvSpPr/>
            <p:nvPr/>
          </p:nvSpPr>
          <p:spPr>
            <a:xfrm>
              <a:off x="2362200" y="5124450"/>
              <a:ext cx="6324600" cy="1047750"/>
            </a:xfrm>
            <a:prstGeom prst="rect">
              <a:avLst/>
            </a:prstGeom>
            <a:solidFill>
              <a:schemeClr val="lt1"/>
            </a:solidFill>
            <a:ln w="9525"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Suggest Specific Audience Action</a:t>
              </a:r>
              <a:endParaRPr/>
            </a:p>
          </p:txBody>
        </p:sp>
      </p:gr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6"/>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64" name="Google Shape;264;p16"/>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16</a:t>
            </a:fld>
            <a:endParaRPr/>
          </a:p>
        </p:txBody>
      </p:sp>
      <p:sp>
        <p:nvSpPr>
          <p:cNvPr id="265" name="Google Shape;265;p16"/>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Balancing Emotional and Logical Appeals </a:t>
            </a:r>
            <a:r>
              <a:rPr lang="en-US" sz="2400">
                <a:solidFill>
                  <a:schemeClr val="lt1"/>
                </a:solidFill>
              </a:rPr>
              <a:t>(1 of 2)</a:t>
            </a:r>
            <a:endParaRPr sz="2400">
              <a:solidFill>
                <a:schemeClr val="lt1"/>
              </a:solidFill>
            </a:endParaRPr>
          </a:p>
        </p:txBody>
      </p:sp>
      <p:grpSp>
        <p:nvGrpSpPr>
          <p:cNvPr id="266" name="Google Shape;266;p16"/>
          <p:cNvGrpSpPr/>
          <p:nvPr/>
        </p:nvGrpSpPr>
        <p:grpSpPr>
          <a:xfrm>
            <a:off x="457200" y="1981200"/>
            <a:ext cx="8229600" cy="4191000"/>
            <a:chOff x="457200" y="1981200"/>
            <a:chExt cx="8229600" cy="4191000"/>
          </a:xfrm>
        </p:grpSpPr>
        <p:sp>
          <p:nvSpPr>
            <p:cNvPr id="267" name="Google Shape;267;p16"/>
            <p:cNvSpPr/>
            <p:nvPr/>
          </p:nvSpPr>
          <p:spPr>
            <a:xfrm>
              <a:off x="457200" y="4419600"/>
              <a:ext cx="4114800" cy="167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300"/>
                <a:buFont typeface="Candara"/>
                <a:buNone/>
              </a:pPr>
              <a:r>
                <a:rPr lang="en-US" sz="3300" b="0" i="0" u="none" strike="noStrike" cap="none">
                  <a:solidFill>
                    <a:schemeClr val="dk1"/>
                  </a:solidFill>
                  <a:latin typeface="Candara"/>
                  <a:ea typeface="Candara"/>
                  <a:cs typeface="Candara"/>
                  <a:sym typeface="Candara"/>
                </a:rPr>
                <a:t>Feelings</a:t>
              </a:r>
              <a:endParaRPr/>
            </a:p>
            <a:p>
              <a:pPr marL="0" marR="0" lvl="0" indent="0" algn="ctr" rtl="0">
                <a:lnSpc>
                  <a:spcPct val="100000"/>
                </a:lnSpc>
                <a:spcBef>
                  <a:spcPts val="0"/>
                </a:spcBef>
                <a:spcAft>
                  <a:spcPts val="0"/>
                </a:spcAft>
                <a:buClr>
                  <a:schemeClr val="dk1"/>
                </a:buClr>
                <a:buSzPts val="3300"/>
                <a:buFont typeface="Candara"/>
                <a:buNone/>
              </a:pPr>
              <a:r>
                <a:rPr lang="en-US" sz="3300" b="0" i="0" u="none" strike="noStrike" cap="none">
                  <a:solidFill>
                    <a:schemeClr val="dk1"/>
                  </a:solidFill>
                  <a:latin typeface="Candara"/>
                  <a:ea typeface="Candara"/>
                  <a:cs typeface="Candara"/>
                  <a:sym typeface="Candara"/>
                </a:rPr>
                <a:t>Emotions</a:t>
              </a:r>
              <a:endParaRPr/>
            </a:p>
            <a:p>
              <a:pPr marL="0" marR="0" lvl="0" indent="0" algn="ctr" rtl="0">
                <a:lnSpc>
                  <a:spcPct val="100000"/>
                </a:lnSpc>
                <a:spcBef>
                  <a:spcPts val="0"/>
                </a:spcBef>
                <a:spcAft>
                  <a:spcPts val="0"/>
                </a:spcAft>
                <a:buClr>
                  <a:schemeClr val="dk1"/>
                </a:buClr>
                <a:buSzPts val="3300"/>
                <a:buFont typeface="Candara"/>
                <a:buNone/>
              </a:pPr>
              <a:r>
                <a:rPr lang="en-US" sz="3300" b="0" i="0" u="none" strike="noStrike" cap="none">
                  <a:solidFill>
                    <a:schemeClr val="dk1"/>
                  </a:solidFill>
                  <a:latin typeface="Candara"/>
                  <a:ea typeface="Candara"/>
                  <a:cs typeface="Candara"/>
                  <a:sym typeface="Candara"/>
                </a:rPr>
                <a:t>Sympathies</a:t>
              </a:r>
              <a:endParaRPr/>
            </a:p>
          </p:txBody>
        </p:sp>
        <p:sp>
          <p:nvSpPr>
            <p:cNvPr id="268" name="Google Shape;268;p16"/>
            <p:cNvSpPr/>
            <p:nvPr/>
          </p:nvSpPr>
          <p:spPr>
            <a:xfrm>
              <a:off x="4572000" y="4419600"/>
              <a:ext cx="4114800" cy="167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300"/>
                <a:buFont typeface="Candara"/>
                <a:buNone/>
              </a:pPr>
              <a:r>
                <a:rPr lang="en-US" sz="3300" b="0" i="0" u="none" strike="noStrike" cap="none">
                  <a:solidFill>
                    <a:schemeClr val="dk1"/>
                  </a:solidFill>
                  <a:latin typeface="Candara"/>
                  <a:ea typeface="Candara"/>
                  <a:cs typeface="Candara"/>
                  <a:sym typeface="Candara"/>
                </a:rPr>
                <a:t>Analogy</a:t>
              </a:r>
              <a:endParaRPr/>
            </a:p>
            <a:p>
              <a:pPr marL="0" marR="0" lvl="0" indent="0" algn="ctr" rtl="0">
                <a:lnSpc>
                  <a:spcPct val="100000"/>
                </a:lnSpc>
                <a:spcBef>
                  <a:spcPts val="0"/>
                </a:spcBef>
                <a:spcAft>
                  <a:spcPts val="0"/>
                </a:spcAft>
                <a:buClr>
                  <a:schemeClr val="dk1"/>
                </a:buClr>
                <a:buSzPts val="3300"/>
                <a:buFont typeface="Candara"/>
                <a:buNone/>
              </a:pPr>
              <a:r>
                <a:rPr lang="en-US" sz="3300" b="0" i="0" u="none" strike="noStrike" cap="none">
                  <a:solidFill>
                    <a:schemeClr val="dk1"/>
                  </a:solidFill>
                  <a:latin typeface="Candara"/>
                  <a:ea typeface="Candara"/>
                  <a:cs typeface="Candara"/>
                  <a:sym typeface="Candara"/>
                </a:rPr>
                <a:t>Induction</a:t>
              </a:r>
              <a:endParaRPr/>
            </a:p>
            <a:p>
              <a:pPr marL="0" marR="0" lvl="0" indent="0" algn="ctr" rtl="0">
                <a:lnSpc>
                  <a:spcPct val="100000"/>
                </a:lnSpc>
                <a:spcBef>
                  <a:spcPts val="0"/>
                </a:spcBef>
                <a:spcAft>
                  <a:spcPts val="0"/>
                </a:spcAft>
                <a:buClr>
                  <a:schemeClr val="dk1"/>
                </a:buClr>
                <a:buSzPts val="3300"/>
                <a:buFont typeface="Candara"/>
                <a:buNone/>
              </a:pPr>
              <a:r>
                <a:rPr lang="en-US" sz="3300" b="0" i="0" u="none" strike="noStrike" cap="none">
                  <a:solidFill>
                    <a:schemeClr val="dk1"/>
                  </a:solidFill>
                  <a:latin typeface="Candara"/>
                  <a:ea typeface="Candara"/>
                  <a:cs typeface="Candara"/>
                  <a:sym typeface="Candara"/>
                </a:rPr>
                <a:t>Deduction</a:t>
              </a:r>
              <a:endParaRPr/>
            </a:p>
          </p:txBody>
        </p:sp>
        <p:sp>
          <p:nvSpPr>
            <p:cNvPr id="269" name="Google Shape;269;p16"/>
            <p:cNvSpPr/>
            <p:nvPr/>
          </p:nvSpPr>
          <p:spPr>
            <a:xfrm>
              <a:off x="457200" y="1981200"/>
              <a:ext cx="4114800" cy="2438400"/>
            </a:xfrm>
            <a:prstGeom prst="downArrowCallout">
              <a:avLst>
                <a:gd name="adj1" fmla="val 25000"/>
                <a:gd name="adj2" fmla="val 25000"/>
                <a:gd name="adj3" fmla="val 25000"/>
                <a:gd name="adj4" fmla="val 64977"/>
              </a:avLst>
            </a:prstGeom>
            <a:solidFill>
              <a:srgbClr val="E1E3D3"/>
            </a:solidFill>
            <a:ln w="9525" cap="flat" cmpd="sng">
              <a:solidFill>
                <a:srgbClr val="292929"/>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Emotional Appeals</a:t>
              </a:r>
              <a:endParaRPr/>
            </a:p>
          </p:txBody>
        </p:sp>
        <p:sp>
          <p:nvSpPr>
            <p:cNvPr id="270" name="Google Shape;270;p16"/>
            <p:cNvSpPr/>
            <p:nvPr/>
          </p:nvSpPr>
          <p:spPr>
            <a:xfrm>
              <a:off x="4572000" y="1981200"/>
              <a:ext cx="4114800" cy="2438400"/>
            </a:xfrm>
            <a:prstGeom prst="downArrowCallout">
              <a:avLst>
                <a:gd name="adj1" fmla="val 25000"/>
                <a:gd name="adj2" fmla="val 25000"/>
                <a:gd name="adj3" fmla="val 25000"/>
                <a:gd name="adj4" fmla="val 64977"/>
              </a:avLst>
            </a:prstGeom>
            <a:solidFill>
              <a:srgbClr val="ABFFE1"/>
            </a:solidFill>
            <a:ln w="9525" cap="flat" cmpd="sng">
              <a:solidFill>
                <a:srgbClr val="292929"/>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Logical Appeals</a:t>
              </a:r>
              <a:endParaRPr sz="3600" b="0" i="0" u="none" strike="noStrike" cap="none">
                <a:solidFill>
                  <a:schemeClr val="dk1"/>
                </a:solidFill>
                <a:latin typeface="Candara"/>
                <a:ea typeface="Candara"/>
                <a:cs typeface="Candara"/>
                <a:sym typeface="Candara"/>
              </a:endParaRPr>
            </a:p>
          </p:txBody>
        </p:sp>
        <p:sp>
          <p:nvSpPr>
            <p:cNvPr id="271" name="Google Shape;271;p16"/>
            <p:cNvSpPr/>
            <p:nvPr/>
          </p:nvSpPr>
          <p:spPr>
            <a:xfrm>
              <a:off x="457200" y="1981200"/>
              <a:ext cx="8229600" cy="4191000"/>
            </a:xfrm>
            <a:prstGeom prst="rect">
              <a:avLst/>
            </a:prstGeom>
            <a:noFill/>
            <a:ln w="9525" cap="flat" cmpd="sng">
              <a:solidFill>
                <a:srgbClr val="29292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gr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7"/>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78" name="Google Shape;278;p17"/>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17</a:t>
            </a:fld>
            <a:endParaRPr/>
          </a:p>
        </p:txBody>
      </p:sp>
      <p:sp>
        <p:nvSpPr>
          <p:cNvPr id="279" name="Google Shape;279;p17"/>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Balancing Emotional and Logical Appeals </a:t>
            </a:r>
            <a:r>
              <a:rPr lang="en-US" sz="2400">
                <a:solidFill>
                  <a:schemeClr val="lt1"/>
                </a:solidFill>
              </a:rPr>
              <a:t>(2 of 2)</a:t>
            </a:r>
            <a:endParaRPr sz="2400">
              <a:solidFill>
                <a:schemeClr val="lt1"/>
              </a:solidFill>
            </a:endParaRPr>
          </a:p>
        </p:txBody>
      </p:sp>
      <p:pic>
        <p:nvPicPr>
          <p:cNvPr id="280" name="Google Shape;280;p17"/>
          <p:cNvPicPr preferRelativeResize="0"/>
          <p:nvPr/>
        </p:nvPicPr>
        <p:blipFill rotWithShape="1">
          <a:blip r:embed="rId3">
            <a:alphaModFix/>
          </a:blip>
          <a:srcRect/>
          <a:stretch/>
        </p:blipFill>
        <p:spPr>
          <a:xfrm>
            <a:off x="2679155" y="2057399"/>
            <a:ext cx="3557090" cy="4234085"/>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8"/>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Avoiding Faulty Logic</a:t>
            </a:r>
            <a:endParaRPr/>
          </a:p>
        </p:txBody>
      </p:sp>
      <p:sp>
        <p:nvSpPr>
          <p:cNvPr id="287" name="Google Shape;287;p18"/>
          <p:cNvSpPr txBox="1">
            <a:spLocks noGrp="1"/>
          </p:cNvSpPr>
          <p:nvPr>
            <p:ph type="body" idx="1"/>
          </p:nvPr>
        </p:nvSpPr>
        <p:spPr>
          <a:xfrm>
            <a:off x="609600" y="2057400"/>
            <a:ext cx="7924800" cy="4038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Candara"/>
              <a:buChar char="•"/>
            </a:pPr>
            <a:r>
              <a:rPr lang="en-US"/>
              <a:t>Hasty generalizations</a:t>
            </a:r>
            <a:endParaRPr/>
          </a:p>
          <a:p>
            <a:pPr marL="342900" lvl="0" indent="-342900" algn="l" rtl="0">
              <a:spcBef>
                <a:spcPts val="640"/>
              </a:spcBef>
              <a:spcAft>
                <a:spcPts val="0"/>
              </a:spcAft>
              <a:buClr>
                <a:schemeClr val="dk1"/>
              </a:buClr>
              <a:buSzPts val="3200"/>
              <a:buFont typeface="Candara"/>
              <a:buChar char="•"/>
            </a:pPr>
            <a:r>
              <a:rPr lang="en-US"/>
              <a:t>Circular reasoning</a:t>
            </a:r>
            <a:endParaRPr/>
          </a:p>
          <a:p>
            <a:pPr marL="342900" lvl="0" indent="-342900" algn="l" rtl="0">
              <a:spcBef>
                <a:spcPts val="640"/>
              </a:spcBef>
              <a:spcAft>
                <a:spcPts val="0"/>
              </a:spcAft>
              <a:buClr>
                <a:schemeClr val="dk1"/>
              </a:buClr>
              <a:buSzPts val="3200"/>
              <a:buFont typeface="Candara"/>
              <a:buChar char="•"/>
            </a:pPr>
            <a:r>
              <a:rPr lang="en-US"/>
              <a:t>Attacking an opponent</a:t>
            </a:r>
            <a:endParaRPr/>
          </a:p>
          <a:p>
            <a:pPr marL="342900" lvl="0" indent="-342900" algn="l" rtl="0">
              <a:spcBef>
                <a:spcPts val="640"/>
              </a:spcBef>
              <a:spcAft>
                <a:spcPts val="0"/>
              </a:spcAft>
              <a:buClr>
                <a:schemeClr val="dk1"/>
              </a:buClr>
              <a:buSzPts val="3200"/>
              <a:buFont typeface="Candara"/>
              <a:buChar char="•"/>
            </a:pPr>
            <a:r>
              <a:rPr lang="en-US"/>
              <a:t>Oversimplifying a complex issue</a:t>
            </a:r>
            <a:endParaRPr/>
          </a:p>
          <a:p>
            <a:pPr marL="342900" lvl="0" indent="-342900" algn="l" rtl="0">
              <a:spcBef>
                <a:spcPts val="640"/>
              </a:spcBef>
              <a:spcAft>
                <a:spcPts val="0"/>
              </a:spcAft>
              <a:buClr>
                <a:schemeClr val="dk1"/>
              </a:buClr>
              <a:buSzPts val="3200"/>
              <a:buFont typeface="Candara"/>
              <a:buChar char="•"/>
            </a:pPr>
            <a:r>
              <a:rPr lang="en-US"/>
              <a:t>Mistaken cause-effect assumptions</a:t>
            </a:r>
            <a:endParaRPr/>
          </a:p>
          <a:p>
            <a:pPr marL="342900" lvl="0" indent="-342900" algn="l" rtl="0">
              <a:spcBef>
                <a:spcPts val="640"/>
              </a:spcBef>
              <a:spcAft>
                <a:spcPts val="0"/>
              </a:spcAft>
              <a:buClr>
                <a:schemeClr val="dk1"/>
              </a:buClr>
              <a:buSzPts val="3200"/>
              <a:buFont typeface="Candara"/>
              <a:buChar char="•"/>
            </a:pPr>
            <a:r>
              <a:rPr lang="en-US"/>
              <a:t>Faulty analogies</a:t>
            </a:r>
            <a:endParaRPr/>
          </a:p>
        </p:txBody>
      </p:sp>
      <p:sp>
        <p:nvSpPr>
          <p:cNvPr id="288" name="Google Shape;288;p18"/>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289" name="Google Shape;289;p18"/>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18</a:t>
            </a:fld>
            <a:endParaRPr/>
          </a:p>
        </p:txBody>
      </p:sp>
      <p:sp>
        <p:nvSpPr>
          <p:cNvPr id="290" name="Google Shape;290;p18"/>
          <p:cNvSpPr/>
          <p:nvPr/>
        </p:nvSpPr>
        <p:spPr>
          <a:xfrm>
            <a:off x="457200" y="1981200"/>
            <a:ext cx="8229600" cy="4191000"/>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grpSp>
        <p:nvGrpSpPr>
          <p:cNvPr id="296" name="Google Shape;296;p19"/>
          <p:cNvGrpSpPr/>
          <p:nvPr/>
        </p:nvGrpSpPr>
        <p:grpSpPr>
          <a:xfrm>
            <a:off x="457200" y="1981200"/>
            <a:ext cx="8229600" cy="4191000"/>
            <a:chOff x="457200" y="1981200"/>
            <a:chExt cx="8229600" cy="4191000"/>
          </a:xfrm>
        </p:grpSpPr>
        <p:sp>
          <p:nvSpPr>
            <p:cNvPr id="297" name="Google Shape;297;p19"/>
            <p:cNvSpPr/>
            <p:nvPr/>
          </p:nvSpPr>
          <p:spPr>
            <a:xfrm>
              <a:off x="4800600" y="4269357"/>
              <a:ext cx="3657600" cy="1710186"/>
            </a:xfrm>
            <a:prstGeom prst="flowChartAlternateProcess">
              <a:avLst/>
            </a:prstGeom>
            <a:solidFill>
              <a:schemeClr val="lt1"/>
            </a:solidFill>
            <a:ln>
              <a:noFill/>
            </a:ln>
            <a:effectLst>
              <a:outerShdw blurRad="149987" dist="152400" dir="8460000" algn="ctr">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sp>
          <p:nvSpPr>
            <p:cNvPr id="298" name="Google Shape;298;p19"/>
            <p:cNvSpPr/>
            <p:nvPr/>
          </p:nvSpPr>
          <p:spPr>
            <a:xfrm>
              <a:off x="685800" y="4269357"/>
              <a:ext cx="3657600" cy="1710186"/>
            </a:xfrm>
            <a:prstGeom prst="flowChartAlternateProcess">
              <a:avLst/>
            </a:prstGeom>
            <a:solidFill>
              <a:schemeClr val="lt1"/>
            </a:solidFill>
            <a:ln>
              <a:noFill/>
            </a:ln>
            <a:effectLst>
              <a:outerShdw blurRad="149987" dist="152400" dir="8460000" algn="ctr">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sp>
          <p:nvSpPr>
            <p:cNvPr id="299" name="Google Shape;299;p19"/>
            <p:cNvSpPr/>
            <p:nvPr/>
          </p:nvSpPr>
          <p:spPr>
            <a:xfrm>
              <a:off x="4800600" y="2173857"/>
              <a:ext cx="3657600" cy="1710186"/>
            </a:xfrm>
            <a:prstGeom prst="flowChartAlternateProcess">
              <a:avLst/>
            </a:prstGeom>
            <a:solidFill>
              <a:schemeClr val="lt1"/>
            </a:solidFill>
            <a:ln>
              <a:noFill/>
            </a:ln>
            <a:effectLst>
              <a:outerShdw blurRad="149987" dist="152400" dir="8460000" algn="ctr">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sp>
          <p:nvSpPr>
            <p:cNvPr id="300" name="Google Shape;300;p19"/>
            <p:cNvSpPr/>
            <p:nvPr/>
          </p:nvSpPr>
          <p:spPr>
            <a:xfrm>
              <a:off x="685800" y="2173857"/>
              <a:ext cx="3657600" cy="1710186"/>
            </a:xfrm>
            <a:prstGeom prst="flowChartAlternateProcess">
              <a:avLst/>
            </a:prstGeom>
            <a:solidFill>
              <a:schemeClr val="lt1"/>
            </a:solidFill>
            <a:ln>
              <a:noFill/>
            </a:ln>
            <a:effectLst>
              <a:outerShdw blurRad="149987" dist="152400" dir="8460000" algn="ctr">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sp>
          <p:nvSpPr>
            <p:cNvPr id="301" name="Google Shape;301;p19"/>
            <p:cNvSpPr/>
            <p:nvPr/>
          </p:nvSpPr>
          <p:spPr>
            <a:xfrm>
              <a:off x="457200" y="1981200"/>
              <a:ext cx="4114800" cy="2095500"/>
            </a:xfrm>
            <a:prstGeom prst="rect">
              <a:avLst/>
            </a:prstGeom>
            <a:noFill/>
            <a:ln w="9525"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Believable </a:t>
              </a:r>
              <a:endParaRPr/>
            </a:p>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Evidence</a:t>
              </a:r>
              <a:endParaRPr sz="3600" b="0" i="0" u="none" strike="noStrike" cap="none">
                <a:solidFill>
                  <a:schemeClr val="dk1"/>
                </a:solidFill>
                <a:latin typeface="Candara"/>
                <a:ea typeface="Candara"/>
                <a:cs typeface="Candara"/>
                <a:sym typeface="Candara"/>
              </a:endParaRPr>
            </a:p>
          </p:txBody>
        </p:sp>
        <p:sp>
          <p:nvSpPr>
            <p:cNvPr id="302" name="Google Shape;302;p19"/>
            <p:cNvSpPr/>
            <p:nvPr/>
          </p:nvSpPr>
          <p:spPr>
            <a:xfrm>
              <a:off x="4572000" y="1981200"/>
              <a:ext cx="4114800" cy="2095500"/>
            </a:xfrm>
            <a:prstGeom prst="rect">
              <a:avLst/>
            </a:prstGeom>
            <a:noFill/>
            <a:ln w="9525"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Powerful</a:t>
              </a:r>
              <a:endParaRPr/>
            </a:p>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Words</a:t>
              </a:r>
              <a:endParaRPr sz="3600" b="0" i="0" u="none" strike="noStrike" cap="none">
                <a:solidFill>
                  <a:schemeClr val="dk1"/>
                </a:solidFill>
                <a:latin typeface="Candara"/>
                <a:ea typeface="Candara"/>
                <a:cs typeface="Candara"/>
                <a:sym typeface="Candara"/>
              </a:endParaRPr>
            </a:p>
          </p:txBody>
        </p:sp>
        <p:sp>
          <p:nvSpPr>
            <p:cNvPr id="303" name="Google Shape;303;p19"/>
            <p:cNvSpPr/>
            <p:nvPr/>
          </p:nvSpPr>
          <p:spPr>
            <a:xfrm>
              <a:off x="457200" y="4076700"/>
              <a:ext cx="4114800" cy="2095500"/>
            </a:xfrm>
            <a:prstGeom prst="rect">
              <a:avLst/>
            </a:prstGeom>
            <a:noFill/>
            <a:ln w="9525"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Metaphors </a:t>
              </a:r>
              <a:endParaRPr/>
            </a:p>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and Stories</a:t>
              </a:r>
              <a:endParaRPr sz="3600" b="0" i="0" u="none" strike="noStrike" cap="none">
                <a:solidFill>
                  <a:schemeClr val="dk1"/>
                </a:solidFill>
                <a:latin typeface="Candara"/>
                <a:ea typeface="Candara"/>
                <a:cs typeface="Candara"/>
                <a:sym typeface="Candara"/>
              </a:endParaRPr>
            </a:p>
          </p:txBody>
        </p:sp>
        <p:sp>
          <p:nvSpPr>
            <p:cNvPr id="304" name="Google Shape;304;p19"/>
            <p:cNvSpPr/>
            <p:nvPr/>
          </p:nvSpPr>
          <p:spPr>
            <a:xfrm>
              <a:off x="4572000" y="4076700"/>
              <a:ext cx="4114800" cy="2095500"/>
            </a:xfrm>
            <a:prstGeom prst="rect">
              <a:avLst/>
            </a:prstGeom>
            <a:noFill/>
            <a:ln w="9525" cap="flat" cmpd="sng">
              <a:solidFill>
                <a:srgbClr val="A5A5A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Audience </a:t>
              </a:r>
              <a:endParaRPr/>
            </a:p>
            <a:p>
              <a:pPr marL="0" marR="0" lvl="0" indent="0" algn="ctr" rtl="0">
                <a:spcBef>
                  <a:spcPts val="0"/>
                </a:spcBef>
                <a:spcAft>
                  <a:spcPts val="0"/>
                </a:spcAft>
                <a:buNone/>
              </a:pPr>
              <a:r>
                <a:rPr lang="en-US" sz="3600" b="0" i="0" u="none" strike="noStrike" cap="none">
                  <a:solidFill>
                    <a:schemeClr val="dk1"/>
                  </a:solidFill>
                  <a:latin typeface="Candara"/>
                  <a:ea typeface="Candara"/>
                  <a:cs typeface="Candara"/>
                  <a:sym typeface="Candara"/>
                </a:rPr>
                <a:t>Benefits</a:t>
              </a:r>
              <a:endParaRPr sz="3600" b="0" i="0" u="none" strike="noStrike" cap="none">
                <a:solidFill>
                  <a:schemeClr val="dk1"/>
                </a:solidFill>
                <a:latin typeface="Candara"/>
                <a:ea typeface="Candara"/>
                <a:cs typeface="Candara"/>
                <a:sym typeface="Candara"/>
              </a:endParaRPr>
            </a:p>
          </p:txBody>
        </p:sp>
      </p:grpSp>
      <p:sp>
        <p:nvSpPr>
          <p:cNvPr id="305" name="Google Shape;305;p19"/>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800">
                <a:solidFill>
                  <a:srgbClr val="F8F8F8"/>
                </a:solidFill>
              </a:rPr>
              <a:t>Reinforcing Your Position</a:t>
            </a:r>
            <a:endParaRPr sz="4800"/>
          </a:p>
        </p:txBody>
      </p:sp>
      <p:sp>
        <p:nvSpPr>
          <p:cNvPr id="306" name="Google Shape;306;p19"/>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07" name="Google Shape;307;p19"/>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19</a:t>
            </a:fld>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0"/>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800">
                <a:solidFill>
                  <a:schemeClr val="lt1"/>
                </a:solidFill>
              </a:rPr>
              <a:t>Anticipating Objections</a:t>
            </a:r>
            <a:endParaRPr sz="4800">
              <a:solidFill>
                <a:schemeClr val="lt1"/>
              </a:solidFill>
            </a:endParaRPr>
          </a:p>
        </p:txBody>
      </p:sp>
      <p:sp>
        <p:nvSpPr>
          <p:cNvPr id="314" name="Google Shape;314;p20"/>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15" name="Google Shape;315;p20"/>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20</a:t>
            </a:fld>
            <a:endParaRPr/>
          </a:p>
        </p:txBody>
      </p:sp>
      <p:grpSp>
        <p:nvGrpSpPr>
          <p:cNvPr id="316" name="Google Shape;316;p20"/>
          <p:cNvGrpSpPr/>
          <p:nvPr/>
        </p:nvGrpSpPr>
        <p:grpSpPr>
          <a:xfrm>
            <a:off x="457201" y="2231396"/>
            <a:ext cx="8229599" cy="3844309"/>
            <a:chOff x="457201" y="2231396"/>
            <a:chExt cx="8229599" cy="3844309"/>
          </a:xfrm>
        </p:grpSpPr>
        <p:sp>
          <p:nvSpPr>
            <p:cNvPr id="317" name="Google Shape;317;p20"/>
            <p:cNvSpPr/>
            <p:nvPr/>
          </p:nvSpPr>
          <p:spPr>
            <a:xfrm>
              <a:off x="457201" y="2598105"/>
              <a:ext cx="8229599" cy="756000"/>
            </a:xfrm>
            <a:prstGeom prst="rect">
              <a:avLst/>
            </a:prstGeom>
            <a:solidFill>
              <a:schemeClr val="lt1">
                <a:alpha val="89803"/>
              </a:schemeClr>
            </a:solidFill>
            <a:ln w="9525" cap="flat" cmpd="sng">
              <a:solidFill>
                <a:srgbClr val="D8D8D8"/>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0"/>
            <p:cNvSpPr/>
            <p:nvPr/>
          </p:nvSpPr>
          <p:spPr>
            <a:xfrm>
              <a:off x="647150" y="2231396"/>
              <a:ext cx="7849745" cy="885600"/>
            </a:xfrm>
            <a:custGeom>
              <a:avLst/>
              <a:gdLst/>
              <a:ahLst/>
              <a:cxnLst/>
              <a:rect l="l" t="t" r="r" b="b"/>
              <a:pathLst>
                <a:path w="7849745" h="885600" extrusionOk="0">
                  <a:moveTo>
                    <a:pt x="0" y="147603"/>
                  </a:moveTo>
                  <a:cubicBezTo>
                    <a:pt x="0" y="66084"/>
                    <a:pt x="66084" y="0"/>
                    <a:pt x="147603" y="0"/>
                  </a:cubicBezTo>
                  <a:lnTo>
                    <a:pt x="7702142" y="0"/>
                  </a:lnTo>
                  <a:cubicBezTo>
                    <a:pt x="7783661" y="0"/>
                    <a:pt x="7849745" y="66084"/>
                    <a:pt x="7849745" y="147603"/>
                  </a:cubicBezTo>
                  <a:lnTo>
                    <a:pt x="7849745" y="737997"/>
                  </a:lnTo>
                  <a:cubicBezTo>
                    <a:pt x="7849745" y="819516"/>
                    <a:pt x="7783661" y="885600"/>
                    <a:pt x="7702142" y="885600"/>
                  </a:cubicBezTo>
                  <a:lnTo>
                    <a:pt x="147603" y="885600"/>
                  </a:lnTo>
                  <a:cubicBezTo>
                    <a:pt x="66084" y="885600"/>
                    <a:pt x="0" y="819516"/>
                    <a:pt x="0" y="737997"/>
                  </a:cubicBezTo>
                  <a:lnTo>
                    <a:pt x="0" y="147603"/>
                  </a:lnTo>
                  <a:close/>
                </a:path>
              </a:pathLst>
            </a:custGeom>
            <a:solidFill>
              <a:schemeClr val="lt1"/>
            </a:solidFill>
            <a:ln w="9525" cap="flat" cmpd="sng">
              <a:solidFill>
                <a:srgbClr val="BFBFBF"/>
              </a:solidFill>
              <a:prstDash val="solid"/>
              <a:round/>
              <a:headEnd type="none" w="sm" len="sm"/>
              <a:tailEnd type="none" w="sm" len="sm"/>
            </a:ln>
            <a:effectLst>
              <a:outerShdw blurRad="149987" dist="152400" dir="8460000" algn="ctr" rotWithShape="0">
                <a:srgbClr val="000000">
                  <a:alpha val="20000"/>
                </a:srgbClr>
              </a:outerShdw>
            </a:effectLst>
          </p:spPr>
          <p:txBody>
            <a:bodyPr spcFirstLastPara="1" wrap="square" lIns="260950" tIns="43225" rIns="260950" bIns="43225" anchor="ctr" anchorCtr="0">
              <a:noAutofit/>
            </a:bodyPr>
            <a:lstStyle/>
            <a:p>
              <a:pPr marL="0" marR="0" lvl="0" indent="0" algn="ctr"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Counter Negative Elements</a:t>
              </a:r>
              <a:endParaRPr sz="3600" b="0" i="0" u="none" strike="noStrike" cap="none">
                <a:solidFill>
                  <a:schemeClr val="dk1"/>
                </a:solidFill>
                <a:latin typeface="Candara"/>
                <a:ea typeface="Candara"/>
                <a:cs typeface="Candara"/>
                <a:sym typeface="Candara"/>
              </a:endParaRPr>
            </a:p>
          </p:txBody>
        </p:sp>
        <p:sp>
          <p:nvSpPr>
            <p:cNvPr id="319" name="Google Shape;319;p20"/>
            <p:cNvSpPr/>
            <p:nvPr/>
          </p:nvSpPr>
          <p:spPr>
            <a:xfrm>
              <a:off x="457201" y="3958905"/>
              <a:ext cx="8229599" cy="756000"/>
            </a:xfrm>
            <a:prstGeom prst="rect">
              <a:avLst/>
            </a:prstGeom>
            <a:solidFill>
              <a:schemeClr val="lt1">
                <a:alpha val="89803"/>
              </a:schemeClr>
            </a:solidFill>
            <a:ln w="9525" cap="flat" cmpd="sng">
              <a:solidFill>
                <a:srgbClr val="D8D8D8"/>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0"/>
            <p:cNvSpPr/>
            <p:nvPr/>
          </p:nvSpPr>
          <p:spPr>
            <a:xfrm>
              <a:off x="647150" y="3592196"/>
              <a:ext cx="7849745" cy="885600"/>
            </a:xfrm>
            <a:custGeom>
              <a:avLst/>
              <a:gdLst/>
              <a:ahLst/>
              <a:cxnLst/>
              <a:rect l="l" t="t" r="r" b="b"/>
              <a:pathLst>
                <a:path w="7849745" h="885600" extrusionOk="0">
                  <a:moveTo>
                    <a:pt x="0" y="147603"/>
                  </a:moveTo>
                  <a:cubicBezTo>
                    <a:pt x="0" y="66084"/>
                    <a:pt x="66084" y="0"/>
                    <a:pt x="147603" y="0"/>
                  </a:cubicBezTo>
                  <a:lnTo>
                    <a:pt x="7702142" y="0"/>
                  </a:lnTo>
                  <a:cubicBezTo>
                    <a:pt x="7783661" y="0"/>
                    <a:pt x="7849745" y="66084"/>
                    <a:pt x="7849745" y="147603"/>
                  </a:cubicBezTo>
                  <a:lnTo>
                    <a:pt x="7849745" y="737997"/>
                  </a:lnTo>
                  <a:cubicBezTo>
                    <a:pt x="7849745" y="819516"/>
                    <a:pt x="7783661" y="885600"/>
                    <a:pt x="7702142" y="885600"/>
                  </a:cubicBezTo>
                  <a:lnTo>
                    <a:pt x="147603" y="885600"/>
                  </a:lnTo>
                  <a:cubicBezTo>
                    <a:pt x="66084" y="885600"/>
                    <a:pt x="0" y="819516"/>
                    <a:pt x="0" y="737997"/>
                  </a:cubicBezTo>
                  <a:lnTo>
                    <a:pt x="0" y="147603"/>
                  </a:lnTo>
                  <a:close/>
                </a:path>
              </a:pathLst>
            </a:custGeom>
            <a:solidFill>
              <a:schemeClr val="lt1"/>
            </a:solidFill>
            <a:ln w="9525" cap="flat" cmpd="sng">
              <a:solidFill>
                <a:srgbClr val="BFBFBF"/>
              </a:solidFill>
              <a:prstDash val="solid"/>
              <a:round/>
              <a:headEnd type="none" w="sm" len="sm"/>
              <a:tailEnd type="none" w="sm" len="sm"/>
            </a:ln>
            <a:effectLst>
              <a:outerShdw blurRad="149987" dist="152400" dir="8460000" algn="ctr" rotWithShape="0">
                <a:srgbClr val="000000">
                  <a:alpha val="20000"/>
                </a:srgbClr>
              </a:outerShdw>
            </a:effectLst>
          </p:spPr>
          <p:txBody>
            <a:bodyPr spcFirstLastPara="1" wrap="square" lIns="260950" tIns="43225" rIns="260950" bIns="43225" anchor="ctr" anchorCtr="0">
              <a:noAutofit/>
            </a:bodyPr>
            <a:lstStyle/>
            <a:p>
              <a:pPr marL="0" marR="0" lvl="0" indent="0" algn="ctr"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Focus on Positive Communication</a:t>
              </a:r>
              <a:endParaRPr sz="3600" b="0" i="0" u="none" strike="noStrike" cap="none">
                <a:solidFill>
                  <a:schemeClr val="dk1"/>
                </a:solidFill>
                <a:latin typeface="Candara"/>
                <a:ea typeface="Candara"/>
                <a:cs typeface="Candara"/>
                <a:sym typeface="Candara"/>
              </a:endParaRPr>
            </a:p>
          </p:txBody>
        </p:sp>
        <p:sp>
          <p:nvSpPr>
            <p:cNvPr id="321" name="Google Shape;321;p20"/>
            <p:cNvSpPr/>
            <p:nvPr/>
          </p:nvSpPr>
          <p:spPr>
            <a:xfrm>
              <a:off x="457201" y="5319705"/>
              <a:ext cx="8229599" cy="756000"/>
            </a:xfrm>
            <a:prstGeom prst="rect">
              <a:avLst/>
            </a:prstGeom>
            <a:solidFill>
              <a:schemeClr val="lt1">
                <a:alpha val="89803"/>
              </a:schemeClr>
            </a:solidFill>
            <a:ln w="9525" cap="flat" cmpd="sng">
              <a:solidFill>
                <a:srgbClr val="D8D8D8"/>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0"/>
            <p:cNvSpPr/>
            <p:nvPr/>
          </p:nvSpPr>
          <p:spPr>
            <a:xfrm>
              <a:off x="647150" y="4952996"/>
              <a:ext cx="7849745" cy="885600"/>
            </a:xfrm>
            <a:custGeom>
              <a:avLst/>
              <a:gdLst/>
              <a:ahLst/>
              <a:cxnLst/>
              <a:rect l="l" t="t" r="r" b="b"/>
              <a:pathLst>
                <a:path w="7849745" h="885600" extrusionOk="0">
                  <a:moveTo>
                    <a:pt x="0" y="147603"/>
                  </a:moveTo>
                  <a:cubicBezTo>
                    <a:pt x="0" y="66084"/>
                    <a:pt x="66084" y="0"/>
                    <a:pt x="147603" y="0"/>
                  </a:cubicBezTo>
                  <a:lnTo>
                    <a:pt x="7702142" y="0"/>
                  </a:lnTo>
                  <a:cubicBezTo>
                    <a:pt x="7783661" y="0"/>
                    <a:pt x="7849745" y="66084"/>
                    <a:pt x="7849745" y="147603"/>
                  </a:cubicBezTo>
                  <a:lnTo>
                    <a:pt x="7849745" y="737997"/>
                  </a:lnTo>
                  <a:cubicBezTo>
                    <a:pt x="7849745" y="819516"/>
                    <a:pt x="7783661" y="885600"/>
                    <a:pt x="7702142" y="885600"/>
                  </a:cubicBezTo>
                  <a:lnTo>
                    <a:pt x="147603" y="885600"/>
                  </a:lnTo>
                  <a:cubicBezTo>
                    <a:pt x="66084" y="885600"/>
                    <a:pt x="0" y="819516"/>
                    <a:pt x="0" y="737997"/>
                  </a:cubicBezTo>
                  <a:lnTo>
                    <a:pt x="0" y="147603"/>
                  </a:lnTo>
                  <a:close/>
                </a:path>
              </a:pathLst>
            </a:custGeom>
            <a:solidFill>
              <a:schemeClr val="lt1"/>
            </a:solidFill>
            <a:ln w="9525" cap="flat" cmpd="sng">
              <a:solidFill>
                <a:srgbClr val="BFBFBF"/>
              </a:solidFill>
              <a:prstDash val="solid"/>
              <a:round/>
              <a:headEnd type="none" w="sm" len="sm"/>
              <a:tailEnd type="none" w="sm" len="sm"/>
            </a:ln>
            <a:effectLst>
              <a:outerShdw blurRad="149987" dist="152400" dir="8460000" algn="ctr" rotWithShape="0">
                <a:srgbClr val="000000">
                  <a:alpha val="20000"/>
                </a:srgbClr>
              </a:outerShdw>
            </a:effectLst>
          </p:spPr>
          <p:txBody>
            <a:bodyPr spcFirstLastPara="1" wrap="square" lIns="260950" tIns="43225" rIns="260950" bIns="43225" anchor="ctr" anchorCtr="0">
              <a:noAutofit/>
            </a:bodyPr>
            <a:lstStyle/>
            <a:p>
              <a:pPr marL="0" marR="0" lvl="0" indent="0" algn="ctr" rtl="0">
                <a:lnSpc>
                  <a:spcPct val="90000"/>
                </a:lnSpc>
                <a:spcBef>
                  <a:spcPts val="0"/>
                </a:spcBef>
                <a:spcAft>
                  <a:spcPts val="0"/>
                </a:spcAft>
                <a:buNone/>
              </a:pPr>
              <a:r>
                <a:rPr lang="en-US" sz="3600" b="0" i="0" u="none" strike="noStrike" cap="none">
                  <a:solidFill>
                    <a:schemeClr val="dk1"/>
                  </a:solidFill>
                  <a:latin typeface="Candara"/>
                  <a:ea typeface="Candara"/>
                  <a:cs typeface="Candara"/>
                  <a:sym typeface="Candara"/>
                </a:rPr>
                <a:t>Present All Sides of the Situation</a:t>
              </a:r>
              <a:endParaRPr sz="3600" b="0" i="0" u="none" strike="noStrike" cap="none">
                <a:solidFill>
                  <a:schemeClr val="dk1"/>
                </a:solidFill>
                <a:latin typeface="Candara"/>
                <a:ea typeface="Candara"/>
                <a:cs typeface="Candara"/>
                <a:sym typeface="Candara"/>
              </a:endParaRPr>
            </a:p>
          </p:txBody>
        </p:sp>
      </p:gr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1"/>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29" name="Google Shape;329;p21"/>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21</a:t>
            </a:fld>
            <a:endParaRPr/>
          </a:p>
        </p:txBody>
      </p:sp>
      <p:grpSp>
        <p:nvGrpSpPr>
          <p:cNvPr id="330" name="Google Shape;330;p21"/>
          <p:cNvGrpSpPr/>
          <p:nvPr/>
        </p:nvGrpSpPr>
        <p:grpSpPr>
          <a:xfrm>
            <a:off x="457200" y="1981200"/>
            <a:ext cx="8229600" cy="4191000"/>
            <a:chOff x="457200" y="1981200"/>
            <a:chExt cx="8229600" cy="4191000"/>
          </a:xfrm>
        </p:grpSpPr>
        <p:sp>
          <p:nvSpPr>
            <p:cNvPr id="331" name="Google Shape;331;p21"/>
            <p:cNvSpPr/>
            <p:nvPr/>
          </p:nvSpPr>
          <p:spPr>
            <a:xfrm>
              <a:off x="457200" y="1981200"/>
              <a:ext cx="1295400" cy="4191000"/>
            </a:xfrm>
            <a:prstGeom prst="rect">
              <a:avLst/>
            </a:prstGeom>
            <a:solidFill>
              <a:srgbClr val="C5C8A9"/>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Candara"/>
                <a:ea typeface="Candara"/>
                <a:cs typeface="Candara"/>
                <a:sym typeface="Candara"/>
              </a:endParaRPr>
            </a:p>
          </p:txBody>
        </p:sp>
        <p:sp>
          <p:nvSpPr>
            <p:cNvPr id="332" name="Google Shape;332;p21"/>
            <p:cNvSpPr txBox="1"/>
            <p:nvPr/>
          </p:nvSpPr>
          <p:spPr>
            <a:xfrm rot="-5400000">
              <a:off x="-594438" y="3784313"/>
              <a:ext cx="3398687" cy="584775"/>
            </a:xfrm>
            <a:prstGeom prst="rect">
              <a:avLst/>
            </a:prstGeom>
            <a:solidFill>
              <a:srgbClr val="C5C8A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a:solidFill>
                    <a:schemeClr val="dk1"/>
                  </a:solidFill>
                  <a:latin typeface="Candara"/>
                  <a:ea typeface="Candara"/>
                  <a:cs typeface="Candara"/>
                  <a:sym typeface="Candara"/>
                </a:rPr>
                <a:t>Common Mistakes</a:t>
              </a:r>
              <a:endParaRPr sz="3200">
                <a:solidFill>
                  <a:schemeClr val="dk1"/>
                </a:solidFill>
                <a:latin typeface="Candara"/>
                <a:ea typeface="Candara"/>
                <a:cs typeface="Candara"/>
                <a:sym typeface="Candara"/>
              </a:endParaRPr>
            </a:p>
          </p:txBody>
        </p:sp>
        <p:sp>
          <p:nvSpPr>
            <p:cNvPr id="333" name="Google Shape;333;p21"/>
            <p:cNvSpPr/>
            <p:nvPr/>
          </p:nvSpPr>
          <p:spPr>
            <a:xfrm>
              <a:off x="1752600" y="1981200"/>
              <a:ext cx="6934200" cy="104775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•Using a Hard Sell Approach</a:t>
              </a:r>
              <a:endParaRPr/>
            </a:p>
          </p:txBody>
        </p:sp>
        <p:sp>
          <p:nvSpPr>
            <p:cNvPr id="334" name="Google Shape;334;p21"/>
            <p:cNvSpPr/>
            <p:nvPr/>
          </p:nvSpPr>
          <p:spPr>
            <a:xfrm>
              <a:off x="1752600" y="3028950"/>
              <a:ext cx="6934200" cy="104775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•Being Resistant to Compromise</a:t>
              </a:r>
              <a:endParaRPr/>
            </a:p>
          </p:txBody>
        </p:sp>
        <p:sp>
          <p:nvSpPr>
            <p:cNvPr id="335" name="Google Shape;335;p21"/>
            <p:cNvSpPr/>
            <p:nvPr/>
          </p:nvSpPr>
          <p:spPr>
            <a:xfrm>
              <a:off x="1752600" y="4076700"/>
              <a:ext cx="6934200" cy="104775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•Relying Solely on Great Arguments</a:t>
              </a:r>
              <a:endParaRPr/>
            </a:p>
          </p:txBody>
        </p:sp>
        <p:sp>
          <p:nvSpPr>
            <p:cNvPr id="336" name="Google Shape;336;p21"/>
            <p:cNvSpPr/>
            <p:nvPr/>
          </p:nvSpPr>
          <p:spPr>
            <a:xfrm>
              <a:off x="1752600" y="5124450"/>
              <a:ext cx="6934200" cy="104775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•Using a “One-Shot” Approach</a:t>
              </a:r>
              <a:endParaRPr/>
            </a:p>
          </p:txBody>
        </p:sp>
      </p:grpSp>
      <p:sp>
        <p:nvSpPr>
          <p:cNvPr id="337" name="Google Shape;337;p21"/>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400">
                <a:solidFill>
                  <a:schemeClr val="lt1"/>
                </a:solidFill>
              </a:rPr>
              <a:t>Avoiding Common Mistakes in Persuasive Communication</a:t>
            </a:r>
            <a:endParaRPr sz="4400">
              <a:solidFill>
                <a:schemeClr val="lt1"/>
              </a:solidFil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2"/>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400"/>
              <a:t>Common Categories of Persuasive Messages</a:t>
            </a:r>
            <a:endParaRPr sz="4400"/>
          </a:p>
        </p:txBody>
      </p:sp>
      <p:sp>
        <p:nvSpPr>
          <p:cNvPr id="344" name="Google Shape;344;p22"/>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45" name="Google Shape;345;p22"/>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22</a:t>
            </a:fld>
            <a:endParaRPr/>
          </a:p>
        </p:txBody>
      </p:sp>
      <p:grpSp>
        <p:nvGrpSpPr>
          <p:cNvPr id="346" name="Google Shape;346;p22"/>
          <p:cNvGrpSpPr/>
          <p:nvPr/>
        </p:nvGrpSpPr>
        <p:grpSpPr>
          <a:xfrm>
            <a:off x="457200" y="2183205"/>
            <a:ext cx="8229601" cy="3862983"/>
            <a:chOff x="457200" y="2183205"/>
            <a:chExt cx="8229601" cy="3862983"/>
          </a:xfrm>
        </p:grpSpPr>
        <p:sp>
          <p:nvSpPr>
            <p:cNvPr id="347" name="Google Shape;347;p22"/>
            <p:cNvSpPr/>
            <p:nvPr/>
          </p:nvSpPr>
          <p:spPr>
            <a:xfrm>
              <a:off x="762001" y="2335568"/>
              <a:ext cx="7924800" cy="1054819"/>
            </a:xfrm>
            <a:custGeom>
              <a:avLst/>
              <a:gdLst/>
              <a:ahLst/>
              <a:cxnLst/>
              <a:rect l="l" t="t" r="r" b="b"/>
              <a:pathLst>
                <a:path w="3375421" h="1054819" extrusionOk="0">
                  <a:moveTo>
                    <a:pt x="0" y="0"/>
                  </a:moveTo>
                  <a:lnTo>
                    <a:pt x="3375421" y="0"/>
                  </a:lnTo>
                  <a:lnTo>
                    <a:pt x="3375421" y="1054819"/>
                  </a:lnTo>
                  <a:lnTo>
                    <a:pt x="0" y="1054819"/>
                  </a:lnTo>
                  <a:lnTo>
                    <a:pt x="0" y="0"/>
                  </a:lnTo>
                  <a:close/>
                </a:path>
              </a:pathLst>
            </a:custGeom>
            <a:solidFill>
              <a:schemeClr val="lt1">
                <a:alpha val="40000"/>
              </a:schemeClr>
            </a:solidFill>
            <a:ln w="9525" cap="flat" cmpd="sng">
              <a:solidFill>
                <a:srgbClr val="A5A5A5"/>
              </a:solidFill>
              <a:prstDash val="solid"/>
              <a:round/>
              <a:headEnd type="none" w="sm" len="sm"/>
              <a:tailEnd type="none" w="sm" len="sm"/>
            </a:ln>
          </p:spPr>
          <p:txBody>
            <a:bodyPr spcFirstLastPara="1" wrap="square" lIns="714450" tIns="190500" rIns="190500" bIns="190500" anchor="ctr" anchorCtr="0">
              <a:noAutofit/>
            </a:bodyPr>
            <a:lstStyle/>
            <a:p>
              <a:pPr marL="0" marR="0" lvl="0" indent="0" algn="l" rtl="0">
                <a:lnSpc>
                  <a:spcPct val="90000"/>
                </a:lnSpc>
                <a:spcBef>
                  <a:spcPts val="0"/>
                </a:spcBef>
                <a:spcAft>
                  <a:spcPts val="0"/>
                </a:spcAft>
                <a:buNone/>
              </a:pPr>
              <a:r>
                <a:rPr lang="en-US" sz="3600">
                  <a:solidFill>
                    <a:schemeClr val="dk1"/>
                  </a:solidFill>
                  <a:latin typeface="Candara"/>
                  <a:ea typeface="Candara"/>
                  <a:cs typeface="Candara"/>
                  <a:sym typeface="Candara"/>
                </a:rPr>
                <a:t>Requests for Action</a:t>
              </a:r>
              <a:endParaRPr sz="3600">
                <a:solidFill>
                  <a:schemeClr val="dk1"/>
                </a:solidFill>
                <a:latin typeface="Candara"/>
                <a:ea typeface="Candara"/>
                <a:cs typeface="Candara"/>
                <a:sym typeface="Candara"/>
              </a:endParaRPr>
            </a:p>
          </p:txBody>
        </p:sp>
        <p:sp>
          <p:nvSpPr>
            <p:cNvPr id="348" name="Google Shape;348;p22"/>
            <p:cNvSpPr/>
            <p:nvPr/>
          </p:nvSpPr>
          <p:spPr>
            <a:xfrm>
              <a:off x="457200" y="2183205"/>
              <a:ext cx="914399" cy="952194"/>
            </a:xfrm>
            <a:prstGeom prst="rect">
              <a:avLst/>
            </a:prstGeom>
            <a:solidFill>
              <a:srgbClr val="C5C8A9"/>
            </a:solidFill>
            <a:ln>
              <a:noFill/>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762001" y="3663468"/>
              <a:ext cx="7924800" cy="1054819"/>
            </a:xfrm>
            <a:custGeom>
              <a:avLst/>
              <a:gdLst/>
              <a:ahLst/>
              <a:cxnLst/>
              <a:rect l="l" t="t" r="r" b="b"/>
              <a:pathLst>
                <a:path w="3375421" h="1054819" extrusionOk="0">
                  <a:moveTo>
                    <a:pt x="0" y="0"/>
                  </a:moveTo>
                  <a:lnTo>
                    <a:pt x="3375421" y="0"/>
                  </a:lnTo>
                  <a:lnTo>
                    <a:pt x="3375421" y="1054819"/>
                  </a:lnTo>
                  <a:lnTo>
                    <a:pt x="0" y="1054819"/>
                  </a:lnTo>
                  <a:lnTo>
                    <a:pt x="0" y="0"/>
                  </a:lnTo>
                  <a:close/>
                </a:path>
              </a:pathLst>
            </a:custGeom>
            <a:solidFill>
              <a:schemeClr val="lt1">
                <a:alpha val="40000"/>
              </a:schemeClr>
            </a:solidFill>
            <a:ln w="9525" cap="flat" cmpd="sng">
              <a:solidFill>
                <a:srgbClr val="A5A5A5"/>
              </a:solidFill>
              <a:prstDash val="solid"/>
              <a:round/>
              <a:headEnd type="none" w="sm" len="sm"/>
              <a:tailEnd type="none" w="sm" len="sm"/>
            </a:ln>
          </p:spPr>
          <p:txBody>
            <a:bodyPr spcFirstLastPara="1" wrap="square" lIns="714450" tIns="190500" rIns="190500" bIns="190500" anchor="ctr" anchorCtr="0">
              <a:noAutofit/>
            </a:bodyPr>
            <a:lstStyle/>
            <a:p>
              <a:pPr marL="0" marR="0" lvl="0" indent="0" algn="l" rtl="0">
                <a:lnSpc>
                  <a:spcPct val="90000"/>
                </a:lnSpc>
                <a:spcBef>
                  <a:spcPts val="0"/>
                </a:spcBef>
                <a:spcAft>
                  <a:spcPts val="0"/>
                </a:spcAft>
                <a:buNone/>
              </a:pPr>
              <a:r>
                <a:rPr lang="en-US" sz="3600">
                  <a:solidFill>
                    <a:schemeClr val="dk1"/>
                  </a:solidFill>
                  <a:latin typeface="Candara"/>
                  <a:ea typeface="Candara"/>
                  <a:cs typeface="Candara"/>
                  <a:sym typeface="Candara"/>
                </a:rPr>
                <a:t>Presentation of Ideas</a:t>
              </a:r>
              <a:endParaRPr sz="3600">
                <a:solidFill>
                  <a:schemeClr val="dk1"/>
                </a:solidFill>
                <a:latin typeface="Candara"/>
                <a:ea typeface="Candara"/>
                <a:cs typeface="Candara"/>
                <a:sym typeface="Candara"/>
              </a:endParaRPr>
            </a:p>
          </p:txBody>
        </p:sp>
        <p:sp>
          <p:nvSpPr>
            <p:cNvPr id="350" name="Google Shape;350;p22"/>
            <p:cNvSpPr/>
            <p:nvPr/>
          </p:nvSpPr>
          <p:spPr>
            <a:xfrm>
              <a:off x="457200" y="3511105"/>
              <a:ext cx="914399" cy="952194"/>
            </a:xfrm>
            <a:prstGeom prst="rect">
              <a:avLst/>
            </a:prstGeom>
            <a:solidFill>
              <a:srgbClr val="C5C8A9"/>
            </a:solidFill>
            <a:ln>
              <a:noFill/>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a:off x="762001" y="4991369"/>
              <a:ext cx="7924800" cy="1054819"/>
            </a:xfrm>
            <a:custGeom>
              <a:avLst/>
              <a:gdLst/>
              <a:ahLst/>
              <a:cxnLst/>
              <a:rect l="l" t="t" r="r" b="b"/>
              <a:pathLst>
                <a:path w="3375421" h="1054819" extrusionOk="0">
                  <a:moveTo>
                    <a:pt x="0" y="0"/>
                  </a:moveTo>
                  <a:lnTo>
                    <a:pt x="3375421" y="0"/>
                  </a:lnTo>
                  <a:lnTo>
                    <a:pt x="3375421" y="1054819"/>
                  </a:lnTo>
                  <a:lnTo>
                    <a:pt x="0" y="1054819"/>
                  </a:lnTo>
                  <a:lnTo>
                    <a:pt x="0" y="0"/>
                  </a:lnTo>
                  <a:close/>
                </a:path>
              </a:pathLst>
            </a:custGeom>
            <a:solidFill>
              <a:schemeClr val="lt1">
                <a:alpha val="40000"/>
              </a:schemeClr>
            </a:solidFill>
            <a:ln w="9525" cap="flat" cmpd="sng">
              <a:solidFill>
                <a:srgbClr val="A5A5A5"/>
              </a:solidFill>
              <a:prstDash val="solid"/>
              <a:round/>
              <a:headEnd type="none" w="sm" len="sm"/>
              <a:tailEnd type="none" w="sm" len="sm"/>
            </a:ln>
          </p:spPr>
          <p:txBody>
            <a:bodyPr spcFirstLastPara="1" wrap="square" lIns="714450" tIns="190500" rIns="190500" bIns="190500" anchor="ctr" anchorCtr="0">
              <a:noAutofit/>
            </a:bodyPr>
            <a:lstStyle/>
            <a:p>
              <a:pPr marL="0" marR="0" lvl="0" indent="0" algn="l" rtl="0">
                <a:lnSpc>
                  <a:spcPct val="90000"/>
                </a:lnSpc>
                <a:spcBef>
                  <a:spcPts val="0"/>
                </a:spcBef>
                <a:spcAft>
                  <a:spcPts val="0"/>
                </a:spcAft>
                <a:buNone/>
              </a:pPr>
              <a:r>
                <a:rPr lang="en-US" sz="3600">
                  <a:solidFill>
                    <a:schemeClr val="dk1"/>
                  </a:solidFill>
                  <a:latin typeface="Candara"/>
                  <a:ea typeface="Candara"/>
                  <a:cs typeface="Candara"/>
                  <a:sym typeface="Candara"/>
                </a:rPr>
                <a:t>Claims and Requests for Adjustment</a:t>
              </a:r>
              <a:endParaRPr sz="3600">
                <a:solidFill>
                  <a:schemeClr val="dk1"/>
                </a:solidFill>
                <a:latin typeface="Candara"/>
                <a:ea typeface="Candara"/>
                <a:cs typeface="Candara"/>
                <a:sym typeface="Candara"/>
              </a:endParaRPr>
            </a:p>
          </p:txBody>
        </p:sp>
        <p:sp>
          <p:nvSpPr>
            <p:cNvPr id="352" name="Google Shape;352;p22"/>
            <p:cNvSpPr/>
            <p:nvPr/>
          </p:nvSpPr>
          <p:spPr>
            <a:xfrm>
              <a:off x="457200" y="4839006"/>
              <a:ext cx="914399" cy="952194"/>
            </a:xfrm>
            <a:prstGeom prst="rect">
              <a:avLst/>
            </a:prstGeom>
            <a:solidFill>
              <a:srgbClr val="C5C8A9"/>
            </a:solidFill>
            <a:ln>
              <a:noFill/>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3"/>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Persuasive Requests </a:t>
            </a:r>
            <a:br>
              <a:rPr lang="en-US">
                <a:solidFill>
                  <a:schemeClr val="lt1"/>
                </a:solidFill>
              </a:rPr>
            </a:br>
            <a:r>
              <a:rPr lang="en-US">
                <a:solidFill>
                  <a:schemeClr val="lt1"/>
                </a:solidFill>
              </a:rPr>
              <a:t>for Action</a:t>
            </a:r>
            <a:endParaRPr>
              <a:solidFill>
                <a:schemeClr val="lt1"/>
              </a:solidFill>
            </a:endParaRPr>
          </a:p>
        </p:txBody>
      </p:sp>
      <p:sp>
        <p:nvSpPr>
          <p:cNvPr id="359" name="Google Shape;359;p23"/>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60" name="Google Shape;360;p23"/>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23</a:t>
            </a:fld>
            <a:endParaRPr/>
          </a:p>
        </p:txBody>
      </p:sp>
      <p:grpSp>
        <p:nvGrpSpPr>
          <p:cNvPr id="361" name="Google Shape;361;p23"/>
          <p:cNvGrpSpPr/>
          <p:nvPr/>
        </p:nvGrpSpPr>
        <p:grpSpPr>
          <a:xfrm>
            <a:off x="457200" y="2133600"/>
            <a:ext cx="8229600" cy="4038600"/>
            <a:chOff x="457200" y="2133600"/>
            <a:chExt cx="8229600" cy="4038600"/>
          </a:xfrm>
        </p:grpSpPr>
        <p:grpSp>
          <p:nvGrpSpPr>
            <p:cNvPr id="362" name="Google Shape;362;p23"/>
            <p:cNvGrpSpPr/>
            <p:nvPr/>
          </p:nvGrpSpPr>
          <p:grpSpPr>
            <a:xfrm>
              <a:off x="457200" y="2133600"/>
              <a:ext cx="8229600" cy="2895600"/>
              <a:chOff x="457200" y="2133600"/>
              <a:chExt cx="8229600" cy="2895600"/>
            </a:xfrm>
          </p:grpSpPr>
          <p:sp>
            <p:nvSpPr>
              <p:cNvPr id="363" name="Google Shape;363;p23"/>
              <p:cNvSpPr/>
              <p:nvPr/>
            </p:nvSpPr>
            <p:spPr>
              <a:xfrm>
                <a:off x="457200" y="2133600"/>
                <a:ext cx="4114800" cy="2895600"/>
              </a:xfrm>
              <a:prstGeom prst="round2DiagRect">
                <a:avLst>
                  <a:gd name="adj1" fmla="val 16667"/>
                  <a:gd name="adj2" fmla="val 0"/>
                </a:avLst>
              </a:prstGeom>
              <a:solidFill>
                <a:srgbClr val="F8F8F8"/>
              </a:solidFill>
              <a:ln w="9525" cap="flat" cmpd="sng">
                <a:solidFill>
                  <a:schemeClr val="dk1"/>
                </a:solidFill>
                <a:prstDash val="solid"/>
                <a:round/>
                <a:headEnd type="none" w="sm" len="sm"/>
                <a:tailEnd type="none" w="sm" len="sm"/>
              </a:ln>
              <a:effectLst>
                <a:outerShdw blurRad="50800" dist="76200" dir="5400000" algn="t"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Direct Approach to Persuasion</a:t>
                </a:r>
                <a:endParaRPr/>
              </a:p>
            </p:txBody>
          </p:sp>
          <p:sp>
            <p:nvSpPr>
              <p:cNvPr id="364" name="Google Shape;364;p23"/>
              <p:cNvSpPr/>
              <p:nvPr/>
            </p:nvSpPr>
            <p:spPr>
              <a:xfrm flipH="1">
                <a:off x="4572000" y="2133600"/>
                <a:ext cx="4114800" cy="2895600"/>
              </a:xfrm>
              <a:prstGeom prst="round2DiagRect">
                <a:avLst>
                  <a:gd name="adj1" fmla="val 16667"/>
                  <a:gd name="adj2" fmla="val 0"/>
                </a:avLst>
              </a:prstGeom>
              <a:solidFill>
                <a:srgbClr val="F8F8F8"/>
              </a:solidFill>
              <a:ln w="9525" cap="flat" cmpd="sng">
                <a:solidFill>
                  <a:schemeClr val="dk1"/>
                </a:solidFill>
                <a:prstDash val="solid"/>
                <a:round/>
                <a:headEnd type="none" w="sm" len="sm"/>
                <a:tailEnd type="none" w="sm" len="sm"/>
              </a:ln>
              <a:effectLst>
                <a:outerShdw blurRad="50800" dist="76200" dir="5400000" algn="t"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Indirect Approach to Persuasion</a:t>
                </a:r>
                <a:endParaRPr/>
              </a:p>
            </p:txBody>
          </p:sp>
        </p:grpSp>
        <p:sp>
          <p:nvSpPr>
            <p:cNvPr id="365" name="Google Shape;365;p23"/>
            <p:cNvSpPr/>
            <p:nvPr/>
          </p:nvSpPr>
          <p:spPr>
            <a:xfrm>
              <a:off x="4572000" y="5181600"/>
              <a:ext cx="4114800" cy="990600"/>
            </a:xfrm>
            <a:prstGeom prst="rightArrow">
              <a:avLst>
                <a:gd name="adj1" fmla="val 50000"/>
                <a:gd name="adj2" fmla="val 50000"/>
              </a:avLst>
            </a:prstGeom>
            <a:solidFill>
              <a:srgbClr val="C4341C"/>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400"/>
                <a:buFont typeface="Candara"/>
                <a:buNone/>
              </a:pPr>
              <a:r>
                <a:rPr lang="en-US" sz="2400" b="0" i="0" u="none" strike="noStrike" cap="none">
                  <a:solidFill>
                    <a:schemeClr val="lt1"/>
                  </a:solidFill>
                  <a:latin typeface="Candara"/>
                  <a:ea typeface="Candara"/>
                  <a:cs typeface="Candara"/>
                  <a:sym typeface="Candara"/>
                </a:rPr>
                <a:t>Unanticipated Request</a:t>
              </a:r>
              <a:endParaRPr/>
            </a:p>
          </p:txBody>
        </p:sp>
        <p:sp>
          <p:nvSpPr>
            <p:cNvPr id="366" name="Google Shape;366;p23"/>
            <p:cNvSpPr/>
            <p:nvPr/>
          </p:nvSpPr>
          <p:spPr>
            <a:xfrm flipH="1">
              <a:off x="457200" y="5181600"/>
              <a:ext cx="4114752" cy="990600"/>
            </a:xfrm>
            <a:prstGeom prst="rightArrow">
              <a:avLst>
                <a:gd name="adj1" fmla="val 50000"/>
                <a:gd name="adj2" fmla="val 50000"/>
              </a:avLst>
            </a:prstGeom>
            <a:solidFill>
              <a:srgbClr val="093B8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400"/>
                <a:buFont typeface="Candara"/>
                <a:buNone/>
              </a:pPr>
              <a:r>
                <a:rPr lang="en-US" sz="2400">
                  <a:solidFill>
                    <a:schemeClr val="lt1"/>
                  </a:solidFill>
                  <a:latin typeface="Candara"/>
                  <a:ea typeface="Candara"/>
                  <a:cs typeface="Candara"/>
                  <a:sym typeface="Candara"/>
                </a:rPr>
                <a:t>A</a:t>
              </a:r>
              <a:r>
                <a:rPr lang="en-US" sz="2400" b="0" i="0" u="none" strike="noStrike" cap="none">
                  <a:solidFill>
                    <a:schemeClr val="lt1"/>
                  </a:solidFill>
                  <a:latin typeface="Candara"/>
                  <a:ea typeface="Candara"/>
                  <a:cs typeface="Candara"/>
                  <a:sym typeface="Candara"/>
                </a:rPr>
                <a:t>nticipated Request</a:t>
              </a:r>
              <a:endParaRPr/>
            </a:p>
          </p:txBody>
        </p:sp>
      </p:gr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4"/>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Persuasive Presentation </a:t>
            </a:r>
            <a:br>
              <a:rPr lang="en-US">
                <a:solidFill>
                  <a:schemeClr val="lt1"/>
                </a:solidFill>
              </a:rPr>
            </a:br>
            <a:r>
              <a:rPr lang="en-US">
                <a:solidFill>
                  <a:schemeClr val="lt1"/>
                </a:solidFill>
              </a:rPr>
              <a:t>of Ideas</a:t>
            </a:r>
            <a:endParaRPr>
              <a:solidFill>
                <a:schemeClr val="lt1"/>
              </a:solidFill>
            </a:endParaRPr>
          </a:p>
        </p:txBody>
      </p:sp>
      <p:sp>
        <p:nvSpPr>
          <p:cNvPr id="373" name="Google Shape;373;p24"/>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74" name="Google Shape;374;p24"/>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24</a:t>
            </a:fld>
            <a:endParaRPr/>
          </a:p>
        </p:txBody>
      </p:sp>
      <p:grpSp>
        <p:nvGrpSpPr>
          <p:cNvPr id="375" name="Google Shape;375;p24"/>
          <p:cNvGrpSpPr/>
          <p:nvPr/>
        </p:nvGrpSpPr>
        <p:grpSpPr>
          <a:xfrm>
            <a:off x="457200" y="2133600"/>
            <a:ext cx="8229600" cy="3917476"/>
            <a:chOff x="457200" y="2133600"/>
            <a:chExt cx="8229600" cy="3917476"/>
          </a:xfrm>
        </p:grpSpPr>
        <p:sp>
          <p:nvSpPr>
            <p:cNvPr id="376" name="Google Shape;376;p24"/>
            <p:cNvSpPr/>
            <p:nvPr/>
          </p:nvSpPr>
          <p:spPr>
            <a:xfrm flipH="1">
              <a:off x="457200" y="2690457"/>
              <a:ext cx="2667000" cy="2803762"/>
            </a:xfrm>
            <a:prstGeom prst="foldedCorner">
              <a:avLst>
                <a:gd name="adj" fmla="val 16667"/>
              </a:avLst>
            </a:prstGeom>
            <a:solidFill>
              <a:srgbClr val="0089D1"/>
            </a:solidFill>
            <a:ln w="9525" cap="flat" cmpd="sng">
              <a:solidFill>
                <a:schemeClr val="dk1"/>
              </a:solidFill>
              <a:prstDash val="solid"/>
              <a:round/>
              <a:headEnd type="none" w="sm" len="sm"/>
              <a:tailEnd type="none" w="sm" len="sm"/>
            </a:ln>
            <a:effectLst>
              <a:outerShdw blurRad="50800" dist="38100" dir="5400000" algn="t"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000"/>
                <a:buFont typeface="Candara"/>
                <a:buNone/>
              </a:pPr>
              <a:r>
                <a:rPr lang="en-US" sz="3000" b="0" i="0" u="none" strike="noStrike" cap="none">
                  <a:solidFill>
                    <a:schemeClr val="lt1"/>
                  </a:solidFill>
                  <a:latin typeface="Candara"/>
                  <a:ea typeface="Candara"/>
                  <a:cs typeface="Candara"/>
                  <a:sym typeface="Candara"/>
                </a:rPr>
                <a:t>Changing</a:t>
              </a:r>
              <a:endParaRPr/>
            </a:p>
            <a:p>
              <a:pPr marL="0" marR="0" lvl="0" indent="0" algn="ctr" rtl="0">
                <a:lnSpc>
                  <a:spcPct val="100000"/>
                </a:lnSpc>
                <a:spcBef>
                  <a:spcPts val="0"/>
                </a:spcBef>
                <a:spcAft>
                  <a:spcPts val="0"/>
                </a:spcAft>
                <a:buClr>
                  <a:schemeClr val="lt1"/>
                </a:buClr>
                <a:buSzPts val="3000"/>
                <a:buFont typeface="Candara"/>
                <a:buNone/>
              </a:pPr>
              <a:r>
                <a:rPr lang="en-US" sz="3000" b="0" i="0" u="none" strike="noStrike" cap="none">
                  <a:solidFill>
                    <a:schemeClr val="lt1"/>
                  </a:solidFill>
                  <a:latin typeface="Candara"/>
                  <a:ea typeface="Candara"/>
                  <a:cs typeface="Candara"/>
                  <a:sym typeface="Candara"/>
                </a:rPr>
                <a:t>Attitudes or</a:t>
              </a:r>
              <a:endParaRPr/>
            </a:p>
            <a:p>
              <a:pPr marL="0" marR="0" lvl="0" indent="0" algn="ctr" rtl="0">
                <a:lnSpc>
                  <a:spcPct val="100000"/>
                </a:lnSpc>
                <a:spcBef>
                  <a:spcPts val="0"/>
                </a:spcBef>
                <a:spcAft>
                  <a:spcPts val="0"/>
                </a:spcAft>
                <a:buClr>
                  <a:schemeClr val="lt1"/>
                </a:buClr>
                <a:buSzPts val="3000"/>
                <a:buFont typeface="Candara"/>
                <a:buNone/>
              </a:pPr>
              <a:r>
                <a:rPr lang="en-US" sz="3000">
                  <a:solidFill>
                    <a:schemeClr val="lt1"/>
                  </a:solidFill>
                  <a:latin typeface="Candara"/>
                  <a:ea typeface="Candara"/>
                  <a:cs typeface="Candara"/>
                  <a:sym typeface="Candara"/>
                </a:rPr>
                <a:t>Beliefs About</a:t>
              </a:r>
              <a:endParaRPr/>
            </a:p>
            <a:p>
              <a:pPr marL="0" marR="0" lvl="0" indent="0" algn="ctr" rtl="0">
                <a:lnSpc>
                  <a:spcPct val="100000"/>
                </a:lnSpc>
                <a:spcBef>
                  <a:spcPts val="0"/>
                </a:spcBef>
                <a:spcAft>
                  <a:spcPts val="0"/>
                </a:spcAft>
                <a:buClr>
                  <a:schemeClr val="lt1"/>
                </a:buClr>
                <a:buSzPts val="3000"/>
                <a:buFont typeface="Candara"/>
                <a:buNone/>
              </a:pPr>
              <a:r>
                <a:rPr lang="en-US" sz="3000">
                  <a:solidFill>
                    <a:schemeClr val="lt1"/>
                  </a:solidFill>
                  <a:latin typeface="Candara"/>
                  <a:ea typeface="Candara"/>
                  <a:cs typeface="Candara"/>
                  <a:sym typeface="Candara"/>
                </a:rPr>
                <a:t>a Topic</a:t>
              </a:r>
              <a:endParaRPr sz="3000" b="0" i="0" u="none" strike="noStrike" cap="none">
                <a:solidFill>
                  <a:schemeClr val="lt1"/>
                </a:solidFill>
                <a:latin typeface="Candara"/>
                <a:ea typeface="Candara"/>
                <a:cs typeface="Candara"/>
                <a:sym typeface="Candara"/>
              </a:endParaRPr>
            </a:p>
          </p:txBody>
        </p:sp>
        <p:sp>
          <p:nvSpPr>
            <p:cNvPr id="377" name="Google Shape;377;p24"/>
            <p:cNvSpPr/>
            <p:nvPr/>
          </p:nvSpPr>
          <p:spPr>
            <a:xfrm flipH="1">
              <a:off x="3505200" y="2133600"/>
              <a:ext cx="5181600" cy="1098076"/>
            </a:xfrm>
            <a:prstGeom prst="foldedCorner">
              <a:avLst>
                <a:gd name="adj" fmla="val 16667"/>
              </a:avLst>
            </a:prstGeom>
            <a:solidFill>
              <a:schemeClr val="lt1"/>
            </a:solidFill>
            <a:ln w="9525" cap="flat" cmpd="sng">
              <a:solidFill>
                <a:schemeClr val="dk1"/>
              </a:solidFill>
              <a:prstDash val="solid"/>
              <a:round/>
              <a:headEnd type="none" w="sm" len="sm"/>
              <a:tailEnd type="none" w="sm" len="sm"/>
            </a:ln>
            <a:effectLst>
              <a:outerShdw blurRad="50800" dist="38100" dir="5400000" algn="t"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Consider a New Idea</a:t>
              </a:r>
              <a:endParaRPr/>
            </a:p>
          </p:txBody>
        </p:sp>
        <p:sp>
          <p:nvSpPr>
            <p:cNvPr id="378" name="Google Shape;378;p24"/>
            <p:cNvSpPr/>
            <p:nvPr/>
          </p:nvSpPr>
          <p:spPr>
            <a:xfrm flipH="1">
              <a:off x="3505200" y="3543300"/>
              <a:ext cx="5181600" cy="1098076"/>
            </a:xfrm>
            <a:prstGeom prst="foldedCorner">
              <a:avLst>
                <a:gd name="adj" fmla="val 16667"/>
              </a:avLst>
            </a:prstGeom>
            <a:solidFill>
              <a:schemeClr val="lt1"/>
            </a:solidFill>
            <a:ln w="9525" cap="flat" cmpd="sng">
              <a:solidFill>
                <a:schemeClr val="dk1"/>
              </a:solidFill>
              <a:prstDash val="solid"/>
              <a:round/>
              <a:headEnd type="none" w="sm" len="sm"/>
              <a:tailEnd type="none" w="sm" len="sm"/>
            </a:ln>
            <a:effectLst>
              <a:outerShdw blurRad="50800" dist="38100" dir="5400000" algn="t"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Reexamine Opinions</a:t>
              </a:r>
              <a:endParaRPr sz="3000" b="0" i="0" u="none" strike="noStrike" cap="none">
                <a:solidFill>
                  <a:schemeClr val="dk1"/>
                </a:solidFill>
                <a:latin typeface="Candara"/>
                <a:ea typeface="Candara"/>
                <a:cs typeface="Candara"/>
                <a:sym typeface="Candara"/>
              </a:endParaRPr>
            </a:p>
          </p:txBody>
        </p:sp>
        <p:sp>
          <p:nvSpPr>
            <p:cNvPr id="379" name="Google Shape;379;p24"/>
            <p:cNvSpPr/>
            <p:nvPr/>
          </p:nvSpPr>
          <p:spPr>
            <a:xfrm flipH="1">
              <a:off x="3505200" y="4953000"/>
              <a:ext cx="5181600" cy="1098076"/>
            </a:xfrm>
            <a:prstGeom prst="foldedCorner">
              <a:avLst>
                <a:gd name="adj" fmla="val 16667"/>
              </a:avLst>
            </a:prstGeom>
            <a:solidFill>
              <a:schemeClr val="lt1"/>
            </a:solidFill>
            <a:ln w="9525" cap="flat" cmpd="sng">
              <a:solidFill>
                <a:schemeClr val="dk1"/>
              </a:solidFill>
              <a:prstDash val="solid"/>
              <a:round/>
              <a:headEnd type="none" w="sm" len="sm"/>
              <a:tailEnd type="none" w="sm" len="sm"/>
            </a:ln>
            <a:effectLst>
              <a:outerShdw blurRad="50800" dist="38100" dir="5400000" algn="t"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000"/>
                <a:buFont typeface="Candara"/>
                <a:buNone/>
              </a:pPr>
              <a:r>
                <a:rPr lang="en-US" sz="3000" b="0" i="0" u="none" strike="noStrike" cap="none">
                  <a:solidFill>
                    <a:schemeClr val="dk1"/>
                  </a:solidFill>
                  <a:latin typeface="Candara"/>
                  <a:ea typeface="Candara"/>
                  <a:cs typeface="Candara"/>
                  <a:sym typeface="Candara"/>
                </a:rPr>
                <a:t>Reconsider Ways of Thinking</a:t>
              </a:r>
              <a:endParaRPr sz="3000" b="0" i="0" u="none" strike="noStrike" cap="none">
                <a:solidFill>
                  <a:schemeClr val="dk1"/>
                </a:solidFill>
                <a:latin typeface="Candara"/>
                <a:ea typeface="Candara"/>
                <a:cs typeface="Candara"/>
                <a:sym typeface="Candara"/>
              </a:endParaRPr>
            </a:p>
          </p:txBody>
        </p:sp>
        <p:cxnSp>
          <p:nvCxnSpPr>
            <p:cNvPr id="380" name="Google Shape;380;p24"/>
            <p:cNvCxnSpPr>
              <a:stCxn id="376" idx="1"/>
              <a:endCxn id="377" idx="3"/>
            </p:cNvCxnSpPr>
            <p:nvPr/>
          </p:nvCxnSpPr>
          <p:spPr>
            <a:xfrm rot="10800000" flipH="1">
              <a:off x="3124200" y="2682638"/>
              <a:ext cx="381000" cy="1409700"/>
            </a:xfrm>
            <a:prstGeom prst="bentConnector3">
              <a:avLst>
                <a:gd name="adj1" fmla="val 50000"/>
              </a:avLst>
            </a:prstGeom>
            <a:solidFill>
              <a:schemeClr val="accent1"/>
            </a:solidFill>
            <a:ln w="12700" cap="flat" cmpd="sng">
              <a:solidFill>
                <a:schemeClr val="dk1"/>
              </a:solidFill>
              <a:prstDash val="solid"/>
              <a:round/>
              <a:headEnd type="none" w="sm" len="sm"/>
              <a:tailEnd type="none" w="sm" len="sm"/>
            </a:ln>
          </p:spPr>
        </p:cxnSp>
        <p:cxnSp>
          <p:nvCxnSpPr>
            <p:cNvPr id="381" name="Google Shape;381;p24"/>
            <p:cNvCxnSpPr>
              <a:stCxn id="376" idx="1"/>
              <a:endCxn id="379" idx="3"/>
            </p:cNvCxnSpPr>
            <p:nvPr/>
          </p:nvCxnSpPr>
          <p:spPr>
            <a:xfrm>
              <a:off x="3124200" y="4092338"/>
              <a:ext cx="381000" cy="1409700"/>
            </a:xfrm>
            <a:prstGeom prst="bentConnector3">
              <a:avLst>
                <a:gd name="adj1" fmla="val 50000"/>
              </a:avLst>
            </a:prstGeom>
            <a:solidFill>
              <a:schemeClr val="accent1"/>
            </a:solidFill>
            <a:ln w="12700" cap="flat" cmpd="sng">
              <a:solidFill>
                <a:schemeClr val="dk1"/>
              </a:solidFill>
              <a:prstDash val="solid"/>
              <a:round/>
              <a:headEnd type="none" w="sm" len="sm"/>
              <a:tailEnd type="none" w="sm" len="sm"/>
            </a:ln>
          </p:spPr>
        </p:cxnSp>
      </p:gr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5"/>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Persuasive Claims and Requests for Adjustment</a:t>
            </a:r>
            <a:endParaRPr>
              <a:solidFill>
                <a:schemeClr val="lt1"/>
              </a:solidFill>
            </a:endParaRPr>
          </a:p>
        </p:txBody>
      </p:sp>
      <p:sp>
        <p:nvSpPr>
          <p:cNvPr id="388" name="Google Shape;388;p25"/>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389" name="Google Shape;389;p25"/>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25</a:t>
            </a:fld>
            <a:endParaRPr/>
          </a:p>
        </p:txBody>
      </p:sp>
      <p:grpSp>
        <p:nvGrpSpPr>
          <p:cNvPr id="390" name="Google Shape;390;p25"/>
          <p:cNvGrpSpPr/>
          <p:nvPr/>
        </p:nvGrpSpPr>
        <p:grpSpPr>
          <a:xfrm>
            <a:off x="472440" y="2057399"/>
            <a:ext cx="8199120" cy="4037072"/>
            <a:chOff x="472440" y="2057399"/>
            <a:chExt cx="8199120" cy="4037072"/>
          </a:xfrm>
        </p:grpSpPr>
        <p:sp>
          <p:nvSpPr>
            <p:cNvPr id="391" name="Google Shape;391;p25"/>
            <p:cNvSpPr/>
            <p:nvPr/>
          </p:nvSpPr>
          <p:spPr>
            <a:xfrm>
              <a:off x="472440" y="2057399"/>
              <a:ext cx="8199120" cy="913364"/>
            </a:xfrm>
            <a:custGeom>
              <a:avLst/>
              <a:gdLst/>
              <a:ahLst/>
              <a:cxnLst/>
              <a:rect l="l" t="t" r="r" b="b"/>
              <a:pathLst>
                <a:path w="7442001" h="918765" extrusionOk="0">
                  <a:moveTo>
                    <a:pt x="0" y="91877"/>
                  </a:moveTo>
                  <a:cubicBezTo>
                    <a:pt x="0" y="41135"/>
                    <a:pt x="41135" y="0"/>
                    <a:pt x="91877" y="0"/>
                  </a:cubicBezTo>
                  <a:lnTo>
                    <a:pt x="7350125" y="0"/>
                  </a:lnTo>
                  <a:cubicBezTo>
                    <a:pt x="7400867" y="0"/>
                    <a:pt x="7442002" y="41135"/>
                    <a:pt x="7442002" y="91877"/>
                  </a:cubicBezTo>
                  <a:cubicBezTo>
                    <a:pt x="7442002" y="336881"/>
                    <a:pt x="7442001" y="581885"/>
                    <a:pt x="7442001" y="826889"/>
                  </a:cubicBezTo>
                  <a:cubicBezTo>
                    <a:pt x="7442001" y="877631"/>
                    <a:pt x="7400866" y="918766"/>
                    <a:pt x="7350124" y="918766"/>
                  </a:cubicBezTo>
                  <a:lnTo>
                    <a:pt x="91877" y="918765"/>
                  </a:lnTo>
                  <a:cubicBezTo>
                    <a:pt x="41135" y="918765"/>
                    <a:pt x="0" y="877630"/>
                    <a:pt x="0" y="826888"/>
                  </a:cubicBezTo>
                  <a:lnTo>
                    <a:pt x="0" y="91877"/>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103100" tIns="77700" rIns="103100" bIns="77700" anchor="ctr" anchorCtr="0">
              <a:noAutofit/>
            </a:bodyPr>
            <a:lstStyle/>
            <a:p>
              <a:pPr marL="0" marR="0" lvl="0" indent="0" algn="ctr" rtl="0">
                <a:lnSpc>
                  <a:spcPct val="90000"/>
                </a:lnSpc>
                <a:spcBef>
                  <a:spcPts val="0"/>
                </a:spcBef>
                <a:spcAft>
                  <a:spcPts val="0"/>
                </a:spcAft>
                <a:buNone/>
              </a:pPr>
              <a:r>
                <a:rPr lang="en-US" sz="3600">
                  <a:solidFill>
                    <a:schemeClr val="dk1"/>
                  </a:solidFill>
                  <a:latin typeface="Candara"/>
                  <a:ea typeface="Candara"/>
                  <a:cs typeface="Candara"/>
                  <a:sym typeface="Candara"/>
                </a:rPr>
                <a:t>Review the Facts in a Positive Tone</a:t>
              </a:r>
              <a:endParaRPr sz="3600">
                <a:solidFill>
                  <a:schemeClr val="dk1"/>
                </a:solidFill>
                <a:latin typeface="Candara"/>
                <a:ea typeface="Candara"/>
                <a:cs typeface="Candara"/>
                <a:sym typeface="Candara"/>
              </a:endParaRPr>
            </a:p>
          </p:txBody>
        </p:sp>
        <p:sp>
          <p:nvSpPr>
            <p:cNvPr id="392" name="Google Shape;392;p25"/>
            <p:cNvSpPr/>
            <p:nvPr/>
          </p:nvSpPr>
          <p:spPr>
            <a:xfrm>
              <a:off x="521970" y="3135170"/>
              <a:ext cx="918765" cy="913364"/>
            </a:xfrm>
            <a:prstGeom prst="roundRect">
              <a:avLst>
                <a:gd name="adj" fmla="val 16670"/>
              </a:avLst>
            </a:prstGeom>
            <a:solidFill>
              <a:srgbClr val="00A86D"/>
            </a:solidFill>
            <a:ln w="9525" cap="flat" cmpd="sng">
              <a:solidFill>
                <a:srgbClr val="DDDDDD"/>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5"/>
            <p:cNvSpPr/>
            <p:nvPr/>
          </p:nvSpPr>
          <p:spPr>
            <a:xfrm>
              <a:off x="1495861" y="3135170"/>
              <a:ext cx="7126169" cy="913364"/>
            </a:xfrm>
            <a:custGeom>
              <a:avLst/>
              <a:gdLst/>
              <a:ahLst/>
              <a:cxnLst/>
              <a:rect l="l" t="t" r="r" b="b"/>
              <a:pathLst>
                <a:path w="6468109" h="918765" extrusionOk="0">
                  <a:moveTo>
                    <a:pt x="0" y="153158"/>
                  </a:moveTo>
                  <a:cubicBezTo>
                    <a:pt x="0" y="68571"/>
                    <a:pt x="68571" y="0"/>
                    <a:pt x="153158" y="0"/>
                  </a:cubicBezTo>
                  <a:lnTo>
                    <a:pt x="6314951" y="0"/>
                  </a:lnTo>
                  <a:cubicBezTo>
                    <a:pt x="6399538" y="0"/>
                    <a:pt x="6468109" y="68571"/>
                    <a:pt x="6468109" y="153158"/>
                  </a:cubicBezTo>
                  <a:lnTo>
                    <a:pt x="6468109" y="765607"/>
                  </a:lnTo>
                  <a:cubicBezTo>
                    <a:pt x="6468109" y="850194"/>
                    <a:pt x="6399538" y="918765"/>
                    <a:pt x="6314951" y="918765"/>
                  </a:cubicBezTo>
                  <a:lnTo>
                    <a:pt x="153158" y="918765"/>
                  </a:lnTo>
                  <a:cubicBezTo>
                    <a:pt x="68571" y="918765"/>
                    <a:pt x="0" y="850194"/>
                    <a:pt x="0" y="765607"/>
                  </a:cubicBezTo>
                  <a:lnTo>
                    <a:pt x="0" y="153158"/>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251100" tIns="251100" rIns="251100" bIns="251100" anchor="ctr" anchorCtr="0">
              <a:noAutofit/>
            </a:bodyPr>
            <a:lstStyle/>
            <a:p>
              <a:pPr marL="0" marR="0" lvl="0" indent="0" algn="l" rtl="0">
                <a:lnSpc>
                  <a:spcPct val="90000"/>
                </a:lnSpc>
                <a:spcBef>
                  <a:spcPts val="0"/>
                </a:spcBef>
                <a:spcAft>
                  <a:spcPts val="0"/>
                </a:spcAft>
                <a:buNone/>
              </a:pPr>
              <a:r>
                <a:rPr lang="en-US" sz="3200">
                  <a:solidFill>
                    <a:schemeClr val="dk1"/>
                  </a:solidFill>
                  <a:latin typeface="Candara"/>
                  <a:ea typeface="Candara"/>
                  <a:cs typeface="Candara"/>
                  <a:sym typeface="Candara"/>
                </a:rPr>
                <a:t>Outline the Problem and Its Status</a:t>
              </a:r>
              <a:endParaRPr sz="3200">
                <a:solidFill>
                  <a:schemeClr val="dk1"/>
                </a:solidFill>
                <a:latin typeface="Candara"/>
                <a:ea typeface="Candara"/>
                <a:cs typeface="Candara"/>
                <a:sym typeface="Candara"/>
              </a:endParaRPr>
            </a:p>
          </p:txBody>
        </p:sp>
        <p:sp>
          <p:nvSpPr>
            <p:cNvPr id="394" name="Google Shape;394;p25"/>
            <p:cNvSpPr/>
            <p:nvPr/>
          </p:nvSpPr>
          <p:spPr>
            <a:xfrm>
              <a:off x="521970" y="4158137"/>
              <a:ext cx="918765" cy="913364"/>
            </a:xfrm>
            <a:prstGeom prst="roundRect">
              <a:avLst>
                <a:gd name="adj" fmla="val 16670"/>
              </a:avLst>
            </a:prstGeom>
            <a:solidFill>
              <a:srgbClr val="00A86D"/>
            </a:solidFill>
            <a:ln w="9525" cap="flat" cmpd="sng">
              <a:solidFill>
                <a:srgbClr val="DDDDDD"/>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5"/>
            <p:cNvSpPr/>
            <p:nvPr/>
          </p:nvSpPr>
          <p:spPr>
            <a:xfrm>
              <a:off x="1495861" y="4158137"/>
              <a:ext cx="7126169" cy="913364"/>
            </a:xfrm>
            <a:custGeom>
              <a:avLst/>
              <a:gdLst/>
              <a:ahLst/>
              <a:cxnLst/>
              <a:rect l="l" t="t" r="r" b="b"/>
              <a:pathLst>
                <a:path w="6468109" h="918765" extrusionOk="0">
                  <a:moveTo>
                    <a:pt x="0" y="153158"/>
                  </a:moveTo>
                  <a:cubicBezTo>
                    <a:pt x="0" y="68571"/>
                    <a:pt x="68571" y="0"/>
                    <a:pt x="153158" y="0"/>
                  </a:cubicBezTo>
                  <a:lnTo>
                    <a:pt x="6314951" y="0"/>
                  </a:lnTo>
                  <a:cubicBezTo>
                    <a:pt x="6399538" y="0"/>
                    <a:pt x="6468109" y="68571"/>
                    <a:pt x="6468109" y="153158"/>
                  </a:cubicBezTo>
                  <a:lnTo>
                    <a:pt x="6468109" y="765607"/>
                  </a:lnTo>
                  <a:cubicBezTo>
                    <a:pt x="6468109" y="850194"/>
                    <a:pt x="6399538" y="918765"/>
                    <a:pt x="6314951" y="918765"/>
                  </a:cubicBezTo>
                  <a:lnTo>
                    <a:pt x="153158" y="918765"/>
                  </a:lnTo>
                  <a:cubicBezTo>
                    <a:pt x="68571" y="918765"/>
                    <a:pt x="0" y="850194"/>
                    <a:pt x="0" y="765607"/>
                  </a:cubicBezTo>
                  <a:lnTo>
                    <a:pt x="0" y="153158"/>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251100" tIns="251100" rIns="251100" bIns="251100" anchor="ctr" anchorCtr="0">
              <a:noAutofit/>
            </a:bodyPr>
            <a:lstStyle/>
            <a:p>
              <a:pPr marL="0" marR="0" lvl="0" indent="0" algn="l" rtl="0">
                <a:lnSpc>
                  <a:spcPct val="90000"/>
                </a:lnSpc>
                <a:spcBef>
                  <a:spcPts val="0"/>
                </a:spcBef>
                <a:spcAft>
                  <a:spcPts val="0"/>
                </a:spcAft>
                <a:buNone/>
              </a:pPr>
              <a:r>
                <a:rPr lang="en-US" sz="3200">
                  <a:solidFill>
                    <a:schemeClr val="dk1"/>
                  </a:solidFill>
                  <a:latin typeface="Candara"/>
                  <a:ea typeface="Candara"/>
                  <a:cs typeface="Candara"/>
                  <a:sym typeface="Candara"/>
                </a:rPr>
                <a:t>Give Reasons for Granting the Claim</a:t>
              </a:r>
              <a:endParaRPr sz="3200">
                <a:solidFill>
                  <a:schemeClr val="dk1"/>
                </a:solidFill>
                <a:latin typeface="Candara"/>
                <a:ea typeface="Candara"/>
                <a:cs typeface="Candara"/>
                <a:sym typeface="Candara"/>
              </a:endParaRPr>
            </a:p>
          </p:txBody>
        </p:sp>
        <p:sp>
          <p:nvSpPr>
            <p:cNvPr id="396" name="Google Shape;396;p25"/>
            <p:cNvSpPr/>
            <p:nvPr/>
          </p:nvSpPr>
          <p:spPr>
            <a:xfrm>
              <a:off x="521970" y="5181106"/>
              <a:ext cx="918765" cy="913364"/>
            </a:xfrm>
            <a:prstGeom prst="roundRect">
              <a:avLst>
                <a:gd name="adj" fmla="val 16670"/>
              </a:avLst>
            </a:prstGeom>
            <a:solidFill>
              <a:srgbClr val="00A86D"/>
            </a:solidFill>
            <a:ln w="9525" cap="flat" cmpd="sng">
              <a:solidFill>
                <a:srgbClr val="DDDDDD"/>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5"/>
            <p:cNvSpPr/>
            <p:nvPr/>
          </p:nvSpPr>
          <p:spPr>
            <a:xfrm>
              <a:off x="1495861" y="5181107"/>
              <a:ext cx="7126169" cy="913364"/>
            </a:xfrm>
            <a:custGeom>
              <a:avLst/>
              <a:gdLst/>
              <a:ahLst/>
              <a:cxnLst/>
              <a:rect l="l" t="t" r="r" b="b"/>
              <a:pathLst>
                <a:path w="6468109" h="918765" extrusionOk="0">
                  <a:moveTo>
                    <a:pt x="0" y="153158"/>
                  </a:moveTo>
                  <a:cubicBezTo>
                    <a:pt x="0" y="68571"/>
                    <a:pt x="68571" y="0"/>
                    <a:pt x="153158" y="0"/>
                  </a:cubicBezTo>
                  <a:lnTo>
                    <a:pt x="6314951" y="0"/>
                  </a:lnTo>
                  <a:cubicBezTo>
                    <a:pt x="6399538" y="0"/>
                    <a:pt x="6468109" y="68571"/>
                    <a:pt x="6468109" y="153158"/>
                  </a:cubicBezTo>
                  <a:lnTo>
                    <a:pt x="6468109" y="765607"/>
                  </a:lnTo>
                  <a:cubicBezTo>
                    <a:pt x="6468109" y="850194"/>
                    <a:pt x="6399538" y="918765"/>
                    <a:pt x="6314951" y="918765"/>
                  </a:cubicBezTo>
                  <a:lnTo>
                    <a:pt x="153158" y="918765"/>
                  </a:lnTo>
                  <a:cubicBezTo>
                    <a:pt x="68571" y="918765"/>
                    <a:pt x="0" y="850194"/>
                    <a:pt x="0" y="765607"/>
                  </a:cubicBezTo>
                  <a:lnTo>
                    <a:pt x="0" y="153158"/>
                  </a:lnTo>
                  <a:close/>
                </a:path>
              </a:pathLst>
            </a:custGeom>
            <a:solidFill>
              <a:schemeClr val="lt1"/>
            </a:solidFill>
            <a:ln w="9525" cap="flat" cmpd="sng">
              <a:solidFill>
                <a:srgbClr val="7F7F7F"/>
              </a:solidFill>
              <a:prstDash val="solid"/>
              <a:round/>
              <a:headEnd type="none" w="sm" len="sm"/>
              <a:tailEnd type="none" w="sm" len="sm"/>
            </a:ln>
          </p:spPr>
          <p:txBody>
            <a:bodyPr spcFirstLastPara="1" wrap="square" lIns="251100" tIns="251100" rIns="251100" bIns="251100" anchor="ctr" anchorCtr="0">
              <a:noAutofit/>
            </a:bodyPr>
            <a:lstStyle/>
            <a:p>
              <a:pPr marL="0" marR="0" lvl="0" indent="0" algn="l" rtl="0">
                <a:lnSpc>
                  <a:spcPct val="90000"/>
                </a:lnSpc>
                <a:spcBef>
                  <a:spcPts val="0"/>
                </a:spcBef>
                <a:spcAft>
                  <a:spcPts val="0"/>
                </a:spcAft>
                <a:buNone/>
              </a:pPr>
              <a:r>
                <a:rPr lang="en-US" sz="3200">
                  <a:solidFill>
                    <a:schemeClr val="dk1"/>
                  </a:solidFill>
                  <a:latin typeface="Candara"/>
                  <a:ea typeface="Candara"/>
                  <a:cs typeface="Candara"/>
                  <a:sym typeface="Candara"/>
                </a:rPr>
                <a:t>Close on a Respectful Note</a:t>
              </a:r>
              <a:endParaRPr sz="3200">
                <a:solidFill>
                  <a:schemeClr val="dk1"/>
                </a:solidFill>
                <a:latin typeface="Candara"/>
                <a:ea typeface="Candara"/>
                <a:cs typeface="Candara"/>
                <a:sym typeface="Candara"/>
              </a:endParaRPr>
            </a:p>
          </p:txBody>
        </p:sp>
      </p:gr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6"/>
          <p:cNvSpPr txBox="1">
            <a:spLocks noGrp="1"/>
          </p:cNvSpPr>
          <p:nvPr>
            <p:ph type="ctrTitle"/>
          </p:nvPr>
        </p:nvSpPr>
        <p:spPr>
          <a:xfrm>
            <a:off x="457200" y="1981200"/>
            <a:ext cx="8229600" cy="1676399"/>
          </a:xfrm>
          <a:prstGeom prst="rect">
            <a:avLst/>
          </a:prstGeom>
          <a:solidFill>
            <a:schemeClr val="dk2"/>
          </a:solidFill>
          <a:ln w="9525" cap="flat" cmpd="sng">
            <a:solidFill>
              <a:srgbClr val="292929"/>
            </a:solidFill>
            <a:prstDash val="solid"/>
            <a:round/>
            <a:headEnd type="none" w="sm" len="sm"/>
            <a:tailEnd type="none" w="sm" len="sm"/>
          </a:ln>
          <a:effectLst>
            <a:outerShdw blurRad="50800" dist="76200" dir="8100000" algn="tr" rotWithShape="0">
              <a:srgbClr val="000000">
                <a:alpha val="2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Developing Marketing and </a:t>
            </a:r>
            <a:br>
              <a:rPr lang="en-US"/>
            </a:br>
            <a:r>
              <a:rPr lang="en-US"/>
              <a:t>Sales Messages</a:t>
            </a:r>
            <a:endParaRPr/>
          </a:p>
        </p:txBody>
      </p:sp>
      <p:sp>
        <p:nvSpPr>
          <p:cNvPr id="404" name="Google Shape;404;p26"/>
          <p:cNvSpPr txBox="1">
            <a:spLocks noGrp="1"/>
          </p:cNvSpPr>
          <p:nvPr>
            <p:ph type="subTitle" idx="1"/>
          </p:nvPr>
        </p:nvSpPr>
        <p:spPr>
          <a:xfrm>
            <a:off x="609600" y="3810000"/>
            <a:ext cx="7924800" cy="1905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000"/>
              <a:buFont typeface="Candara"/>
              <a:buNone/>
            </a:pPr>
            <a:r>
              <a:rPr lang="en-US" sz="3000"/>
              <a:t>(LO 3) </a:t>
            </a:r>
            <a:r>
              <a:rPr lang="en-US" sz="2800"/>
              <a:t>Describe an effective strategy for developing marketing and sales messages, and explain how to modify your approach when writing promotional messages for social media.</a:t>
            </a:r>
            <a:endParaRPr/>
          </a:p>
          <a:p>
            <a:pPr marL="0" lvl="0" indent="0" algn="ctr" rtl="0">
              <a:spcBef>
                <a:spcPts val="600"/>
              </a:spcBef>
              <a:spcAft>
                <a:spcPts val="0"/>
              </a:spcAft>
              <a:buClr>
                <a:schemeClr val="dk1"/>
              </a:buClr>
              <a:buSzPts val="3000"/>
              <a:buFont typeface="Candara"/>
              <a:buNone/>
            </a:pPr>
            <a:endParaRPr sz="3000"/>
          </a:p>
        </p:txBody>
      </p:sp>
      <p:sp>
        <p:nvSpPr>
          <p:cNvPr id="405" name="Google Shape;405;p26"/>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06" name="Google Shape;406;p26"/>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26</a:t>
            </a:fld>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7"/>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a:effectLst>
            <a:outerShdw blurRad="149987" dist="101600" dir="8460000" algn="ctr">
              <a:srgbClr val="000000">
                <a:alpha val="24705"/>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Planning Marketing and </a:t>
            </a:r>
            <a:br>
              <a:rPr lang="en-US">
                <a:solidFill>
                  <a:schemeClr val="lt1"/>
                </a:solidFill>
              </a:rPr>
            </a:br>
            <a:r>
              <a:rPr lang="en-US">
                <a:solidFill>
                  <a:schemeClr val="lt1"/>
                </a:solidFill>
              </a:rPr>
              <a:t>Sales Messages</a:t>
            </a:r>
            <a:endParaRPr/>
          </a:p>
        </p:txBody>
      </p:sp>
      <p:sp>
        <p:nvSpPr>
          <p:cNvPr id="413" name="Google Shape;413;p27"/>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14" name="Google Shape;414;p27"/>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27</a:t>
            </a:fld>
            <a:endParaRPr/>
          </a:p>
        </p:txBody>
      </p:sp>
      <p:grpSp>
        <p:nvGrpSpPr>
          <p:cNvPr id="415" name="Google Shape;415;p27"/>
          <p:cNvGrpSpPr/>
          <p:nvPr/>
        </p:nvGrpSpPr>
        <p:grpSpPr>
          <a:xfrm>
            <a:off x="800100" y="2199167"/>
            <a:ext cx="7543800" cy="3755066"/>
            <a:chOff x="800100" y="2199167"/>
            <a:chExt cx="7543800" cy="3755066"/>
          </a:xfrm>
        </p:grpSpPr>
        <p:sp>
          <p:nvSpPr>
            <p:cNvPr id="416" name="Google Shape;416;p27" descr="Stationery"/>
            <p:cNvSpPr/>
            <p:nvPr/>
          </p:nvSpPr>
          <p:spPr>
            <a:xfrm>
              <a:off x="800100" y="2199167"/>
              <a:ext cx="3550024" cy="1668919"/>
            </a:xfrm>
            <a:prstGeom prst="roundRect">
              <a:avLst>
                <a:gd name="adj" fmla="val 16667"/>
              </a:avLst>
            </a:prstGeom>
            <a:solidFill>
              <a:schemeClr val="lt1"/>
            </a:solidFill>
            <a:ln w="9525" cap="flat" cmpd="sng">
              <a:solidFill>
                <a:srgbClr val="F2F2F2"/>
              </a:solidFill>
              <a:prstDash val="solid"/>
              <a:round/>
              <a:headEnd type="none" w="sm" len="sm"/>
              <a:tailEnd type="none" w="sm" len="sm"/>
            </a:ln>
            <a:effectLst>
              <a:outerShdw blurRad="149987" dist="152400" dir="8460000" algn="ctr">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dk1"/>
                  </a:solidFill>
                  <a:latin typeface="Candara"/>
                  <a:ea typeface="Candara"/>
                  <a:cs typeface="Candara"/>
                  <a:sym typeface="Candara"/>
                </a:rPr>
                <a:t>Audience </a:t>
              </a:r>
              <a:endParaRPr/>
            </a:p>
            <a:p>
              <a:pPr marL="0" marR="0" lvl="0" indent="0" algn="ctr" rtl="0">
                <a:spcBef>
                  <a:spcPts val="0"/>
                </a:spcBef>
                <a:spcAft>
                  <a:spcPts val="0"/>
                </a:spcAft>
                <a:buNone/>
              </a:pPr>
              <a:r>
                <a:rPr lang="en-US" sz="3600">
                  <a:solidFill>
                    <a:schemeClr val="dk1"/>
                  </a:solidFill>
                  <a:latin typeface="Candara"/>
                  <a:ea typeface="Candara"/>
                  <a:cs typeface="Candara"/>
                  <a:sym typeface="Candara"/>
                </a:rPr>
                <a:t>Needs</a:t>
              </a:r>
              <a:endParaRPr sz="3600">
                <a:solidFill>
                  <a:schemeClr val="dk1"/>
                </a:solidFill>
                <a:latin typeface="Candara"/>
                <a:ea typeface="Candara"/>
                <a:cs typeface="Candara"/>
                <a:sym typeface="Candara"/>
              </a:endParaRPr>
            </a:p>
          </p:txBody>
        </p:sp>
        <p:sp>
          <p:nvSpPr>
            <p:cNvPr id="417" name="Google Shape;417;p27" descr="Stationery"/>
            <p:cNvSpPr/>
            <p:nvPr/>
          </p:nvSpPr>
          <p:spPr>
            <a:xfrm>
              <a:off x="4793876" y="4285314"/>
              <a:ext cx="3550024" cy="1668919"/>
            </a:xfrm>
            <a:prstGeom prst="roundRect">
              <a:avLst>
                <a:gd name="adj" fmla="val 16667"/>
              </a:avLst>
            </a:prstGeom>
            <a:solidFill>
              <a:schemeClr val="lt1"/>
            </a:solidFill>
            <a:ln w="9525" cap="flat" cmpd="sng">
              <a:solidFill>
                <a:srgbClr val="F2F2F2"/>
              </a:solidFill>
              <a:prstDash val="solid"/>
              <a:round/>
              <a:headEnd type="none" w="sm" len="sm"/>
              <a:tailEnd type="none" w="sm" len="sm"/>
            </a:ln>
            <a:effectLst>
              <a:outerShdw blurRad="149987" dist="152400" dir="8460000" algn="ctr">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dk1"/>
                  </a:solidFill>
                  <a:latin typeface="Candara"/>
                  <a:ea typeface="Candara"/>
                  <a:cs typeface="Candara"/>
                  <a:sym typeface="Candara"/>
                </a:rPr>
                <a:t>Purchase </a:t>
              </a:r>
              <a:endParaRPr/>
            </a:p>
            <a:p>
              <a:pPr marL="0" marR="0" lvl="0" indent="0" algn="ctr" rtl="0">
                <a:spcBef>
                  <a:spcPts val="0"/>
                </a:spcBef>
                <a:spcAft>
                  <a:spcPts val="0"/>
                </a:spcAft>
                <a:buNone/>
              </a:pPr>
              <a:r>
                <a:rPr lang="en-US" sz="3600">
                  <a:solidFill>
                    <a:schemeClr val="dk1"/>
                  </a:solidFill>
                  <a:latin typeface="Candara"/>
                  <a:ea typeface="Candara"/>
                  <a:cs typeface="Candara"/>
                  <a:sym typeface="Candara"/>
                </a:rPr>
                <a:t>Objections</a:t>
              </a:r>
              <a:endParaRPr sz="3600">
                <a:solidFill>
                  <a:schemeClr val="dk1"/>
                </a:solidFill>
                <a:latin typeface="Candara"/>
                <a:ea typeface="Candara"/>
                <a:cs typeface="Candara"/>
                <a:sym typeface="Candara"/>
              </a:endParaRPr>
            </a:p>
          </p:txBody>
        </p:sp>
        <p:sp>
          <p:nvSpPr>
            <p:cNvPr id="418" name="Google Shape;418;p27" descr="Stationery"/>
            <p:cNvSpPr/>
            <p:nvPr/>
          </p:nvSpPr>
          <p:spPr>
            <a:xfrm>
              <a:off x="800100" y="4285314"/>
              <a:ext cx="3550024" cy="1668919"/>
            </a:xfrm>
            <a:prstGeom prst="roundRect">
              <a:avLst>
                <a:gd name="adj" fmla="val 16667"/>
              </a:avLst>
            </a:prstGeom>
            <a:solidFill>
              <a:schemeClr val="lt1"/>
            </a:solidFill>
            <a:ln w="9525" cap="flat" cmpd="sng">
              <a:solidFill>
                <a:srgbClr val="F2F2F2"/>
              </a:solidFill>
              <a:prstDash val="solid"/>
              <a:round/>
              <a:headEnd type="none" w="sm" len="sm"/>
              <a:tailEnd type="none" w="sm" len="sm"/>
            </a:ln>
            <a:effectLst>
              <a:outerShdw blurRad="149987" dist="152400" dir="8460000" algn="ctr">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dk1"/>
                  </a:solidFill>
                  <a:latin typeface="Candara"/>
                  <a:ea typeface="Candara"/>
                  <a:cs typeface="Candara"/>
                  <a:sym typeface="Candara"/>
                </a:rPr>
                <a:t>Selling Points</a:t>
              </a:r>
              <a:endParaRPr/>
            </a:p>
            <a:p>
              <a:pPr marL="0" marR="0" lvl="0" indent="0" algn="ctr" rtl="0">
                <a:spcBef>
                  <a:spcPts val="0"/>
                </a:spcBef>
                <a:spcAft>
                  <a:spcPts val="0"/>
                </a:spcAft>
                <a:buNone/>
              </a:pPr>
              <a:r>
                <a:rPr lang="en-US" sz="3600">
                  <a:solidFill>
                    <a:schemeClr val="dk1"/>
                  </a:solidFill>
                  <a:latin typeface="Candara"/>
                  <a:ea typeface="Candara"/>
                  <a:cs typeface="Candara"/>
                  <a:sym typeface="Candara"/>
                </a:rPr>
                <a:t>and Benefits</a:t>
              </a:r>
              <a:endParaRPr sz="3600">
                <a:solidFill>
                  <a:schemeClr val="dk1"/>
                </a:solidFill>
                <a:latin typeface="Candara"/>
                <a:ea typeface="Candara"/>
                <a:cs typeface="Candara"/>
                <a:sym typeface="Candara"/>
              </a:endParaRPr>
            </a:p>
          </p:txBody>
        </p:sp>
        <p:sp>
          <p:nvSpPr>
            <p:cNvPr id="419" name="Google Shape;419;p27" descr="Stationery"/>
            <p:cNvSpPr/>
            <p:nvPr/>
          </p:nvSpPr>
          <p:spPr>
            <a:xfrm>
              <a:off x="4793876" y="2199167"/>
              <a:ext cx="3550024" cy="1668919"/>
            </a:xfrm>
            <a:prstGeom prst="roundRect">
              <a:avLst>
                <a:gd name="adj" fmla="val 16667"/>
              </a:avLst>
            </a:prstGeom>
            <a:solidFill>
              <a:schemeClr val="lt1"/>
            </a:solidFill>
            <a:ln w="9525" cap="flat" cmpd="sng">
              <a:solidFill>
                <a:srgbClr val="F2F2F2"/>
              </a:solidFill>
              <a:prstDash val="solid"/>
              <a:round/>
              <a:headEnd type="none" w="sm" len="sm"/>
              <a:tailEnd type="none" w="sm" len="sm"/>
            </a:ln>
            <a:effectLst>
              <a:outerShdw blurRad="149987" dist="152400" dir="8460000" algn="ctr">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dk1"/>
                  </a:solidFill>
                  <a:latin typeface="Candara"/>
                  <a:ea typeface="Candara"/>
                  <a:cs typeface="Candara"/>
                  <a:sym typeface="Candara"/>
                </a:rPr>
                <a:t>Competition</a:t>
              </a:r>
              <a:endParaRPr sz="3600">
                <a:solidFill>
                  <a:schemeClr val="dk1"/>
                </a:solidFill>
                <a:latin typeface="Candara"/>
                <a:ea typeface="Candara"/>
                <a:cs typeface="Candara"/>
                <a:sym typeface="Candara"/>
              </a:endParaRPr>
            </a:p>
          </p:txBody>
        </p:sp>
      </p:gr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28"/>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700">
                <a:solidFill>
                  <a:schemeClr val="lt1"/>
                </a:solidFill>
              </a:rPr>
              <a:t>Writing Conventional Marketing and Sales Messages</a:t>
            </a:r>
            <a:endParaRPr sz="4700">
              <a:solidFill>
                <a:schemeClr val="lt1"/>
              </a:solidFill>
            </a:endParaRPr>
          </a:p>
        </p:txBody>
      </p:sp>
      <p:sp>
        <p:nvSpPr>
          <p:cNvPr id="426" name="Google Shape;426;p28"/>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27" name="Google Shape;427;p28"/>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28</a:t>
            </a:fld>
            <a:endParaRPr/>
          </a:p>
        </p:txBody>
      </p:sp>
      <p:grpSp>
        <p:nvGrpSpPr>
          <p:cNvPr id="428" name="Google Shape;428;p28"/>
          <p:cNvGrpSpPr/>
          <p:nvPr/>
        </p:nvGrpSpPr>
        <p:grpSpPr>
          <a:xfrm>
            <a:off x="457200" y="1981200"/>
            <a:ext cx="8229600" cy="4191000"/>
            <a:chOff x="457200" y="1981200"/>
            <a:chExt cx="8229600" cy="4191000"/>
          </a:xfrm>
        </p:grpSpPr>
        <p:sp>
          <p:nvSpPr>
            <p:cNvPr id="429" name="Google Shape;429;p28"/>
            <p:cNvSpPr/>
            <p:nvPr/>
          </p:nvSpPr>
          <p:spPr>
            <a:xfrm>
              <a:off x="457200" y="1981200"/>
              <a:ext cx="8229600" cy="4191000"/>
            </a:xfrm>
            <a:prstGeom prst="rect">
              <a:avLst/>
            </a:prstGeom>
            <a:no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a:buNone/>
              </a:pPr>
              <a:endParaRPr sz="2400" b="0" i="0" u="none" strike="noStrike" cap="none">
                <a:solidFill>
                  <a:schemeClr val="dk1"/>
                </a:solidFill>
                <a:latin typeface="Times New Roman"/>
                <a:ea typeface="Times New Roman"/>
                <a:cs typeface="Times New Roman"/>
                <a:sym typeface="Times New Roman"/>
              </a:endParaRPr>
            </a:p>
          </p:txBody>
        </p:sp>
        <p:sp>
          <p:nvSpPr>
            <p:cNvPr id="430" name="Google Shape;430;p28"/>
            <p:cNvSpPr/>
            <p:nvPr/>
          </p:nvSpPr>
          <p:spPr>
            <a:xfrm>
              <a:off x="457200" y="3426590"/>
              <a:ext cx="3147060" cy="1300220"/>
            </a:xfrm>
            <a:custGeom>
              <a:avLst/>
              <a:gdLst/>
              <a:ahLst/>
              <a:cxnLst/>
              <a:rect l="l" t="t" r="r" b="b"/>
              <a:pathLst>
                <a:path w="2057399" h="1058062" extrusionOk="0">
                  <a:moveTo>
                    <a:pt x="0" y="0"/>
                  </a:moveTo>
                  <a:lnTo>
                    <a:pt x="2057399" y="0"/>
                  </a:lnTo>
                  <a:lnTo>
                    <a:pt x="2057399" y="1058062"/>
                  </a:lnTo>
                  <a:lnTo>
                    <a:pt x="0" y="1058062"/>
                  </a:lnTo>
                  <a:lnTo>
                    <a:pt x="0" y="0"/>
                  </a:lnTo>
                  <a:close/>
                </a:path>
              </a:pathLst>
            </a:custGeom>
            <a:noFill/>
            <a:ln>
              <a:noFill/>
            </a:ln>
          </p:spPr>
          <p:txBody>
            <a:bodyPr spcFirstLastPara="1" wrap="square" lIns="227575" tIns="81275" rIns="227575" bIns="81275" anchor="ctr" anchorCtr="0">
              <a:noAutofit/>
            </a:bodyPr>
            <a:lstStyle/>
            <a:p>
              <a:pPr marL="0" marR="0" lvl="0" indent="0" algn="ctr" rtl="0">
                <a:lnSpc>
                  <a:spcPct val="90000"/>
                </a:lnSpc>
                <a:spcBef>
                  <a:spcPts val="0"/>
                </a:spcBef>
                <a:spcAft>
                  <a:spcPts val="0"/>
                </a:spcAft>
                <a:buNone/>
              </a:pPr>
              <a:r>
                <a:rPr lang="en-US" sz="3600">
                  <a:solidFill>
                    <a:schemeClr val="dk1"/>
                  </a:solidFill>
                  <a:latin typeface="Candara"/>
                  <a:ea typeface="Candara"/>
                  <a:cs typeface="Candara"/>
                  <a:sym typeface="Candara"/>
                </a:rPr>
                <a:t>Using the </a:t>
              </a:r>
              <a:r>
                <a:rPr lang="en-US" sz="3600" b="1">
                  <a:solidFill>
                    <a:schemeClr val="dk1"/>
                  </a:solidFill>
                  <a:latin typeface="Candara"/>
                  <a:ea typeface="Candara"/>
                  <a:cs typeface="Candara"/>
                  <a:sym typeface="Candara"/>
                </a:rPr>
                <a:t>AIDA</a:t>
              </a:r>
              <a:r>
                <a:rPr lang="en-US" sz="3600">
                  <a:solidFill>
                    <a:schemeClr val="dk1"/>
                  </a:solidFill>
                  <a:latin typeface="Candara"/>
                  <a:ea typeface="Candara"/>
                  <a:cs typeface="Candara"/>
                  <a:sym typeface="Candara"/>
                </a:rPr>
                <a:t> Model</a:t>
              </a:r>
              <a:endParaRPr sz="3600">
                <a:solidFill>
                  <a:schemeClr val="dk1"/>
                </a:solidFill>
                <a:latin typeface="Candara"/>
                <a:ea typeface="Candara"/>
                <a:cs typeface="Candara"/>
                <a:sym typeface="Candara"/>
              </a:endParaRPr>
            </a:p>
          </p:txBody>
        </p:sp>
        <p:sp>
          <p:nvSpPr>
            <p:cNvPr id="431" name="Google Shape;431;p28"/>
            <p:cNvSpPr/>
            <p:nvPr/>
          </p:nvSpPr>
          <p:spPr>
            <a:xfrm>
              <a:off x="3474720" y="2378291"/>
              <a:ext cx="411480" cy="3396818"/>
            </a:xfrm>
            <a:prstGeom prst="leftBrace">
              <a:avLst>
                <a:gd name="adj1" fmla="val 35000"/>
                <a:gd name="adj2" fmla="val 50000"/>
              </a:avLst>
            </a:prstGeom>
            <a:noFill/>
            <a:ln w="25400" cap="flat" cmpd="sng">
              <a:solidFill>
                <a:srgbClr val="1111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3852672" y="2514600"/>
              <a:ext cx="4681728" cy="3124200"/>
            </a:xfrm>
            <a:custGeom>
              <a:avLst/>
              <a:gdLst/>
              <a:ahLst/>
              <a:cxnLst/>
              <a:rect l="l" t="t" r="r" b="b"/>
              <a:pathLst>
                <a:path w="5596128" h="3174187" extrusionOk="0">
                  <a:moveTo>
                    <a:pt x="0" y="0"/>
                  </a:moveTo>
                  <a:lnTo>
                    <a:pt x="5596128" y="0"/>
                  </a:lnTo>
                  <a:lnTo>
                    <a:pt x="5596128" y="3174187"/>
                  </a:lnTo>
                  <a:lnTo>
                    <a:pt x="0" y="3174187"/>
                  </a:lnTo>
                  <a:lnTo>
                    <a:pt x="0" y="0"/>
                  </a:lnTo>
                  <a:close/>
                </a:path>
              </a:pathLst>
            </a:custGeom>
            <a:solidFill>
              <a:schemeClr val="lt1"/>
            </a:solidFill>
            <a:ln>
              <a:noFill/>
            </a:ln>
          </p:spPr>
          <p:txBody>
            <a:bodyPr spcFirstLastPara="1" wrap="square" lIns="137150" tIns="137150" rIns="137150" bIns="137150" anchor="ctr" anchorCtr="0">
              <a:noAutofit/>
            </a:bodyPr>
            <a:lstStyle/>
            <a:p>
              <a:pPr marL="285750" marR="0" lvl="1" indent="-285750" algn="l" rtl="0">
                <a:lnSpc>
                  <a:spcPct val="150000"/>
                </a:lnSpc>
                <a:spcBef>
                  <a:spcPts val="0"/>
                </a:spcBef>
                <a:spcAft>
                  <a:spcPts val="0"/>
                </a:spcAft>
                <a:buClr>
                  <a:schemeClr val="dk1"/>
                </a:buClr>
                <a:buSzPts val="3600"/>
                <a:buFont typeface="Candara"/>
                <a:buChar char="•"/>
              </a:pPr>
              <a:r>
                <a:rPr lang="en-US" sz="3600" b="0" i="0" u="none" strike="noStrike" cap="none">
                  <a:solidFill>
                    <a:schemeClr val="dk1"/>
                  </a:solidFill>
                  <a:latin typeface="Candara"/>
                  <a:ea typeface="Candara"/>
                  <a:cs typeface="Candara"/>
                  <a:sym typeface="Candara"/>
                </a:rPr>
                <a:t>Getting </a:t>
              </a:r>
              <a:r>
                <a:rPr lang="en-US" sz="3600" b="1" i="0" u="none" strike="noStrike" cap="none">
                  <a:solidFill>
                    <a:schemeClr val="dk1"/>
                  </a:solidFill>
                  <a:latin typeface="Candara"/>
                  <a:ea typeface="Candara"/>
                  <a:cs typeface="Candara"/>
                  <a:sym typeface="Candara"/>
                </a:rPr>
                <a:t>A</a:t>
              </a:r>
              <a:r>
                <a:rPr lang="en-US" sz="3600" b="0" i="0" u="none" strike="noStrike" cap="none">
                  <a:solidFill>
                    <a:schemeClr val="dk1"/>
                  </a:solidFill>
                  <a:latin typeface="Candara"/>
                  <a:ea typeface="Candara"/>
                  <a:cs typeface="Candara"/>
                  <a:sym typeface="Candara"/>
                </a:rPr>
                <a:t>ttention</a:t>
              </a:r>
              <a:endParaRPr sz="3600" b="0" i="0" u="none" strike="noStrike" cap="none">
                <a:solidFill>
                  <a:schemeClr val="dk1"/>
                </a:solidFill>
                <a:latin typeface="Candara"/>
                <a:ea typeface="Candara"/>
                <a:cs typeface="Candara"/>
                <a:sym typeface="Candara"/>
              </a:endParaRPr>
            </a:p>
            <a:p>
              <a:pPr marL="285750" marR="0" lvl="1" indent="-285750" algn="l" rtl="0">
                <a:lnSpc>
                  <a:spcPct val="150000"/>
                </a:lnSpc>
                <a:spcBef>
                  <a:spcPts val="0"/>
                </a:spcBef>
                <a:spcAft>
                  <a:spcPts val="0"/>
                </a:spcAft>
                <a:buClr>
                  <a:schemeClr val="dk1"/>
                </a:buClr>
                <a:buSzPts val="3600"/>
                <a:buFont typeface="Candara"/>
                <a:buChar char="•"/>
              </a:pPr>
              <a:r>
                <a:rPr lang="en-US" sz="3600" b="0" i="0" u="none" strike="noStrike" cap="none">
                  <a:solidFill>
                    <a:schemeClr val="dk1"/>
                  </a:solidFill>
                  <a:latin typeface="Candara"/>
                  <a:ea typeface="Candara"/>
                  <a:cs typeface="Candara"/>
                  <a:sym typeface="Candara"/>
                </a:rPr>
                <a:t>Building </a:t>
              </a:r>
              <a:r>
                <a:rPr lang="en-US" sz="3600" b="1" i="0" u="none" strike="noStrike" cap="none">
                  <a:solidFill>
                    <a:schemeClr val="dk1"/>
                  </a:solidFill>
                  <a:latin typeface="Candara"/>
                  <a:ea typeface="Candara"/>
                  <a:cs typeface="Candara"/>
                  <a:sym typeface="Candara"/>
                </a:rPr>
                <a:t>I</a:t>
              </a:r>
              <a:r>
                <a:rPr lang="en-US" sz="3600" b="0" i="0" u="none" strike="noStrike" cap="none">
                  <a:solidFill>
                    <a:schemeClr val="dk1"/>
                  </a:solidFill>
                  <a:latin typeface="Candara"/>
                  <a:ea typeface="Candara"/>
                  <a:cs typeface="Candara"/>
                  <a:sym typeface="Candara"/>
                </a:rPr>
                <a:t>nterest</a:t>
              </a:r>
              <a:endParaRPr/>
            </a:p>
            <a:p>
              <a:pPr marL="285750" marR="0" lvl="1" indent="-285750" algn="l" rtl="0">
                <a:lnSpc>
                  <a:spcPct val="150000"/>
                </a:lnSpc>
                <a:spcBef>
                  <a:spcPts val="0"/>
                </a:spcBef>
                <a:spcAft>
                  <a:spcPts val="0"/>
                </a:spcAft>
                <a:buClr>
                  <a:schemeClr val="dk1"/>
                </a:buClr>
                <a:buSzPts val="3600"/>
                <a:buFont typeface="Candara"/>
                <a:buChar char="•"/>
              </a:pPr>
              <a:r>
                <a:rPr lang="en-US" sz="3600" b="0" i="0" u="none" strike="noStrike" cap="none">
                  <a:solidFill>
                    <a:schemeClr val="dk1"/>
                  </a:solidFill>
                  <a:latin typeface="Candara"/>
                  <a:ea typeface="Candara"/>
                  <a:cs typeface="Candara"/>
                  <a:sym typeface="Candara"/>
                </a:rPr>
                <a:t>Increasing </a:t>
              </a:r>
              <a:r>
                <a:rPr lang="en-US" sz="3600" b="1" i="0" u="none" strike="noStrike" cap="none">
                  <a:solidFill>
                    <a:schemeClr val="dk1"/>
                  </a:solidFill>
                  <a:latin typeface="Candara"/>
                  <a:ea typeface="Candara"/>
                  <a:cs typeface="Candara"/>
                  <a:sym typeface="Candara"/>
                </a:rPr>
                <a:t>D</a:t>
              </a:r>
              <a:r>
                <a:rPr lang="en-US" sz="3600" b="0" i="0" u="none" strike="noStrike" cap="none">
                  <a:solidFill>
                    <a:schemeClr val="dk1"/>
                  </a:solidFill>
                  <a:latin typeface="Candara"/>
                  <a:ea typeface="Candara"/>
                  <a:cs typeface="Candara"/>
                  <a:sym typeface="Candara"/>
                </a:rPr>
                <a:t>esire</a:t>
              </a:r>
              <a:endParaRPr/>
            </a:p>
            <a:p>
              <a:pPr marL="285750" marR="0" lvl="1" indent="-285750" algn="l" rtl="0">
                <a:lnSpc>
                  <a:spcPct val="150000"/>
                </a:lnSpc>
                <a:spcBef>
                  <a:spcPts val="0"/>
                </a:spcBef>
                <a:spcAft>
                  <a:spcPts val="0"/>
                </a:spcAft>
                <a:buClr>
                  <a:schemeClr val="dk1"/>
                </a:buClr>
                <a:buSzPts val="3600"/>
                <a:buFont typeface="Candara"/>
                <a:buChar char="•"/>
              </a:pPr>
              <a:r>
                <a:rPr lang="en-US" sz="3600" b="0" i="0" u="none" strike="noStrike" cap="none">
                  <a:solidFill>
                    <a:schemeClr val="dk1"/>
                  </a:solidFill>
                  <a:latin typeface="Candara"/>
                  <a:ea typeface="Candara"/>
                  <a:cs typeface="Candara"/>
                  <a:sym typeface="Candara"/>
                </a:rPr>
                <a:t>Motivating </a:t>
              </a:r>
              <a:r>
                <a:rPr lang="en-US" sz="3600" b="1" i="0" u="none" strike="noStrike" cap="none">
                  <a:solidFill>
                    <a:schemeClr val="dk1"/>
                  </a:solidFill>
                  <a:latin typeface="Candara"/>
                  <a:ea typeface="Candara"/>
                  <a:cs typeface="Candara"/>
                  <a:sym typeface="Candara"/>
                </a:rPr>
                <a:t>A</a:t>
              </a:r>
              <a:r>
                <a:rPr lang="en-US" sz="3600" b="0" i="0" u="none" strike="noStrike" cap="none">
                  <a:solidFill>
                    <a:schemeClr val="dk1"/>
                  </a:solidFill>
                  <a:latin typeface="Candara"/>
                  <a:ea typeface="Candara"/>
                  <a:cs typeface="Candara"/>
                  <a:sym typeface="Candara"/>
                </a:rPr>
                <a:t>ction</a:t>
              </a:r>
              <a:endParaRPr sz="3600" b="0" i="0" u="none" strike="noStrike" cap="none">
                <a:solidFill>
                  <a:schemeClr val="dk1"/>
                </a:solidFill>
                <a:latin typeface="Candara"/>
                <a:ea typeface="Candara"/>
                <a:cs typeface="Candara"/>
                <a:sym typeface="Candara"/>
              </a:endParaRPr>
            </a:p>
          </p:txBody>
        </p:sp>
      </p:gr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9"/>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Writing Promotional Messages for Social Media</a:t>
            </a:r>
            <a:endParaRPr sz="4800">
              <a:solidFill>
                <a:schemeClr val="lt1"/>
              </a:solidFill>
            </a:endParaRPr>
          </a:p>
        </p:txBody>
      </p:sp>
      <p:sp>
        <p:nvSpPr>
          <p:cNvPr id="439" name="Google Shape;439;p29"/>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40" name="Google Shape;440;p29"/>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29</a:t>
            </a:fld>
            <a:endParaRPr/>
          </a:p>
        </p:txBody>
      </p:sp>
      <p:grpSp>
        <p:nvGrpSpPr>
          <p:cNvPr id="441" name="Google Shape;441;p29"/>
          <p:cNvGrpSpPr/>
          <p:nvPr/>
        </p:nvGrpSpPr>
        <p:grpSpPr>
          <a:xfrm>
            <a:off x="685800" y="2133600"/>
            <a:ext cx="7848600" cy="2819400"/>
            <a:chOff x="685800" y="2133600"/>
            <a:chExt cx="7848600" cy="2819400"/>
          </a:xfrm>
        </p:grpSpPr>
        <p:sp>
          <p:nvSpPr>
            <p:cNvPr id="442" name="Google Shape;442;p29"/>
            <p:cNvSpPr/>
            <p:nvPr/>
          </p:nvSpPr>
          <p:spPr>
            <a:xfrm>
              <a:off x="685800" y="2133600"/>
              <a:ext cx="7848600" cy="762000"/>
            </a:xfrm>
            <a:prstGeom prst="roundRect">
              <a:avLst>
                <a:gd name="adj" fmla="val 16667"/>
              </a:avLst>
            </a:prstGeom>
            <a:solidFill>
              <a:schemeClr val="accent3"/>
            </a:solidFill>
            <a:ln w="9525" cap="flat" cmpd="sng">
              <a:solidFill>
                <a:srgbClr val="D8D8D8"/>
              </a:solidFill>
              <a:prstDash val="solid"/>
              <a:round/>
              <a:headEnd type="none" w="sm" len="sm"/>
              <a:tailEnd type="none" w="sm" len="sm"/>
            </a:ln>
            <a:effectLst>
              <a:outerShdw blurRad="149987" dist="203200" dir="8460000" algn="ctr">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400" i="0" u="none" strike="noStrike" cap="none">
                  <a:solidFill>
                    <a:schemeClr val="dk1"/>
                  </a:solidFill>
                  <a:latin typeface="Candara"/>
                  <a:ea typeface="Candara"/>
                  <a:cs typeface="Candara"/>
                  <a:sym typeface="Candara"/>
                </a:rPr>
                <a:t>Get Involved in Online Conversations</a:t>
              </a:r>
              <a:endParaRPr sz="3400" i="0" u="none" strike="noStrike" cap="none">
                <a:solidFill>
                  <a:schemeClr val="dk1"/>
                </a:solidFill>
                <a:latin typeface="Candara"/>
                <a:ea typeface="Candara"/>
                <a:cs typeface="Candara"/>
                <a:sym typeface="Candara"/>
              </a:endParaRPr>
            </a:p>
          </p:txBody>
        </p:sp>
        <p:sp>
          <p:nvSpPr>
            <p:cNvPr id="443" name="Google Shape;443;p29"/>
            <p:cNvSpPr/>
            <p:nvPr/>
          </p:nvSpPr>
          <p:spPr>
            <a:xfrm>
              <a:off x="685800" y="3124200"/>
              <a:ext cx="7848600" cy="762000"/>
            </a:xfrm>
            <a:prstGeom prst="roundRect">
              <a:avLst>
                <a:gd name="adj" fmla="val 16667"/>
              </a:avLst>
            </a:prstGeom>
            <a:solidFill>
              <a:schemeClr val="accent3"/>
            </a:solidFill>
            <a:ln w="9525" cap="flat" cmpd="sng">
              <a:solidFill>
                <a:srgbClr val="D8D8D8"/>
              </a:solidFill>
              <a:prstDash val="solid"/>
              <a:round/>
              <a:headEnd type="none" w="sm" len="sm"/>
              <a:tailEnd type="none" w="sm" len="sm"/>
            </a:ln>
            <a:effectLst>
              <a:outerShdw blurRad="149987" dist="203200" dir="8460000" algn="ctr">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400">
                  <a:solidFill>
                    <a:schemeClr val="dk1"/>
                  </a:solidFill>
                  <a:latin typeface="Candara"/>
                  <a:ea typeface="Candara"/>
                  <a:cs typeface="Candara"/>
                  <a:sym typeface="Candara"/>
                </a:rPr>
                <a:t>Listen as Much as You Talk</a:t>
              </a:r>
              <a:endParaRPr/>
            </a:p>
          </p:txBody>
        </p:sp>
        <p:sp>
          <p:nvSpPr>
            <p:cNvPr id="444" name="Google Shape;444;p29"/>
            <p:cNvSpPr/>
            <p:nvPr/>
          </p:nvSpPr>
          <p:spPr>
            <a:xfrm>
              <a:off x="685800" y="4191000"/>
              <a:ext cx="7848600" cy="762000"/>
            </a:xfrm>
            <a:prstGeom prst="roundRect">
              <a:avLst>
                <a:gd name="adj" fmla="val 16667"/>
              </a:avLst>
            </a:prstGeom>
            <a:solidFill>
              <a:schemeClr val="accent3"/>
            </a:solidFill>
            <a:ln w="9525" cap="flat" cmpd="sng">
              <a:solidFill>
                <a:srgbClr val="D8D8D8"/>
              </a:solidFill>
              <a:prstDash val="solid"/>
              <a:round/>
              <a:headEnd type="none" w="sm" len="sm"/>
              <a:tailEnd type="none" w="sm" len="sm"/>
            </a:ln>
            <a:effectLst>
              <a:outerShdw blurRad="149987" dist="203200" dir="8460000" algn="ctr">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400">
                  <a:solidFill>
                    <a:schemeClr val="dk1"/>
                  </a:solidFill>
                  <a:latin typeface="Candara"/>
                  <a:ea typeface="Candara"/>
                  <a:cs typeface="Candara"/>
                  <a:sym typeface="Candara"/>
                </a:rPr>
                <a:t>Initiate and Respond to Conversations</a:t>
              </a:r>
              <a:endParaRPr/>
            </a:p>
          </p:txBody>
        </p:sp>
      </p:grpSp>
      <p:sp>
        <p:nvSpPr>
          <p:cNvPr id="445" name="Google Shape;445;p29"/>
          <p:cNvSpPr/>
          <p:nvPr/>
        </p:nvSpPr>
        <p:spPr>
          <a:xfrm>
            <a:off x="685800" y="5181600"/>
            <a:ext cx="7848600" cy="762000"/>
          </a:xfrm>
          <a:prstGeom prst="roundRect">
            <a:avLst>
              <a:gd name="adj" fmla="val 16667"/>
            </a:avLst>
          </a:prstGeom>
          <a:solidFill>
            <a:schemeClr val="accent3"/>
          </a:solidFill>
          <a:ln w="9525" cap="flat" cmpd="sng">
            <a:solidFill>
              <a:srgbClr val="D8D8D8"/>
            </a:solidFill>
            <a:prstDash val="solid"/>
            <a:round/>
            <a:headEnd type="none" w="sm" len="sm"/>
            <a:tailEnd type="none" w="sm" len="sm"/>
          </a:ln>
          <a:effectLst>
            <a:outerShdw blurRad="149987" dist="203200" dir="8460000" algn="ctr">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400">
                <a:solidFill>
                  <a:schemeClr val="dk1"/>
                </a:solidFill>
                <a:latin typeface="Candara"/>
                <a:ea typeface="Candara"/>
                <a:cs typeface="Candara"/>
                <a:sym typeface="Candara"/>
              </a:rPr>
              <a:t>Be Authentic, Transparent, and Real</a:t>
            </a:r>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Promotional Messages </a:t>
            </a:r>
            <a:r>
              <a:rPr lang="en-US"/>
              <a:t>in</a:t>
            </a:r>
            <a:r>
              <a:rPr lang="en-US">
                <a:solidFill>
                  <a:schemeClr val="lt1"/>
                </a:solidFill>
              </a:rPr>
              <a:t> Social Media</a:t>
            </a:r>
            <a:endParaRPr sz="4800">
              <a:solidFill>
                <a:schemeClr val="lt1"/>
              </a:solidFill>
            </a:endParaRPr>
          </a:p>
        </p:txBody>
      </p:sp>
      <p:sp>
        <p:nvSpPr>
          <p:cNvPr id="452" name="Google Shape;452;p30"/>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53" name="Google Shape;453;p30"/>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30</a:t>
            </a:fld>
            <a:endParaRPr/>
          </a:p>
        </p:txBody>
      </p:sp>
      <p:pic>
        <p:nvPicPr>
          <p:cNvPr id="454" name="Google Shape;454;p30"/>
          <p:cNvPicPr preferRelativeResize="0"/>
          <p:nvPr/>
        </p:nvPicPr>
        <p:blipFill rotWithShape="1">
          <a:blip r:embed="rId3">
            <a:alphaModFix/>
          </a:blip>
          <a:srcRect/>
          <a:stretch/>
        </p:blipFill>
        <p:spPr>
          <a:xfrm>
            <a:off x="2667000" y="2057400"/>
            <a:ext cx="3581400" cy="4191000"/>
          </a:xfrm>
          <a:prstGeom prst="rect">
            <a:avLst/>
          </a:prstGeom>
          <a:noFill/>
          <a:ln>
            <a:noFill/>
          </a:ln>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31"/>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Creating Promotional Messages for Mobile Devices</a:t>
            </a:r>
            <a:endParaRPr/>
          </a:p>
        </p:txBody>
      </p:sp>
      <p:sp>
        <p:nvSpPr>
          <p:cNvPr id="461" name="Google Shape;461;p31"/>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62" name="Google Shape;462;p31"/>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31</a:t>
            </a:fld>
            <a:endParaRPr/>
          </a:p>
        </p:txBody>
      </p:sp>
      <p:grpSp>
        <p:nvGrpSpPr>
          <p:cNvPr id="463" name="Google Shape;463;p31"/>
          <p:cNvGrpSpPr/>
          <p:nvPr/>
        </p:nvGrpSpPr>
        <p:grpSpPr>
          <a:xfrm>
            <a:off x="527050" y="2209800"/>
            <a:ext cx="8077200" cy="3733800"/>
            <a:chOff x="527050" y="2209800"/>
            <a:chExt cx="8077200" cy="3733800"/>
          </a:xfrm>
        </p:grpSpPr>
        <p:sp>
          <p:nvSpPr>
            <p:cNvPr id="464" name="Google Shape;464;p31"/>
            <p:cNvSpPr/>
            <p:nvPr/>
          </p:nvSpPr>
          <p:spPr>
            <a:xfrm>
              <a:off x="527050" y="4191000"/>
              <a:ext cx="2514600" cy="1752600"/>
            </a:xfrm>
            <a:prstGeom prst="round2DiagRect">
              <a:avLst>
                <a:gd name="adj1" fmla="val 16667"/>
                <a:gd name="adj2" fmla="val 0"/>
              </a:avLst>
            </a:prstGeom>
            <a:solidFill>
              <a:srgbClr val="FFF7E9"/>
            </a:solidFill>
            <a:ln w="9525" cap="flat" cmpd="sng">
              <a:solidFill>
                <a:schemeClr val="dk1"/>
              </a:solidFill>
              <a:prstDash val="solid"/>
              <a:round/>
              <a:headEnd type="none" w="sm" len="sm"/>
              <a:tailEnd type="none" w="sm" len="sm"/>
            </a:ln>
            <a:effectLst>
              <a:outerShdw blurRad="50800" dist="50800" dir="2700000" algn="tl"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The Mobile Experience</a:t>
              </a:r>
              <a:endParaRPr/>
            </a:p>
          </p:txBody>
        </p:sp>
        <p:sp>
          <p:nvSpPr>
            <p:cNvPr id="465" name="Google Shape;465;p31"/>
            <p:cNvSpPr/>
            <p:nvPr/>
          </p:nvSpPr>
          <p:spPr>
            <a:xfrm flipH="1">
              <a:off x="3041650" y="4191000"/>
              <a:ext cx="5562600" cy="1752600"/>
            </a:xfrm>
            <a:prstGeom prst="round2DiagRect">
              <a:avLst>
                <a:gd name="adj1" fmla="val 16667"/>
                <a:gd name="adj2" fmla="val 0"/>
              </a:avLst>
            </a:prstGeom>
            <a:solidFill>
              <a:srgbClr val="FFF7E9"/>
            </a:solidFill>
            <a:ln w="9525" cap="flat" cmpd="sng">
              <a:solidFill>
                <a:schemeClr val="dk1"/>
              </a:solidFill>
              <a:prstDash val="solid"/>
              <a:round/>
              <a:headEnd type="none" w="sm" len="sm"/>
              <a:tailEnd type="none" w="sm" len="sm"/>
            </a:ln>
            <a:effectLst>
              <a:outerShdw blurRad="50800" dist="50800" dir="2700000" algn="tl"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Keep the Mobile Experience Fast and Straightforward</a:t>
              </a:r>
              <a:endParaRPr/>
            </a:p>
          </p:txBody>
        </p:sp>
        <p:sp>
          <p:nvSpPr>
            <p:cNvPr id="466" name="Google Shape;466;p31"/>
            <p:cNvSpPr/>
            <p:nvPr/>
          </p:nvSpPr>
          <p:spPr>
            <a:xfrm>
              <a:off x="527050" y="2209800"/>
              <a:ext cx="2514600" cy="1752600"/>
            </a:xfrm>
            <a:prstGeom prst="round2DiagRect">
              <a:avLst>
                <a:gd name="adj1" fmla="val 16667"/>
                <a:gd name="adj2" fmla="val 0"/>
              </a:avLst>
            </a:prstGeom>
            <a:solidFill>
              <a:srgbClr val="FFF7E9"/>
            </a:solidFill>
            <a:ln w="9525" cap="flat" cmpd="sng">
              <a:solidFill>
                <a:schemeClr val="dk1"/>
              </a:solidFill>
              <a:prstDash val="solid"/>
              <a:round/>
              <a:headEnd type="none" w="sm" len="sm"/>
              <a:tailEnd type="none" w="sm" len="sm"/>
            </a:ln>
            <a:effectLst>
              <a:outerShdw blurRad="50800" dist="50800" dir="2700000" algn="tl"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Promotional Messages</a:t>
              </a:r>
              <a:endParaRPr/>
            </a:p>
          </p:txBody>
        </p:sp>
        <p:sp>
          <p:nvSpPr>
            <p:cNvPr id="467" name="Google Shape;467;p31"/>
            <p:cNvSpPr/>
            <p:nvPr/>
          </p:nvSpPr>
          <p:spPr>
            <a:xfrm flipH="1">
              <a:off x="3041650" y="2209800"/>
              <a:ext cx="5562600" cy="1752600"/>
            </a:xfrm>
            <a:prstGeom prst="round2DiagRect">
              <a:avLst>
                <a:gd name="adj1" fmla="val 16667"/>
                <a:gd name="adj2" fmla="val 0"/>
              </a:avLst>
            </a:prstGeom>
            <a:solidFill>
              <a:srgbClr val="FFF7E9"/>
            </a:solidFill>
            <a:ln w="9525" cap="flat" cmpd="sng">
              <a:solidFill>
                <a:schemeClr val="dk1"/>
              </a:solidFill>
              <a:prstDash val="solid"/>
              <a:round/>
              <a:headEnd type="none" w="sm" len="sm"/>
              <a:tailEnd type="none" w="sm" len="sm"/>
            </a:ln>
            <a:effectLst>
              <a:outerShdw blurRad="50800" dist="50800" dir="2700000" algn="tl" rotWithShape="0">
                <a:srgbClr val="000000">
                  <a:alpha val="2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200"/>
                <a:buFont typeface="Candara"/>
                <a:buNone/>
              </a:pPr>
              <a:r>
                <a:rPr lang="en-US" sz="3200" b="0" i="0" u="none" strike="noStrike" cap="none">
                  <a:solidFill>
                    <a:schemeClr val="dk1"/>
                  </a:solidFill>
                  <a:latin typeface="Candara"/>
                  <a:ea typeface="Candara"/>
                  <a:cs typeface="Candara"/>
                  <a:sym typeface="Candara"/>
                </a:rPr>
                <a:t>Keep Promotional Messages Short and Simple</a:t>
              </a:r>
              <a:endParaRPr/>
            </a:p>
          </p:txBody>
        </p:sp>
      </p:gr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2"/>
          <p:cNvSpPr txBox="1">
            <a:spLocks noGrp="1"/>
          </p:cNvSpPr>
          <p:nvPr>
            <p:ph type="ctrTitle"/>
          </p:nvPr>
        </p:nvSpPr>
        <p:spPr>
          <a:xfrm>
            <a:off x="457200" y="1981200"/>
            <a:ext cx="8229600" cy="1676399"/>
          </a:xfrm>
          <a:prstGeom prst="rect">
            <a:avLst/>
          </a:prstGeom>
          <a:solidFill>
            <a:srgbClr val="1F497D"/>
          </a:solidFill>
          <a:ln w="9525" cap="flat" cmpd="sng">
            <a:solidFill>
              <a:srgbClr val="292929"/>
            </a:solidFill>
            <a:prstDash val="solid"/>
            <a:round/>
            <a:headEnd type="none" w="sm" len="sm"/>
            <a:tailEnd type="none" w="sm" len="sm"/>
          </a:ln>
          <a:effectLst>
            <a:outerShdw blurRad="50800" dist="76200" dir="8100000" algn="tr" rotWithShape="0">
              <a:srgbClr val="000000">
                <a:alpha val="2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Avoiding Ethical Lapses in Marketing and Sales Messages</a:t>
            </a:r>
            <a:endParaRPr/>
          </a:p>
        </p:txBody>
      </p:sp>
      <p:sp>
        <p:nvSpPr>
          <p:cNvPr id="474" name="Google Shape;474;p32"/>
          <p:cNvSpPr txBox="1">
            <a:spLocks noGrp="1"/>
          </p:cNvSpPr>
          <p:nvPr>
            <p:ph type="subTitle" idx="1"/>
          </p:nvPr>
        </p:nvSpPr>
        <p:spPr>
          <a:xfrm>
            <a:off x="609600" y="3886200"/>
            <a:ext cx="7924800" cy="1905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100"/>
              <a:buFont typeface="Candara"/>
              <a:buNone/>
            </a:pPr>
            <a:r>
              <a:rPr lang="en-US"/>
              <a:t>(LO 4) Identify steps you can take to avoid ethical lapses in marketing and sales messages. </a:t>
            </a:r>
            <a:endParaRPr/>
          </a:p>
        </p:txBody>
      </p:sp>
      <p:sp>
        <p:nvSpPr>
          <p:cNvPr id="475" name="Google Shape;475;p32"/>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76" name="Google Shape;476;p32"/>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32</a:t>
            </a:fld>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3"/>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solidFill>
                  <a:schemeClr val="lt1"/>
                </a:solidFill>
              </a:rPr>
              <a:t>Maintaining High Ethical and Legal Standards</a:t>
            </a:r>
            <a:endParaRPr>
              <a:solidFill>
                <a:schemeClr val="lt1"/>
              </a:solidFill>
            </a:endParaRPr>
          </a:p>
        </p:txBody>
      </p:sp>
      <p:sp>
        <p:nvSpPr>
          <p:cNvPr id="483" name="Google Shape;483;p33"/>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84" name="Google Shape;484;p33"/>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33</a:t>
            </a:fld>
            <a:endParaRPr/>
          </a:p>
        </p:txBody>
      </p:sp>
      <p:grpSp>
        <p:nvGrpSpPr>
          <p:cNvPr id="485" name="Google Shape;485;p33"/>
          <p:cNvGrpSpPr/>
          <p:nvPr/>
        </p:nvGrpSpPr>
        <p:grpSpPr>
          <a:xfrm>
            <a:off x="457200" y="1981200"/>
            <a:ext cx="8229600" cy="4178300"/>
            <a:chOff x="457200" y="1981200"/>
            <a:chExt cx="8229600" cy="4178300"/>
          </a:xfrm>
        </p:grpSpPr>
        <p:sp>
          <p:nvSpPr>
            <p:cNvPr id="486" name="Google Shape;486;p33"/>
            <p:cNvSpPr/>
            <p:nvPr/>
          </p:nvSpPr>
          <p:spPr>
            <a:xfrm>
              <a:off x="457200" y="1981200"/>
              <a:ext cx="8229600" cy="1219200"/>
            </a:xfrm>
            <a:prstGeom prst="rect">
              <a:avLst/>
            </a:prstGeom>
            <a:solidFill>
              <a:srgbClr val="E9EAD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ndara"/>
                <a:buNone/>
              </a:pPr>
              <a:r>
                <a:rPr lang="en-US" sz="3600" b="0" i="0" u="none" strike="noStrike" cap="none">
                  <a:solidFill>
                    <a:schemeClr val="dk1"/>
                  </a:solidFill>
                  <a:latin typeface="Candara"/>
                  <a:ea typeface="Candara"/>
                  <a:cs typeface="Candara"/>
                  <a:sym typeface="Candara"/>
                </a:rPr>
                <a:t>Using Persuasion as a Positive Force</a:t>
              </a:r>
              <a:endParaRPr sz="3600" b="0" i="0" u="none" strike="noStrike" cap="none">
                <a:solidFill>
                  <a:schemeClr val="dk1"/>
                </a:solidFill>
                <a:latin typeface="Candara"/>
                <a:ea typeface="Candara"/>
                <a:cs typeface="Candara"/>
                <a:sym typeface="Candara"/>
              </a:endParaRPr>
            </a:p>
          </p:txBody>
        </p:sp>
        <p:sp>
          <p:nvSpPr>
            <p:cNvPr id="487" name="Google Shape;487;p33"/>
            <p:cNvSpPr/>
            <p:nvPr/>
          </p:nvSpPr>
          <p:spPr>
            <a:xfrm flipH="1">
              <a:off x="457200" y="3200400"/>
              <a:ext cx="4114800" cy="2959100"/>
            </a:xfrm>
            <a:prstGeom prst="foldedCorner">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100">
                  <a:solidFill>
                    <a:schemeClr val="dk1"/>
                  </a:solidFill>
                  <a:latin typeface="Candara"/>
                  <a:ea typeface="Candara"/>
                  <a:cs typeface="Candara"/>
                  <a:sym typeface="Candara"/>
                </a:rPr>
                <a:t>Maintaining the “You Attitude” During All Business Transactions</a:t>
              </a:r>
              <a:endParaRPr/>
            </a:p>
          </p:txBody>
        </p:sp>
        <p:sp>
          <p:nvSpPr>
            <p:cNvPr id="488" name="Google Shape;488;p33"/>
            <p:cNvSpPr/>
            <p:nvPr/>
          </p:nvSpPr>
          <p:spPr>
            <a:xfrm>
              <a:off x="4572000" y="3200400"/>
              <a:ext cx="4114800" cy="2959100"/>
            </a:xfrm>
            <a:prstGeom prst="foldedCorner">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100">
                  <a:solidFill>
                    <a:schemeClr val="dk1"/>
                  </a:solidFill>
                  <a:latin typeface="Candara"/>
                  <a:ea typeface="Candara"/>
                  <a:cs typeface="Candara"/>
                  <a:sym typeface="Candara"/>
                </a:rPr>
                <a:t>Understanding Legal Aspects of Promotional Communication</a:t>
              </a:r>
              <a:endParaRPr/>
            </a:p>
          </p:txBody>
        </p:sp>
      </p:gr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4"/>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400">
                <a:solidFill>
                  <a:schemeClr val="lt1"/>
                </a:solidFill>
              </a:rPr>
              <a:t>Basic Legal Aspects of Promotional Communication </a:t>
            </a:r>
            <a:r>
              <a:rPr lang="en-US" sz="2400">
                <a:solidFill>
                  <a:schemeClr val="lt1"/>
                </a:solidFill>
              </a:rPr>
              <a:t>(1 of 2)</a:t>
            </a:r>
            <a:endParaRPr sz="2400">
              <a:solidFill>
                <a:schemeClr val="lt1"/>
              </a:solidFill>
            </a:endParaRPr>
          </a:p>
        </p:txBody>
      </p:sp>
      <p:sp>
        <p:nvSpPr>
          <p:cNvPr id="495" name="Google Shape;495;p34"/>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496" name="Google Shape;496;p34"/>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34</a:t>
            </a:fld>
            <a:endParaRPr/>
          </a:p>
        </p:txBody>
      </p:sp>
      <p:grpSp>
        <p:nvGrpSpPr>
          <p:cNvPr id="497" name="Google Shape;497;p34"/>
          <p:cNvGrpSpPr/>
          <p:nvPr/>
        </p:nvGrpSpPr>
        <p:grpSpPr>
          <a:xfrm>
            <a:off x="457200" y="2108200"/>
            <a:ext cx="8229600" cy="3860800"/>
            <a:chOff x="457200" y="2108200"/>
            <a:chExt cx="8229600" cy="3860800"/>
          </a:xfrm>
        </p:grpSpPr>
        <p:sp>
          <p:nvSpPr>
            <p:cNvPr id="498" name="Google Shape;498;p34"/>
            <p:cNvSpPr/>
            <p:nvPr/>
          </p:nvSpPr>
          <p:spPr>
            <a:xfrm>
              <a:off x="457200" y="2108200"/>
              <a:ext cx="8229600" cy="386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4"/>
            <p:cNvSpPr/>
            <p:nvPr/>
          </p:nvSpPr>
          <p:spPr>
            <a:xfrm>
              <a:off x="457200" y="2571780"/>
              <a:ext cx="8229600" cy="730800"/>
            </a:xfrm>
            <a:prstGeom prst="rect">
              <a:avLst/>
            </a:prstGeom>
            <a:solidFill>
              <a:schemeClr val="lt1"/>
            </a:solidFill>
            <a:ln w="9525" cap="flat" cmpd="sng">
              <a:solidFill>
                <a:srgbClr val="BFBFBF"/>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4"/>
            <p:cNvSpPr/>
            <p:nvPr/>
          </p:nvSpPr>
          <p:spPr>
            <a:xfrm>
              <a:off x="868680" y="2143739"/>
              <a:ext cx="7437120" cy="856080"/>
            </a:xfrm>
            <a:custGeom>
              <a:avLst/>
              <a:gdLst/>
              <a:ahLst/>
              <a:cxnLst/>
              <a:rect l="l" t="t" r="r" b="b"/>
              <a:pathLst>
                <a:path w="7231662" h="856080" extrusionOk="0">
                  <a:moveTo>
                    <a:pt x="0" y="142683"/>
                  </a:moveTo>
                  <a:cubicBezTo>
                    <a:pt x="0" y="63881"/>
                    <a:pt x="63881" y="0"/>
                    <a:pt x="142683" y="0"/>
                  </a:cubicBezTo>
                  <a:lnTo>
                    <a:pt x="7088979" y="0"/>
                  </a:lnTo>
                  <a:cubicBezTo>
                    <a:pt x="7167781" y="0"/>
                    <a:pt x="7231662" y="63881"/>
                    <a:pt x="7231662" y="142683"/>
                  </a:cubicBezTo>
                  <a:lnTo>
                    <a:pt x="7231662" y="713397"/>
                  </a:lnTo>
                  <a:cubicBezTo>
                    <a:pt x="7231662" y="792199"/>
                    <a:pt x="7167781" y="856080"/>
                    <a:pt x="7088979" y="856080"/>
                  </a:cubicBezTo>
                  <a:lnTo>
                    <a:pt x="142683" y="856080"/>
                  </a:lnTo>
                  <a:cubicBezTo>
                    <a:pt x="63881" y="856080"/>
                    <a:pt x="0" y="792199"/>
                    <a:pt x="0" y="713397"/>
                  </a:cubicBezTo>
                  <a:lnTo>
                    <a:pt x="0" y="142683"/>
                  </a:lnTo>
                  <a:close/>
                </a:path>
              </a:pathLst>
            </a:custGeom>
            <a:solidFill>
              <a:schemeClr val="lt1"/>
            </a:solidFill>
            <a:ln w="9525" cap="flat" cmpd="sng">
              <a:solidFill>
                <a:srgbClr val="D8D8D8"/>
              </a:solidFill>
              <a:prstDash val="solid"/>
              <a:round/>
              <a:headEnd type="none" w="sm" len="sm"/>
              <a:tailEnd type="none" w="sm" len="sm"/>
            </a:ln>
            <a:effectLst>
              <a:outerShdw blurRad="149987" dist="250190" dir="8460000" algn="ctr">
                <a:srgbClr val="000000">
                  <a:alpha val="20000"/>
                </a:srgbClr>
              </a:outerShdw>
            </a:effectLst>
          </p:spPr>
          <p:txBody>
            <a:bodyPr spcFirstLastPara="1" wrap="square" lIns="259525" tIns="41775" rIns="259525" bIns="41775" anchor="ctr" anchorCtr="0">
              <a:noAutofit/>
            </a:bodyPr>
            <a:lstStyle/>
            <a:p>
              <a:pPr marL="0" marR="0" lvl="0" indent="0" algn="l" rtl="0">
                <a:lnSpc>
                  <a:spcPct val="90000"/>
                </a:lnSpc>
                <a:spcBef>
                  <a:spcPts val="0"/>
                </a:spcBef>
                <a:spcAft>
                  <a:spcPts val="0"/>
                </a:spcAft>
                <a:buNone/>
              </a:pPr>
              <a:r>
                <a:rPr lang="en-US" sz="3200" b="0">
                  <a:solidFill>
                    <a:schemeClr val="dk1"/>
                  </a:solidFill>
                  <a:latin typeface="Candara"/>
                  <a:ea typeface="Candara"/>
                  <a:cs typeface="Candara"/>
                  <a:sym typeface="Candara"/>
                </a:rPr>
                <a:t>•Be Truthful and Non-Deceptive</a:t>
              </a:r>
              <a:endParaRPr sz="3200" b="0">
                <a:solidFill>
                  <a:schemeClr val="dk1"/>
                </a:solidFill>
                <a:latin typeface="Candara"/>
                <a:ea typeface="Candara"/>
                <a:cs typeface="Candara"/>
                <a:sym typeface="Candara"/>
              </a:endParaRPr>
            </a:p>
          </p:txBody>
        </p:sp>
        <p:sp>
          <p:nvSpPr>
            <p:cNvPr id="501" name="Google Shape;501;p34"/>
            <p:cNvSpPr/>
            <p:nvPr/>
          </p:nvSpPr>
          <p:spPr>
            <a:xfrm>
              <a:off x="457200" y="3887220"/>
              <a:ext cx="8229600" cy="730800"/>
            </a:xfrm>
            <a:prstGeom prst="rect">
              <a:avLst/>
            </a:prstGeom>
            <a:solidFill>
              <a:schemeClr val="lt1"/>
            </a:solidFill>
            <a:ln w="9525" cap="flat" cmpd="sng">
              <a:solidFill>
                <a:srgbClr val="BFBFBF"/>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4"/>
            <p:cNvSpPr/>
            <p:nvPr/>
          </p:nvSpPr>
          <p:spPr>
            <a:xfrm>
              <a:off x="868680" y="3459180"/>
              <a:ext cx="7437120" cy="856080"/>
            </a:xfrm>
            <a:custGeom>
              <a:avLst/>
              <a:gdLst/>
              <a:ahLst/>
              <a:cxnLst/>
              <a:rect l="l" t="t" r="r" b="b"/>
              <a:pathLst>
                <a:path w="7231662" h="856080" extrusionOk="0">
                  <a:moveTo>
                    <a:pt x="0" y="142683"/>
                  </a:moveTo>
                  <a:cubicBezTo>
                    <a:pt x="0" y="63881"/>
                    <a:pt x="63881" y="0"/>
                    <a:pt x="142683" y="0"/>
                  </a:cubicBezTo>
                  <a:lnTo>
                    <a:pt x="7088979" y="0"/>
                  </a:lnTo>
                  <a:cubicBezTo>
                    <a:pt x="7167781" y="0"/>
                    <a:pt x="7231662" y="63881"/>
                    <a:pt x="7231662" y="142683"/>
                  </a:cubicBezTo>
                  <a:lnTo>
                    <a:pt x="7231662" y="713397"/>
                  </a:lnTo>
                  <a:cubicBezTo>
                    <a:pt x="7231662" y="792199"/>
                    <a:pt x="7167781" y="856080"/>
                    <a:pt x="7088979" y="856080"/>
                  </a:cubicBezTo>
                  <a:lnTo>
                    <a:pt x="142683" y="856080"/>
                  </a:lnTo>
                  <a:cubicBezTo>
                    <a:pt x="63881" y="856080"/>
                    <a:pt x="0" y="792199"/>
                    <a:pt x="0" y="713397"/>
                  </a:cubicBezTo>
                  <a:lnTo>
                    <a:pt x="0" y="142683"/>
                  </a:lnTo>
                  <a:close/>
                </a:path>
              </a:pathLst>
            </a:custGeom>
            <a:solidFill>
              <a:schemeClr val="lt1"/>
            </a:solidFill>
            <a:ln w="9525" cap="flat" cmpd="sng">
              <a:solidFill>
                <a:srgbClr val="D8D8D8"/>
              </a:solidFill>
              <a:prstDash val="solid"/>
              <a:round/>
              <a:headEnd type="none" w="sm" len="sm"/>
              <a:tailEnd type="none" w="sm" len="sm"/>
            </a:ln>
            <a:effectLst>
              <a:outerShdw blurRad="149987" dist="250190" dir="8460000" algn="ctr">
                <a:srgbClr val="000000">
                  <a:alpha val="20000"/>
                </a:srgbClr>
              </a:outerShdw>
            </a:effectLst>
          </p:spPr>
          <p:txBody>
            <a:bodyPr spcFirstLastPara="1" wrap="square" lIns="259525" tIns="41775" rIns="259525" bIns="41775" anchor="ctr" anchorCtr="0">
              <a:noAutofit/>
            </a:bodyPr>
            <a:lstStyle/>
            <a:p>
              <a:pPr marL="0" marR="0" lvl="0" indent="0" algn="l" rtl="0">
                <a:lnSpc>
                  <a:spcPct val="90000"/>
                </a:lnSpc>
                <a:spcBef>
                  <a:spcPts val="0"/>
                </a:spcBef>
                <a:spcAft>
                  <a:spcPts val="0"/>
                </a:spcAft>
                <a:buNone/>
              </a:pPr>
              <a:r>
                <a:rPr lang="en-US" sz="3200" b="0">
                  <a:solidFill>
                    <a:schemeClr val="dk1"/>
                  </a:solidFill>
                  <a:latin typeface="Candara"/>
                  <a:ea typeface="Candara"/>
                  <a:cs typeface="Candara"/>
                  <a:sym typeface="Candara"/>
                </a:rPr>
                <a:t>•Support Your Claims with Evidence</a:t>
              </a:r>
              <a:endParaRPr/>
            </a:p>
          </p:txBody>
        </p:sp>
        <p:sp>
          <p:nvSpPr>
            <p:cNvPr id="503" name="Google Shape;503;p34"/>
            <p:cNvSpPr/>
            <p:nvPr/>
          </p:nvSpPr>
          <p:spPr>
            <a:xfrm>
              <a:off x="457200" y="5202659"/>
              <a:ext cx="8229600" cy="730800"/>
            </a:xfrm>
            <a:prstGeom prst="rect">
              <a:avLst/>
            </a:prstGeom>
            <a:solidFill>
              <a:schemeClr val="lt1"/>
            </a:solidFill>
            <a:ln w="9525" cap="flat" cmpd="sng">
              <a:solidFill>
                <a:srgbClr val="BFBFBF"/>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4"/>
            <p:cNvSpPr/>
            <p:nvPr/>
          </p:nvSpPr>
          <p:spPr>
            <a:xfrm>
              <a:off x="868680" y="4774620"/>
              <a:ext cx="7437120" cy="856080"/>
            </a:xfrm>
            <a:custGeom>
              <a:avLst/>
              <a:gdLst/>
              <a:ahLst/>
              <a:cxnLst/>
              <a:rect l="l" t="t" r="r" b="b"/>
              <a:pathLst>
                <a:path w="7231662" h="856080" extrusionOk="0">
                  <a:moveTo>
                    <a:pt x="0" y="142683"/>
                  </a:moveTo>
                  <a:cubicBezTo>
                    <a:pt x="0" y="63881"/>
                    <a:pt x="63881" y="0"/>
                    <a:pt x="142683" y="0"/>
                  </a:cubicBezTo>
                  <a:lnTo>
                    <a:pt x="7088979" y="0"/>
                  </a:lnTo>
                  <a:cubicBezTo>
                    <a:pt x="7167781" y="0"/>
                    <a:pt x="7231662" y="63881"/>
                    <a:pt x="7231662" y="142683"/>
                  </a:cubicBezTo>
                  <a:lnTo>
                    <a:pt x="7231662" y="713397"/>
                  </a:lnTo>
                  <a:cubicBezTo>
                    <a:pt x="7231662" y="792199"/>
                    <a:pt x="7167781" y="856080"/>
                    <a:pt x="7088979" y="856080"/>
                  </a:cubicBezTo>
                  <a:lnTo>
                    <a:pt x="142683" y="856080"/>
                  </a:lnTo>
                  <a:cubicBezTo>
                    <a:pt x="63881" y="856080"/>
                    <a:pt x="0" y="792199"/>
                    <a:pt x="0" y="713397"/>
                  </a:cubicBezTo>
                  <a:lnTo>
                    <a:pt x="0" y="142683"/>
                  </a:lnTo>
                  <a:close/>
                </a:path>
              </a:pathLst>
            </a:custGeom>
            <a:solidFill>
              <a:schemeClr val="lt1"/>
            </a:solidFill>
            <a:ln w="9525" cap="flat" cmpd="sng">
              <a:solidFill>
                <a:srgbClr val="D8D8D8"/>
              </a:solidFill>
              <a:prstDash val="solid"/>
              <a:round/>
              <a:headEnd type="none" w="sm" len="sm"/>
              <a:tailEnd type="none" w="sm" len="sm"/>
            </a:ln>
            <a:effectLst>
              <a:outerShdw blurRad="149987" dist="250190" dir="8460000" algn="ctr">
                <a:srgbClr val="000000">
                  <a:alpha val="20000"/>
                </a:srgbClr>
              </a:outerShdw>
            </a:effectLst>
          </p:spPr>
          <p:txBody>
            <a:bodyPr spcFirstLastPara="1" wrap="square" lIns="259525" tIns="41775" rIns="259525" bIns="41775" anchor="ctr" anchorCtr="0">
              <a:noAutofit/>
            </a:bodyPr>
            <a:lstStyle/>
            <a:p>
              <a:pPr marL="0" marR="0" lvl="0" indent="0" algn="l" rtl="0">
                <a:lnSpc>
                  <a:spcPct val="90000"/>
                </a:lnSpc>
                <a:spcBef>
                  <a:spcPts val="0"/>
                </a:spcBef>
                <a:spcAft>
                  <a:spcPts val="0"/>
                </a:spcAft>
                <a:buNone/>
              </a:pPr>
              <a:r>
                <a:rPr lang="en-US" sz="3200" b="0">
                  <a:solidFill>
                    <a:schemeClr val="dk1"/>
                  </a:solidFill>
                  <a:latin typeface="Candara"/>
                  <a:ea typeface="Candara"/>
                  <a:cs typeface="Candara"/>
                  <a:sym typeface="Candara"/>
                </a:rPr>
                <a:t>•Don’t Use Bait-and-Switch Tactics</a:t>
              </a:r>
              <a:endParaRPr sz="3200" b="0">
                <a:solidFill>
                  <a:schemeClr val="dk1"/>
                </a:solidFill>
                <a:latin typeface="Candara"/>
                <a:ea typeface="Candara"/>
                <a:cs typeface="Candara"/>
                <a:sym typeface="Candara"/>
              </a:endParaRPr>
            </a:p>
          </p:txBody>
        </p:sp>
      </p:gr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35"/>
          <p:cNvSpPr txBox="1">
            <a:spLocks noGrp="1"/>
          </p:cNvSpPr>
          <p:nvPr>
            <p:ph type="title"/>
          </p:nvPr>
        </p:nvSpPr>
        <p:spPr>
          <a:xfrm>
            <a:off x="457200" y="381000"/>
            <a:ext cx="8229600" cy="1600200"/>
          </a:xfrm>
          <a:prstGeom prst="rect">
            <a:avLst/>
          </a:prstGeom>
          <a:solidFill>
            <a:srgbClr val="1F497D"/>
          </a:solidFill>
          <a:ln w="9525" cap="flat" cmpd="sng">
            <a:solidFill>
              <a:srgbClr val="292929"/>
            </a:solid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4400"/>
              <a:t>Basic Legal Aspects of Promotional Communication </a:t>
            </a:r>
            <a:r>
              <a:rPr lang="en-US" sz="2400"/>
              <a:t>(2 of 2)</a:t>
            </a:r>
            <a:endParaRPr sz="2400">
              <a:solidFill>
                <a:schemeClr val="lt1"/>
              </a:solidFill>
            </a:endParaRPr>
          </a:p>
        </p:txBody>
      </p:sp>
      <p:sp>
        <p:nvSpPr>
          <p:cNvPr id="511" name="Google Shape;511;p35"/>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512" name="Google Shape;512;p35"/>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10 - </a:t>
            </a:r>
            <a:fld id="{00000000-1234-1234-1234-123412341234}" type="slidenum">
              <a:rPr lang="en-US"/>
              <a:t>35</a:t>
            </a:fld>
            <a:endParaRPr/>
          </a:p>
        </p:txBody>
      </p:sp>
      <p:grpSp>
        <p:nvGrpSpPr>
          <p:cNvPr id="513" name="Google Shape;513;p35"/>
          <p:cNvGrpSpPr/>
          <p:nvPr/>
        </p:nvGrpSpPr>
        <p:grpSpPr>
          <a:xfrm>
            <a:off x="457200" y="2108200"/>
            <a:ext cx="8229600" cy="3860800"/>
            <a:chOff x="457200" y="2108200"/>
            <a:chExt cx="8229600" cy="3860800"/>
          </a:xfrm>
        </p:grpSpPr>
        <p:sp>
          <p:nvSpPr>
            <p:cNvPr id="514" name="Google Shape;514;p35"/>
            <p:cNvSpPr/>
            <p:nvPr/>
          </p:nvSpPr>
          <p:spPr>
            <a:xfrm>
              <a:off x="457200" y="2108200"/>
              <a:ext cx="8229600" cy="386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5"/>
            <p:cNvSpPr/>
            <p:nvPr/>
          </p:nvSpPr>
          <p:spPr>
            <a:xfrm>
              <a:off x="457200" y="2571780"/>
              <a:ext cx="8229600" cy="730800"/>
            </a:xfrm>
            <a:prstGeom prst="rect">
              <a:avLst/>
            </a:prstGeom>
            <a:solidFill>
              <a:schemeClr val="lt1"/>
            </a:solidFill>
            <a:ln w="9525" cap="flat" cmpd="sng">
              <a:solidFill>
                <a:srgbClr val="BFBFBF"/>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5"/>
            <p:cNvSpPr/>
            <p:nvPr/>
          </p:nvSpPr>
          <p:spPr>
            <a:xfrm>
              <a:off x="868680" y="2143739"/>
              <a:ext cx="7437120" cy="856080"/>
            </a:xfrm>
            <a:custGeom>
              <a:avLst/>
              <a:gdLst/>
              <a:ahLst/>
              <a:cxnLst/>
              <a:rect l="l" t="t" r="r" b="b"/>
              <a:pathLst>
                <a:path w="7231662" h="856080" extrusionOk="0">
                  <a:moveTo>
                    <a:pt x="0" y="142683"/>
                  </a:moveTo>
                  <a:cubicBezTo>
                    <a:pt x="0" y="63881"/>
                    <a:pt x="63881" y="0"/>
                    <a:pt x="142683" y="0"/>
                  </a:cubicBezTo>
                  <a:lnTo>
                    <a:pt x="7088979" y="0"/>
                  </a:lnTo>
                  <a:cubicBezTo>
                    <a:pt x="7167781" y="0"/>
                    <a:pt x="7231662" y="63881"/>
                    <a:pt x="7231662" y="142683"/>
                  </a:cubicBezTo>
                  <a:lnTo>
                    <a:pt x="7231662" y="713397"/>
                  </a:lnTo>
                  <a:cubicBezTo>
                    <a:pt x="7231662" y="792199"/>
                    <a:pt x="7167781" y="856080"/>
                    <a:pt x="7088979" y="856080"/>
                  </a:cubicBezTo>
                  <a:lnTo>
                    <a:pt x="142683" y="856080"/>
                  </a:lnTo>
                  <a:cubicBezTo>
                    <a:pt x="63881" y="856080"/>
                    <a:pt x="0" y="792199"/>
                    <a:pt x="0" y="713397"/>
                  </a:cubicBezTo>
                  <a:lnTo>
                    <a:pt x="0" y="142683"/>
                  </a:lnTo>
                  <a:close/>
                </a:path>
              </a:pathLst>
            </a:custGeom>
            <a:solidFill>
              <a:schemeClr val="lt1"/>
            </a:solidFill>
            <a:ln w="9525" cap="flat" cmpd="sng">
              <a:solidFill>
                <a:srgbClr val="D8D8D8"/>
              </a:solidFill>
              <a:prstDash val="solid"/>
              <a:round/>
              <a:headEnd type="none" w="sm" len="sm"/>
              <a:tailEnd type="none" w="sm" len="sm"/>
            </a:ln>
            <a:effectLst>
              <a:outerShdw blurRad="149987" dist="250190" dir="8460000" algn="ctr">
                <a:srgbClr val="000000">
                  <a:alpha val="20000"/>
                </a:srgbClr>
              </a:outerShdw>
            </a:effectLst>
          </p:spPr>
          <p:txBody>
            <a:bodyPr spcFirstLastPara="1" wrap="square" lIns="259525" tIns="41775" rIns="259525" bIns="41775" anchor="ctr" anchorCtr="0">
              <a:noAutofit/>
            </a:bodyPr>
            <a:lstStyle/>
            <a:p>
              <a:pPr marL="0" marR="0" lvl="0" indent="0" algn="l" rtl="0">
                <a:lnSpc>
                  <a:spcPct val="90000"/>
                </a:lnSpc>
                <a:spcBef>
                  <a:spcPts val="0"/>
                </a:spcBef>
                <a:spcAft>
                  <a:spcPts val="0"/>
                </a:spcAft>
                <a:buNone/>
              </a:pPr>
              <a:r>
                <a:rPr lang="en-US" sz="3200" b="0">
                  <a:solidFill>
                    <a:schemeClr val="dk1"/>
                  </a:solidFill>
                  <a:latin typeface="Candara"/>
                  <a:ea typeface="Candara"/>
                  <a:cs typeface="Candara"/>
                  <a:sym typeface="Candara"/>
                </a:rPr>
                <a:t>•Obey Laws When Marketing to Minors</a:t>
              </a:r>
              <a:endParaRPr sz="3200" b="0">
                <a:solidFill>
                  <a:schemeClr val="dk1"/>
                </a:solidFill>
                <a:latin typeface="Candara"/>
                <a:ea typeface="Candara"/>
                <a:cs typeface="Candara"/>
                <a:sym typeface="Candara"/>
              </a:endParaRPr>
            </a:p>
          </p:txBody>
        </p:sp>
        <p:sp>
          <p:nvSpPr>
            <p:cNvPr id="517" name="Google Shape;517;p35"/>
            <p:cNvSpPr/>
            <p:nvPr/>
          </p:nvSpPr>
          <p:spPr>
            <a:xfrm>
              <a:off x="457200" y="3887220"/>
              <a:ext cx="8229600" cy="730800"/>
            </a:xfrm>
            <a:prstGeom prst="rect">
              <a:avLst/>
            </a:prstGeom>
            <a:solidFill>
              <a:schemeClr val="lt1"/>
            </a:solidFill>
            <a:ln w="9525" cap="flat" cmpd="sng">
              <a:solidFill>
                <a:srgbClr val="BFBFBF"/>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5"/>
            <p:cNvSpPr/>
            <p:nvPr/>
          </p:nvSpPr>
          <p:spPr>
            <a:xfrm>
              <a:off x="868680" y="3459180"/>
              <a:ext cx="7437120" cy="856080"/>
            </a:xfrm>
            <a:custGeom>
              <a:avLst/>
              <a:gdLst/>
              <a:ahLst/>
              <a:cxnLst/>
              <a:rect l="l" t="t" r="r" b="b"/>
              <a:pathLst>
                <a:path w="7231662" h="856080" extrusionOk="0">
                  <a:moveTo>
                    <a:pt x="0" y="142683"/>
                  </a:moveTo>
                  <a:cubicBezTo>
                    <a:pt x="0" y="63881"/>
                    <a:pt x="63881" y="0"/>
                    <a:pt x="142683" y="0"/>
                  </a:cubicBezTo>
                  <a:lnTo>
                    <a:pt x="7088979" y="0"/>
                  </a:lnTo>
                  <a:cubicBezTo>
                    <a:pt x="7167781" y="0"/>
                    <a:pt x="7231662" y="63881"/>
                    <a:pt x="7231662" y="142683"/>
                  </a:cubicBezTo>
                  <a:lnTo>
                    <a:pt x="7231662" y="713397"/>
                  </a:lnTo>
                  <a:cubicBezTo>
                    <a:pt x="7231662" y="792199"/>
                    <a:pt x="7167781" y="856080"/>
                    <a:pt x="7088979" y="856080"/>
                  </a:cubicBezTo>
                  <a:lnTo>
                    <a:pt x="142683" y="856080"/>
                  </a:lnTo>
                  <a:cubicBezTo>
                    <a:pt x="63881" y="856080"/>
                    <a:pt x="0" y="792199"/>
                    <a:pt x="0" y="713397"/>
                  </a:cubicBezTo>
                  <a:lnTo>
                    <a:pt x="0" y="142683"/>
                  </a:lnTo>
                  <a:close/>
                </a:path>
              </a:pathLst>
            </a:custGeom>
            <a:solidFill>
              <a:schemeClr val="lt1"/>
            </a:solidFill>
            <a:ln w="9525" cap="flat" cmpd="sng">
              <a:solidFill>
                <a:srgbClr val="D8D8D8"/>
              </a:solidFill>
              <a:prstDash val="solid"/>
              <a:round/>
              <a:headEnd type="none" w="sm" len="sm"/>
              <a:tailEnd type="none" w="sm" len="sm"/>
            </a:ln>
            <a:effectLst>
              <a:outerShdw blurRad="149987" dist="250190" dir="8460000" algn="ctr">
                <a:srgbClr val="000000">
                  <a:alpha val="20000"/>
                </a:srgbClr>
              </a:outerShdw>
            </a:effectLst>
          </p:spPr>
          <p:txBody>
            <a:bodyPr spcFirstLastPara="1" wrap="square" lIns="259525" tIns="41775" rIns="259525" bIns="41775" anchor="ctr" anchorCtr="0">
              <a:noAutofit/>
            </a:bodyPr>
            <a:lstStyle/>
            <a:p>
              <a:pPr marL="0" marR="0" lvl="0" indent="0" algn="l" rtl="0">
                <a:lnSpc>
                  <a:spcPct val="90000"/>
                </a:lnSpc>
                <a:spcBef>
                  <a:spcPts val="0"/>
                </a:spcBef>
                <a:spcAft>
                  <a:spcPts val="0"/>
                </a:spcAft>
                <a:buNone/>
              </a:pPr>
              <a:r>
                <a:rPr lang="en-US" sz="3200" b="0">
                  <a:solidFill>
                    <a:schemeClr val="dk1"/>
                  </a:solidFill>
                  <a:latin typeface="Candara"/>
                  <a:ea typeface="Candara"/>
                  <a:cs typeface="Candara"/>
                  <a:sym typeface="Candara"/>
                </a:rPr>
                <a:t>•Observe Contractual Obligations</a:t>
              </a:r>
              <a:endParaRPr/>
            </a:p>
          </p:txBody>
        </p:sp>
        <p:sp>
          <p:nvSpPr>
            <p:cNvPr id="519" name="Google Shape;519;p35"/>
            <p:cNvSpPr/>
            <p:nvPr/>
          </p:nvSpPr>
          <p:spPr>
            <a:xfrm>
              <a:off x="457200" y="5202659"/>
              <a:ext cx="8229600" cy="730800"/>
            </a:xfrm>
            <a:prstGeom prst="rect">
              <a:avLst/>
            </a:prstGeom>
            <a:solidFill>
              <a:schemeClr val="lt1"/>
            </a:solidFill>
            <a:ln w="9525" cap="flat" cmpd="sng">
              <a:solidFill>
                <a:srgbClr val="BFBFBF"/>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5"/>
            <p:cNvSpPr/>
            <p:nvPr/>
          </p:nvSpPr>
          <p:spPr>
            <a:xfrm>
              <a:off x="868680" y="4774620"/>
              <a:ext cx="7437120" cy="856080"/>
            </a:xfrm>
            <a:custGeom>
              <a:avLst/>
              <a:gdLst/>
              <a:ahLst/>
              <a:cxnLst/>
              <a:rect l="l" t="t" r="r" b="b"/>
              <a:pathLst>
                <a:path w="7231662" h="856080" extrusionOk="0">
                  <a:moveTo>
                    <a:pt x="0" y="142683"/>
                  </a:moveTo>
                  <a:cubicBezTo>
                    <a:pt x="0" y="63881"/>
                    <a:pt x="63881" y="0"/>
                    <a:pt x="142683" y="0"/>
                  </a:cubicBezTo>
                  <a:lnTo>
                    <a:pt x="7088979" y="0"/>
                  </a:lnTo>
                  <a:cubicBezTo>
                    <a:pt x="7167781" y="0"/>
                    <a:pt x="7231662" y="63881"/>
                    <a:pt x="7231662" y="142683"/>
                  </a:cubicBezTo>
                  <a:lnTo>
                    <a:pt x="7231662" y="713397"/>
                  </a:lnTo>
                  <a:cubicBezTo>
                    <a:pt x="7231662" y="792199"/>
                    <a:pt x="7167781" y="856080"/>
                    <a:pt x="7088979" y="856080"/>
                  </a:cubicBezTo>
                  <a:lnTo>
                    <a:pt x="142683" y="856080"/>
                  </a:lnTo>
                  <a:cubicBezTo>
                    <a:pt x="63881" y="856080"/>
                    <a:pt x="0" y="792199"/>
                    <a:pt x="0" y="713397"/>
                  </a:cubicBezTo>
                  <a:lnTo>
                    <a:pt x="0" y="142683"/>
                  </a:lnTo>
                  <a:close/>
                </a:path>
              </a:pathLst>
            </a:custGeom>
            <a:solidFill>
              <a:schemeClr val="lt1"/>
            </a:solidFill>
            <a:ln w="9525" cap="flat" cmpd="sng">
              <a:solidFill>
                <a:srgbClr val="D8D8D8"/>
              </a:solidFill>
              <a:prstDash val="solid"/>
              <a:round/>
              <a:headEnd type="none" w="sm" len="sm"/>
              <a:tailEnd type="none" w="sm" len="sm"/>
            </a:ln>
            <a:effectLst>
              <a:outerShdw blurRad="149987" dist="250190" dir="8460000" algn="ctr">
                <a:srgbClr val="000000">
                  <a:alpha val="20000"/>
                </a:srgbClr>
              </a:outerShdw>
            </a:effectLst>
          </p:spPr>
          <p:txBody>
            <a:bodyPr spcFirstLastPara="1" wrap="square" lIns="259525" tIns="41775" rIns="259525" bIns="41775" anchor="ctr" anchorCtr="0">
              <a:noAutofit/>
            </a:bodyPr>
            <a:lstStyle/>
            <a:p>
              <a:pPr marL="0" marR="0" lvl="0" indent="0" algn="l" rtl="0">
                <a:lnSpc>
                  <a:spcPct val="90000"/>
                </a:lnSpc>
                <a:spcBef>
                  <a:spcPts val="0"/>
                </a:spcBef>
                <a:spcAft>
                  <a:spcPts val="0"/>
                </a:spcAft>
                <a:buNone/>
              </a:pPr>
              <a:r>
                <a:rPr lang="en-US" sz="3200" b="0">
                  <a:solidFill>
                    <a:schemeClr val="dk1"/>
                  </a:solidFill>
                  <a:latin typeface="Candara"/>
                  <a:ea typeface="Candara"/>
                  <a:cs typeface="Candara"/>
                  <a:sym typeface="Candara"/>
                </a:rPr>
                <a:t>•Respect the Rights of Individuals</a:t>
              </a:r>
              <a:endParaRPr sz="3200" b="0">
                <a:solidFill>
                  <a:schemeClr val="dk1"/>
                </a:solidFill>
                <a:latin typeface="Candara"/>
                <a:ea typeface="Candara"/>
                <a:cs typeface="Candara"/>
                <a:sym typeface="Candara"/>
              </a:endParaRPr>
            </a:p>
          </p:txBody>
        </p:sp>
      </p:gr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36"/>
          <p:cNvSpPr txBox="1">
            <a:spLocks noGrp="1"/>
          </p:cNvSpPr>
          <p:nvPr>
            <p:ph type="dt" idx="10"/>
          </p:nvPr>
        </p:nvSpPr>
        <p:spPr>
          <a:xfrm>
            <a:off x="457200" y="6248400"/>
            <a:ext cx="5638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Copyright © 2017 Pearson Education, Inc.</a:t>
            </a:r>
            <a:endParaRPr/>
          </a:p>
        </p:txBody>
      </p:sp>
      <p:sp>
        <p:nvSpPr>
          <p:cNvPr id="527" name="Google Shape;527;p36"/>
          <p:cNvSpPr txBox="1">
            <a:spLocks noGrp="1"/>
          </p:cNvSpPr>
          <p:nvPr>
            <p:ph type="sldNum" idx="12"/>
          </p:nvPr>
        </p:nvSpPr>
        <p:spPr>
          <a:xfrm>
            <a:off x="6781800" y="6248400"/>
            <a:ext cx="19050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Chapter 9 - </a:t>
            </a:r>
            <a:fld id="{00000000-1234-1234-1234-123412341234}" type="slidenum">
              <a:rPr lang="en-US"/>
              <a:t>36</a:t>
            </a:fld>
            <a:endParaRPr/>
          </a:p>
        </p:txBody>
      </p:sp>
      <p:pic>
        <p:nvPicPr>
          <p:cNvPr id="528" name="Google Shape;528;p36" descr="3293795473_47524415"/>
          <p:cNvPicPr preferRelativeResize="0"/>
          <p:nvPr/>
        </p:nvPicPr>
        <p:blipFill rotWithShape="1">
          <a:blip r:embed="rId3">
            <a:alphaModFix/>
          </a:blip>
          <a:srcRect/>
          <a:stretch/>
        </p:blipFill>
        <p:spPr>
          <a:xfrm>
            <a:off x="1219200" y="2228850"/>
            <a:ext cx="6705600" cy="2095500"/>
          </a:xfrm>
          <a:prstGeom prst="rect">
            <a:avLst/>
          </a:prstGeom>
          <a:noFill/>
          <a:ln>
            <a:noFill/>
          </a:ln>
        </p:spPr>
      </p:pic>
      <p:sp>
        <p:nvSpPr>
          <p:cNvPr id="529" name="Google Shape;529;p36"/>
          <p:cNvSpPr txBox="1"/>
          <p:nvPr/>
        </p:nvSpPr>
        <p:spPr>
          <a:xfrm>
            <a:off x="1828800" y="4419600"/>
            <a:ext cx="60198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Arial"/>
                <a:ea typeface="Arial"/>
                <a:cs typeface="Arial"/>
                <a:sym typeface="Arial"/>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endParaRPr sz="1200" b="1">
              <a:solidFill>
                <a:schemeClr val="dk1"/>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name="Default Design">
  <a:themeElements>
    <a:clrScheme name="172-146-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5610</Words>
  <Application>Microsoft Office PowerPoint</Application>
  <PresentationFormat>On-screen Show (4:3)</PresentationFormat>
  <Paragraphs>377</Paragraphs>
  <Slides>36</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Candara</vt:lpstr>
      <vt:lpstr>Tahoma</vt:lpstr>
      <vt:lpstr>Calibri</vt:lpstr>
      <vt:lpstr>Arial</vt:lpstr>
      <vt:lpstr>Times New Roman</vt:lpstr>
      <vt:lpstr>Default Design</vt:lpstr>
      <vt:lpstr>PowerPoint Presentation</vt:lpstr>
      <vt:lpstr>Excellence in  Business Communication</vt:lpstr>
      <vt:lpstr>Learning Objectives (1 of 2)</vt:lpstr>
      <vt:lpstr>Learning Objectives (2 of 2)</vt:lpstr>
      <vt:lpstr>Using the Three-Step Process for Persuasive Messages</vt:lpstr>
      <vt:lpstr>Step 1: Planning  Persuasive Messages</vt:lpstr>
      <vt:lpstr>Analyzing the Situation</vt:lpstr>
      <vt:lpstr>Gathering Information</vt:lpstr>
      <vt:lpstr>Selecting the Right Combination of Medium and Channel</vt:lpstr>
      <vt:lpstr>Organizing Your Information</vt:lpstr>
      <vt:lpstr>Step 2: Writing  Persuasive Messages</vt:lpstr>
      <vt:lpstr>Building Your Credibility</vt:lpstr>
      <vt:lpstr>Step 3: Completing  Persuasive Messages</vt:lpstr>
      <vt:lpstr>Developing Persuasive  Business Messages</vt:lpstr>
      <vt:lpstr>Framing Your Arguments (the AIDA Model)</vt:lpstr>
      <vt:lpstr>Balancing Emotional and Logical Appeals (1 of 2)</vt:lpstr>
      <vt:lpstr>Balancing Emotional and Logical Appeals (2 of 2)</vt:lpstr>
      <vt:lpstr>Avoiding Faulty Logic</vt:lpstr>
      <vt:lpstr>Reinforcing Your Position</vt:lpstr>
      <vt:lpstr>Anticipating Objections</vt:lpstr>
      <vt:lpstr>Avoiding Common Mistakes in Persuasive Communication</vt:lpstr>
      <vt:lpstr>Common Categories of Persuasive Messages</vt:lpstr>
      <vt:lpstr>Persuasive Requests  for Action</vt:lpstr>
      <vt:lpstr>Persuasive Presentation  of Ideas</vt:lpstr>
      <vt:lpstr>Persuasive Claims and Requests for Adjustment</vt:lpstr>
      <vt:lpstr>Developing Marketing and  Sales Messages</vt:lpstr>
      <vt:lpstr>Planning Marketing and  Sales Messages</vt:lpstr>
      <vt:lpstr>Writing Conventional Marketing and Sales Messages</vt:lpstr>
      <vt:lpstr>Writing Promotional Messages for Social Media</vt:lpstr>
      <vt:lpstr>Promotional Messages in Social Media</vt:lpstr>
      <vt:lpstr>Creating Promotional Messages for Mobile Devices</vt:lpstr>
      <vt:lpstr>Avoiding Ethical Lapses in Marketing and Sales Messages</vt:lpstr>
      <vt:lpstr>Maintaining High Ethical and Legal Standards</vt:lpstr>
      <vt:lpstr>Basic Legal Aspects of Promotional Communication (1 of 2)</vt:lpstr>
      <vt:lpstr>Basic Legal Aspects of Promotional Communication (2 of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Myles A. Hassell</dc:creator>
  <cp:lastModifiedBy>prioty_t@outlook.com</cp:lastModifiedBy>
  <cp:revision>1</cp:revision>
  <dcterms:created xsi:type="dcterms:W3CDTF">2002-06-07T19:31:40Z</dcterms:created>
  <dcterms:modified xsi:type="dcterms:W3CDTF">2023-03-28T06:30:54Z</dcterms:modified>
</cp:coreProperties>
</file>