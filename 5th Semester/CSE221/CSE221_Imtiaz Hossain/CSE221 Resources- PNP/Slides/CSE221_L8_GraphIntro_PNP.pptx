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</p:sldIdLst>
  <p:sldSz cy="3460750" cx="4610100"/>
  <p:notesSz cx="4610100" cy="3460750"/>
  <p:embeddedFontLst>
    <p:embeddedFont>
      <p:font typeface="Tahoma"/>
      <p:regular r:id="rId148"/>
      <p:bold r:id="rId149"/>
    </p:embeddedFont>
    <p:embeddedFont>
      <p:font typeface="Palatino Linotype"/>
      <p:regular r:id="rId150"/>
      <p:bold r:id="rId151"/>
      <p:italic r:id="rId152"/>
      <p:boldItalic r:id="rId1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54" roundtripDataSignature="AMtx7miGqoNvLhJ1rfVNjLphZODrw5Ab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426FA0-DC2D-463D-BEE8-03265EB27D5F}">
  <a:tblStyle styleId="{79426FA0-DC2D-463D-BEE8-03265EB27D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font" Target="fonts/PalatinoLinotype-regular.fntdata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Tahoma-bold.fntdata"/><Relationship Id="rId4" Type="http://schemas.openxmlformats.org/officeDocument/2006/relationships/tableStyles" Target="tableStyles.xml"/><Relationship Id="rId148" Type="http://schemas.openxmlformats.org/officeDocument/2006/relationships/font" Target="fonts/Tahoma-regular.fntdata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154" Type="http://customschemas.google.com/relationships/presentationmetadata" Target="metadata"/><Relationship Id="rId58" Type="http://schemas.openxmlformats.org/officeDocument/2006/relationships/slide" Target="slides/slide52.xml"/><Relationship Id="rId153" Type="http://schemas.openxmlformats.org/officeDocument/2006/relationships/font" Target="fonts/PalatinoLinotype-boldItalic.fntdata"/><Relationship Id="rId152" Type="http://schemas.openxmlformats.org/officeDocument/2006/relationships/font" Target="fonts/PalatinoLinotype-italic.fntdata"/><Relationship Id="rId151" Type="http://schemas.openxmlformats.org/officeDocument/2006/relationships/font" Target="fonts/PalatinoLinotyp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2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2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3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3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3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3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3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3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4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4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4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4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4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4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4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4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4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4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4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4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4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4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4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4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4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4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5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5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5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5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5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5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5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5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5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5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5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5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5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5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5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5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5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5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5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6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6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6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6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6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6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6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6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6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6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6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6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6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6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6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6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p6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6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6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6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7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7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7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7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7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7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7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7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4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7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7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p7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7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7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7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7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7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7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7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p7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0" name="Google Shape;2840;p7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p8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8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8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8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8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6" name="Google Shape;2946;p8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8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p8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p8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8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2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p8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8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8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8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8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8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8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8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p8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8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5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6" name="Google Shape;3136;p9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p9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4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9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9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p9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9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2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p9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p9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9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3" name="Google Shape;3213;p9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9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2" name="Google Shape;3232;p9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9" name="Shape 3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0" name="Google Shape;3250;p9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9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p9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9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7" name="Shape 3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3288;p9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9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9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9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p10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7" name="Google Shape;3327;p10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10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10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3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p10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p10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3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p10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10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10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5" name="Google Shape;3405;p10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3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p10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5" name="Google Shape;3425;p10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10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5" name="Google Shape;3445;p10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10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6" name="Google Shape;3466;p10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5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p10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10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5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6" name="Google Shape;3506;p10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7" name="Google Shape;3507;p10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11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1" name="Google Shape;3541;p11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4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p11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6" name="Google Shape;3576;p11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p11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3" name="Google Shape;3613;p11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9" name="Shape 3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0" name="Google Shape;3650;p11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1" name="Google Shape;3651;p11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11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1" name="Google Shape;3691;p11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p11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3" name="Google Shape;3733;p11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5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p11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7" name="Google Shape;3777;p11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11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2" name="Google Shape;3802;p11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7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8" name="Google Shape;3828;p11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9" name="Google Shape;3829;p11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4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p11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6" name="Google Shape;3856;p11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1" name="Shape 3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2" name="Google Shape;3882;p12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3" name="Google Shape;3883;p12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8" name="Shape 3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Google Shape;3909;p12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p12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5" name="Shape 3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6" name="Google Shape;3936;p12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7" name="Google Shape;3937;p12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2" name="Shape 3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3" name="Google Shape;3963;p12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4" name="Google Shape;3964;p12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9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Google Shape;3990;p12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1" name="Google Shape;3991;p12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6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p12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8" name="Google Shape;4018;p12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3" name="Shape 4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" name="Google Shape;4044;p12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12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0" name="Shape 4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1" name="Google Shape;4071;p12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2" name="Google Shape;4072;p12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7" name="Shape 4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4098;p12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9" name="Google Shape;4099;p12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4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Google Shape;4125;p12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6" name="Google Shape;4126;p12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1" name="Shape 4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2" name="Google Shape;4152;p13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3" name="Google Shape;4153;p13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8" name="Shape 4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9" name="Google Shape;4179;p13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0" name="Google Shape;4180;p13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5" name="Shape 4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" name="Google Shape;4206;p13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7" name="Google Shape;4207;p13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3" name="Shape 4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4" name="Google Shape;4234;p13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5" name="Google Shape;4235;p13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3" name="Shape 4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4" name="Google Shape;4254;p13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5" name="Google Shape;4255;p13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3" name="Shape 4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4" name="Google Shape;4274;p13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5" name="Google Shape;4275;p13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3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Google Shape;4294;p13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5" name="Google Shape;4295;p13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1" name="Shape 4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2" name="Google Shape;4312;p13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3" name="Google Shape;4313;p13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0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p13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2" name="Google Shape;4332;p13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0" name="Shape 4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1" name="Google Shape;4351;p13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2" name="Google Shape;4352;p13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1" name="Shape 4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" name="Google Shape;4372;p14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3" name="Google Shape;4373;p14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3" name="Shape 4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4" name="Google Shape;4394;p14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5" name="Google Shape;4395;p14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3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793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4"/>
          <p:cNvSpPr/>
          <p:nvPr/>
        </p:nvSpPr>
        <p:spPr>
          <a:xfrm>
            <a:off x="0" y="0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4000" y="0"/>
                </a:moveTo>
                <a:lnTo>
                  <a:pt x="0" y="0"/>
                </a:lnTo>
                <a:lnTo>
                  <a:pt x="0" y="126128"/>
                </a:lnTo>
                <a:lnTo>
                  <a:pt x="2304000" y="126128"/>
                </a:lnTo>
                <a:lnTo>
                  <a:pt x="230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4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44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4"/>
          <p:cNvSpPr txBox="1"/>
          <p:nvPr>
            <p:ph idx="1" type="body"/>
          </p:nvPr>
        </p:nvSpPr>
        <p:spPr>
          <a:xfrm>
            <a:off x="624389" y="684391"/>
            <a:ext cx="2618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4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793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5"/>
          <p:cNvSpPr/>
          <p:nvPr/>
        </p:nvSpPr>
        <p:spPr>
          <a:xfrm>
            <a:off x="0" y="0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4000" y="0"/>
                </a:moveTo>
                <a:lnTo>
                  <a:pt x="0" y="0"/>
                </a:lnTo>
                <a:lnTo>
                  <a:pt x="0" y="126128"/>
                </a:lnTo>
                <a:lnTo>
                  <a:pt x="2304000" y="126128"/>
                </a:lnTo>
                <a:lnTo>
                  <a:pt x="230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4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45"/>
          <p:cNvSpPr txBox="1"/>
          <p:nvPr>
            <p:ph type="ctrTitle"/>
          </p:nvPr>
        </p:nvSpPr>
        <p:spPr>
          <a:xfrm>
            <a:off x="154766" y="121020"/>
            <a:ext cx="333184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5"/>
          <p:cNvSpPr txBox="1"/>
          <p:nvPr>
            <p:ph idx="1" type="subTitle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5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793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6"/>
          <p:cNvSpPr/>
          <p:nvPr/>
        </p:nvSpPr>
        <p:spPr>
          <a:xfrm>
            <a:off x="0" y="0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4000" y="0"/>
                </a:moveTo>
                <a:lnTo>
                  <a:pt x="0" y="0"/>
                </a:lnTo>
                <a:lnTo>
                  <a:pt x="0" y="126128"/>
                </a:lnTo>
                <a:lnTo>
                  <a:pt x="2304000" y="126128"/>
                </a:lnTo>
                <a:lnTo>
                  <a:pt x="230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4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46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6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793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7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7"/>
          <p:cNvSpPr txBox="1"/>
          <p:nvPr>
            <p:ph idx="1" type="body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7"/>
          <p:cNvSpPr txBox="1"/>
          <p:nvPr>
            <p:ph idx="2" type="body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7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793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2"/>
          <p:cNvSpPr/>
          <p:nvPr/>
        </p:nvSpPr>
        <p:spPr>
          <a:xfrm>
            <a:off x="0" y="0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4000" y="0"/>
                </a:moveTo>
                <a:lnTo>
                  <a:pt x="0" y="0"/>
                </a:lnTo>
                <a:lnTo>
                  <a:pt x="0" y="126128"/>
                </a:lnTo>
                <a:lnTo>
                  <a:pt x="2304000" y="126128"/>
                </a:lnTo>
                <a:lnTo>
                  <a:pt x="23040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42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42"/>
          <p:cNvSpPr txBox="1"/>
          <p:nvPr>
            <p:ph idx="1" type="body"/>
          </p:nvPr>
        </p:nvSpPr>
        <p:spPr>
          <a:xfrm>
            <a:off x="624389" y="684391"/>
            <a:ext cx="2618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4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2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79375">
              <a:lnSpc>
                <a:spcPct val="100000"/>
              </a:lnSpc>
              <a:spcBef>
                <a:spcPts val="0"/>
              </a:spcBef>
              <a:buNone/>
              <a:defRPr b="1" i="0" sz="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7937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10" Type="http://schemas.openxmlformats.org/officeDocument/2006/relationships/hyperlink" Target="http://creativecommons.org/licenses/by-nc-sa/3.0/us/" TargetMode="External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3.png"/><Relationship Id="rId13" Type="http://schemas.openxmlformats.org/officeDocument/2006/relationships/image" Target="../media/image31.jp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3.png"/><Relationship Id="rId13" Type="http://schemas.openxmlformats.org/officeDocument/2006/relationships/image" Target="../media/image31.jp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50.png"/><Relationship Id="rId13" Type="http://schemas.openxmlformats.org/officeDocument/2006/relationships/image" Target="../media/image31.jp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5" Type="http://schemas.openxmlformats.org/officeDocument/2006/relationships/image" Target="../media/image1.png"/><Relationship Id="rId14" Type="http://schemas.openxmlformats.org/officeDocument/2006/relationships/image" Target="../media/image52.jp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Relationship Id="rId8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3" Type="http://schemas.openxmlformats.org/officeDocument/2006/relationships/image" Target="../media/image56.jpg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67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49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31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31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31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31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31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31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52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52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52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52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52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3" Type="http://schemas.openxmlformats.org/officeDocument/2006/relationships/image" Target="../media/image52.jp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45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6.png"/><Relationship Id="rId10" Type="http://schemas.openxmlformats.org/officeDocument/2006/relationships/image" Target="../media/image147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42.png"/><Relationship Id="rId5" Type="http://schemas.openxmlformats.org/officeDocument/2006/relationships/image" Target="../media/image42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141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7.png"/><Relationship Id="rId10" Type="http://schemas.openxmlformats.org/officeDocument/2006/relationships/image" Target="../media/image151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50.png"/><Relationship Id="rId5" Type="http://schemas.openxmlformats.org/officeDocument/2006/relationships/image" Target="../media/image25.png"/><Relationship Id="rId6" Type="http://schemas.openxmlformats.org/officeDocument/2006/relationships/image" Target="../media/image141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56.png"/><Relationship Id="rId7" Type="http://schemas.openxmlformats.org/officeDocument/2006/relationships/image" Target="../media/image161.png"/><Relationship Id="rId8" Type="http://schemas.openxmlformats.org/officeDocument/2006/relationships/image" Target="../media/image152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0.png"/><Relationship Id="rId10" Type="http://schemas.openxmlformats.org/officeDocument/2006/relationships/image" Target="../media/image154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63.png"/><Relationship Id="rId5" Type="http://schemas.openxmlformats.org/officeDocument/2006/relationships/image" Target="../media/image42.png"/><Relationship Id="rId6" Type="http://schemas.openxmlformats.org/officeDocument/2006/relationships/image" Target="../media/image156.png"/><Relationship Id="rId7" Type="http://schemas.openxmlformats.org/officeDocument/2006/relationships/image" Target="../media/image161.png"/><Relationship Id="rId8" Type="http://schemas.openxmlformats.org/officeDocument/2006/relationships/image" Target="../media/image1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62.png"/><Relationship Id="rId7" Type="http://schemas.openxmlformats.org/officeDocument/2006/relationships/image" Target="../media/image159.png"/><Relationship Id="rId8" Type="http://schemas.openxmlformats.org/officeDocument/2006/relationships/image" Target="../media/image158.png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4.png"/><Relationship Id="rId10" Type="http://schemas.openxmlformats.org/officeDocument/2006/relationships/image" Target="../media/image172.png"/><Relationship Id="rId13" Type="http://schemas.openxmlformats.org/officeDocument/2006/relationships/image" Target="../media/image1.png"/><Relationship Id="rId1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5" Type="http://schemas.openxmlformats.org/officeDocument/2006/relationships/image" Target="../media/image42.png"/><Relationship Id="rId6" Type="http://schemas.openxmlformats.org/officeDocument/2006/relationships/image" Target="../media/image162.png"/><Relationship Id="rId7" Type="http://schemas.openxmlformats.org/officeDocument/2006/relationships/image" Target="../media/image159.png"/><Relationship Id="rId8" Type="http://schemas.openxmlformats.org/officeDocument/2006/relationships/image" Target="../media/image15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169.png"/><Relationship Id="rId7" Type="http://schemas.openxmlformats.org/officeDocument/2006/relationships/image" Target="../media/image175.png"/><Relationship Id="rId8" Type="http://schemas.openxmlformats.org/officeDocument/2006/relationships/image" Target="../media/image173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6.png"/><Relationship Id="rId10" Type="http://schemas.openxmlformats.org/officeDocument/2006/relationships/image" Target="../media/image178.png"/><Relationship Id="rId13" Type="http://schemas.openxmlformats.org/officeDocument/2006/relationships/image" Target="../media/image1.png"/><Relationship Id="rId1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169.png"/><Relationship Id="rId7" Type="http://schemas.openxmlformats.org/officeDocument/2006/relationships/image" Target="../media/image175.png"/><Relationship Id="rId8" Type="http://schemas.openxmlformats.org/officeDocument/2006/relationships/image" Target="../media/image173.png"/></Relationships>
</file>

<file path=ppt/slides/_rels/slide3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5.png"/><Relationship Id="rId10" Type="http://schemas.openxmlformats.org/officeDocument/2006/relationships/image" Target="../media/image188.png"/><Relationship Id="rId13" Type="http://schemas.openxmlformats.org/officeDocument/2006/relationships/image" Target="../media/image186.jpg"/><Relationship Id="rId1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67.png"/><Relationship Id="rId14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81.png"/><Relationship Id="rId7" Type="http://schemas.openxmlformats.org/officeDocument/2006/relationships/image" Target="../media/image183.png"/><Relationship Id="rId8" Type="http://schemas.openxmlformats.org/officeDocument/2006/relationships/image" Target="../media/image182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5.png"/><Relationship Id="rId10" Type="http://schemas.openxmlformats.org/officeDocument/2006/relationships/image" Target="../media/image188.png"/><Relationship Id="rId13" Type="http://schemas.openxmlformats.org/officeDocument/2006/relationships/image" Target="../media/image186.jpg"/><Relationship Id="rId1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67.png"/><Relationship Id="rId15" Type="http://schemas.openxmlformats.org/officeDocument/2006/relationships/image" Target="../media/image1.png"/><Relationship Id="rId14" Type="http://schemas.openxmlformats.org/officeDocument/2006/relationships/image" Target="../media/image205.jpg"/><Relationship Id="rId5" Type="http://schemas.openxmlformats.org/officeDocument/2006/relationships/image" Target="../media/image42.png"/><Relationship Id="rId6" Type="http://schemas.openxmlformats.org/officeDocument/2006/relationships/image" Target="../media/image181.png"/><Relationship Id="rId7" Type="http://schemas.openxmlformats.org/officeDocument/2006/relationships/image" Target="../media/image183.png"/><Relationship Id="rId8" Type="http://schemas.openxmlformats.org/officeDocument/2006/relationships/image" Target="../media/image18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93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0.png"/><Relationship Id="rId10" Type="http://schemas.openxmlformats.org/officeDocument/2006/relationships/image" Target="../media/image202.pn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6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93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7.jpg"/><Relationship Id="rId11" Type="http://schemas.openxmlformats.org/officeDocument/2006/relationships/image" Target="../media/image200.png"/><Relationship Id="rId10" Type="http://schemas.openxmlformats.org/officeDocument/2006/relationships/image" Target="../media/image202.png"/><Relationship Id="rId21" Type="http://schemas.openxmlformats.org/officeDocument/2006/relationships/image" Target="../media/image1.pn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7" Type="http://schemas.openxmlformats.org/officeDocument/2006/relationships/image" Target="../media/image215.png"/><Relationship Id="rId16" Type="http://schemas.openxmlformats.org/officeDocument/2006/relationships/image" Target="../media/image67.png"/><Relationship Id="rId5" Type="http://schemas.openxmlformats.org/officeDocument/2006/relationships/image" Target="../media/image42.png"/><Relationship Id="rId19" Type="http://schemas.openxmlformats.org/officeDocument/2006/relationships/image" Target="../media/image212.png"/><Relationship Id="rId6" Type="http://schemas.openxmlformats.org/officeDocument/2006/relationships/image" Target="../media/image193.png"/><Relationship Id="rId18" Type="http://schemas.openxmlformats.org/officeDocument/2006/relationships/image" Target="../media/image214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7.jpg"/><Relationship Id="rId11" Type="http://schemas.openxmlformats.org/officeDocument/2006/relationships/image" Target="../media/image200.png"/><Relationship Id="rId22" Type="http://schemas.openxmlformats.org/officeDocument/2006/relationships/image" Target="../media/image1.png"/><Relationship Id="rId10" Type="http://schemas.openxmlformats.org/officeDocument/2006/relationships/image" Target="../media/image202.png"/><Relationship Id="rId21" Type="http://schemas.openxmlformats.org/officeDocument/2006/relationships/image" Target="../media/image223.jp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7" Type="http://schemas.openxmlformats.org/officeDocument/2006/relationships/image" Target="../media/image215.png"/><Relationship Id="rId16" Type="http://schemas.openxmlformats.org/officeDocument/2006/relationships/image" Target="../media/image67.png"/><Relationship Id="rId5" Type="http://schemas.openxmlformats.org/officeDocument/2006/relationships/image" Target="../media/image42.png"/><Relationship Id="rId19" Type="http://schemas.openxmlformats.org/officeDocument/2006/relationships/image" Target="../media/image212.png"/><Relationship Id="rId6" Type="http://schemas.openxmlformats.org/officeDocument/2006/relationships/image" Target="../media/image193.png"/><Relationship Id="rId18" Type="http://schemas.openxmlformats.org/officeDocument/2006/relationships/image" Target="../media/image214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7.jpg"/><Relationship Id="rId11" Type="http://schemas.openxmlformats.org/officeDocument/2006/relationships/image" Target="../media/image200.png"/><Relationship Id="rId22" Type="http://schemas.openxmlformats.org/officeDocument/2006/relationships/image" Target="../media/image225.jpg"/><Relationship Id="rId10" Type="http://schemas.openxmlformats.org/officeDocument/2006/relationships/image" Target="../media/image202.png"/><Relationship Id="rId21" Type="http://schemas.openxmlformats.org/officeDocument/2006/relationships/image" Target="../media/image223.jp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7" Type="http://schemas.openxmlformats.org/officeDocument/2006/relationships/image" Target="../media/image215.png"/><Relationship Id="rId16" Type="http://schemas.openxmlformats.org/officeDocument/2006/relationships/image" Target="../media/image67.png"/><Relationship Id="rId5" Type="http://schemas.openxmlformats.org/officeDocument/2006/relationships/image" Target="../media/image42.png"/><Relationship Id="rId19" Type="http://schemas.openxmlformats.org/officeDocument/2006/relationships/image" Target="../media/image212.png"/><Relationship Id="rId6" Type="http://schemas.openxmlformats.org/officeDocument/2006/relationships/image" Target="../media/image193.png"/><Relationship Id="rId18" Type="http://schemas.openxmlformats.org/officeDocument/2006/relationships/image" Target="../media/image214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7.jpg"/><Relationship Id="rId11" Type="http://schemas.openxmlformats.org/officeDocument/2006/relationships/image" Target="../media/image200.png"/><Relationship Id="rId22" Type="http://schemas.openxmlformats.org/officeDocument/2006/relationships/image" Target="../media/image226.jpg"/><Relationship Id="rId10" Type="http://schemas.openxmlformats.org/officeDocument/2006/relationships/image" Target="../media/image202.png"/><Relationship Id="rId21" Type="http://schemas.openxmlformats.org/officeDocument/2006/relationships/image" Target="../media/image223.jp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7" Type="http://schemas.openxmlformats.org/officeDocument/2006/relationships/image" Target="../media/image215.png"/><Relationship Id="rId16" Type="http://schemas.openxmlformats.org/officeDocument/2006/relationships/image" Target="../media/image67.png"/><Relationship Id="rId5" Type="http://schemas.openxmlformats.org/officeDocument/2006/relationships/image" Target="../media/image42.png"/><Relationship Id="rId19" Type="http://schemas.openxmlformats.org/officeDocument/2006/relationships/image" Target="../media/image212.png"/><Relationship Id="rId6" Type="http://schemas.openxmlformats.org/officeDocument/2006/relationships/image" Target="../media/image193.png"/><Relationship Id="rId18" Type="http://schemas.openxmlformats.org/officeDocument/2006/relationships/image" Target="../media/image214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7.jpg"/><Relationship Id="rId11" Type="http://schemas.openxmlformats.org/officeDocument/2006/relationships/image" Target="../media/image200.png"/><Relationship Id="rId22" Type="http://schemas.openxmlformats.org/officeDocument/2006/relationships/image" Target="../media/image226.jpg"/><Relationship Id="rId10" Type="http://schemas.openxmlformats.org/officeDocument/2006/relationships/image" Target="../media/image202.png"/><Relationship Id="rId21" Type="http://schemas.openxmlformats.org/officeDocument/2006/relationships/image" Target="../media/image223.jpg"/><Relationship Id="rId13" Type="http://schemas.openxmlformats.org/officeDocument/2006/relationships/image" Target="../media/image204.png"/><Relationship Id="rId24" Type="http://schemas.openxmlformats.org/officeDocument/2006/relationships/image" Target="../media/image1.png"/><Relationship Id="rId12" Type="http://schemas.openxmlformats.org/officeDocument/2006/relationships/image" Target="../media/image203.png"/><Relationship Id="rId23" Type="http://schemas.openxmlformats.org/officeDocument/2006/relationships/image" Target="../media/image232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7" Type="http://schemas.openxmlformats.org/officeDocument/2006/relationships/image" Target="../media/image215.png"/><Relationship Id="rId16" Type="http://schemas.openxmlformats.org/officeDocument/2006/relationships/image" Target="../media/image67.png"/><Relationship Id="rId5" Type="http://schemas.openxmlformats.org/officeDocument/2006/relationships/image" Target="../media/image42.png"/><Relationship Id="rId19" Type="http://schemas.openxmlformats.org/officeDocument/2006/relationships/image" Target="../media/image212.png"/><Relationship Id="rId6" Type="http://schemas.openxmlformats.org/officeDocument/2006/relationships/image" Target="../media/image193.png"/><Relationship Id="rId18" Type="http://schemas.openxmlformats.org/officeDocument/2006/relationships/image" Target="../media/image214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7.jpg"/><Relationship Id="rId11" Type="http://schemas.openxmlformats.org/officeDocument/2006/relationships/image" Target="../media/image200.png"/><Relationship Id="rId22" Type="http://schemas.openxmlformats.org/officeDocument/2006/relationships/image" Target="../media/image226.jpg"/><Relationship Id="rId10" Type="http://schemas.openxmlformats.org/officeDocument/2006/relationships/image" Target="../media/image202.png"/><Relationship Id="rId21" Type="http://schemas.openxmlformats.org/officeDocument/2006/relationships/image" Target="../media/image223.jpg"/><Relationship Id="rId13" Type="http://schemas.openxmlformats.org/officeDocument/2006/relationships/image" Target="../media/image204.png"/><Relationship Id="rId24" Type="http://schemas.openxmlformats.org/officeDocument/2006/relationships/image" Target="../media/image1.png"/><Relationship Id="rId12" Type="http://schemas.openxmlformats.org/officeDocument/2006/relationships/image" Target="../media/image203.png"/><Relationship Id="rId23" Type="http://schemas.openxmlformats.org/officeDocument/2006/relationships/image" Target="../media/image23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5" Type="http://schemas.openxmlformats.org/officeDocument/2006/relationships/image" Target="../media/image207.png"/><Relationship Id="rId14" Type="http://schemas.openxmlformats.org/officeDocument/2006/relationships/image" Target="../media/image206.png"/><Relationship Id="rId17" Type="http://schemas.openxmlformats.org/officeDocument/2006/relationships/image" Target="../media/image215.png"/><Relationship Id="rId16" Type="http://schemas.openxmlformats.org/officeDocument/2006/relationships/image" Target="../media/image67.png"/><Relationship Id="rId5" Type="http://schemas.openxmlformats.org/officeDocument/2006/relationships/image" Target="../media/image42.png"/><Relationship Id="rId19" Type="http://schemas.openxmlformats.org/officeDocument/2006/relationships/image" Target="../media/image212.png"/><Relationship Id="rId6" Type="http://schemas.openxmlformats.org/officeDocument/2006/relationships/image" Target="../media/image193.png"/><Relationship Id="rId18" Type="http://schemas.openxmlformats.org/officeDocument/2006/relationships/image" Target="../media/image214.png"/><Relationship Id="rId7" Type="http://schemas.openxmlformats.org/officeDocument/2006/relationships/image" Target="../media/image195.png"/><Relationship Id="rId8" Type="http://schemas.openxmlformats.org/officeDocument/2006/relationships/image" Target="../media/image198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4.png"/><Relationship Id="rId10" Type="http://schemas.openxmlformats.org/officeDocument/2006/relationships/image" Target="../media/image235.png"/><Relationship Id="rId13" Type="http://schemas.openxmlformats.org/officeDocument/2006/relationships/image" Target="../media/image230.jpg"/><Relationship Id="rId12" Type="http://schemas.openxmlformats.org/officeDocument/2006/relationships/image" Target="../media/image2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67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28.png"/><Relationship Id="rId7" Type="http://schemas.openxmlformats.org/officeDocument/2006/relationships/image" Target="../media/image316.png"/><Relationship Id="rId8" Type="http://schemas.openxmlformats.org/officeDocument/2006/relationships/image" Target="../media/image236.png"/></Relationships>
</file>

<file path=ppt/slides/_rels/slide4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4.png"/><Relationship Id="rId10" Type="http://schemas.openxmlformats.org/officeDocument/2006/relationships/image" Target="../media/image235.png"/><Relationship Id="rId13" Type="http://schemas.openxmlformats.org/officeDocument/2006/relationships/image" Target="../media/image258.jpg"/><Relationship Id="rId12" Type="http://schemas.openxmlformats.org/officeDocument/2006/relationships/image" Target="../media/image2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67.png"/><Relationship Id="rId1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28.png"/><Relationship Id="rId7" Type="http://schemas.openxmlformats.org/officeDocument/2006/relationships/image" Target="../media/image316.png"/><Relationship Id="rId8" Type="http://schemas.openxmlformats.org/officeDocument/2006/relationships/image" Target="../media/image236.png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2.png"/><Relationship Id="rId10" Type="http://schemas.openxmlformats.org/officeDocument/2006/relationships/image" Target="../media/image244.png"/><Relationship Id="rId13" Type="http://schemas.openxmlformats.org/officeDocument/2006/relationships/image" Target="../media/image230.jpg"/><Relationship Id="rId12" Type="http://schemas.openxmlformats.org/officeDocument/2006/relationships/image" Target="../media/image2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5" Type="http://schemas.openxmlformats.org/officeDocument/2006/relationships/image" Target="../media/image1.png"/><Relationship Id="rId14" Type="http://schemas.openxmlformats.org/officeDocument/2006/relationships/image" Target="../media/image246.jpg"/><Relationship Id="rId5" Type="http://schemas.openxmlformats.org/officeDocument/2006/relationships/image" Target="../media/image25.png"/><Relationship Id="rId6" Type="http://schemas.openxmlformats.org/officeDocument/2006/relationships/image" Target="../media/image248.png"/><Relationship Id="rId7" Type="http://schemas.openxmlformats.org/officeDocument/2006/relationships/image" Target="../media/image245.png"/><Relationship Id="rId8" Type="http://schemas.openxmlformats.org/officeDocument/2006/relationships/image" Target="../media/image269.png"/></Relationships>
</file>

<file path=ppt/slides/_rels/slide4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5.png"/><Relationship Id="rId10" Type="http://schemas.openxmlformats.org/officeDocument/2006/relationships/image" Target="../media/image247.png"/><Relationship Id="rId13" Type="http://schemas.openxmlformats.org/officeDocument/2006/relationships/image" Target="../media/image230.jpg"/><Relationship Id="rId12" Type="http://schemas.openxmlformats.org/officeDocument/2006/relationships/image" Target="../media/image2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67.png"/><Relationship Id="rId15" Type="http://schemas.openxmlformats.org/officeDocument/2006/relationships/image" Target="../media/image261.jpg"/><Relationship Id="rId14" Type="http://schemas.openxmlformats.org/officeDocument/2006/relationships/image" Target="../media/image246.jpg"/><Relationship Id="rId16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54.png"/><Relationship Id="rId7" Type="http://schemas.openxmlformats.org/officeDocument/2006/relationships/image" Target="../media/image250.png"/><Relationship Id="rId8" Type="http://schemas.openxmlformats.org/officeDocument/2006/relationships/image" Target="../media/image251.png"/></Relationships>
</file>

<file path=ppt/slides/_rels/slide5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5.png"/><Relationship Id="rId10" Type="http://schemas.openxmlformats.org/officeDocument/2006/relationships/image" Target="../media/image262.png"/><Relationship Id="rId13" Type="http://schemas.openxmlformats.org/officeDocument/2006/relationships/image" Target="../media/image258.jpg"/><Relationship Id="rId1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5" Type="http://schemas.openxmlformats.org/officeDocument/2006/relationships/image" Target="../media/image1.png"/><Relationship Id="rId14" Type="http://schemas.openxmlformats.org/officeDocument/2006/relationships/image" Target="../media/image273.jpg"/><Relationship Id="rId5" Type="http://schemas.openxmlformats.org/officeDocument/2006/relationships/image" Target="../media/image42.png"/><Relationship Id="rId6" Type="http://schemas.openxmlformats.org/officeDocument/2006/relationships/image" Target="../media/image256.png"/><Relationship Id="rId7" Type="http://schemas.openxmlformats.org/officeDocument/2006/relationships/image" Target="../media/image260.png"/><Relationship Id="rId8" Type="http://schemas.openxmlformats.org/officeDocument/2006/relationships/image" Target="../media/image25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68.jpg"/><Relationship Id="rId6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70.png"/><Relationship Id="rId5" Type="http://schemas.openxmlformats.org/officeDocument/2006/relationships/image" Target="../media/image268.jpg"/><Relationship Id="rId6" Type="http://schemas.openxmlformats.org/officeDocument/2006/relationships/image" Target="../media/image42.png"/><Relationship Id="rId7" Type="http://schemas.openxmlformats.org/officeDocument/2006/relationships/image" Target="../media/image266.png"/><Relationship Id="rId8" Type="http://schemas.openxmlformats.org/officeDocument/2006/relationships/image" Target="../media/image26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75.png"/><Relationship Id="rId6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75.png"/><Relationship Id="rId6" Type="http://schemas.openxmlformats.org/officeDocument/2006/relationships/image" Target="../media/image274.png"/><Relationship Id="rId7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75.png"/><Relationship Id="rId6" Type="http://schemas.openxmlformats.org/officeDocument/2006/relationships/image" Target="../media/image274.png"/><Relationship Id="rId7" Type="http://schemas.openxmlformats.org/officeDocument/2006/relationships/image" Target="../media/image277.png"/><Relationship Id="rId8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275.png"/><Relationship Id="rId6" Type="http://schemas.openxmlformats.org/officeDocument/2006/relationships/image" Target="../media/image274.png"/><Relationship Id="rId7" Type="http://schemas.openxmlformats.org/officeDocument/2006/relationships/image" Target="../media/image277.png"/><Relationship Id="rId8" Type="http://schemas.openxmlformats.org/officeDocument/2006/relationships/image" Target="../media/image279.png"/></Relationships>
</file>

<file path=ppt/slides/_rels/slide5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91.png"/><Relationship Id="rId5" Type="http://schemas.openxmlformats.org/officeDocument/2006/relationships/image" Target="../media/image275.png"/><Relationship Id="rId6" Type="http://schemas.openxmlformats.org/officeDocument/2006/relationships/image" Target="../media/image274.png"/><Relationship Id="rId7" Type="http://schemas.openxmlformats.org/officeDocument/2006/relationships/image" Target="../media/image277.png"/><Relationship Id="rId8" Type="http://schemas.openxmlformats.org/officeDocument/2006/relationships/image" Target="../media/image279.png"/></Relationships>
</file>

<file path=ppt/slides/_rels/slide5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28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91.png"/><Relationship Id="rId5" Type="http://schemas.openxmlformats.org/officeDocument/2006/relationships/image" Target="../media/image275.png"/><Relationship Id="rId6" Type="http://schemas.openxmlformats.org/officeDocument/2006/relationships/image" Target="../media/image274.png"/><Relationship Id="rId7" Type="http://schemas.openxmlformats.org/officeDocument/2006/relationships/image" Target="../media/image277.png"/><Relationship Id="rId8" Type="http://schemas.openxmlformats.org/officeDocument/2006/relationships/image" Target="../media/image27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292.png"/><Relationship Id="rId8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85.png"/><Relationship Id="rId7" Type="http://schemas.openxmlformats.org/officeDocument/2006/relationships/image" Target="../media/image284.png"/><Relationship Id="rId8" Type="http://schemas.openxmlformats.org/officeDocument/2006/relationships/image" Target="../media/image288.png"/></Relationships>
</file>

<file path=ppt/slides/_rels/slide6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2.png"/><Relationship Id="rId11" Type="http://schemas.openxmlformats.org/officeDocument/2006/relationships/image" Target="../media/image295.png"/><Relationship Id="rId10" Type="http://schemas.openxmlformats.org/officeDocument/2006/relationships/image" Target="../media/image296.png"/><Relationship Id="rId21" Type="http://schemas.openxmlformats.org/officeDocument/2006/relationships/image" Target="../media/image1.png"/><Relationship Id="rId13" Type="http://schemas.openxmlformats.org/officeDocument/2006/relationships/image" Target="../media/image298.png"/><Relationship Id="rId12" Type="http://schemas.openxmlformats.org/officeDocument/2006/relationships/image" Target="../media/image2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294.png"/><Relationship Id="rId15" Type="http://schemas.openxmlformats.org/officeDocument/2006/relationships/image" Target="../media/image300.png"/><Relationship Id="rId14" Type="http://schemas.openxmlformats.org/officeDocument/2006/relationships/image" Target="../media/image299.png"/><Relationship Id="rId17" Type="http://schemas.openxmlformats.org/officeDocument/2006/relationships/image" Target="../media/image307.png"/><Relationship Id="rId16" Type="http://schemas.openxmlformats.org/officeDocument/2006/relationships/image" Target="../media/image303.png"/><Relationship Id="rId5" Type="http://schemas.openxmlformats.org/officeDocument/2006/relationships/image" Target="../media/image25.png"/><Relationship Id="rId19" Type="http://schemas.openxmlformats.org/officeDocument/2006/relationships/image" Target="../media/image308.png"/><Relationship Id="rId6" Type="http://schemas.openxmlformats.org/officeDocument/2006/relationships/image" Target="../media/image285.png"/><Relationship Id="rId18" Type="http://schemas.openxmlformats.org/officeDocument/2006/relationships/image" Target="../media/image311.png"/><Relationship Id="rId7" Type="http://schemas.openxmlformats.org/officeDocument/2006/relationships/image" Target="../media/image284.png"/><Relationship Id="rId8" Type="http://schemas.openxmlformats.org/officeDocument/2006/relationships/image" Target="../media/image28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12.jpg"/><Relationship Id="rId6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12.jpg"/><Relationship Id="rId5" Type="http://schemas.openxmlformats.org/officeDocument/2006/relationships/image" Target="../media/image25.png"/><Relationship Id="rId6" Type="http://schemas.openxmlformats.org/officeDocument/2006/relationships/image" Target="../media/image301.png"/><Relationship Id="rId7" Type="http://schemas.openxmlformats.org/officeDocument/2006/relationships/image" Target="../media/image304.png"/><Relationship Id="rId8" Type="http://schemas.openxmlformats.org/officeDocument/2006/relationships/image" Target="../media/image309.png"/></Relationships>
</file>

<file path=ppt/slides/_rels/slide6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14.jpg"/><Relationship Id="rId5" Type="http://schemas.openxmlformats.org/officeDocument/2006/relationships/image" Target="../media/image25.png"/><Relationship Id="rId6" Type="http://schemas.openxmlformats.org/officeDocument/2006/relationships/image" Target="../media/image301.png"/><Relationship Id="rId7" Type="http://schemas.openxmlformats.org/officeDocument/2006/relationships/image" Target="../media/image304.png"/><Relationship Id="rId8" Type="http://schemas.openxmlformats.org/officeDocument/2006/relationships/image" Target="../media/image309.png"/></Relationships>
</file>

<file path=ppt/slides/_rels/slide6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13.jpg"/><Relationship Id="rId5" Type="http://schemas.openxmlformats.org/officeDocument/2006/relationships/image" Target="../media/image25.png"/><Relationship Id="rId6" Type="http://schemas.openxmlformats.org/officeDocument/2006/relationships/image" Target="../media/image301.png"/><Relationship Id="rId7" Type="http://schemas.openxmlformats.org/officeDocument/2006/relationships/image" Target="../media/image304.png"/><Relationship Id="rId8" Type="http://schemas.openxmlformats.org/officeDocument/2006/relationships/image" Target="../media/image309.png"/></Relationships>
</file>

<file path=ppt/slides/_rels/slide6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20.jpg"/><Relationship Id="rId5" Type="http://schemas.openxmlformats.org/officeDocument/2006/relationships/image" Target="../media/image25.png"/><Relationship Id="rId6" Type="http://schemas.openxmlformats.org/officeDocument/2006/relationships/image" Target="../media/image301.png"/><Relationship Id="rId7" Type="http://schemas.openxmlformats.org/officeDocument/2006/relationships/image" Target="../media/image304.png"/><Relationship Id="rId8" Type="http://schemas.openxmlformats.org/officeDocument/2006/relationships/image" Target="../media/image309.png"/></Relationships>
</file>

<file path=ppt/slides/_rels/slide6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23.jpg"/><Relationship Id="rId5" Type="http://schemas.openxmlformats.org/officeDocument/2006/relationships/image" Target="../media/image25.png"/><Relationship Id="rId6" Type="http://schemas.openxmlformats.org/officeDocument/2006/relationships/image" Target="../media/image301.png"/><Relationship Id="rId7" Type="http://schemas.openxmlformats.org/officeDocument/2006/relationships/image" Target="../media/image304.png"/><Relationship Id="rId8" Type="http://schemas.openxmlformats.org/officeDocument/2006/relationships/image" Target="../media/image309.png"/></Relationships>
</file>

<file path=ppt/slides/_rels/slide6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5.png"/><Relationship Id="rId10" Type="http://schemas.openxmlformats.org/officeDocument/2006/relationships/image" Target="../media/image328.png"/><Relationship Id="rId13" Type="http://schemas.openxmlformats.org/officeDocument/2006/relationships/image" Target="../media/image1.png"/><Relationship Id="rId12" Type="http://schemas.openxmlformats.org/officeDocument/2006/relationships/image" Target="../media/image3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2.png"/><Relationship Id="rId5" Type="http://schemas.openxmlformats.org/officeDocument/2006/relationships/image" Target="../media/image327.png"/><Relationship Id="rId6" Type="http://schemas.openxmlformats.org/officeDocument/2006/relationships/image" Target="../media/image318.png"/><Relationship Id="rId7" Type="http://schemas.openxmlformats.org/officeDocument/2006/relationships/image" Target="../media/image317.png"/><Relationship Id="rId8" Type="http://schemas.openxmlformats.org/officeDocument/2006/relationships/image" Target="../media/image31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21.jpg"/><Relationship Id="rId6" Type="http://schemas.openxmlformats.org/officeDocument/2006/relationships/image" Target="../media/image329.png"/><Relationship Id="rId7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21.jpg"/><Relationship Id="rId6" Type="http://schemas.openxmlformats.org/officeDocument/2006/relationships/image" Target="../media/image329.png"/><Relationship Id="rId7" Type="http://schemas.openxmlformats.org/officeDocument/2006/relationships/image" Target="../media/image330.png"/><Relationship Id="rId8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21.jpg"/><Relationship Id="rId6" Type="http://schemas.openxmlformats.org/officeDocument/2006/relationships/image" Target="../media/image332.png"/><Relationship Id="rId7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21.jpg"/><Relationship Id="rId6" Type="http://schemas.openxmlformats.org/officeDocument/2006/relationships/image" Target="../media/image332.png"/><Relationship Id="rId7" Type="http://schemas.openxmlformats.org/officeDocument/2006/relationships/image" Target="../media/image331.png"/><Relationship Id="rId8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321.jpg"/><Relationship Id="rId6" Type="http://schemas.openxmlformats.org/officeDocument/2006/relationships/image" Target="../media/image332.png"/><Relationship Id="rId7" Type="http://schemas.openxmlformats.org/officeDocument/2006/relationships/image" Target="../media/image331.png"/><Relationship Id="rId8" Type="http://schemas.openxmlformats.org/officeDocument/2006/relationships/image" Target="../media/image334.png"/></Relationships>
</file>

<file path=ppt/slides/_rels/slide7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4.png"/><Relationship Id="rId5" Type="http://schemas.openxmlformats.org/officeDocument/2006/relationships/image" Target="../media/image321.jpg"/><Relationship Id="rId6" Type="http://schemas.openxmlformats.org/officeDocument/2006/relationships/image" Target="../media/image332.png"/><Relationship Id="rId7" Type="http://schemas.openxmlformats.org/officeDocument/2006/relationships/image" Target="../media/image331.png"/><Relationship Id="rId8" Type="http://schemas.openxmlformats.org/officeDocument/2006/relationships/image" Target="../media/image33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343.png"/><Relationship Id="rId7" Type="http://schemas.openxmlformats.org/officeDocument/2006/relationships/image" Target="../media/image337.png"/><Relationship Id="rId8" Type="http://schemas.openxmlformats.org/officeDocument/2006/relationships/image" Target="../media/image342.png"/></Relationships>
</file>

<file path=ppt/slides/_rels/slide7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6.png"/><Relationship Id="rId10" Type="http://schemas.openxmlformats.org/officeDocument/2006/relationships/image" Target="../media/image339.png"/><Relationship Id="rId13" Type="http://schemas.openxmlformats.org/officeDocument/2006/relationships/image" Target="../media/image1.png"/><Relationship Id="rId12" Type="http://schemas.openxmlformats.org/officeDocument/2006/relationships/image" Target="../media/image3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343.png"/><Relationship Id="rId7" Type="http://schemas.openxmlformats.org/officeDocument/2006/relationships/image" Target="../media/image337.png"/><Relationship Id="rId8" Type="http://schemas.openxmlformats.org/officeDocument/2006/relationships/image" Target="../media/image342.png"/></Relationships>
</file>

<file path=ppt/slides/_rels/slide7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7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35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7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9.png"/><Relationship Id="rId10" Type="http://schemas.openxmlformats.org/officeDocument/2006/relationships/image" Target="../media/image355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8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9.png"/><Relationship Id="rId10" Type="http://schemas.openxmlformats.org/officeDocument/2006/relationships/image" Target="../media/image355.png"/><Relationship Id="rId13" Type="http://schemas.openxmlformats.org/officeDocument/2006/relationships/image" Target="../media/image1.png"/><Relationship Id="rId1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8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9.png"/><Relationship Id="rId10" Type="http://schemas.openxmlformats.org/officeDocument/2006/relationships/image" Target="../media/image355.png"/><Relationship Id="rId13" Type="http://schemas.openxmlformats.org/officeDocument/2006/relationships/image" Target="../media/image380.png"/><Relationship Id="rId1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14" Type="http://schemas.openxmlformats.org/officeDocument/2006/relationships/image" Target="../media/image1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8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9.png"/><Relationship Id="rId10" Type="http://schemas.openxmlformats.org/officeDocument/2006/relationships/image" Target="../media/image355.png"/><Relationship Id="rId13" Type="http://schemas.openxmlformats.org/officeDocument/2006/relationships/image" Target="../media/image380.png"/><Relationship Id="rId1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15" Type="http://schemas.openxmlformats.org/officeDocument/2006/relationships/image" Target="../media/image1.png"/><Relationship Id="rId14" Type="http://schemas.openxmlformats.org/officeDocument/2006/relationships/image" Target="../media/image362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8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9.png"/><Relationship Id="rId10" Type="http://schemas.openxmlformats.org/officeDocument/2006/relationships/image" Target="../media/image355.png"/><Relationship Id="rId13" Type="http://schemas.openxmlformats.org/officeDocument/2006/relationships/image" Target="../media/image380.png"/><Relationship Id="rId1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348.png"/><Relationship Id="rId15" Type="http://schemas.openxmlformats.org/officeDocument/2006/relationships/image" Target="../media/image1.png"/><Relationship Id="rId14" Type="http://schemas.openxmlformats.org/officeDocument/2006/relationships/image" Target="../media/image362.png"/><Relationship Id="rId5" Type="http://schemas.openxmlformats.org/officeDocument/2006/relationships/image" Target="../media/image353.png"/><Relationship Id="rId6" Type="http://schemas.openxmlformats.org/officeDocument/2006/relationships/image" Target="../media/image142.png"/><Relationship Id="rId7" Type="http://schemas.openxmlformats.org/officeDocument/2006/relationships/image" Target="../media/image349.png"/><Relationship Id="rId8" Type="http://schemas.openxmlformats.org/officeDocument/2006/relationships/image" Target="../media/image35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7.jpg"/><Relationship Id="rId6" Type="http://schemas.openxmlformats.org/officeDocument/2006/relationships/image" Target="../media/image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8.jpg"/><Relationship Id="rId6" Type="http://schemas.openxmlformats.org/officeDocument/2006/relationships/image" Target="../media/image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1.jpg"/><Relationship Id="rId6" Type="http://schemas.openxmlformats.org/officeDocument/2006/relationships/image" Target="../media/image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4.jpg"/><Relationship Id="rId6" Type="http://schemas.openxmlformats.org/officeDocument/2006/relationships/image" Target="../media/image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9.jpg"/><Relationship Id="rId6" Type="http://schemas.openxmlformats.org/officeDocument/2006/relationships/image" Target="../media/image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2.jpg"/><Relationship Id="rId6" Type="http://schemas.openxmlformats.org/officeDocument/2006/relationships/image" Target="../media/image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0.jpg"/><Relationship Id="rId6" Type="http://schemas.openxmlformats.org/officeDocument/2006/relationships/image" Target="../media/image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5.jpg"/><Relationship Id="rId6" Type="http://schemas.openxmlformats.org/officeDocument/2006/relationships/image" Target="../media/image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6.jpg"/><Relationship Id="rId6" Type="http://schemas.openxmlformats.org/officeDocument/2006/relationships/image" Target="../media/image1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4.jpg"/><Relationship Id="rId6" Type="http://schemas.openxmlformats.org/officeDocument/2006/relationships/image" Target="../media/image1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8.jpg"/><Relationship Id="rId6" Type="http://schemas.openxmlformats.org/officeDocument/2006/relationships/image" Target="../media/image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8.jpg"/><Relationship Id="rId6" Type="http://schemas.openxmlformats.org/officeDocument/2006/relationships/image" Target="../media/image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7.png"/><Relationship Id="rId6" Type="http://schemas.openxmlformats.org/officeDocument/2006/relationships/image" Target="../media/image1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79.png"/><Relationship Id="rId6" Type="http://schemas.openxmlformats.org/officeDocument/2006/relationships/image" Target="../media/image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85.png"/><Relationship Id="rId6" Type="http://schemas.openxmlformats.org/officeDocument/2006/relationships/image" Target="../media/image1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88.png"/><Relationship Id="rId6" Type="http://schemas.openxmlformats.org/officeDocument/2006/relationships/image" Target="../media/image1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88.png"/><Relationship Id="rId6" Type="http://schemas.openxmlformats.org/officeDocument/2006/relationships/image" Target="../media/image370.jpg"/><Relationship Id="rId7" Type="http://schemas.openxmlformats.org/officeDocument/2006/relationships/image" Target="../media/image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Relationship Id="rId7" Type="http://schemas.openxmlformats.org/officeDocument/2006/relationships/image" Target="../media/image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88.png"/><Relationship Id="rId6" Type="http://schemas.openxmlformats.org/officeDocument/2006/relationships/image" Target="../media/image383.png"/><Relationship Id="rId7" Type="http://schemas.openxmlformats.org/officeDocument/2006/relationships/image" Target="../media/image1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88.png"/><Relationship Id="rId6" Type="http://schemas.openxmlformats.org/officeDocument/2006/relationships/image" Target="../media/image387.png"/><Relationship Id="rId7" Type="http://schemas.openxmlformats.org/officeDocument/2006/relationships/image" Target="../media/image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7.jpg"/><Relationship Id="rId6" Type="http://schemas.openxmlformats.org/officeDocument/2006/relationships/image" Target="../media/image386.jpg"/><Relationship Id="rId7" Type="http://schemas.openxmlformats.org/officeDocument/2006/relationships/image" Target="../media/image1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67.jpg"/><Relationship Id="rId6" Type="http://schemas.openxmlformats.org/officeDocument/2006/relationships/image" Target="../media/image393.jpg"/><Relationship Id="rId7" Type="http://schemas.openxmlformats.org/officeDocument/2006/relationships/image" Target="../media/image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8.png"/><Relationship Id="rId8" Type="http://schemas.openxmlformats.org/officeDocument/2006/relationships/image" Target="../media/image1.png"/></Relationships>
</file>

<file path=ppt/slides/_rels/slide10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1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405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14" Type="http://schemas.openxmlformats.org/officeDocument/2006/relationships/image" Target="../media/image1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405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15" Type="http://schemas.openxmlformats.org/officeDocument/2006/relationships/image" Target="../media/image1.png"/><Relationship Id="rId14" Type="http://schemas.openxmlformats.org/officeDocument/2006/relationships/image" Target="../media/image407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405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15" Type="http://schemas.openxmlformats.org/officeDocument/2006/relationships/image" Target="../media/image410.png"/><Relationship Id="rId14" Type="http://schemas.openxmlformats.org/officeDocument/2006/relationships/image" Target="../media/image407.png"/><Relationship Id="rId16" Type="http://schemas.openxmlformats.org/officeDocument/2006/relationships/image" Target="../media/image1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405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15" Type="http://schemas.openxmlformats.org/officeDocument/2006/relationships/image" Target="../media/image410.png"/><Relationship Id="rId14" Type="http://schemas.openxmlformats.org/officeDocument/2006/relationships/image" Target="../media/image407.png"/><Relationship Id="rId17" Type="http://schemas.openxmlformats.org/officeDocument/2006/relationships/image" Target="../media/image1.png"/><Relationship Id="rId16" Type="http://schemas.openxmlformats.org/officeDocument/2006/relationships/image" Target="../media/image412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405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15" Type="http://schemas.openxmlformats.org/officeDocument/2006/relationships/image" Target="../media/image410.png"/><Relationship Id="rId14" Type="http://schemas.openxmlformats.org/officeDocument/2006/relationships/image" Target="../media/image407.png"/><Relationship Id="rId17" Type="http://schemas.openxmlformats.org/officeDocument/2006/relationships/image" Target="../media/image411.png"/><Relationship Id="rId16" Type="http://schemas.openxmlformats.org/officeDocument/2006/relationships/image" Target="../media/image412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Relationship Id="rId18" Type="http://schemas.openxmlformats.org/officeDocument/2006/relationships/image" Target="../media/image1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0.png"/><Relationship Id="rId10" Type="http://schemas.openxmlformats.org/officeDocument/2006/relationships/image" Target="../media/image395.png"/><Relationship Id="rId13" Type="http://schemas.openxmlformats.org/officeDocument/2006/relationships/image" Target="../media/image405.png"/><Relationship Id="rId1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01.png"/><Relationship Id="rId15" Type="http://schemas.openxmlformats.org/officeDocument/2006/relationships/image" Target="../media/image410.png"/><Relationship Id="rId14" Type="http://schemas.openxmlformats.org/officeDocument/2006/relationships/image" Target="../media/image407.png"/><Relationship Id="rId17" Type="http://schemas.openxmlformats.org/officeDocument/2006/relationships/image" Target="../media/image411.png"/><Relationship Id="rId16" Type="http://schemas.openxmlformats.org/officeDocument/2006/relationships/image" Target="../media/image412.png"/><Relationship Id="rId5" Type="http://schemas.openxmlformats.org/officeDocument/2006/relationships/image" Target="../media/image391.png"/><Relationship Id="rId19" Type="http://schemas.openxmlformats.org/officeDocument/2006/relationships/image" Target="../media/image1.png"/><Relationship Id="rId6" Type="http://schemas.openxmlformats.org/officeDocument/2006/relationships/image" Target="../media/image392.png"/><Relationship Id="rId18" Type="http://schemas.openxmlformats.org/officeDocument/2006/relationships/image" Target="../media/image415.png"/><Relationship Id="rId7" Type="http://schemas.openxmlformats.org/officeDocument/2006/relationships/image" Target="../media/image398.png"/><Relationship Id="rId8" Type="http://schemas.openxmlformats.org/officeDocument/2006/relationships/image" Target="../media/image4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17.jpg"/><Relationship Id="rId6" Type="http://schemas.openxmlformats.org/officeDocument/2006/relationships/image" Target="../media/image1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18.jpg"/><Relationship Id="rId6" Type="http://schemas.openxmlformats.org/officeDocument/2006/relationships/image" Target="../media/image1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2.jpg"/><Relationship Id="rId6" Type="http://schemas.openxmlformats.org/officeDocument/2006/relationships/image" Target="../media/image1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7.jpg"/><Relationship Id="rId6" Type="http://schemas.openxmlformats.org/officeDocument/2006/relationships/image" Target="../media/image1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1.jpg"/><Relationship Id="rId6" Type="http://schemas.openxmlformats.org/officeDocument/2006/relationships/image" Target="../media/image1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0.jpg"/><Relationship Id="rId6" Type="http://schemas.openxmlformats.org/officeDocument/2006/relationships/image" Target="../media/image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4.jpg"/><Relationship Id="rId6" Type="http://schemas.openxmlformats.org/officeDocument/2006/relationships/image" Target="../media/image1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5.jpg"/><Relationship Id="rId6" Type="http://schemas.openxmlformats.org/officeDocument/2006/relationships/image" Target="../media/image1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3.jpg"/><Relationship Id="rId6" Type="http://schemas.openxmlformats.org/officeDocument/2006/relationships/image" Target="../media/image1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0.jpg"/><Relationship Id="rId6" Type="http://schemas.openxmlformats.org/officeDocument/2006/relationships/image" Target="../media/image1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16.jpg"/><Relationship Id="rId6" Type="http://schemas.openxmlformats.org/officeDocument/2006/relationships/image" Target="../media/image1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8.jpg"/><Relationship Id="rId6" Type="http://schemas.openxmlformats.org/officeDocument/2006/relationships/image" Target="../media/image1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19.jpg"/><Relationship Id="rId6" Type="http://schemas.openxmlformats.org/officeDocument/2006/relationships/image" Target="../media/image1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26.jpg"/><Relationship Id="rId6" Type="http://schemas.openxmlformats.org/officeDocument/2006/relationships/image" Target="../media/image1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3.jpg"/><Relationship Id="rId6" Type="http://schemas.openxmlformats.org/officeDocument/2006/relationships/image" Target="../media/image1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1.jpg"/><Relationship Id="rId6" Type="http://schemas.openxmlformats.org/officeDocument/2006/relationships/image" Target="../media/image1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5.jpg"/><Relationship Id="rId6" Type="http://schemas.openxmlformats.org/officeDocument/2006/relationships/image" Target="../media/image431.jpg"/><Relationship Id="rId7" Type="http://schemas.openxmlformats.org/officeDocument/2006/relationships/image" Target="../media/image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5.jpg"/><Relationship Id="rId6" Type="http://schemas.openxmlformats.org/officeDocument/2006/relationships/image" Target="../media/image432.jpg"/><Relationship Id="rId7" Type="http://schemas.openxmlformats.org/officeDocument/2006/relationships/image" Target="../media/image1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5.jpg"/><Relationship Id="rId6" Type="http://schemas.openxmlformats.org/officeDocument/2006/relationships/image" Target="../media/image438.jpg"/><Relationship Id="rId7" Type="http://schemas.openxmlformats.org/officeDocument/2006/relationships/image" Target="../media/image1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6.png"/><Relationship Id="rId6" Type="http://schemas.openxmlformats.org/officeDocument/2006/relationships/image" Target="../media/image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6.png"/><Relationship Id="rId6" Type="http://schemas.openxmlformats.org/officeDocument/2006/relationships/image" Target="../media/image437.png"/><Relationship Id="rId7" Type="http://schemas.openxmlformats.org/officeDocument/2006/relationships/image" Target="../media/image1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36.png"/><Relationship Id="rId6" Type="http://schemas.openxmlformats.org/officeDocument/2006/relationships/image" Target="../media/image437.png"/><Relationship Id="rId7" Type="http://schemas.openxmlformats.org/officeDocument/2006/relationships/image" Target="../media/image441.png"/><Relationship Id="rId8" Type="http://schemas.openxmlformats.org/officeDocument/2006/relationships/image" Target="../media/image1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436.png"/><Relationship Id="rId6" Type="http://schemas.openxmlformats.org/officeDocument/2006/relationships/image" Target="../media/image437.png"/><Relationship Id="rId7" Type="http://schemas.openxmlformats.org/officeDocument/2006/relationships/image" Target="../media/image441.png"/><Relationship Id="rId8" Type="http://schemas.openxmlformats.org/officeDocument/2006/relationships/image" Target="../media/image444.png"/></Relationships>
</file>

<file path=ppt/slides/_rels/slide14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45.png"/><Relationship Id="rId5" Type="http://schemas.openxmlformats.org/officeDocument/2006/relationships/image" Target="../media/image436.png"/><Relationship Id="rId6" Type="http://schemas.openxmlformats.org/officeDocument/2006/relationships/image" Target="../media/image437.png"/><Relationship Id="rId7" Type="http://schemas.openxmlformats.org/officeDocument/2006/relationships/image" Target="../media/image441.png"/><Relationship Id="rId8" Type="http://schemas.openxmlformats.org/officeDocument/2006/relationships/image" Target="../media/image444.png"/></Relationships>
</file>

<file path=ppt/slides/_rels/slide1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4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445.png"/><Relationship Id="rId5" Type="http://schemas.openxmlformats.org/officeDocument/2006/relationships/image" Target="../media/image436.png"/><Relationship Id="rId6" Type="http://schemas.openxmlformats.org/officeDocument/2006/relationships/image" Target="../media/image437.png"/><Relationship Id="rId7" Type="http://schemas.openxmlformats.org/officeDocument/2006/relationships/image" Target="../media/image441.png"/><Relationship Id="rId8" Type="http://schemas.openxmlformats.org/officeDocument/2006/relationships/image" Target="../media/image4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/>
          <p:nvPr/>
        </p:nvSpPr>
        <p:spPr>
          <a:xfrm>
            <a:off x="0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7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"/>
          <p:cNvGrpSpPr/>
          <p:nvPr/>
        </p:nvGrpSpPr>
        <p:grpSpPr>
          <a:xfrm>
            <a:off x="309197" y="346331"/>
            <a:ext cx="4040452" cy="635938"/>
            <a:chOff x="309197" y="346331"/>
            <a:chExt cx="4040452" cy="635938"/>
          </a:xfrm>
        </p:grpSpPr>
        <p:sp>
          <p:nvSpPr>
            <p:cNvPr id="56" name="Google Shape;56;p1"/>
            <p:cNvSpPr/>
            <p:nvPr/>
          </p:nvSpPr>
          <p:spPr>
            <a:xfrm>
              <a:off x="309197" y="346331"/>
              <a:ext cx="3989704" cy="82550"/>
            </a:xfrm>
            <a:custGeom>
              <a:rect b="b" l="l" r="r" t="t"/>
              <a:pathLst>
                <a:path extrusionOk="0" h="8255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88066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867968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396887"/>
              <a:ext cx="50800" cy="4837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"/>
            <p:cNvSpPr/>
            <p:nvPr/>
          </p:nvSpPr>
          <p:spPr>
            <a:xfrm>
              <a:off x="309197" y="390750"/>
              <a:ext cx="3989704" cy="541020"/>
            </a:xfrm>
            <a:custGeom>
              <a:rect b="b" l="l" r="r" t="t"/>
              <a:pathLst>
                <a:path extrusionOk="0" h="541019" w="3989704">
                  <a:moveTo>
                    <a:pt x="3989652" y="0"/>
                  </a:moveTo>
                  <a:lnTo>
                    <a:pt x="0" y="0"/>
                  </a:lnTo>
                  <a:lnTo>
                    <a:pt x="0" y="489918"/>
                  </a:lnTo>
                  <a:lnTo>
                    <a:pt x="4008" y="509643"/>
                  </a:lnTo>
                  <a:lnTo>
                    <a:pt x="14922" y="525796"/>
                  </a:lnTo>
                  <a:lnTo>
                    <a:pt x="31075" y="536710"/>
                  </a:lnTo>
                  <a:lnTo>
                    <a:pt x="50800" y="540718"/>
                  </a:lnTo>
                  <a:lnTo>
                    <a:pt x="3938852" y="540718"/>
                  </a:lnTo>
                  <a:lnTo>
                    <a:pt x="3958576" y="536710"/>
                  </a:lnTo>
                  <a:lnTo>
                    <a:pt x="3974729" y="525796"/>
                  </a:lnTo>
                  <a:lnTo>
                    <a:pt x="3985644" y="509643"/>
                  </a:lnTo>
                  <a:lnTo>
                    <a:pt x="3989652" y="48991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4298849" y="434987"/>
              <a:ext cx="0" cy="464820"/>
            </a:xfrm>
            <a:custGeom>
              <a:rect b="b" l="l" r="r" t="t"/>
              <a:pathLst>
                <a:path extrusionOk="0" h="464819" w="120000">
                  <a:moveTo>
                    <a:pt x="0" y="464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4298849" y="4222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4298849" y="4095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4298849" y="3968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"/>
          <p:cNvSpPr txBox="1"/>
          <p:nvPr/>
        </p:nvSpPr>
        <p:spPr>
          <a:xfrm>
            <a:off x="1503017" y="343287"/>
            <a:ext cx="1602105" cy="50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507797" y="1141553"/>
            <a:ext cx="1592580" cy="58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457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065" marR="5080" rtl="0" algn="ctr">
              <a:lnSpc>
                <a:spcPct val="118750"/>
              </a:lnSpc>
              <a:spcBef>
                <a:spcPts val="1265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Computer Science and Engineering BRAC University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966" y="2182619"/>
            <a:ext cx="114223" cy="240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966" y="25242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/>
        </p:nvSpPr>
        <p:spPr>
          <a:xfrm>
            <a:off x="500501" y="2011092"/>
            <a:ext cx="3618865" cy="88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0" marR="304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20013" lvl="0" marL="132715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FFFFFF"/>
              </a:buClr>
              <a:buSzPts val="600"/>
              <a:buFont typeface="Trebuchet MS"/>
              <a:buAutoNum type="arabicPlain"/>
            </a:pPr>
            <a:r>
              <a:rPr lang="en-US" sz="600">
                <a:latin typeface="Arial"/>
                <a:ea typeface="Arial"/>
                <a:cs typeface="Arial"/>
                <a:sym typeface="Arial"/>
              </a:rPr>
              <a:t>Jon Kleinberg and Éva Tardos, </a:t>
            </a:r>
            <a:r>
              <a:rPr i="1" lang="en-US" sz="600">
                <a:latin typeface="Arial"/>
                <a:ea typeface="Arial"/>
                <a:cs typeface="Arial"/>
                <a:sym typeface="Arial"/>
              </a:rPr>
              <a:t>Algorithm Design</a:t>
            </a:r>
            <a:r>
              <a:rPr lang="en-US" sz="600">
                <a:latin typeface="Arial"/>
                <a:ea typeface="Arial"/>
                <a:cs typeface="Arial"/>
                <a:sym typeface="Arial"/>
              </a:rPr>
              <a:t>. Pearson Education, 2006.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-120013" lvl="0" marL="132080" marR="5080" rtl="0" algn="l">
              <a:lnSpc>
                <a:spcPct val="116666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Trebuchet MS"/>
              <a:buAutoNum type="arabicPlain"/>
            </a:pPr>
            <a:r>
              <a:rPr lang="en-US" sz="600">
                <a:latin typeface="Arial"/>
                <a:ea typeface="Arial"/>
                <a:cs typeface="Arial"/>
                <a:sym typeface="Arial"/>
              </a:rPr>
              <a:t>T. H. Cormen, C. E. Leiserson, R. L. Rivest, and C. Stein, </a:t>
            </a:r>
            <a:r>
              <a:rPr i="1" lang="en-US" sz="600">
                <a:latin typeface="Arial"/>
                <a:ea typeface="Arial"/>
                <a:cs typeface="Arial"/>
                <a:sym typeface="Arial"/>
              </a:rPr>
              <a:t>Introduction to Algorithms, Second Edition</a:t>
            </a:r>
            <a:r>
              <a:rPr lang="en-US" sz="600">
                <a:latin typeface="Arial"/>
                <a:ea typeface="Arial"/>
                <a:cs typeface="Arial"/>
                <a:sym typeface="Arial"/>
              </a:rPr>
              <a:t>. 	The MIT Press, September 2001.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-120013" lvl="0" marL="13271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Trebuchet MS"/>
              <a:buAutoNum type="arabicPlain"/>
            </a:pPr>
            <a:r>
              <a:rPr lang="en-US" sz="600">
                <a:latin typeface="Arial"/>
                <a:ea typeface="Arial"/>
                <a:cs typeface="Arial"/>
                <a:sym typeface="Arial"/>
              </a:rPr>
              <a:t>M. Goodrich and R. Tamassia, </a:t>
            </a:r>
            <a:r>
              <a:rPr i="1" lang="en-US" sz="600">
                <a:latin typeface="Arial"/>
                <a:ea typeface="Arial"/>
                <a:cs typeface="Arial"/>
                <a:sym typeface="Arial"/>
              </a:rPr>
              <a:t>Algorithm Design</a:t>
            </a:r>
            <a:r>
              <a:rPr lang="en-US" sz="600">
                <a:latin typeface="Arial"/>
                <a:ea typeface="Arial"/>
                <a:cs typeface="Arial"/>
                <a:sym typeface="Arial"/>
              </a:rPr>
              <a:t>. John-Wiley and Sons. 2002.</a:t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1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Arial"/>
                <a:ea typeface="Arial"/>
                <a:cs typeface="Arial"/>
                <a:sym typeface="Arial"/>
              </a:rPr>
              <a:t>Last modified: September 10, 2009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12441" y="2966322"/>
            <a:ext cx="383113" cy="1349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 txBox="1"/>
          <p:nvPr/>
        </p:nvSpPr>
        <p:spPr>
          <a:xfrm>
            <a:off x="379660" y="3101234"/>
            <a:ext cx="38487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Arial"/>
                <a:ea typeface="Arial"/>
                <a:cs typeface="Arial"/>
                <a:sym typeface="Arial"/>
              </a:rPr>
              <a:t>This work is licensed under the </a:t>
            </a:r>
            <a:r>
              <a:rPr i="1" lang="en-US" sz="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Creative Commons Attribution-Noncommercial-Share Alike 3.0 Unported License</a:t>
            </a:r>
            <a:r>
              <a:rPr lang="en-US" sz="600">
                <a:latin typeface="Arial"/>
                <a:ea typeface="Arial"/>
                <a:cs typeface="Arial"/>
                <a:sym typeface="Arial"/>
              </a:rPr>
              <a:t>.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1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73" name="Google Shape;73;p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" name="Google Shape;74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78" name="Google Shape;78;p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79" name="Google Shape;79;p1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154766" y="121020"/>
            <a:ext cx="68834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737" y="1471843"/>
            <a:ext cx="160098" cy="160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033" y="1695643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033" y="1867717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350250" y="1443750"/>
            <a:ext cx="17007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305435" lvl="0" marL="3175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1200">
                <a:solidFill>
                  <a:srgbClr val="EAEAF7"/>
                </a:solidFill>
                <a:latin typeface="Trebuchet MS"/>
                <a:ea typeface="Trebuchet MS"/>
                <a:cs typeface="Trebuchet MS"/>
                <a:sym typeface="Trebuchet MS"/>
              </a:rPr>
              <a:t>1  </a:t>
            </a: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 </a:t>
            </a:r>
            <a:endParaRPr sz="1100">
              <a:solidFill>
                <a:srgbClr val="3333B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</a:t>
            </a:r>
            <a:r>
              <a:rPr lang="en-US" sz="1100">
                <a:solidFill>
                  <a:srgbClr val="CCCCCC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175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95" name="Google Shape;95;p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p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00" name="Google Shape;100;p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54766" y="121020"/>
            <a:ext cx="68834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737" y="1471843"/>
            <a:ext cx="160098" cy="160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033" y="1695643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033" y="1867717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350250" y="1443750"/>
            <a:ext cx="165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305435" lvl="0" marL="3175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1200">
                <a:solidFill>
                  <a:srgbClr val="EAEAF7"/>
                </a:solidFill>
                <a:latin typeface="Trebuchet MS"/>
                <a:ea typeface="Trebuchet MS"/>
                <a:cs typeface="Trebuchet MS"/>
                <a:sym typeface="Trebuchet MS"/>
              </a:rPr>
              <a:t>1  </a:t>
            </a: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 </a:t>
            </a:r>
            <a:endParaRPr sz="1100">
              <a:solidFill>
                <a:srgbClr val="3333B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5435" lvl="0" marL="3175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      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Graph basics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175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117" name="Google Shape;117;p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" name="Google Shape;118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3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22" name="Google Shape;122;p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54777" y="121025"/>
            <a:ext cx="1654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 Graph?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73131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598989" y="589686"/>
            <a:ext cx="3587115" cy="2542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pair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where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finite set (set of vertices) 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finite set of pairs 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(set of edges). We will often 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|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|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" marR="110489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can be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directed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consists of ordered pairs, or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undirected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consists of unordered pairs. If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then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are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adjacent.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" marR="17272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We can assign weight function to the edges: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w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weight of edge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The graph which has such function assigned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weighted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" marR="1149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227312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781495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546" y="2335677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4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40" name="Google Shape;140;p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1" name="Google Shape;141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p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45" name="Google Shape;145;p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154777" y="121025"/>
            <a:ext cx="1815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347298" y="863677"/>
            <a:ext cx="388747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789305" lvl="0" marL="801370" marR="132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should you design the highway network in a country? What is the quickest way to drive from Badda to Naraynganj?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26797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send a network packet from Bracu intranet to Yahoo mail server?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13843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Is the World wide a directed or undirected network?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Social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Facebook, Myspace, Flickr, . . . 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Dependency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What courses must you take before you can take </a:t>
            </a:r>
            <a:r>
              <a:rPr lang="en-US" sz="1100" cap="small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cse</a:t>
            </a:r>
            <a:r>
              <a:rPr lang="en-US" sz="11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-423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8" name="Google Shape;158;p5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59" name="Google Shape;159;p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0" name="Google Shape;160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" name="Google Shape;163;p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64" name="Google Shape;164;p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154766" y="121020"/>
            <a:ext cx="147066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347298" y="863677"/>
            <a:ext cx="388747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789305" lvl="0" marL="801370" marR="132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should you design the highway network in a country? What is the quickest way to drive from Badda to Naraynganj?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26797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send a network packet from Bracu intranet to Yahoo mail server?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13843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Is the World wide a directed or undirected network?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Social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Facebook, Myspace, Flickr, . . . 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Dependency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What courses must you take before you can take </a:t>
            </a:r>
            <a:r>
              <a:rPr lang="en-US" sz="1100" cap="small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cse</a:t>
            </a:r>
            <a:r>
              <a:rPr lang="en-US" sz="11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-423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506134" y="3328241"/>
            <a:ext cx="46926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462594" y="3328241"/>
            <a:ext cx="54356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0" name="Google Shape;180;p6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181" name="Google Shape;181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6"/>
          <p:cNvSpPr txBox="1"/>
          <p:nvPr/>
        </p:nvSpPr>
        <p:spPr>
          <a:xfrm>
            <a:off x="2399300" y="3328241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4292481" y="3328241"/>
            <a:ext cx="22034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154766" y="121020"/>
            <a:ext cx="147066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347298" y="863677"/>
            <a:ext cx="388747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789305" lvl="0" marL="801370" marR="132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should you design the highway network in a country? What is the quickest way to drive from Badda to Naraynganj?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26797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send a network packet from Bracu intranet to Yahoo mail server?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13843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World wide a directed or undirected network?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Social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Facebook, Myspace, Flickr, . . . 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Dependency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What courses must you take before you can take </a:t>
            </a:r>
            <a:r>
              <a:rPr lang="en-US" sz="1100" cap="small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cse</a:t>
            </a:r>
            <a:r>
              <a:rPr lang="en-US" sz="11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-423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506134" y="3328241"/>
            <a:ext cx="46926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462594" y="3328241"/>
            <a:ext cx="54356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9" name="Google Shape;199;p7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200" name="Google Shape;20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7"/>
          <p:cNvSpPr txBox="1"/>
          <p:nvPr/>
        </p:nvSpPr>
        <p:spPr>
          <a:xfrm>
            <a:off x="2399300" y="3328241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4292481" y="3328241"/>
            <a:ext cx="22034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 txBox="1"/>
          <p:nvPr/>
        </p:nvSpPr>
        <p:spPr>
          <a:xfrm>
            <a:off x="154766" y="121020"/>
            <a:ext cx="147066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3" name="Google Shape;2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 txBox="1"/>
          <p:nvPr/>
        </p:nvSpPr>
        <p:spPr>
          <a:xfrm>
            <a:off x="347298" y="863677"/>
            <a:ext cx="388747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789305" lvl="0" marL="801370" marR="132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should you design the highway network in a country? What is the quickest way to drive from Badda to Naraynganj?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26797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send a network packet from Bracu intranet to Yahoo mail server?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13843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World wide a directed or undirected network?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Social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Facebook, Myspace, Flickr, . . . 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0E0F3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Dependency networks 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What courses must you take before you can take </a:t>
            </a:r>
            <a:r>
              <a:rPr lang="en-US" sz="1100" cap="small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cse</a:t>
            </a:r>
            <a:r>
              <a:rPr lang="en-US" sz="11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rPr>
              <a:t>-423</a:t>
            </a:r>
            <a:r>
              <a:rPr lang="en-US" sz="1100">
                <a:solidFill>
                  <a:srgbClr val="D8D8D8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506134" y="3328241"/>
            <a:ext cx="46926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1462594" y="3328241"/>
            <a:ext cx="54356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8" name="Google Shape;218;p8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219" name="Google Shape;21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8"/>
          <p:cNvSpPr txBox="1"/>
          <p:nvPr/>
        </p:nvSpPr>
        <p:spPr>
          <a:xfrm>
            <a:off x="2399300" y="3328241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4292481" y="3328241"/>
            <a:ext cx="22034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0" name="Google Shape;2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 txBox="1"/>
          <p:nvPr/>
        </p:nvSpPr>
        <p:spPr>
          <a:xfrm>
            <a:off x="154766" y="121020"/>
            <a:ext cx="147066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 txBox="1"/>
          <p:nvPr/>
        </p:nvSpPr>
        <p:spPr>
          <a:xfrm>
            <a:off x="347298" y="863677"/>
            <a:ext cx="388747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789305" lvl="0" marL="801370" marR="132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should you design the highway network in a country? What is the quickest way to drive from Badda to Naraynganj?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26797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send a network packet from Bracu intranet to Yahoo mail server?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13843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World wide a directed or undirected network?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Social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Facebook, Myspace, Flickr, . . . 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Dependency networks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What courses must you take before you can take 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cse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-423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4" name="Google Shape;234;p9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35" name="Google Shape;235;p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9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p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40" name="Google Shape;240;p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41" name="Google Shape;241;p9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49" name="Google Shape;249;p10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50" name="Google Shape;25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" name="Google Shape;252;p10"/>
          <p:cNvGrpSpPr/>
          <p:nvPr/>
        </p:nvGrpSpPr>
        <p:grpSpPr>
          <a:xfrm>
            <a:off x="309197" y="517614"/>
            <a:ext cx="4040452" cy="836328"/>
            <a:chOff x="309197" y="517614"/>
            <a:chExt cx="4040452" cy="836328"/>
          </a:xfrm>
        </p:grpSpPr>
        <p:sp>
          <p:nvSpPr>
            <p:cNvPr id="253" name="Google Shape;253;p10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25234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23964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3"/>
              <a:ext cx="50800" cy="690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0"/>
            <p:cNvSpPr/>
            <p:nvPr/>
          </p:nvSpPr>
          <p:spPr>
            <a:xfrm>
              <a:off x="309197" y="750709"/>
              <a:ext cx="3989704" cy="552450"/>
            </a:xfrm>
            <a:custGeom>
              <a:rect b="b" l="l" r="r" t="t"/>
              <a:pathLst>
                <a:path extrusionOk="0" h="552450" w="3989704">
                  <a:moveTo>
                    <a:pt x="3989652" y="0"/>
                  </a:moveTo>
                  <a:lnTo>
                    <a:pt x="0" y="0"/>
                  </a:lnTo>
                  <a:lnTo>
                    <a:pt x="0" y="501632"/>
                  </a:lnTo>
                  <a:lnTo>
                    <a:pt x="4008" y="521357"/>
                  </a:lnTo>
                  <a:lnTo>
                    <a:pt x="14922" y="537510"/>
                  </a:lnTo>
                  <a:lnTo>
                    <a:pt x="31075" y="548424"/>
                  </a:lnTo>
                  <a:lnTo>
                    <a:pt x="50800" y="552433"/>
                  </a:lnTo>
                  <a:lnTo>
                    <a:pt x="3938852" y="552433"/>
                  </a:lnTo>
                  <a:lnTo>
                    <a:pt x="3958576" y="548424"/>
                  </a:lnTo>
                  <a:lnTo>
                    <a:pt x="3974729" y="537510"/>
                  </a:lnTo>
                  <a:lnTo>
                    <a:pt x="3985644" y="521357"/>
                  </a:lnTo>
                  <a:lnTo>
                    <a:pt x="3989652" y="50163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4298849" y="599943"/>
              <a:ext cx="0" cy="671830"/>
            </a:xfrm>
            <a:custGeom>
              <a:rect b="b" l="l" r="r" t="t"/>
              <a:pathLst>
                <a:path extrusionOk="0" h="671830" w="120000">
                  <a:moveTo>
                    <a:pt x="0" y="67144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4298849" y="5872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4298849" y="5745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4298849" y="5618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10"/>
          <p:cNvSpPr/>
          <p:nvPr/>
        </p:nvSpPr>
        <p:spPr>
          <a:xfrm>
            <a:off x="309197" y="1417108"/>
            <a:ext cx="3989704" cy="186690"/>
          </a:xfrm>
          <a:custGeom>
            <a:rect b="b" l="l" r="r" t="t"/>
            <a:pathLst>
              <a:path extrusionOk="0" h="18669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154766" y="121020"/>
            <a:ext cx="4027804" cy="1471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 Graph?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just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just">
              <a:lnSpc>
                <a:spcPct val="1026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pair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where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finite set (set of vertices) 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finite set of pairs 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(set of edges). We will often 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|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|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65" name="Google Shape;265;p10"/>
          <p:cNvGrpSpPr/>
          <p:nvPr/>
        </p:nvGrpSpPr>
        <p:grpSpPr>
          <a:xfrm>
            <a:off x="0" y="1461323"/>
            <a:ext cx="4608413" cy="1994913"/>
            <a:chOff x="0" y="1461323"/>
            <a:chExt cx="4608413" cy="1994913"/>
          </a:xfrm>
        </p:grpSpPr>
        <p:pic>
          <p:nvPicPr>
            <p:cNvPr id="266" name="Google Shape;26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5910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32540"/>
              <a:ext cx="101600" cy="101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19839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50" y="1461323"/>
              <a:ext cx="50800" cy="1771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0"/>
            <p:cNvSpPr/>
            <p:nvPr/>
          </p:nvSpPr>
          <p:spPr>
            <a:xfrm>
              <a:off x="309197" y="1635276"/>
              <a:ext cx="3989704" cy="1648460"/>
            </a:xfrm>
            <a:custGeom>
              <a:rect b="b" l="l" r="r" t="t"/>
              <a:pathLst>
                <a:path extrusionOk="0" h="1648460" w="3989704">
                  <a:moveTo>
                    <a:pt x="3989652" y="0"/>
                  </a:moveTo>
                  <a:lnTo>
                    <a:pt x="0" y="0"/>
                  </a:lnTo>
                  <a:lnTo>
                    <a:pt x="0" y="1597262"/>
                  </a:lnTo>
                  <a:lnTo>
                    <a:pt x="4008" y="1616987"/>
                  </a:lnTo>
                  <a:lnTo>
                    <a:pt x="14922" y="1633140"/>
                  </a:lnTo>
                  <a:lnTo>
                    <a:pt x="31075" y="1644054"/>
                  </a:lnTo>
                  <a:lnTo>
                    <a:pt x="50800" y="1648063"/>
                  </a:lnTo>
                  <a:lnTo>
                    <a:pt x="3938852" y="1648063"/>
                  </a:lnTo>
                  <a:lnTo>
                    <a:pt x="3958576" y="1644054"/>
                  </a:lnTo>
                  <a:lnTo>
                    <a:pt x="3974729" y="1633140"/>
                  </a:lnTo>
                  <a:lnTo>
                    <a:pt x="3985644" y="1616987"/>
                  </a:lnTo>
                  <a:lnTo>
                    <a:pt x="3989652" y="159726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4298850" y="1499423"/>
              <a:ext cx="0" cy="1752600"/>
            </a:xfrm>
            <a:custGeom>
              <a:rect b="b" l="l" r="r" t="t"/>
              <a:pathLst>
                <a:path extrusionOk="0" h="1752600" w="120000">
                  <a:moveTo>
                    <a:pt x="0" y="175216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4298850" y="148672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4298850" y="147402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4298850" y="146132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5" name="Google Shape;275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82057" y="1660564"/>
              <a:ext cx="2443898" cy="1371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1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7" name="Google Shape;277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10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" name="Google Shape;280;p1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81" name="Google Shape;281;p1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4292481" y="3333480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90" name="Google Shape;290;p11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91" name="Google Shape;29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11"/>
          <p:cNvGrpSpPr/>
          <p:nvPr/>
        </p:nvGrpSpPr>
        <p:grpSpPr>
          <a:xfrm>
            <a:off x="309197" y="517614"/>
            <a:ext cx="4040452" cy="836328"/>
            <a:chOff x="309197" y="517614"/>
            <a:chExt cx="4040452" cy="836328"/>
          </a:xfrm>
        </p:grpSpPr>
        <p:sp>
          <p:nvSpPr>
            <p:cNvPr id="294" name="Google Shape;294;p11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5" name="Google Shape;295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25234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23964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3"/>
              <a:ext cx="50800" cy="690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11"/>
            <p:cNvSpPr/>
            <p:nvPr/>
          </p:nvSpPr>
          <p:spPr>
            <a:xfrm>
              <a:off x="309197" y="750709"/>
              <a:ext cx="3989704" cy="552450"/>
            </a:xfrm>
            <a:custGeom>
              <a:rect b="b" l="l" r="r" t="t"/>
              <a:pathLst>
                <a:path extrusionOk="0" h="552450" w="3989704">
                  <a:moveTo>
                    <a:pt x="3989652" y="0"/>
                  </a:moveTo>
                  <a:lnTo>
                    <a:pt x="0" y="0"/>
                  </a:lnTo>
                  <a:lnTo>
                    <a:pt x="0" y="501632"/>
                  </a:lnTo>
                  <a:lnTo>
                    <a:pt x="4008" y="521357"/>
                  </a:lnTo>
                  <a:lnTo>
                    <a:pt x="14922" y="537510"/>
                  </a:lnTo>
                  <a:lnTo>
                    <a:pt x="31075" y="548424"/>
                  </a:lnTo>
                  <a:lnTo>
                    <a:pt x="50800" y="552433"/>
                  </a:lnTo>
                  <a:lnTo>
                    <a:pt x="3938852" y="552433"/>
                  </a:lnTo>
                  <a:lnTo>
                    <a:pt x="3958576" y="548424"/>
                  </a:lnTo>
                  <a:lnTo>
                    <a:pt x="3974729" y="537510"/>
                  </a:lnTo>
                  <a:lnTo>
                    <a:pt x="3985644" y="521357"/>
                  </a:lnTo>
                  <a:lnTo>
                    <a:pt x="3989652" y="50163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4298849" y="599943"/>
              <a:ext cx="0" cy="671830"/>
            </a:xfrm>
            <a:custGeom>
              <a:rect b="b" l="l" r="r" t="t"/>
              <a:pathLst>
                <a:path extrusionOk="0" h="671830" w="120000">
                  <a:moveTo>
                    <a:pt x="0" y="67144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4298849" y="5872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4298849" y="5745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4298849" y="5618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11"/>
          <p:cNvSpPr/>
          <p:nvPr/>
        </p:nvSpPr>
        <p:spPr>
          <a:xfrm>
            <a:off x="309197" y="1417108"/>
            <a:ext cx="3989704" cy="186690"/>
          </a:xfrm>
          <a:custGeom>
            <a:rect b="b" l="l" r="r" t="t"/>
            <a:pathLst>
              <a:path extrusionOk="0" h="18669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154766" y="121020"/>
            <a:ext cx="4027804" cy="1471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 Graph?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just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just">
              <a:lnSpc>
                <a:spcPct val="1026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pair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where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finite set (set of vertices) 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finite set of pairs 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(set of edges). We will often 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|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|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06" name="Google Shape;306;p11"/>
          <p:cNvGrpSpPr/>
          <p:nvPr/>
        </p:nvGrpSpPr>
        <p:grpSpPr>
          <a:xfrm>
            <a:off x="309197" y="1461323"/>
            <a:ext cx="4040452" cy="1872817"/>
            <a:chOff x="309197" y="1461323"/>
            <a:chExt cx="4040452" cy="1872817"/>
          </a:xfrm>
        </p:grpSpPr>
        <p:pic>
          <p:nvPicPr>
            <p:cNvPr id="307" name="Google Shape;307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5910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32540"/>
              <a:ext cx="101600" cy="101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19839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461323"/>
              <a:ext cx="50800" cy="17712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11"/>
            <p:cNvSpPr/>
            <p:nvPr/>
          </p:nvSpPr>
          <p:spPr>
            <a:xfrm>
              <a:off x="309197" y="1635276"/>
              <a:ext cx="3989704" cy="1648460"/>
            </a:xfrm>
            <a:custGeom>
              <a:rect b="b" l="l" r="r" t="t"/>
              <a:pathLst>
                <a:path extrusionOk="0" h="1648460" w="3989704">
                  <a:moveTo>
                    <a:pt x="3989652" y="0"/>
                  </a:moveTo>
                  <a:lnTo>
                    <a:pt x="0" y="0"/>
                  </a:lnTo>
                  <a:lnTo>
                    <a:pt x="0" y="1597262"/>
                  </a:lnTo>
                  <a:lnTo>
                    <a:pt x="4008" y="1616987"/>
                  </a:lnTo>
                  <a:lnTo>
                    <a:pt x="14922" y="1633140"/>
                  </a:lnTo>
                  <a:lnTo>
                    <a:pt x="31075" y="1644054"/>
                  </a:lnTo>
                  <a:lnTo>
                    <a:pt x="50800" y="1648063"/>
                  </a:lnTo>
                  <a:lnTo>
                    <a:pt x="3938852" y="1648063"/>
                  </a:lnTo>
                  <a:lnTo>
                    <a:pt x="3958576" y="1644054"/>
                  </a:lnTo>
                  <a:lnTo>
                    <a:pt x="3974729" y="1633140"/>
                  </a:lnTo>
                  <a:lnTo>
                    <a:pt x="3985644" y="1616987"/>
                  </a:lnTo>
                  <a:lnTo>
                    <a:pt x="3989652" y="159726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4298849" y="1499423"/>
              <a:ext cx="0" cy="1752600"/>
            </a:xfrm>
            <a:custGeom>
              <a:rect b="b" l="l" r="r" t="t"/>
              <a:pathLst>
                <a:path extrusionOk="0" h="1752600" w="120000">
                  <a:moveTo>
                    <a:pt x="0" y="175216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4298849" y="148672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4298849" y="147402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4298849" y="146132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6" name="Google Shape;316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82057" y="1660564"/>
              <a:ext cx="2443898" cy="13716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7" name="Google Shape;317;p11"/>
          <p:cNvSpPr txBox="1"/>
          <p:nvPr/>
        </p:nvSpPr>
        <p:spPr>
          <a:xfrm>
            <a:off x="1256124" y="3053025"/>
            <a:ext cx="2304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1" lang="en-US" sz="11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b="1" lang="en-US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1" i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="1" i="1" lang="en-US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, . . . , </a:t>
            </a:r>
            <a:r>
              <a:rPr b="1" i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 </a:t>
            </a:r>
            <a:r>
              <a:rPr b="1" lang="en-US" sz="1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1" i="1" lang="en-US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i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b="1" lang="en-US" sz="11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b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r>
              <a:rPr b="1" i="1" lang="en-US" sz="1100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i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b="1" lang="en-US" sz="11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b="1"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18" name="Google Shape;318;p11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19" name="Google Shape;319;p1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0" name="Google Shape;320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1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11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3" name="Google Shape;323;p1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24" name="Google Shape;324;p1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4292481" y="3333480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33" name="Google Shape;333;p12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334" name="Google Shape;33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6" name="Google Shape;336;p12"/>
          <p:cNvGrpSpPr/>
          <p:nvPr/>
        </p:nvGrpSpPr>
        <p:grpSpPr>
          <a:xfrm>
            <a:off x="309197" y="664106"/>
            <a:ext cx="4040452" cy="820935"/>
            <a:chOff x="309197" y="664106"/>
            <a:chExt cx="4040452" cy="820935"/>
          </a:xfrm>
        </p:grpSpPr>
        <p:sp>
          <p:nvSpPr>
            <p:cNvPr id="337" name="Google Shape;337;p12"/>
            <p:cNvSpPr/>
            <p:nvPr/>
          </p:nvSpPr>
          <p:spPr>
            <a:xfrm>
              <a:off x="309197" y="664106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8" name="Google Shape;338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52923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38344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37074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708335"/>
              <a:ext cx="50800" cy="675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2"/>
            <p:cNvSpPr/>
            <p:nvPr/>
          </p:nvSpPr>
          <p:spPr>
            <a:xfrm>
              <a:off x="309197" y="897201"/>
              <a:ext cx="3989704" cy="537210"/>
            </a:xfrm>
            <a:custGeom>
              <a:rect b="b" l="l" r="r" t="t"/>
              <a:pathLst>
                <a:path extrusionOk="0" h="537210" w="3989704">
                  <a:moveTo>
                    <a:pt x="3989652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3938852" y="537039"/>
                  </a:lnTo>
                  <a:lnTo>
                    <a:pt x="3958576" y="533030"/>
                  </a:lnTo>
                  <a:lnTo>
                    <a:pt x="3974729" y="522116"/>
                  </a:lnTo>
                  <a:lnTo>
                    <a:pt x="3985644" y="505963"/>
                  </a:lnTo>
                  <a:lnTo>
                    <a:pt x="3989652" y="48623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4298849" y="746435"/>
              <a:ext cx="0" cy="656590"/>
            </a:xfrm>
            <a:custGeom>
              <a:rect b="b" l="l" r="r" t="t"/>
              <a:pathLst>
                <a:path extrusionOk="0" h="656590" w="120000">
                  <a:moveTo>
                    <a:pt x="0" y="65605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4298849" y="73373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4298849" y="72103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4298849" y="70833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12"/>
          <p:cNvSpPr txBox="1"/>
          <p:nvPr/>
        </p:nvSpPr>
        <p:spPr>
          <a:xfrm>
            <a:off x="154766" y="121020"/>
            <a:ext cx="3930015" cy="12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Directed vs. undirected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(Directed vs. 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can be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directed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consists of ordered pairs, or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undirected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consists of unordered pairs. If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then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are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adjacent.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09197" y="170735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 txBox="1"/>
          <p:nvPr/>
        </p:nvSpPr>
        <p:spPr>
          <a:xfrm>
            <a:off x="347298" y="1690418"/>
            <a:ext cx="514984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0" name="Google Shape;350;p12"/>
          <p:cNvGrpSpPr/>
          <p:nvPr/>
        </p:nvGrpSpPr>
        <p:grpSpPr>
          <a:xfrm>
            <a:off x="309197" y="1751572"/>
            <a:ext cx="4040452" cy="1346054"/>
            <a:chOff x="309197" y="1751572"/>
            <a:chExt cx="4040452" cy="1346054"/>
          </a:xfrm>
        </p:grpSpPr>
        <p:pic>
          <p:nvPicPr>
            <p:cNvPr id="351" name="Google Shape;351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881254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99602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98332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51572"/>
              <a:ext cx="50800" cy="1244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12"/>
            <p:cNvSpPr/>
            <p:nvPr/>
          </p:nvSpPr>
          <p:spPr>
            <a:xfrm>
              <a:off x="309197" y="1925525"/>
              <a:ext cx="3989704" cy="1121410"/>
            </a:xfrm>
            <a:custGeom>
              <a:rect b="b" l="l" r="r" t="t"/>
              <a:pathLst>
                <a:path extrusionOk="0" h="11214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070499"/>
                  </a:lnTo>
                  <a:lnTo>
                    <a:pt x="4008" y="1090224"/>
                  </a:lnTo>
                  <a:lnTo>
                    <a:pt x="14922" y="1106377"/>
                  </a:lnTo>
                  <a:lnTo>
                    <a:pt x="31075" y="1117291"/>
                  </a:lnTo>
                  <a:lnTo>
                    <a:pt x="50800" y="1121299"/>
                  </a:lnTo>
                  <a:lnTo>
                    <a:pt x="3938852" y="1121299"/>
                  </a:lnTo>
                  <a:lnTo>
                    <a:pt x="3958576" y="1117291"/>
                  </a:lnTo>
                  <a:lnTo>
                    <a:pt x="3974729" y="1106377"/>
                  </a:lnTo>
                  <a:lnTo>
                    <a:pt x="3985644" y="1090224"/>
                  </a:lnTo>
                  <a:lnTo>
                    <a:pt x="3989652" y="107049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4298849" y="1789672"/>
              <a:ext cx="0" cy="1225550"/>
            </a:xfrm>
            <a:custGeom>
              <a:rect b="b" l="l" r="r" t="t"/>
              <a:pathLst>
                <a:path extrusionOk="0" h="1225550" w="120000">
                  <a:moveTo>
                    <a:pt x="0" y="12254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4298849" y="177697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4298849" y="176427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4298849" y="175157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0" name="Google Shape;360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07296" y="1950838"/>
              <a:ext cx="1873605" cy="1051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327089" y="1950838"/>
              <a:ext cx="1873605" cy="10515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2" name="Google Shape;362;p12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63" name="Google Shape;363;p1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4" name="Google Shape;364;p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12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" name="Google Shape;366;p1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7" name="Google Shape;367;p1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68" name="Google Shape;368;p1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69" name="Google Shape;369;p12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7" name="Google Shape;377;p13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378" name="Google Shape;37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0" name="Google Shape;380;p13"/>
          <p:cNvGrpSpPr/>
          <p:nvPr/>
        </p:nvGrpSpPr>
        <p:grpSpPr>
          <a:xfrm>
            <a:off x="309197" y="570465"/>
            <a:ext cx="4040452" cy="828632"/>
            <a:chOff x="309197" y="570465"/>
            <a:chExt cx="4040452" cy="828632"/>
          </a:xfrm>
        </p:grpSpPr>
        <p:sp>
          <p:nvSpPr>
            <p:cNvPr id="381" name="Google Shape;381;p13"/>
            <p:cNvSpPr/>
            <p:nvPr/>
          </p:nvSpPr>
          <p:spPr>
            <a:xfrm>
              <a:off x="309197" y="57046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2" name="Google Shape;382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5928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29749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28479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614695"/>
              <a:ext cx="50800" cy="682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13"/>
            <p:cNvSpPr/>
            <p:nvPr/>
          </p:nvSpPr>
          <p:spPr>
            <a:xfrm>
              <a:off x="309197" y="803560"/>
              <a:ext cx="3989704" cy="544830"/>
            </a:xfrm>
            <a:custGeom>
              <a:rect b="b" l="l" r="r" t="t"/>
              <a:pathLst>
                <a:path extrusionOk="0" h="544830" w="3989704">
                  <a:moveTo>
                    <a:pt x="3989652" y="0"/>
                  </a:moveTo>
                  <a:lnTo>
                    <a:pt x="0" y="0"/>
                  </a:lnTo>
                  <a:lnTo>
                    <a:pt x="0" y="493935"/>
                  </a:lnTo>
                  <a:lnTo>
                    <a:pt x="4008" y="513660"/>
                  </a:lnTo>
                  <a:lnTo>
                    <a:pt x="14922" y="529813"/>
                  </a:lnTo>
                  <a:lnTo>
                    <a:pt x="31075" y="540727"/>
                  </a:lnTo>
                  <a:lnTo>
                    <a:pt x="50800" y="544736"/>
                  </a:lnTo>
                  <a:lnTo>
                    <a:pt x="3938852" y="544736"/>
                  </a:lnTo>
                  <a:lnTo>
                    <a:pt x="3958576" y="540727"/>
                  </a:lnTo>
                  <a:lnTo>
                    <a:pt x="3974729" y="529813"/>
                  </a:lnTo>
                  <a:lnTo>
                    <a:pt x="3985644" y="513660"/>
                  </a:lnTo>
                  <a:lnTo>
                    <a:pt x="3989652" y="49393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4298849" y="652795"/>
              <a:ext cx="0" cy="664210"/>
            </a:xfrm>
            <a:custGeom>
              <a:rect b="b" l="l" r="r" t="t"/>
              <a:pathLst>
                <a:path extrusionOk="0" h="664210" w="120000">
                  <a:moveTo>
                    <a:pt x="0" y="66375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4298849" y="64009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4298849" y="62739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298849" y="61469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3"/>
          <p:cNvSpPr txBox="1"/>
          <p:nvPr/>
        </p:nvSpPr>
        <p:spPr>
          <a:xfrm>
            <a:off x="142066" y="121020"/>
            <a:ext cx="4088129" cy="1196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Weighted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(Weighted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marR="43180" rtl="0" algn="just">
              <a:lnSpc>
                <a:spcPct val="1026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We can assign weight function to the edges: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w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weight of edge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The graph which has such function assigned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weighted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09197" y="1527766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 txBox="1"/>
          <p:nvPr/>
        </p:nvSpPr>
        <p:spPr>
          <a:xfrm>
            <a:off x="347298" y="1510833"/>
            <a:ext cx="514984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94" name="Google Shape;394;p13"/>
          <p:cNvGrpSpPr/>
          <p:nvPr/>
        </p:nvGrpSpPr>
        <p:grpSpPr>
          <a:xfrm>
            <a:off x="309197" y="1571983"/>
            <a:ext cx="4040452" cy="1666103"/>
            <a:chOff x="309197" y="1571983"/>
            <a:chExt cx="4040452" cy="1666103"/>
          </a:xfrm>
        </p:grpSpPr>
        <p:pic>
          <p:nvPicPr>
            <p:cNvPr id="395" name="Google Shape;395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701670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13648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12378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571983"/>
              <a:ext cx="50800" cy="15645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13"/>
            <p:cNvSpPr/>
            <p:nvPr/>
          </p:nvSpPr>
          <p:spPr>
            <a:xfrm>
              <a:off x="309197" y="1745936"/>
              <a:ext cx="3989704" cy="1441450"/>
            </a:xfrm>
            <a:custGeom>
              <a:rect b="b" l="l" r="r" t="t"/>
              <a:pathLst>
                <a:path extrusionOk="0" h="1441450" w="3989704">
                  <a:moveTo>
                    <a:pt x="3989652" y="0"/>
                  </a:moveTo>
                  <a:lnTo>
                    <a:pt x="0" y="0"/>
                  </a:lnTo>
                  <a:lnTo>
                    <a:pt x="0" y="1390549"/>
                  </a:lnTo>
                  <a:lnTo>
                    <a:pt x="4008" y="1410274"/>
                  </a:lnTo>
                  <a:lnTo>
                    <a:pt x="14922" y="1426427"/>
                  </a:lnTo>
                  <a:lnTo>
                    <a:pt x="31075" y="1437341"/>
                  </a:lnTo>
                  <a:lnTo>
                    <a:pt x="50800" y="1441349"/>
                  </a:lnTo>
                  <a:lnTo>
                    <a:pt x="3938852" y="1441349"/>
                  </a:lnTo>
                  <a:lnTo>
                    <a:pt x="3958576" y="1437341"/>
                  </a:lnTo>
                  <a:lnTo>
                    <a:pt x="3974729" y="1426427"/>
                  </a:lnTo>
                  <a:lnTo>
                    <a:pt x="3985644" y="1410274"/>
                  </a:lnTo>
                  <a:lnTo>
                    <a:pt x="3989652" y="139054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298849" y="1610083"/>
              <a:ext cx="0" cy="1545590"/>
            </a:xfrm>
            <a:custGeom>
              <a:rect b="b" l="l" r="r" t="t"/>
              <a:pathLst>
                <a:path extrusionOk="0" h="1545589" w="120000">
                  <a:moveTo>
                    <a:pt x="0" y="154545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4298849" y="159738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4298849" y="158468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298849" y="157198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4" name="Google Shape;404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82057" y="1771222"/>
              <a:ext cx="2443898" cy="13716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13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406" name="Google Shape;406;p1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7" name="Google Shape;407;p1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13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1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0" name="Google Shape;410;p1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11" name="Google Shape;411;p1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12" name="Google Shape;412;p13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79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20" name="Google Shape;420;p14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421" name="Google Shape;42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3" name="Google Shape;423;p14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424" name="Google Shape;424;p14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5" name="Google Shape;42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14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14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36" name="Google Shape;436;p14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437" name="Google Shape;437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0" name="Google Shape;440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14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6" name="Google Shape;446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7" name="Google Shape;447;p14"/>
          <p:cNvSpPr txBox="1"/>
          <p:nvPr/>
        </p:nvSpPr>
        <p:spPr>
          <a:xfrm>
            <a:off x="2959459" y="2144377"/>
            <a:ext cx="525145" cy="17208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5565" rtl="0" algn="l">
              <a:lnSpc>
                <a:spcPct val="10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3486737" y="2144377"/>
            <a:ext cx="0" cy="172085"/>
          </a:xfrm>
          <a:custGeom>
            <a:rect b="b" l="l" r="r" t="t"/>
            <a:pathLst>
              <a:path extrusionOk="0" h="172085" w="120000">
                <a:moveTo>
                  <a:pt x="0" y="17207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 txBox="1"/>
          <p:nvPr/>
        </p:nvSpPr>
        <p:spPr>
          <a:xfrm>
            <a:off x="3489268" y="2144377"/>
            <a:ext cx="599400" cy="1692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5565" rtl="0" algn="l">
              <a:lnSpc>
                <a:spcPct val="10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</a:t>
            </a:r>
            <a:r>
              <a:rPr lang="en-US"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out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50" name="Google Shape;450;p14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451" name="Google Shape;451;p1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2" name="Google Shape;452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14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1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5" name="Google Shape;455;p1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56" name="Google Shape;456;p1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57" name="Google Shape;457;p14"/>
          <p:cNvSpPr txBox="1"/>
          <p:nvPr/>
        </p:nvSpPr>
        <p:spPr>
          <a:xfrm>
            <a:off x="4292481" y="3333481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65" name="Google Shape;465;p15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466" name="Google Shape;46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8" name="Google Shape;468;p15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469" name="Google Shape;469;p15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0" name="Google Shape;47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15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" name="Google Shape;479;p15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81" name="Google Shape;481;p15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482" name="Google Shape;482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p15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1" name="Google Shape;491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492" name="Google Shape;492;p15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6013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</a:t>
                      </a:r>
                      <a:r>
                        <a:rPr lang="en-US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grpSp>
        <p:nvGrpSpPr>
          <p:cNvPr id="493" name="Google Shape;493;p15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494" name="Google Shape;494;p1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5" name="Google Shape;495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15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1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8" name="Google Shape;498;p1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99" name="Google Shape;499;p1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500" name="Google Shape;500;p15"/>
          <p:cNvSpPr txBox="1"/>
          <p:nvPr/>
        </p:nvSpPr>
        <p:spPr>
          <a:xfrm>
            <a:off x="4292481" y="3333481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08" name="Google Shape;508;p16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509" name="Google Shape;50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1" name="Google Shape;511;p16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512" name="Google Shape;512;p16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3" name="Google Shape;51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6" name="Google Shape;516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16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16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6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24" name="Google Shape;524;p16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525" name="Google Shape;525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" name="Google Shape;529;p16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34" name="Google Shape;534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535" name="Google Shape;535;p16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6013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</a:t>
                      </a:r>
                      <a:r>
                        <a:rPr lang="en-US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grpSp>
        <p:nvGrpSpPr>
          <p:cNvPr id="536" name="Google Shape;536;p16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537" name="Google Shape;537;p1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38" name="Google Shape;538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16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1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1" name="Google Shape;541;p1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542" name="Google Shape;542;p1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543" name="Google Shape;543;p16"/>
          <p:cNvSpPr txBox="1"/>
          <p:nvPr/>
        </p:nvSpPr>
        <p:spPr>
          <a:xfrm>
            <a:off x="4292481" y="3333481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51" name="Google Shape;551;p17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552" name="Google Shape;55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3" name="Google Shape;55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4" name="Google Shape;554;p17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555" name="Google Shape;555;p17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6" name="Google Shape;55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9" name="Google Shape;55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17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5" name="Google Shape;565;p17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67" name="Google Shape;567;p17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568" name="Google Shape;568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9" name="Google Shape;569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0" name="Google Shape;570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p17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7" name="Google Shape;577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578" name="Google Shape;578;p17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6013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</a:t>
                      </a:r>
                      <a:r>
                        <a:rPr lang="en-US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grpSp>
        <p:nvGrpSpPr>
          <p:cNvPr id="579" name="Google Shape;579;p17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580" name="Google Shape;580;p1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1" name="Google Shape;581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17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1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4" name="Google Shape;584;p1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585" name="Google Shape;585;p1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586" name="Google Shape;586;p17"/>
          <p:cNvSpPr txBox="1"/>
          <p:nvPr/>
        </p:nvSpPr>
        <p:spPr>
          <a:xfrm>
            <a:off x="4292481" y="3333481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94" name="Google Shape;594;p18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595" name="Google Shape;59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7" name="Google Shape;597;p18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598" name="Google Shape;598;p18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99" name="Google Shape;599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1" name="Google Shape;601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2" name="Google Shape;602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18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8" name="Google Shape;608;p18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8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10" name="Google Shape;610;p18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611" name="Google Shape;611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18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0" name="Google Shape;620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621" name="Google Shape;621;p18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6013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</a:t>
                      </a:r>
                      <a:r>
                        <a:rPr lang="en-US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grpSp>
        <p:nvGrpSpPr>
          <p:cNvPr id="622" name="Google Shape;622;p18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623" name="Google Shape;623;p1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4" name="Google Shape;624;p1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18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6" name="Google Shape;626;p18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7" name="Google Shape;627;p1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628" name="Google Shape;628;p1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629" name="Google Shape;629;p18"/>
          <p:cNvSpPr txBox="1"/>
          <p:nvPr/>
        </p:nvSpPr>
        <p:spPr>
          <a:xfrm>
            <a:off x="4292481" y="3333481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37" name="Google Shape;637;p19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638" name="Google Shape;63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9" name="Google Shape;63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0" name="Google Shape;640;p19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641" name="Google Shape;641;p19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42" name="Google Shape;64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19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1" name="Google Shape;651;p19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9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53" name="Google Shape;653;p19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654" name="Google Shape;654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5" name="Google Shape;655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6" name="Google Shape;656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7" name="Google Shape;657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19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3" name="Google Shape;663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664" name="Google Shape;664;p19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6013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</a:t>
                      </a:r>
                      <a:r>
                        <a:rPr lang="en-US" sz="11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  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0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	3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grpSp>
        <p:nvGrpSpPr>
          <p:cNvPr id="665" name="Google Shape;665;p19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666" name="Google Shape;666;p1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7" name="Google Shape;667;p1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19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9" name="Google Shape;669;p19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0" name="Google Shape;670;p1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671" name="Google Shape;671;p1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672" name="Google Shape;672;p19"/>
          <p:cNvSpPr txBox="1"/>
          <p:nvPr/>
        </p:nvSpPr>
        <p:spPr>
          <a:xfrm>
            <a:off x="4292481" y="3333481"/>
            <a:ext cx="22034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80" name="Google Shape;680;p20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681" name="Google Shape;68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2" name="Google Shape;68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3" name="Google Shape;683;p20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684" name="Google Shape;684;p20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5" name="Google Shape;685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6" name="Google Shape;686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8" name="Google Shape;688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20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4" name="Google Shape;694;p20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0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96" name="Google Shape;696;p20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697" name="Google Shape;697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20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6" name="Google Shape;706;p2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20"/>
          <p:cNvSpPr txBox="1"/>
          <p:nvPr/>
        </p:nvSpPr>
        <p:spPr>
          <a:xfrm>
            <a:off x="2959459" y="2144377"/>
            <a:ext cx="525145" cy="17208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5565" rtl="0" algn="l">
              <a:lnSpc>
                <a:spcPct val="10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3486737" y="2144377"/>
            <a:ext cx="0" cy="172085"/>
          </a:xfrm>
          <a:custGeom>
            <a:rect b="b" l="l" r="r" t="t"/>
            <a:pathLst>
              <a:path extrusionOk="0" h="172085" w="120000">
                <a:moveTo>
                  <a:pt x="0" y="17207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0"/>
          <p:cNvSpPr txBox="1"/>
          <p:nvPr/>
        </p:nvSpPr>
        <p:spPr>
          <a:xfrm>
            <a:off x="3489268" y="2144377"/>
            <a:ext cx="369570" cy="17208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75565" rtl="0" algn="l">
              <a:lnSpc>
                <a:spcPct val="10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10" name="Google Shape;710;p20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711" name="Google Shape;711;p2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2" name="Google Shape;712;p2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20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20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5" name="Google Shape;715;p2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716" name="Google Shape;716;p2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717" name="Google Shape;717;p20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3" name="Google Shape;723;p2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25" name="Google Shape;725;p21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726" name="Google Shape;72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7" name="Google Shape;72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8" name="Google Shape;728;p21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729" name="Google Shape;729;p21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0" name="Google Shape;730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1" name="Google Shape;73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2" name="Google Shape;732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21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1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1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9" name="Google Shape;739;p21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1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41" name="Google Shape;741;p21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742" name="Google Shape;742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3" name="Google Shape;743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4" name="Google Shape;744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5" name="Google Shape;745;p2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p21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51" name="Google Shape;751;p2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752" name="Google Shape;752;p21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deg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grpSp>
        <p:nvGrpSpPr>
          <p:cNvPr id="753" name="Google Shape;753;p21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754" name="Google Shape;754;p2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55" name="Google Shape;755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21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7" name="Google Shape;757;p21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8" name="Google Shape;758;p2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759" name="Google Shape;759;p2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760" name="Google Shape;760;p21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6" name="Google Shape;766;p2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68" name="Google Shape;768;p22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769" name="Google Shape;76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1" name="Google Shape;771;p22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772" name="Google Shape;772;p22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3" name="Google Shape;773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4" name="Google Shape;774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5" name="Google Shape;775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6" name="Google Shape;776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22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" name="Google Shape;782;p22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84" name="Google Shape;784;p22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785" name="Google Shape;785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6" name="Google Shape;786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8" name="Google Shape;788;p2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9" name="Google Shape;789;p22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2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4" name="Google Shape;794;p2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795" name="Google Shape;795;p22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deg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grpSp>
        <p:nvGrpSpPr>
          <p:cNvPr id="796" name="Google Shape;796;p22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797" name="Google Shape;797;p2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8" name="Google Shape;798;p2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22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0" name="Google Shape;800;p2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1" name="Google Shape;801;p2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802" name="Google Shape;802;p2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803" name="Google Shape;803;p22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9" name="Google Shape;809;p2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11" name="Google Shape;811;p23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812" name="Google Shape;81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3" name="Google Shape;81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4" name="Google Shape;814;p23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815" name="Google Shape;815;p23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6" name="Google Shape;816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7" name="Google Shape;81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8" name="Google Shape;818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9" name="Google Shape;819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0" name="Google Shape;820;p23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3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3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5" name="Google Shape;825;p23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3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27" name="Google Shape;827;p23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828" name="Google Shape;828;p2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9" name="Google Shape;829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0" name="Google Shape;830;p2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1" name="Google Shape;831;p2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2" name="Google Shape;832;p23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3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3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7" name="Google Shape;837;p2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38" name="Google Shape;838;p23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deg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grpSp>
        <p:nvGrpSpPr>
          <p:cNvPr id="839" name="Google Shape;839;p23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840" name="Google Shape;840;p2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41" name="Google Shape;841;p2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" name="Google Shape;842;p23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2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4" name="Google Shape;844;p2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845" name="Google Shape;845;p2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846" name="Google Shape;846;p23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2" name="Google Shape;852;p2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54" name="Google Shape;854;p24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855" name="Google Shape;85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7" name="Google Shape;857;p24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858" name="Google Shape;858;p24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9" name="Google Shape;85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0" name="Google Shape;86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1" name="Google Shape;861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2" name="Google Shape;862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24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8" name="Google Shape;868;p24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4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70" name="Google Shape;870;p24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871" name="Google Shape;871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2" name="Google Shape;872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3" name="Google Shape;873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4" name="Google Shape;874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24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0" name="Google Shape;880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81" name="Google Shape;881;p24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deg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grpSp>
        <p:nvGrpSpPr>
          <p:cNvPr id="882" name="Google Shape;882;p24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883" name="Google Shape;883;p2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4" name="Google Shape;884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" name="Google Shape;885;p24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6" name="Google Shape;886;p2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7" name="Google Shape;887;p2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888" name="Google Shape;888;p2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889" name="Google Shape;889;p2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5" name="Google Shape;895;p2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97" name="Google Shape;897;p25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898" name="Google Shape;89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0" name="Google Shape;900;p25"/>
          <p:cNvGrpSpPr/>
          <p:nvPr/>
        </p:nvGrpSpPr>
        <p:grpSpPr>
          <a:xfrm>
            <a:off x="309197" y="517614"/>
            <a:ext cx="4040452" cy="1172782"/>
            <a:chOff x="309197" y="517614"/>
            <a:chExt cx="4040452" cy="1172782"/>
          </a:xfrm>
        </p:grpSpPr>
        <p:sp>
          <p:nvSpPr>
            <p:cNvPr id="901" name="Google Shape;901;p25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02" name="Google Shape;90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3" name="Google Shape;903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8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4" name="Google Shape;904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7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5" name="Google Shape;905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40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25"/>
            <p:cNvSpPr/>
            <p:nvPr/>
          </p:nvSpPr>
          <p:spPr>
            <a:xfrm>
              <a:off x="309197" y="750705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4298849" y="599939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4298849" y="5872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4298849" y="5745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4298849" y="56183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1" name="Google Shape;911;p25"/>
          <p:cNvSpPr/>
          <p:nvPr/>
        </p:nvSpPr>
        <p:spPr>
          <a:xfrm>
            <a:off x="309197" y="17535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5"/>
          <p:cNvSpPr txBox="1"/>
          <p:nvPr/>
        </p:nvSpPr>
        <p:spPr>
          <a:xfrm>
            <a:off x="154766" y="121020"/>
            <a:ext cx="4070350" cy="181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Degree of vertices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(Degree of vertices)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number 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for which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incoming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the vertex 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 The number of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outgoing edges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a vertex is called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(denote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13" name="Google Shape;913;p25"/>
          <p:cNvGrpSpPr/>
          <p:nvPr/>
        </p:nvGrpSpPr>
        <p:grpSpPr>
          <a:xfrm>
            <a:off x="309197" y="1797780"/>
            <a:ext cx="4040452" cy="1589569"/>
            <a:chOff x="309197" y="1797780"/>
            <a:chExt cx="4040452" cy="1589569"/>
          </a:xfrm>
        </p:grpSpPr>
        <p:pic>
          <p:nvPicPr>
            <p:cNvPr id="914" name="Google Shape;914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4237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5" name="Google Shape;915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6" name="Google Shape;916;p2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73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7" name="Google Shape;917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25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4298849" y="1835880"/>
              <a:ext cx="0" cy="1469390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5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23" name="Google Shape;923;p2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11959"/>
              <a:ext cx="2280915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924" name="Google Shape;924;p25"/>
          <p:cNvGraphicFramePr/>
          <p:nvPr/>
        </p:nvGraphicFramePr>
        <p:xfrm>
          <a:off x="2959459" y="2144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Vertex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deg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grpSp>
        <p:nvGrpSpPr>
          <p:cNvPr id="925" name="Google Shape;925;p25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926" name="Google Shape;926;p2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27" name="Google Shape;927;p2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25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2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0" name="Google Shape;930;p2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931" name="Google Shape;931;p2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932" name="Google Shape;932;p2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38" name="Google Shape;9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26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940" name="Google Shape;9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1" name="Google Shape;941;p26"/>
          <p:cNvGrpSpPr/>
          <p:nvPr/>
        </p:nvGrpSpPr>
        <p:grpSpPr>
          <a:xfrm>
            <a:off x="309200" y="829740"/>
            <a:ext cx="4040452" cy="987045"/>
            <a:chOff x="309197" y="829699"/>
            <a:chExt cx="4040452" cy="940580"/>
          </a:xfrm>
        </p:grpSpPr>
        <p:sp>
          <p:nvSpPr>
            <p:cNvPr id="942" name="Google Shape;942;p26"/>
            <p:cNvSpPr/>
            <p:nvPr/>
          </p:nvSpPr>
          <p:spPr>
            <a:xfrm>
              <a:off x="309197" y="829699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3" name="Google Shape;94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995643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4" name="Google Shape;94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686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5" name="Google Shape;945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65597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6" name="Google Shape;946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873927"/>
              <a:ext cx="50800" cy="794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7" name="Google Shape;947;p26"/>
            <p:cNvSpPr/>
            <p:nvPr/>
          </p:nvSpPr>
          <p:spPr>
            <a:xfrm>
              <a:off x="309197" y="1039919"/>
              <a:ext cx="3989704" cy="680085"/>
            </a:xfrm>
            <a:custGeom>
              <a:rect b="b" l="l" r="r" t="t"/>
              <a:pathLst>
                <a:path extrusionOk="0" h="680085" w="3989704">
                  <a:moveTo>
                    <a:pt x="3989652" y="0"/>
                  </a:moveTo>
                  <a:lnTo>
                    <a:pt x="0" y="0"/>
                  </a:lnTo>
                  <a:lnTo>
                    <a:pt x="0" y="628758"/>
                  </a:lnTo>
                  <a:lnTo>
                    <a:pt x="4008" y="648483"/>
                  </a:lnTo>
                  <a:lnTo>
                    <a:pt x="14922" y="664636"/>
                  </a:lnTo>
                  <a:lnTo>
                    <a:pt x="31075" y="675550"/>
                  </a:lnTo>
                  <a:lnTo>
                    <a:pt x="50800" y="679558"/>
                  </a:lnTo>
                  <a:lnTo>
                    <a:pt x="3938852" y="679558"/>
                  </a:lnTo>
                  <a:lnTo>
                    <a:pt x="3958576" y="675550"/>
                  </a:lnTo>
                  <a:lnTo>
                    <a:pt x="3974729" y="664636"/>
                  </a:lnTo>
                  <a:lnTo>
                    <a:pt x="3985644" y="648483"/>
                  </a:lnTo>
                  <a:lnTo>
                    <a:pt x="3989652" y="6287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4298849" y="912027"/>
              <a:ext cx="0" cy="775970"/>
            </a:xfrm>
            <a:custGeom>
              <a:rect b="b" l="l" r="r" t="t"/>
              <a:pathLst>
                <a:path extrusionOk="0" h="775969" w="120000">
                  <a:moveTo>
                    <a:pt x="0" y="775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4298849" y="89932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4298849" y="88662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4298849" y="87392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26"/>
          <p:cNvSpPr txBox="1"/>
          <p:nvPr/>
        </p:nvSpPr>
        <p:spPr>
          <a:xfrm>
            <a:off x="321900" y="781600"/>
            <a:ext cx="2763900" cy="9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graph with m edges, then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46558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baseline="30000" lang="en-US" sz="1650"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5796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∈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G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3" name="Google Shape;953;p2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954" name="Google Shape;954;p2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5" name="Google Shape;955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6" name="Google Shape;956;p2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2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8" name="Google Shape;958;p2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959" name="Google Shape;959;p2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960" name="Google Shape;960;p2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7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6" name="Google Shape;9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7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968" name="Google Shape;9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9" name="Google Shape;969;p27"/>
          <p:cNvGrpSpPr/>
          <p:nvPr/>
        </p:nvGrpSpPr>
        <p:grpSpPr>
          <a:xfrm>
            <a:off x="309197" y="829699"/>
            <a:ext cx="4040452" cy="940580"/>
            <a:chOff x="309197" y="829699"/>
            <a:chExt cx="4040452" cy="940580"/>
          </a:xfrm>
        </p:grpSpPr>
        <p:sp>
          <p:nvSpPr>
            <p:cNvPr id="970" name="Google Shape;970;p27"/>
            <p:cNvSpPr/>
            <p:nvPr/>
          </p:nvSpPr>
          <p:spPr>
            <a:xfrm>
              <a:off x="309197" y="829699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71" name="Google Shape;971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995643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686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65597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873927"/>
              <a:ext cx="50800" cy="794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27"/>
            <p:cNvSpPr/>
            <p:nvPr/>
          </p:nvSpPr>
          <p:spPr>
            <a:xfrm>
              <a:off x="309197" y="1039919"/>
              <a:ext cx="3989704" cy="680085"/>
            </a:xfrm>
            <a:custGeom>
              <a:rect b="b" l="l" r="r" t="t"/>
              <a:pathLst>
                <a:path extrusionOk="0" h="680085" w="3989704">
                  <a:moveTo>
                    <a:pt x="3989652" y="0"/>
                  </a:moveTo>
                  <a:lnTo>
                    <a:pt x="0" y="0"/>
                  </a:lnTo>
                  <a:lnTo>
                    <a:pt x="0" y="628758"/>
                  </a:lnTo>
                  <a:lnTo>
                    <a:pt x="4008" y="648483"/>
                  </a:lnTo>
                  <a:lnTo>
                    <a:pt x="14922" y="664636"/>
                  </a:lnTo>
                  <a:lnTo>
                    <a:pt x="31075" y="675550"/>
                  </a:lnTo>
                  <a:lnTo>
                    <a:pt x="50800" y="679558"/>
                  </a:lnTo>
                  <a:lnTo>
                    <a:pt x="3938852" y="679558"/>
                  </a:lnTo>
                  <a:lnTo>
                    <a:pt x="3958576" y="675550"/>
                  </a:lnTo>
                  <a:lnTo>
                    <a:pt x="3974729" y="664636"/>
                  </a:lnTo>
                  <a:lnTo>
                    <a:pt x="3985644" y="648483"/>
                  </a:lnTo>
                  <a:lnTo>
                    <a:pt x="3989652" y="6287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4298849" y="912027"/>
              <a:ext cx="0" cy="775970"/>
            </a:xfrm>
            <a:custGeom>
              <a:rect b="b" l="l" r="r" t="t"/>
              <a:pathLst>
                <a:path extrusionOk="0" h="775969" w="120000">
                  <a:moveTo>
                    <a:pt x="0" y="775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4298849" y="89932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4298849" y="88662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7"/>
            <p:cNvSpPr/>
            <p:nvPr/>
          </p:nvSpPr>
          <p:spPr>
            <a:xfrm>
              <a:off x="4298849" y="87392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27"/>
          <p:cNvGrpSpPr/>
          <p:nvPr/>
        </p:nvGrpSpPr>
        <p:grpSpPr>
          <a:xfrm>
            <a:off x="309197" y="1871403"/>
            <a:ext cx="4040452" cy="977832"/>
            <a:chOff x="309197" y="1871403"/>
            <a:chExt cx="4040452" cy="977832"/>
          </a:xfrm>
        </p:grpSpPr>
        <p:sp>
          <p:nvSpPr>
            <p:cNvPr id="981" name="Google Shape;981;p27"/>
            <p:cNvSpPr/>
            <p:nvPr/>
          </p:nvSpPr>
          <p:spPr>
            <a:xfrm>
              <a:off x="309197" y="187140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2" name="Google Shape;982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2037346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8" y="274763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8" y="273493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49" y="1915629"/>
              <a:ext cx="50800" cy="8320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27"/>
            <p:cNvSpPr/>
            <p:nvPr/>
          </p:nvSpPr>
          <p:spPr>
            <a:xfrm>
              <a:off x="309197" y="2081621"/>
              <a:ext cx="3989704" cy="716915"/>
            </a:xfrm>
            <a:custGeom>
              <a:rect b="b" l="l" r="r" t="t"/>
              <a:pathLst>
                <a:path extrusionOk="0" h="716914" w="3989704">
                  <a:moveTo>
                    <a:pt x="3989652" y="0"/>
                  </a:moveTo>
                  <a:lnTo>
                    <a:pt x="0" y="0"/>
                  </a:lnTo>
                  <a:lnTo>
                    <a:pt x="0" y="666012"/>
                  </a:lnTo>
                  <a:lnTo>
                    <a:pt x="4008" y="685737"/>
                  </a:lnTo>
                  <a:lnTo>
                    <a:pt x="14922" y="701890"/>
                  </a:lnTo>
                  <a:lnTo>
                    <a:pt x="31075" y="712804"/>
                  </a:lnTo>
                  <a:lnTo>
                    <a:pt x="50800" y="716813"/>
                  </a:lnTo>
                  <a:lnTo>
                    <a:pt x="3938852" y="716813"/>
                  </a:lnTo>
                  <a:lnTo>
                    <a:pt x="3958576" y="712804"/>
                  </a:lnTo>
                  <a:lnTo>
                    <a:pt x="3974729" y="701890"/>
                  </a:lnTo>
                  <a:lnTo>
                    <a:pt x="3985644" y="685737"/>
                  </a:lnTo>
                  <a:lnTo>
                    <a:pt x="3989652" y="66601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4298849" y="1953729"/>
              <a:ext cx="0" cy="813435"/>
            </a:xfrm>
            <a:custGeom>
              <a:rect b="b" l="l" r="r" t="t"/>
              <a:pathLst>
                <a:path extrusionOk="0" h="813435" w="120000">
                  <a:moveTo>
                    <a:pt x="0" y="81295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7"/>
            <p:cNvSpPr/>
            <p:nvPr/>
          </p:nvSpPr>
          <p:spPr>
            <a:xfrm>
              <a:off x="4298849" y="194102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7"/>
            <p:cNvSpPr/>
            <p:nvPr/>
          </p:nvSpPr>
          <p:spPr>
            <a:xfrm>
              <a:off x="4298849" y="192832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7"/>
            <p:cNvSpPr/>
            <p:nvPr/>
          </p:nvSpPr>
          <p:spPr>
            <a:xfrm>
              <a:off x="4298849" y="191562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1" name="Google Shape;991;p27"/>
          <p:cNvSpPr txBox="1"/>
          <p:nvPr/>
        </p:nvSpPr>
        <p:spPr>
          <a:xfrm>
            <a:off x="296500" y="781601"/>
            <a:ext cx="3977100" cy="1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graph with m edges, then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490980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baseline="30000" lang="en-US" sz="1350"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deg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) = </a:t>
            </a:r>
            <a:r>
              <a:rPr lang="en-US" sz="80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r>
              <a:rPr i="1" lang="en-US" sz="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8336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5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500">
                <a:latin typeface="Lucida Sans"/>
                <a:ea typeface="Lucida Sans"/>
                <a:cs typeface="Lucida Sans"/>
                <a:sym typeface="Lucida Sans"/>
              </a:rPr>
              <a:t>∈</a:t>
            </a:r>
            <a:r>
              <a:rPr i="1" lang="en-US" sz="500">
                <a:latin typeface="Arial"/>
                <a:ea typeface="Arial"/>
                <a:cs typeface="Arial"/>
                <a:sym typeface="Arial"/>
              </a:rPr>
              <a:t>G</a:t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Proof.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3500" marR="17780" rtl="0" algn="l">
              <a:lnSpc>
                <a:spcPct val="1026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 edge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counted twice in the above summation; once by its endpoint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once by its endpoint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Thus, the total contribution of the edges to the degrees of the vertices is twice the number of 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92" name="Google Shape;992;p27"/>
          <p:cNvGrpSpPr/>
          <p:nvPr/>
        </p:nvGrpSpPr>
        <p:grpSpPr>
          <a:xfrm>
            <a:off x="4150026" y="2633550"/>
            <a:ext cx="88188" cy="93980"/>
            <a:chOff x="4150026" y="2633550"/>
            <a:chExt cx="88188" cy="93980"/>
          </a:xfrm>
        </p:grpSpPr>
        <p:sp>
          <p:nvSpPr>
            <p:cNvPr id="993" name="Google Shape;993;p27"/>
            <p:cNvSpPr/>
            <p:nvPr/>
          </p:nvSpPr>
          <p:spPr>
            <a:xfrm>
              <a:off x="4150026" y="2633550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7"/>
            <p:cNvSpPr/>
            <p:nvPr/>
          </p:nvSpPr>
          <p:spPr>
            <a:xfrm>
              <a:off x="4152557" y="2636081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7"/>
            <p:cNvSpPr/>
            <p:nvPr/>
          </p:nvSpPr>
          <p:spPr>
            <a:xfrm>
              <a:off x="4152557" y="2724539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7"/>
            <p:cNvSpPr/>
            <p:nvPr/>
          </p:nvSpPr>
          <p:spPr>
            <a:xfrm>
              <a:off x="4238214" y="2633550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7" name="Google Shape;997;p27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998" name="Google Shape;998;p2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99" name="Google Shape;999;p2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2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1" name="Google Shape;1001;p2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2" name="Google Shape;1002;p2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003" name="Google Shape;1003;p2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004" name="Google Shape;1004;p27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8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0" name="Google Shape;10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28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1012" name="Google Shape;101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3" name="Google Shape;1013;p28"/>
          <p:cNvGrpSpPr/>
          <p:nvPr/>
        </p:nvGrpSpPr>
        <p:grpSpPr>
          <a:xfrm>
            <a:off x="309200" y="754928"/>
            <a:ext cx="4040452" cy="1014636"/>
            <a:chOff x="309197" y="754905"/>
            <a:chExt cx="4040452" cy="955491"/>
          </a:xfrm>
        </p:grpSpPr>
        <p:sp>
          <p:nvSpPr>
            <p:cNvPr id="1014" name="Google Shape;1014;p28"/>
            <p:cNvSpPr/>
            <p:nvPr/>
          </p:nvSpPr>
          <p:spPr>
            <a:xfrm>
              <a:off x="309197" y="754905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15" name="Google Shape;1015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92084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6" name="Google Shape;1016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0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9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8" name="Google Shape;1018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799131"/>
              <a:ext cx="50800" cy="809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28"/>
            <p:cNvSpPr/>
            <p:nvPr/>
          </p:nvSpPr>
          <p:spPr>
            <a:xfrm>
              <a:off x="309197" y="965123"/>
              <a:ext cx="3989704" cy="694690"/>
            </a:xfrm>
            <a:custGeom>
              <a:rect b="b" l="l" r="r" t="t"/>
              <a:pathLst>
                <a:path extrusionOk="0" h="694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643671"/>
                  </a:lnTo>
                  <a:lnTo>
                    <a:pt x="4008" y="663396"/>
                  </a:lnTo>
                  <a:lnTo>
                    <a:pt x="14922" y="679549"/>
                  </a:lnTo>
                  <a:lnTo>
                    <a:pt x="31075" y="690463"/>
                  </a:lnTo>
                  <a:lnTo>
                    <a:pt x="50800" y="694471"/>
                  </a:lnTo>
                  <a:lnTo>
                    <a:pt x="3938852" y="694471"/>
                  </a:lnTo>
                  <a:lnTo>
                    <a:pt x="3958576" y="690463"/>
                  </a:lnTo>
                  <a:lnTo>
                    <a:pt x="3974729" y="679549"/>
                  </a:lnTo>
                  <a:lnTo>
                    <a:pt x="3985644" y="663396"/>
                  </a:lnTo>
                  <a:lnTo>
                    <a:pt x="3989652" y="64367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4298849" y="837231"/>
              <a:ext cx="0" cy="791210"/>
            </a:xfrm>
            <a:custGeom>
              <a:rect b="b" l="l" r="r" t="t"/>
              <a:pathLst>
                <a:path extrusionOk="0" h="791210" w="120000">
                  <a:moveTo>
                    <a:pt x="0" y="79061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4298849" y="82453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4298849" y="81183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4298849" y="79913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4" name="Google Shape;1024;p28"/>
          <p:cNvSpPr txBox="1"/>
          <p:nvPr/>
        </p:nvSpPr>
        <p:spPr>
          <a:xfrm>
            <a:off x="321900" y="699575"/>
            <a:ext cx="36912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directed graph (digraph) with m edges, then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38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650"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= </a:t>
            </a:r>
            <a:r>
              <a:rPr baseline="30000" lang="en-US" sz="1650"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93091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∈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G	               v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∈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G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5" name="Google Shape;1025;p28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026" name="Google Shape;1026;p2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7" name="Google Shape;1027;p2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2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9" name="Google Shape;1029;p28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0" name="Google Shape;1030;p2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031" name="Google Shape;1031;p2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032" name="Google Shape;1032;p28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9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38" name="Google Shape;10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29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1040" name="Google Shape;10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1" name="Google Shape;1041;p29"/>
          <p:cNvGrpSpPr/>
          <p:nvPr/>
        </p:nvGrpSpPr>
        <p:grpSpPr>
          <a:xfrm>
            <a:off x="309197" y="754905"/>
            <a:ext cx="4040452" cy="955491"/>
            <a:chOff x="309197" y="754905"/>
            <a:chExt cx="4040452" cy="955491"/>
          </a:xfrm>
        </p:grpSpPr>
        <p:sp>
          <p:nvSpPr>
            <p:cNvPr id="1042" name="Google Shape;1042;p29"/>
            <p:cNvSpPr/>
            <p:nvPr/>
          </p:nvSpPr>
          <p:spPr>
            <a:xfrm>
              <a:off x="309197" y="754905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3" name="Google Shape;1043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92084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0879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960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6" name="Google Shape;1046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799131"/>
              <a:ext cx="50800" cy="809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29"/>
            <p:cNvSpPr/>
            <p:nvPr/>
          </p:nvSpPr>
          <p:spPr>
            <a:xfrm>
              <a:off x="309197" y="965123"/>
              <a:ext cx="3989704" cy="694690"/>
            </a:xfrm>
            <a:custGeom>
              <a:rect b="b" l="l" r="r" t="t"/>
              <a:pathLst>
                <a:path extrusionOk="0" h="694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643671"/>
                  </a:lnTo>
                  <a:lnTo>
                    <a:pt x="4008" y="663396"/>
                  </a:lnTo>
                  <a:lnTo>
                    <a:pt x="14922" y="679549"/>
                  </a:lnTo>
                  <a:lnTo>
                    <a:pt x="31075" y="690463"/>
                  </a:lnTo>
                  <a:lnTo>
                    <a:pt x="50800" y="694471"/>
                  </a:lnTo>
                  <a:lnTo>
                    <a:pt x="3938852" y="694471"/>
                  </a:lnTo>
                  <a:lnTo>
                    <a:pt x="3958576" y="690463"/>
                  </a:lnTo>
                  <a:lnTo>
                    <a:pt x="3974729" y="679549"/>
                  </a:lnTo>
                  <a:lnTo>
                    <a:pt x="3985644" y="663396"/>
                  </a:lnTo>
                  <a:lnTo>
                    <a:pt x="3989652" y="64367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4298849" y="837231"/>
              <a:ext cx="0" cy="791210"/>
            </a:xfrm>
            <a:custGeom>
              <a:rect b="b" l="l" r="r" t="t"/>
              <a:pathLst>
                <a:path extrusionOk="0" h="791210" w="120000">
                  <a:moveTo>
                    <a:pt x="0" y="79061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4298849" y="82453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4298849" y="81183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4298849" y="79913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29"/>
          <p:cNvGrpSpPr/>
          <p:nvPr/>
        </p:nvGrpSpPr>
        <p:grpSpPr>
          <a:xfrm>
            <a:off x="309197" y="1811521"/>
            <a:ext cx="4040452" cy="1149907"/>
            <a:chOff x="309197" y="1811521"/>
            <a:chExt cx="4040452" cy="1149907"/>
          </a:xfrm>
        </p:grpSpPr>
        <p:sp>
          <p:nvSpPr>
            <p:cNvPr id="1053" name="Google Shape;1053;p29"/>
            <p:cNvSpPr/>
            <p:nvPr/>
          </p:nvSpPr>
          <p:spPr>
            <a:xfrm>
              <a:off x="309197" y="1811521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4" name="Google Shape;1054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977463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5" name="Google Shape;1055;p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8" y="285982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2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8" y="2847127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7" name="Google Shape;1057;p2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49" y="1855745"/>
              <a:ext cx="50800" cy="1004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29"/>
            <p:cNvSpPr/>
            <p:nvPr/>
          </p:nvSpPr>
          <p:spPr>
            <a:xfrm>
              <a:off x="309197" y="2021737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4298849" y="1893845"/>
              <a:ext cx="0" cy="985519"/>
            </a:xfrm>
            <a:custGeom>
              <a:rect b="b" l="l" r="r" t="t"/>
              <a:pathLst>
                <a:path extrusionOk="0" h="985519" w="120000">
                  <a:moveTo>
                    <a:pt x="0" y="98503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4298849" y="188114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4298849" y="186844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4298849" y="185574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3" name="Google Shape;1063;p29"/>
          <p:cNvSpPr txBox="1"/>
          <p:nvPr/>
        </p:nvSpPr>
        <p:spPr>
          <a:xfrm>
            <a:off x="296500" y="699575"/>
            <a:ext cx="40404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directed graph (digraph) with m edges, then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639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350"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indeg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) = </a:t>
            </a:r>
            <a:r>
              <a:rPr baseline="30000" lang="en-US" sz="1350">
                <a:latin typeface="Verdana"/>
                <a:ea typeface="Verdana"/>
                <a:cs typeface="Verdana"/>
                <a:sym typeface="Verdana"/>
              </a:rPr>
              <a:t>Σ 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outdeg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) = </a:t>
            </a: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r>
              <a:rPr i="1" lang="en-US" sz="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5631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5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500">
                <a:latin typeface="Lucida Sans"/>
                <a:ea typeface="Lucida Sans"/>
                <a:cs typeface="Lucida Sans"/>
                <a:sym typeface="Lucida Sans"/>
              </a:rPr>
              <a:t>∈</a:t>
            </a:r>
            <a:r>
              <a:rPr i="1" lang="en-US" sz="500">
                <a:latin typeface="Arial"/>
                <a:ea typeface="Arial"/>
                <a:cs typeface="Arial"/>
                <a:sym typeface="Arial"/>
              </a:rPr>
              <a:t>G	              v </a:t>
            </a:r>
            <a:r>
              <a:rPr lang="en-US" sz="500">
                <a:latin typeface="Lucida Sans"/>
                <a:ea typeface="Lucida Sans"/>
                <a:cs typeface="Lucida Sans"/>
                <a:sym typeface="Lucida Sans"/>
              </a:rPr>
              <a:t>∈</a:t>
            </a:r>
            <a:r>
              <a:rPr i="1" lang="en-US" sz="500">
                <a:latin typeface="Arial"/>
                <a:ea typeface="Arial"/>
                <a:cs typeface="Arial"/>
                <a:sym typeface="Arial"/>
              </a:rPr>
              <a:t>G</a:t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Proof.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2864" marR="17780" rtl="0" algn="l">
              <a:lnSpc>
                <a:spcPct val="1026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 a directed graph, an edge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contributes one unit to the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out-degree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its origin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one unit to the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in-degree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its destination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Thus, the total contribution of the edges to the out-degrees of the vertices is equal to the number of edges, and similarly for the in-degrees.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064" name="Google Shape;1064;p29"/>
          <p:cNvGrpSpPr/>
          <p:nvPr/>
        </p:nvGrpSpPr>
        <p:grpSpPr>
          <a:xfrm>
            <a:off x="4150026" y="2745742"/>
            <a:ext cx="88188" cy="93980"/>
            <a:chOff x="4150026" y="2745742"/>
            <a:chExt cx="88188" cy="93980"/>
          </a:xfrm>
        </p:grpSpPr>
        <p:sp>
          <p:nvSpPr>
            <p:cNvPr id="1065" name="Google Shape;1065;p29"/>
            <p:cNvSpPr/>
            <p:nvPr/>
          </p:nvSpPr>
          <p:spPr>
            <a:xfrm>
              <a:off x="4150026" y="2745742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4152557" y="2748273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4152557" y="2836731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4238214" y="2745742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9" name="Google Shape;1069;p29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070" name="Google Shape;1070;p2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1" name="Google Shape;1071;p2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2" name="Google Shape;1072;p2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3" name="Google Shape;1073;p29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4" name="Google Shape;1074;p2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075" name="Google Shape;1075;p2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076" name="Google Shape;1076;p29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0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82" name="Google Shape;10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30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1084" name="Google Shape;108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5" name="Google Shape;1085;p30"/>
          <p:cNvGrpSpPr/>
          <p:nvPr/>
        </p:nvGrpSpPr>
        <p:grpSpPr>
          <a:xfrm>
            <a:off x="309197" y="852446"/>
            <a:ext cx="4040452" cy="633683"/>
            <a:chOff x="309197" y="852446"/>
            <a:chExt cx="4040452" cy="633683"/>
          </a:xfrm>
        </p:grpSpPr>
        <p:sp>
          <p:nvSpPr>
            <p:cNvPr id="1086" name="Google Shape;1086;p30"/>
            <p:cNvSpPr/>
            <p:nvPr/>
          </p:nvSpPr>
          <p:spPr>
            <a:xfrm>
              <a:off x="309197" y="852446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7" name="Google Shape;1087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018390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8" name="Google Shape;1088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38452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9" name="Google Shape;1089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37182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0" name="Google Shape;1090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896677"/>
              <a:ext cx="50800" cy="48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30"/>
            <p:cNvSpPr/>
            <p:nvPr/>
          </p:nvSpPr>
          <p:spPr>
            <a:xfrm>
              <a:off x="309197" y="1062669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0"/>
            <p:cNvSpPr/>
            <p:nvPr/>
          </p:nvSpPr>
          <p:spPr>
            <a:xfrm>
              <a:off x="4298849" y="934777"/>
              <a:ext cx="0" cy="469265"/>
            </a:xfrm>
            <a:custGeom>
              <a:rect b="b" l="l" r="r" t="t"/>
              <a:pathLst>
                <a:path extrusionOk="0" h="469265" w="120000">
                  <a:moveTo>
                    <a:pt x="0" y="4688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4298849" y="9220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0"/>
            <p:cNvSpPr/>
            <p:nvPr/>
          </p:nvSpPr>
          <p:spPr>
            <a:xfrm>
              <a:off x="4298849" y="9093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0"/>
            <p:cNvSpPr/>
            <p:nvPr/>
          </p:nvSpPr>
          <p:spPr>
            <a:xfrm>
              <a:off x="4298849" y="8966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6" name="Google Shape;1096;p30"/>
          <p:cNvSpPr txBox="1"/>
          <p:nvPr/>
        </p:nvSpPr>
        <p:spPr>
          <a:xfrm>
            <a:off x="347298" y="804337"/>
            <a:ext cx="3707765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simple </a:t>
            </a:r>
            <a:r>
              <a:rPr b="1" i="1" lang="en-US" sz="1100">
                <a:latin typeface="Trebuchet MS"/>
                <a:ea typeface="Trebuchet MS"/>
                <a:cs typeface="Trebuchet MS"/>
                <a:sym typeface="Trebuchet MS"/>
              </a:rPr>
              <a:t>undirected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graph with n vertices and m edges, then 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≤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097" name="Google Shape;1097;p30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098" name="Google Shape;1098;p3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9" name="Google Shape;1099;p3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0" name="Google Shape;1100;p3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1" name="Google Shape;1101;p30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2" name="Google Shape;1102;p3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103" name="Google Shape;1103;p3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104" name="Google Shape;1104;p30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1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10" name="Google Shape;11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31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1112" name="Google Shape;11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3" name="Google Shape;1113;p31"/>
          <p:cNvGrpSpPr/>
          <p:nvPr/>
        </p:nvGrpSpPr>
        <p:grpSpPr>
          <a:xfrm>
            <a:off x="309197" y="852446"/>
            <a:ext cx="4040452" cy="633683"/>
            <a:chOff x="309197" y="852446"/>
            <a:chExt cx="4040452" cy="633683"/>
          </a:xfrm>
        </p:grpSpPr>
        <p:sp>
          <p:nvSpPr>
            <p:cNvPr id="1114" name="Google Shape;1114;p31"/>
            <p:cNvSpPr/>
            <p:nvPr/>
          </p:nvSpPr>
          <p:spPr>
            <a:xfrm>
              <a:off x="309197" y="852446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5" name="Google Shape;1115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018390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" name="Google Shape;1116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38452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37182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8" name="Google Shape;1118;p3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896677"/>
              <a:ext cx="50800" cy="48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31"/>
            <p:cNvSpPr/>
            <p:nvPr/>
          </p:nvSpPr>
          <p:spPr>
            <a:xfrm>
              <a:off x="309197" y="1062669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4298849" y="934777"/>
              <a:ext cx="0" cy="469265"/>
            </a:xfrm>
            <a:custGeom>
              <a:rect b="b" l="l" r="r" t="t"/>
              <a:pathLst>
                <a:path extrusionOk="0" h="469265" w="120000">
                  <a:moveTo>
                    <a:pt x="0" y="4688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4298849" y="9220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4298849" y="9093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4298849" y="8966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4" name="Google Shape;1124;p31"/>
          <p:cNvGrpSpPr/>
          <p:nvPr/>
        </p:nvGrpSpPr>
        <p:grpSpPr>
          <a:xfrm>
            <a:off x="309200" y="1587333"/>
            <a:ext cx="4040452" cy="1150383"/>
            <a:chOff x="309197" y="1587254"/>
            <a:chExt cx="4040452" cy="1227861"/>
          </a:xfrm>
        </p:grpSpPr>
        <p:sp>
          <p:nvSpPr>
            <p:cNvPr id="1125" name="Google Shape;1125;p31"/>
            <p:cNvSpPr/>
            <p:nvPr/>
          </p:nvSpPr>
          <p:spPr>
            <a:xfrm>
              <a:off x="309197" y="1587254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6" name="Google Shape;1126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753196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7" name="Google Shape;1127;p3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8" y="271351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8" name="Google Shape;1128;p3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8" y="270081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9" name="Google Shape;1129;p3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49" y="1631477"/>
              <a:ext cx="50800" cy="10820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31"/>
            <p:cNvSpPr/>
            <p:nvPr/>
          </p:nvSpPr>
          <p:spPr>
            <a:xfrm>
              <a:off x="309197" y="1797470"/>
              <a:ext cx="3989704" cy="967105"/>
            </a:xfrm>
            <a:custGeom>
              <a:rect b="b" l="l" r="r" t="t"/>
              <a:pathLst>
                <a:path extrusionOk="0" h="967105" w="3989704">
                  <a:moveTo>
                    <a:pt x="3989652" y="0"/>
                  </a:moveTo>
                  <a:lnTo>
                    <a:pt x="0" y="0"/>
                  </a:lnTo>
                  <a:lnTo>
                    <a:pt x="0" y="916044"/>
                  </a:lnTo>
                  <a:lnTo>
                    <a:pt x="4008" y="935769"/>
                  </a:lnTo>
                  <a:lnTo>
                    <a:pt x="14922" y="951922"/>
                  </a:lnTo>
                  <a:lnTo>
                    <a:pt x="31075" y="962836"/>
                  </a:lnTo>
                  <a:lnTo>
                    <a:pt x="50800" y="966845"/>
                  </a:lnTo>
                  <a:lnTo>
                    <a:pt x="3938852" y="966845"/>
                  </a:lnTo>
                  <a:lnTo>
                    <a:pt x="3958576" y="962836"/>
                  </a:lnTo>
                  <a:lnTo>
                    <a:pt x="3974729" y="951922"/>
                  </a:lnTo>
                  <a:lnTo>
                    <a:pt x="3985644" y="935769"/>
                  </a:lnTo>
                  <a:lnTo>
                    <a:pt x="3989652" y="91604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4298849" y="1669577"/>
              <a:ext cx="0" cy="1062990"/>
            </a:xfrm>
            <a:custGeom>
              <a:rect b="b" l="l" r="r" t="t"/>
              <a:pathLst>
                <a:path extrusionOk="0" h="1062989" w="120000">
                  <a:moveTo>
                    <a:pt x="0" y="106298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4298849" y="16568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4298849" y="16441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4298849" y="163147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5" name="Google Shape;1135;p31"/>
          <p:cNvSpPr txBox="1"/>
          <p:nvPr/>
        </p:nvSpPr>
        <p:spPr>
          <a:xfrm>
            <a:off x="347300" y="804325"/>
            <a:ext cx="3903300" cy="1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11760" rtl="0" algn="l">
              <a:lnSpc>
                <a:spcPct val="1026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simple </a:t>
            </a:r>
            <a:r>
              <a:rPr b="1" i="1" lang="en-US" sz="1100">
                <a:latin typeface="Trebuchet MS"/>
                <a:ea typeface="Trebuchet MS"/>
                <a:cs typeface="Trebuchet MS"/>
                <a:sym typeface="Trebuchet MS"/>
              </a:rPr>
              <a:t>undirected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graph with n vertices and m edges, then 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≤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Proof.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Since 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is a simple undirected graph without self-loops, the maximum degree of a vertex is 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1. And, since there are 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vertices, and each edge is counted twice (once for each end of an edge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0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, the maximum number of edges is 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0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100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2. Thus,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6" name="Google Shape;1136;p31"/>
          <p:cNvSpPr txBox="1"/>
          <p:nvPr/>
        </p:nvSpPr>
        <p:spPr>
          <a:xfrm>
            <a:off x="1126798" y="2481151"/>
            <a:ext cx="1153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≤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2, or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7" name="Google Shape;1137;p31"/>
          <p:cNvSpPr txBox="1"/>
          <p:nvPr/>
        </p:nvSpPr>
        <p:spPr>
          <a:xfrm>
            <a:off x="2397384" y="2470643"/>
            <a:ext cx="766500" cy="201900"/>
          </a:xfrm>
          <a:prstGeom prst="rect">
            <a:avLst/>
          </a:prstGeom>
          <a:solidFill>
            <a:srgbClr val="FFF200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40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Θ(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aseline="30000" lang="en-US" sz="12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138" name="Google Shape;1138;p31"/>
          <p:cNvGrpSpPr/>
          <p:nvPr/>
        </p:nvGrpSpPr>
        <p:grpSpPr>
          <a:xfrm>
            <a:off x="4150026" y="2548714"/>
            <a:ext cx="88188" cy="93980"/>
            <a:chOff x="4150026" y="2548714"/>
            <a:chExt cx="88188" cy="93980"/>
          </a:xfrm>
        </p:grpSpPr>
        <p:sp>
          <p:nvSpPr>
            <p:cNvPr id="1139" name="Google Shape;1139;p31"/>
            <p:cNvSpPr/>
            <p:nvPr/>
          </p:nvSpPr>
          <p:spPr>
            <a:xfrm>
              <a:off x="4150026" y="2548714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4152557" y="2551245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4152557" y="2639703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4238214" y="2548714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3" name="Google Shape;1143;p31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144" name="Google Shape;1144;p3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45" name="Google Shape;1145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6" name="Google Shape;1146;p3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7" name="Google Shape;1147;p31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8" name="Google Shape;1148;p3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149" name="Google Shape;1149;p3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150" name="Google Shape;1150;p31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32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56" name="Google Shape;11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32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1158" name="Google Shape;11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9" name="Google Shape;1159;p32"/>
          <p:cNvGrpSpPr/>
          <p:nvPr/>
        </p:nvGrpSpPr>
        <p:grpSpPr>
          <a:xfrm>
            <a:off x="309197" y="924356"/>
            <a:ext cx="4040452" cy="633682"/>
            <a:chOff x="309197" y="924356"/>
            <a:chExt cx="4040452" cy="633682"/>
          </a:xfrm>
        </p:grpSpPr>
        <p:sp>
          <p:nvSpPr>
            <p:cNvPr id="1160" name="Google Shape;1160;p32"/>
            <p:cNvSpPr/>
            <p:nvPr/>
          </p:nvSpPr>
          <p:spPr>
            <a:xfrm>
              <a:off x="309197" y="924356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1" name="Google Shape;1161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09029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2" name="Google Shape;1162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45643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3" name="Google Shape;1163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443738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4" name="Google Shape;1164;p3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968587"/>
              <a:ext cx="50800" cy="48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5" name="Google Shape;1165;p32"/>
            <p:cNvSpPr/>
            <p:nvPr/>
          </p:nvSpPr>
          <p:spPr>
            <a:xfrm>
              <a:off x="309197" y="1134579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2"/>
            <p:cNvSpPr/>
            <p:nvPr/>
          </p:nvSpPr>
          <p:spPr>
            <a:xfrm>
              <a:off x="4298849" y="1006687"/>
              <a:ext cx="0" cy="469265"/>
            </a:xfrm>
            <a:custGeom>
              <a:rect b="b" l="l" r="r" t="t"/>
              <a:pathLst>
                <a:path extrusionOk="0" h="469265" w="120000">
                  <a:moveTo>
                    <a:pt x="0" y="4688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2"/>
            <p:cNvSpPr/>
            <p:nvPr/>
          </p:nvSpPr>
          <p:spPr>
            <a:xfrm>
              <a:off x="4298849" y="9939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2"/>
            <p:cNvSpPr/>
            <p:nvPr/>
          </p:nvSpPr>
          <p:spPr>
            <a:xfrm>
              <a:off x="4298849" y="9812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2"/>
            <p:cNvSpPr/>
            <p:nvPr/>
          </p:nvSpPr>
          <p:spPr>
            <a:xfrm>
              <a:off x="4298849" y="9685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0" name="Google Shape;1170;p32"/>
          <p:cNvSpPr txBox="1"/>
          <p:nvPr/>
        </p:nvSpPr>
        <p:spPr>
          <a:xfrm>
            <a:off x="347298" y="876244"/>
            <a:ext cx="3853179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simple </a:t>
            </a:r>
            <a:r>
              <a:rPr b="1" i="1" lang="en-US" sz="1100">
                <a:latin typeface="Trebuchet MS"/>
                <a:ea typeface="Trebuchet MS"/>
                <a:cs typeface="Trebuchet MS"/>
                <a:sym typeface="Trebuchet MS"/>
              </a:rPr>
              <a:t>directed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graph with n vertices and m edges, then 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≤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171" name="Google Shape;1171;p32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172" name="Google Shape;1172;p3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3" name="Google Shape;1173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32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5" name="Google Shape;1175;p32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6" name="Google Shape;1176;p3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177" name="Google Shape;1177;p3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178" name="Google Shape;1178;p32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3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84" name="Google Shape;11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33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Relationship of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 </a:t>
            </a:r>
            <a:r>
              <a:rPr lang="en-US"/>
              <a:t>and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|</a:t>
            </a:r>
            <a:endParaRPr/>
          </a:p>
        </p:txBody>
      </p:sp>
      <p:pic>
        <p:nvPicPr>
          <p:cNvPr id="1186" name="Google Shape;11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7" name="Google Shape;1187;p33"/>
          <p:cNvGrpSpPr/>
          <p:nvPr/>
        </p:nvGrpSpPr>
        <p:grpSpPr>
          <a:xfrm>
            <a:off x="309197" y="924356"/>
            <a:ext cx="4040452" cy="633682"/>
            <a:chOff x="309197" y="924356"/>
            <a:chExt cx="4040452" cy="633682"/>
          </a:xfrm>
        </p:grpSpPr>
        <p:sp>
          <p:nvSpPr>
            <p:cNvPr id="1188" name="Google Shape;1188;p33"/>
            <p:cNvSpPr/>
            <p:nvPr/>
          </p:nvSpPr>
          <p:spPr>
            <a:xfrm>
              <a:off x="309197" y="924356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9" name="Google Shape;1189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090298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45643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1" name="Google Shape;1191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443738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2" name="Google Shape;1192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968587"/>
              <a:ext cx="50800" cy="48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33"/>
            <p:cNvSpPr/>
            <p:nvPr/>
          </p:nvSpPr>
          <p:spPr>
            <a:xfrm>
              <a:off x="309197" y="1134579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4298849" y="1006687"/>
              <a:ext cx="0" cy="469265"/>
            </a:xfrm>
            <a:custGeom>
              <a:rect b="b" l="l" r="r" t="t"/>
              <a:pathLst>
                <a:path extrusionOk="0" h="469265" w="120000">
                  <a:moveTo>
                    <a:pt x="0" y="4688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4298849" y="9939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4298849" y="9812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4298849" y="96858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8" name="Google Shape;1198;p33"/>
          <p:cNvGrpSpPr/>
          <p:nvPr/>
        </p:nvGrpSpPr>
        <p:grpSpPr>
          <a:xfrm>
            <a:off x="309197" y="1659163"/>
            <a:ext cx="4040452" cy="1048089"/>
            <a:chOff x="309197" y="1659163"/>
            <a:chExt cx="4040452" cy="1048089"/>
          </a:xfrm>
        </p:grpSpPr>
        <p:sp>
          <p:nvSpPr>
            <p:cNvPr id="1199" name="Google Shape;1199;p33"/>
            <p:cNvSpPr/>
            <p:nvPr/>
          </p:nvSpPr>
          <p:spPr>
            <a:xfrm>
              <a:off x="309197" y="16591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00" name="Google Shape;1200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8251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1" name="Google Shape;1201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60565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2" name="Google Shape;1202;p3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59295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3" name="Google Shape;1203;p3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703388"/>
              <a:ext cx="50800" cy="902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33"/>
            <p:cNvSpPr/>
            <p:nvPr/>
          </p:nvSpPr>
          <p:spPr>
            <a:xfrm>
              <a:off x="309197" y="1869380"/>
              <a:ext cx="3989704" cy="787400"/>
            </a:xfrm>
            <a:custGeom>
              <a:rect b="b" l="l" r="r" t="t"/>
              <a:pathLst>
                <a:path extrusionOk="0" h="787400" w="3989704">
                  <a:moveTo>
                    <a:pt x="3989652" y="0"/>
                  </a:moveTo>
                  <a:lnTo>
                    <a:pt x="0" y="0"/>
                  </a:lnTo>
                  <a:lnTo>
                    <a:pt x="0" y="736270"/>
                  </a:lnTo>
                  <a:lnTo>
                    <a:pt x="4008" y="755995"/>
                  </a:lnTo>
                  <a:lnTo>
                    <a:pt x="14922" y="772148"/>
                  </a:lnTo>
                  <a:lnTo>
                    <a:pt x="31075" y="783062"/>
                  </a:lnTo>
                  <a:lnTo>
                    <a:pt x="50800" y="787071"/>
                  </a:lnTo>
                  <a:lnTo>
                    <a:pt x="3938852" y="787071"/>
                  </a:lnTo>
                  <a:lnTo>
                    <a:pt x="3958576" y="783062"/>
                  </a:lnTo>
                  <a:lnTo>
                    <a:pt x="3974729" y="772148"/>
                  </a:lnTo>
                  <a:lnTo>
                    <a:pt x="3985644" y="755995"/>
                  </a:lnTo>
                  <a:lnTo>
                    <a:pt x="3989652" y="73627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3"/>
            <p:cNvSpPr/>
            <p:nvPr/>
          </p:nvSpPr>
          <p:spPr>
            <a:xfrm>
              <a:off x="4298849" y="1741488"/>
              <a:ext cx="0" cy="883285"/>
            </a:xfrm>
            <a:custGeom>
              <a:rect b="b" l="l" r="r" t="t"/>
              <a:pathLst>
                <a:path extrusionOk="0" h="883285" w="120000">
                  <a:moveTo>
                    <a:pt x="0" y="88321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3"/>
            <p:cNvSpPr/>
            <p:nvPr/>
          </p:nvSpPr>
          <p:spPr>
            <a:xfrm>
              <a:off x="4298849" y="172878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3"/>
            <p:cNvSpPr/>
            <p:nvPr/>
          </p:nvSpPr>
          <p:spPr>
            <a:xfrm>
              <a:off x="4298849" y="171608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3"/>
            <p:cNvSpPr/>
            <p:nvPr/>
          </p:nvSpPr>
          <p:spPr>
            <a:xfrm>
              <a:off x="4298849" y="170338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9" name="Google Shape;1209;p33"/>
          <p:cNvSpPr txBox="1"/>
          <p:nvPr/>
        </p:nvSpPr>
        <p:spPr>
          <a:xfrm>
            <a:off x="347298" y="876244"/>
            <a:ext cx="3855720" cy="149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6985" rtl="0" algn="l">
              <a:lnSpc>
                <a:spcPct val="1026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 G is a simple </a:t>
            </a:r>
            <a:r>
              <a:rPr b="1" i="1" lang="en-US" sz="1100">
                <a:latin typeface="Trebuchet MS"/>
                <a:ea typeface="Trebuchet MS"/>
                <a:cs typeface="Trebuchet MS"/>
                <a:sym typeface="Trebuchet MS"/>
              </a:rPr>
              <a:t>directed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graph with n vertices and m edges, then 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≤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Proof.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Since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simple graph without self-loops, the maximum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in-degree of a vertex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1. And, since there are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vertices, and no two edges can have the same origin and destination,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0" name="Google Shape;1210;p33"/>
          <p:cNvSpPr txBox="1"/>
          <p:nvPr/>
        </p:nvSpPr>
        <p:spPr>
          <a:xfrm>
            <a:off x="1274648" y="2391950"/>
            <a:ext cx="1014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≤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or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1" name="Google Shape;1211;p33"/>
          <p:cNvSpPr txBox="1"/>
          <p:nvPr/>
        </p:nvSpPr>
        <p:spPr>
          <a:xfrm>
            <a:off x="2452501" y="2383129"/>
            <a:ext cx="766500" cy="201900"/>
          </a:xfrm>
          <a:prstGeom prst="rect">
            <a:avLst/>
          </a:prstGeom>
          <a:solidFill>
            <a:srgbClr val="FFF200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40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Θ(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aseline="30000" lang="en-US" sz="12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12" name="Google Shape;1212;p33"/>
          <p:cNvGrpSpPr/>
          <p:nvPr/>
        </p:nvGrpSpPr>
        <p:grpSpPr>
          <a:xfrm>
            <a:off x="4150026" y="2440851"/>
            <a:ext cx="88188" cy="93980"/>
            <a:chOff x="4150026" y="2440851"/>
            <a:chExt cx="88188" cy="93980"/>
          </a:xfrm>
        </p:grpSpPr>
        <p:sp>
          <p:nvSpPr>
            <p:cNvPr id="1213" name="Google Shape;1213;p33"/>
            <p:cNvSpPr/>
            <p:nvPr/>
          </p:nvSpPr>
          <p:spPr>
            <a:xfrm>
              <a:off x="4150026" y="2440851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3"/>
            <p:cNvSpPr/>
            <p:nvPr/>
          </p:nvSpPr>
          <p:spPr>
            <a:xfrm>
              <a:off x="4152557" y="2443382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3"/>
            <p:cNvSpPr/>
            <p:nvPr/>
          </p:nvSpPr>
          <p:spPr>
            <a:xfrm>
              <a:off x="4152557" y="2531840"/>
              <a:ext cx="83185" cy="0"/>
            </a:xfrm>
            <a:custGeom>
              <a:rect b="b" l="l" r="r" t="t"/>
              <a:pathLst>
                <a:path extrusionOk="0" h="120000" w="83185">
                  <a:moveTo>
                    <a:pt x="0" y="0"/>
                  </a:moveTo>
                  <a:lnTo>
                    <a:pt x="83127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3"/>
            <p:cNvSpPr/>
            <p:nvPr/>
          </p:nvSpPr>
          <p:spPr>
            <a:xfrm>
              <a:off x="4238214" y="2440851"/>
              <a:ext cx="0" cy="93980"/>
            </a:xfrm>
            <a:custGeom>
              <a:rect b="b" l="l" r="r" t="t"/>
              <a:pathLst>
                <a:path extrusionOk="0" h="93980" w="120000">
                  <a:moveTo>
                    <a:pt x="0" y="935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333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7" name="Google Shape;1217;p33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218" name="Google Shape;1218;p3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19" name="Google Shape;1219;p3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33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1" name="Google Shape;1221;p33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2" name="Google Shape;1222;p3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223" name="Google Shape;1223;p3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224" name="Google Shape;1224;p33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0" name="Google Shape;1230;p3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32" name="Google Shape;123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34"/>
          <p:cNvSpPr txBox="1"/>
          <p:nvPr/>
        </p:nvSpPr>
        <p:spPr>
          <a:xfrm>
            <a:off x="154766" y="121020"/>
            <a:ext cx="171259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Paths and connectivity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34" name="Google Shape;12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5" name="Google Shape;1235;p34"/>
          <p:cNvGrpSpPr/>
          <p:nvPr/>
        </p:nvGrpSpPr>
        <p:grpSpPr>
          <a:xfrm>
            <a:off x="309197" y="936093"/>
            <a:ext cx="4040452" cy="836327"/>
            <a:chOff x="309197" y="936093"/>
            <a:chExt cx="4040452" cy="836327"/>
          </a:xfrm>
        </p:grpSpPr>
        <p:sp>
          <p:nvSpPr>
            <p:cNvPr id="1236" name="Google Shape;1236;p34"/>
            <p:cNvSpPr/>
            <p:nvPr/>
          </p:nvSpPr>
          <p:spPr>
            <a:xfrm>
              <a:off x="309197" y="936093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7" name="Google Shape;1237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124910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8" name="Google Shape;1238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7082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9" name="Google Shape;1239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658119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0" name="Google Shape;1240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980321"/>
              <a:ext cx="50800" cy="690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34"/>
            <p:cNvSpPr/>
            <p:nvPr/>
          </p:nvSpPr>
          <p:spPr>
            <a:xfrm>
              <a:off x="309197" y="1169186"/>
              <a:ext cx="3989704" cy="552450"/>
            </a:xfrm>
            <a:custGeom>
              <a:rect b="b" l="l" r="r" t="t"/>
              <a:pathLst>
                <a:path extrusionOk="0" h="552450" w="3989704">
                  <a:moveTo>
                    <a:pt x="3989652" y="0"/>
                  </a:moveTo>
                  <a:lnTo>
                    <a:pt x="0" y="0"/>
                  </a:lnTo>
                  <a:lnTo>
                    <a:pt x="0" y="501632"/>
                  </a:lnTo>
                  <a:lnTo>
                    <a:pt x="4008" y="521357"/>
                  </a:lnTo>
                  <a:lnTo>
                    <a:pt x="14922" y="537510"/>
                  </a:lnTo>
                  <a:lnTo>
                    <a:pt x="31075" y="548424"/>
                  </a:lnTo>
                  <a:lnTo>
                    <a:pt x="50800" y="552433"/>
                  </a:lnTo>
                  <a:lnTo>
                    <a:pt x="3938852" y="552433"/>
                  </a:lnTo>
                  <a:lnTo>
                    <a:pt x="3958576" y="548424"/>
                  </a:lnTo>
                  <a:lnTo>
                    <a:pt x="3974729" y="537510"/>
                  </a:lnTo>
                  <a:lnTo>
                    <a:pt x="3985644" y="521357"/>
                  </a:lnTo>
                  <a:lnTo>
                    <a:pt x="3989652" y="50163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4298849" y="1018421"/>
              <a:ext cx="0" cy="671830"/>
            </a:xfrm>
            <a:custGeom>
              <a:rect b="b" l="l" r="r" t="t"/>
              <a:pathLst>
                <a:path extrusionOk="0" h="671830" w="120000">
                  <a:moveTo>
                    <a:pt x="0" y="67144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4298849" y="100572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4298849" y="99302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4298849" y="98032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6" name="Google Shape;1246;p34"/>
          <p:cNvSpPr txBox="1"/>
          <p:nvPr/>
        </p:nvSpPr>
        <p:spPr>
          <a:xfrm>
            <a:off x="309198" y="871845"/>
            <a:ext cx="3989704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(Path)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0800" marR="43180" rtl="0" algn="l">
              <a:lnSpc>
                <a:spcPct val="1026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path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 a undirected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sequence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P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baseline="-25000" lang="en-US" sz="120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with the property that for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k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aseline="-25000" lang="en-US" sz="1200">
                <a:latin typeface="Verdana"/>
                <a:ea typeface="Verdana"/>
                <a:cs typeface="Verdana"/>
                <a:sym typeface="Verdana"/>
              </a:rPr>
              <a:t>+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47" name="Google Shape;1247;p34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248" name="Google Shape;1248;p3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9" name="Google Shape;1249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3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1" name="Google Shape;1251;p34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2" name="Google Shape;1252;p3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253" name="Google Shape;1253;p3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254" name="Google Shape;1254;p34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0" name="Google Shape;1260;p3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62" name="Google Shape;12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35"/>
          <p:cNvSpPr txBox="1"/>
          <p:nvPr/>
        </p:nvSpPr>
        <p:spPr>
          <a:xfrm>
            <a:off x="154766" y="121020"/>
            <a:ext cx="171259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Paths and connectivity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64" name="Google Shape;126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5" name="Google Shape;1265;p35"/>
          <p:cNvGrpSpPr/>
          <p:nvPr/>
        </p:nvGrpSpPr>
        <p:grpSpPr>
          <a:xfrm>
            <a:off x="309197" y="936093"/>
            <a:ext cx="4040452" cy="836327"/>
            <a:chOff x="309197" y="936093"/>
            <a:chExt cx="4040452" cy="836327"/>
          </a:xfrm>
        </p:grpSpPr>
        <p:sp>
          <p:nvSpPr>
            <p:cNvPr id="1266" name="Google Shape;1266;p35"/>
            <p:cNvSpPr/>
            <p:nvPr/>
          </p:nvSpPr>
          <p:spPr>
            <a:xfrm>
              <a:off x="309197" y="936093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7" name="Google Shape;1267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1124910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8" name="Google Shape;1268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7082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9" name="Google Shape;1269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658119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0" name="Google Shape;1270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980321"/>
              <a:ext cx="50800" cy="690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1" name="Google Shape;1271;p35"/>
            <p:cNvSpPr/>
            <p:nvPr/>
          </p:nvSpPr>
          <p:spPr>
            <a:xfrm>
              <a:off x="309197" y="1169186"/>
              <a:ext cx="3989704" cy="552450"/>
            </a:xfrm>
            <a:custGeom>
              <a:rect b="b" l="l" r="r" t="t"/>
              <a:pathLst>
                <a:path extrusionOk="0" h="552450" w="3989704">
                  <a:moveTo>
                    <a:pt x="3989652" y="0"/>
                  </a:moveTo>
                  <a:lnTo>
                    <a:pt x="0" y="0"/>
                  </a:lnTo>
                  <a:lnTo>
                    <a:pt x="0" y="501632"/>
                  </a:lnTo>
                  <a:lnTo>
                    <a:pt x="4008" y="521357"/>
                  </a:lnTo>
                  <a:lnTo>
                    <a:pt x="14922" y="537510"/>
                  </a:lnTo>
                  <a:lnTo>
                    <a:pt x="31075" y="548424"/>
                  </a:lnTo>
                  <a:lnTo>
                    <a:pt x="50800" y="552433"/>
                  </a:lnTo>
                  <a:lnTo>
                    <a:pt x="3938852" y="552433"/>
                  </a:lnTo>
                  <a:lnTo>
                    <a:pt x="3958576" y="548424"/>
                  </a:lnTo>
                  <a:lnTo>
                    <a:pt x="3974729" y="537510"/>
                  </a:lnTo>
                  <a:lnTo>
                    <a:pt x="3985644" y="521357"/>
                  </a:lnTo>
                  <a:lnTo>
                    <a:pt x="3989652" y="50163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5"/>
            <p:cNvSpPr/>
            <p:nvPr/>
          </p:nvSpPr>
          <p:spPr>
            <a:xfrm>
              <a:off x="4298849" y="1018421"/>
              <a:ext cx="0" cy="671830"/>
            </a:xfrm>
            <a:custGeom>
              <a:rect b="b" l="l" r="r" t="t"/>
              <a:pathLst>
                <a:path extrusionOk="0" h="671830" w="120000">
                  <a:moveTo>
                    <a:pt x="0" y="67144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5"/>
            <p:cNvSpPr/>
            <p:nvPr/>
          </p:nvSpPr>
          <p:spPr>
            <a:xfrm>
              <a:off x="4298849" y="100572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5"/>
            <p:cNvSpPr/>
            <p:nvPr/>
          </p:nvSpPr>
          <p:spPr>
            <a:xfrm>
              <a:off x="4298849" y="99302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5"/>
            <p:cNvSpPr/>
            <p:nvPr/>
          </p:nvSpPr>
          <p:spPr>
            <a:xfrm>
              <a:off x="4298849" y="98032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6" name="Google Shape;1276;p35"/>
          <p:cNvSpPr txBox="1"/>
          <p:nvPr/>
        </p:nvSpPr>
        <p:spPr>
          <a:xfrm>
            <a:off x="309198" y="871845"/>
            <a:ext cx="3989704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(Path)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0800" marR="43180" rtl="0" algn="l">
              <a:lnSpc>
                <a:spcPct val="1026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path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 a undirected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sequence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P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baseline="-25000" lang="en-US" sz="120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with the property that for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k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aseline="-25000" lang="en-US" sz="1200">
                <a:latin typeface="Verdana"/>
                <a:ea typeface="Verdana"/>
                <a:cs typeface="Verdana"/>
                <a:sym typeface="Verdana"/>
              </a:rPr>
              <a:t>+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77" name="Google Shape;1277;p35"/>
          <p:cNvGrpSpPr/>
          <p:nvPr/>
        </p:nvGrpSpPr>
        <p:grpSpPr>
          <a:xfrm>
            <a:off x="309197" y="1873545"/>
            <a:ext cx="4040452" cy="816101"/>
            <a:chOff x="309197" y="1873545"/>
            <a:chExt cx="4040452" cy="816101"/>
          </a:xfrm>
        </p:grpSpPr>
        <p:sp>
          <p:nvSpPr>
            <p:cNvPr id="1278" name="Google Shape;1278;p35"/>
            <p:cNvSpPr/>
            <p:nvPr/>
          </p:nvSpPr>
          <p:spPr>
            <a:xfrm>
              <a:off x="309197" y="1873545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79" name="Google Shape;1279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206236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0" name="Google Shape;1280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58804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1" name="Google Shape;1281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57534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2" name="Google Shape;1282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917773"/>
              <a:ext cx="50800" cy="670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35"/>
            <p:cNvSpPr/>
            <p:nvPr/>
          </p:nvSpPr>
          <p:spPr>
            <a:xfrm>
              <a:off x="309197" y="2106639"/>
              <a:ext cx="3989704" cy="532765"/>
            </a:xfrm>
            <a:custGeom>
              <a:rect b="b" l="l" r="r" t="t"/>
              <a:pathLst>
                <a:path extrusionOk="0" h="532764" w="3989704">
                  <a:moveTo>
                    <a:pt x="3989652" y="0"/>
                  </a:moveTo>
                  <a:lnTo>
                    <a:pt x="0" y="0"/>
                  </a:lnTo>
                  <a:lnTo>
                    <a:pt x="0" y="481405"/>
                  </a:lnTo>
                  <a:lnTo>
                    <a:pt x="4008" y="501130"/>
                  </a:lnTo>
                  <a:lnTo>
                    <a:pt x="14922" y="517283"/>
                  </a:lnTo>
                  <a:lnTo>
                    <a:pt x="31075" y="528197"/>
                  </a:lnTo>
                  <a:lnTo>
                    <a:pt x="50800" y="532206"/>
                  </a:lnTo>
                  <a:lnTo>
                    <a:pt x="3938852" y="532206"/>
                  </a:lnTo>
                  <a:lnTo>
                    <a:pt x="3958576" y="528197"/>
                  </a:lnTo>
                  <a:lnTo>
                    <a:pt x="3974729" y="517283"/>
                  </a:lnTo>
                  <a:lnTo>
                    <a:pt x="3985644" y="501130"/>
                  </a:lnTo>
                  <a:lnTo>
                    <a:pt x="3989652" y="48140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5"/>
            <p:cNvSpPr/>
            <p:nvPr/>
          </p:nvSpPr>
          <p:spPr>
            <a:xfrm>
              <a:off x="4298849" y="1955873"/>
              <a:ext cx="0" cy="651510"/>
            </a:xfrm>
            <a:custGeom>
              <a:rect b="b" l="l" r="r" t="t"/>
              <a:pathLst>
                <a:path extrusionOk="0" h="651510" w="120000">
                  <a:moveTo>
                    <a:pt x="0" y="65122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5"/>
            <p:cNvSpPr/>
            <p:nvPr/>
          </p:nvSpPr>
          <p:spPr>
            <a:xfrm>
              <a:off x="4298849" y="194317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5"/>
            <p:cNvSpPr/>
            <p:nvPr/>
          </p:nvSpPr>
          <p:spPr>
            <a:xfrm>
              <a:off x="4298849" y="193047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5"/>
            <p:cNvSpPr/>
            <p:nvPr/>
          </p:nvSpPr>
          <p:spPr>
            <a:xfrm>
              <a:off x="4298849" y="191777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8" name="Google Shape;1288;p35"/>
          <p:cNvSpPr txBox="1"/>
          <p:nvPr/>
        </p:nvSpPr>
        <p:spPr>
          <a:xfrm>
            <a:off x="309198" y="1816992"/>
            <a:ext cx="3989704" cy="796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(Simple and cyclic paths)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path is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simple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all vertices are distinct. 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a path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0800" marR="431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baseline="-25000" lang="en-US" sz="120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 which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k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≥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2, and the first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k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nodes are all distinct, 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lang="en-US" sz="12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89" name="Google Shape;1289;p35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290" name="Google Shape;1290;p3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1" name="Google Shape;1291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3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3" name="Google Shape;1293;p35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4" name="Google Shape;1294;p3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295" name="Google Shape;1295;p3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296" name="Google Shape;1296;p35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36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02" name="Google Shape;13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36"/>
          <p:cNvSpPr txBox="1"/>
          <p:nvPr>
            <p:ph type="title"/>
          </p:nvPr>
        </p:nvSpPr>
        <p:spPr>
          <a:xfrm>
            <a:off x="154766" y="121020"/>
            <a:ext cx="259842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vs. unconnected graphs</a:t>
            </a:r>
            <a:endParaRPr/>
          </a:p>
        </p:txBody>
      </p:sp>
      <p:pic>
        <p:nvPicPr>
          <p:cNvPr id="1304" name="Google Shape;130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5" name="Google Shape;1305;p36"/>
          <p:cNvGrpSpPr/>
          <p:nvPr/>
        </p:nvGrpSpPr>
        <p:grpSpPr>
          <a:xfrm>
            <a:off x="309197" y="623818"/>
            <a:ext cx="4040452" cy="1165084"/>
            <a:chOff x="309197" y="623818"/>
            <a:chExt cx="4040452" cy="1165084"/>
          </a:xfrm>
        </p:grpSpPr>
        <p:sp>
          <p:nvSpPr>
            <p:cNvPr id="1306" name="Google Shape;1306;p36"/>
            <p:cNvSpPr/>
            <p:nvPr/>
          </p:nvSpPr>
          <p:spPr>
            <a:xfrm>
              <a:off x="309197" y="62381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07" name="Google Shape;1307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12634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8730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9" name="Google Shape;1309;p3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67460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0" name="Google Shape;1310;p3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668043"/>
              <a:ext cx="50800" cy="1019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36"/>
            <p:cNvSpPr/>
            <p:nvPr/>
          </p:nvSpPr>
          <p:spPr>
            <a:xfrm>
              <a:off x="309197" y="856908"/>
              <a:ext cx="3989704" cy="881380"/>
            </a:xfrm>
            <a:custGeom>
              <a:rect b="b" l="l" r="r" t="t"/>
              <a:pathLst>
                <a:path extrusionOk="0" h="88138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0392"/>
                  </a:lnTo>
                  <a:lnTo>
                    <a:pt x="4008" y="850117"/>
                  </a:lnTo>
                  <a:lnTo>
                    <a:pt x="14922" y="866270"/>
                  </a:lnTo>
                  <a:lnTo>
                    <a:pt x="31075" y="877184"/>
                  </a:lnTo>
                  <a:lnTo>
                    <a:pt x="50800" y="881193"/>
                  </a:lnTo>
                  <a:lnTo>
                    <a:pt x="3938852" y="881193"/>
                  </a:lnTo>
                  <a:lnTo>
                    <a:pt x="3958576" y="877184"/>
                  </a:lnTo>
                  <a:lnTo>
                    <a:pt x="3974729" y="866270"/>
                  </a:lnTo>
                  <a:lnTo>
                    <a:pt x="3985644" y="850117"/>
                  </a:lnTo>
                  <a:lnTo>
                    <a:pt x="3989652" y="83039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6"/>
            <p:cNvSpPr/>
            <p:nvPr/>
          </p:nvSpPr>
          <p:spPr>
            <a:xfrm>
              <a:off x="4298849" y="706143"/>
              <a:ext cx="0" cy="1000760"/>
            </a:xfrm>
            <a:custGeom>
              <a:rect b="b" l="l" r="r" t="t"/>
              <a:pathLst>
                <a:path extrusionOk="0" h="1000760" w="120000">
                  <a:moveTo>
                    <a:pt x="0" y="100020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6"/>
            <p:cNvSpPr/>
            <p:nvPr/>
          </p:nvSpPr>
          <p:spPr>
            <a:xfrm>
              <a:off x="4298849" y="6934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6"/>
            <p:cNvSpPr/>
            <p:nvPr/>
          </p:nvSpPr>
          <p:spPr>
            <a:xfrm>
              <a:off x="4298849" y="6807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6"/>
            <p:cNvSpPr/>
            <p:nvPr/>
          </p:nvSpPr>
          <p:spPr>
            <a:xfrm>
              <a:off x="4298849" y="6680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6" name="Google Shape;1316;p36"/>
          <p:cNvSpPr/>
          <p:nvPr/>
        </p:nvSpPr>
        <p:spPr>
          <a:xfrm>
            <a:off x="309197" y="1890026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6"/>
          <p:cNvSpPr txBox="1"/>
          <p:nvPr/>
        </p:nvSpPr>
        <p:spPr>
          <a:xfrm>
            <a:off x="347298" y="567266"/>
            <a:ext cx="3856354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(Connected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 undirected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connected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if for every pair of vertices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there exists 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path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13029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a graph is not connected, the vertices of the graph can be divided into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Two vertices are in the same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iff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they are connected by 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path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(Connected components)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18" name="Google Shape;1318;p36"/>
          <p:cNvGrpSpPr/>
          <p:nvPr/>
        </p:nvGrpSpPr>
        <p:grpSpPr>
          <a:xfrm>
            <a:off x="309197" y="1934249"/>
            <a:ext cx="4040452" cy="1223810"/>
            <a:chOff x="309197" y="1934249"/>
            <a:chExt cx="4040452" cy="1223810"/>
          </a:xfrm>
        </p:grpSpPr>
        <p:pic>
          <p:nvPicPr>
            <p:cNvPr id="1319" name="Google Shape;1319;p3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207884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0" name="Google Shape;1320;p3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05645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1" name="Google Shape;1321;p3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04375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2" name="Google Shape;1322;p3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934249"/>
              <a:ext cx="50800" cy="1122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36"/>
            <p:cNvSpPr/>
            <p:nvPr/>
          </p:nvSpPr>
          <p:spPr>
            <a:xfrm>
              <a:off x="309197" y="2123114"/>
              <a:ext cx="3989704" cy="984250"/>
            </a:xfrm>
            <a:custGeom>
              <a:rect b="b" l="l" r="r" t="t"/>
              <a:pathLst>
                <a:path extrusionOk="0" h="984250" w="3989704">
                  <a:moveTo>
                    <a:pt x="3989652" y="0"/>
                  </a:moveTo>
                  <a:lnTo>
                    <a:pt x="0" y="0"/>
                  </a:lnTo>
                  <a:lnTo>
                    <a:pt x="0" y="933343"/>
                  </a:lnTo>
                  <a:lnTo>
                    <a:pt x="4008" y="953068"/>
                  </a:lnTo>
                  <a:lnTo>
                    <a:pt x="14922" y="969221"/>
                  </a:lnTo>
                  <a:lnTo>
                    <a:pt x="31075" y="980135"/>
                  </a:lnTo>
                  <a:lnTo>
                    <a:pt x="50800" y="984143"/>
                  </a:lnTo>
                  <a:lnTo>
                    <a:pt x="3938852" y="984143"/>
                  </a:lnTo>
                  <a:lnTo>
                    <a:pt x="3958576" y="980135"/>
                  </a:lnTo>
                  <a:lnTo>
                    <a:pt x="3974729" y="969221"/>
                  </a:lnTo>
                  <a:lnTo>
                    <a:pt x="3985644" y="953068"/>
                  </a:lnTo>
                  <a:lnTo>
                    <a:pt x="3989652" y="933343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6"/>
            <p:cNvSpPr/>
            <p:nvPr/>
          </p:nvSpPr>
          <p:spPr>
            <a:xfrm>
              <a:off x="4298849" y="1972349"/>
              <a:ext cx="0" cy="1103630"/>
            </a:xfrm>
            <a:custGeom>
              <a:rect b="b" l="l" r="r" t="t"/>
              <a:pathLst>
                <a:path extrusionOk="0" h="1103630" w="120000">
                  <a:moveTo>
                    <a:pt x="0" y="110315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4298849" y="195964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4298849" y="194694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4298849" y="193424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28" name="Google Shape;1328;p3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148441"/>
              <a:ext cx="1629204" cy="9143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9" name="Google Shape;1329;p36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1330" name="Google Shape;1330;p3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1" name="Google Shape;1331;p3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36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3" name="Google Shape;1333;p3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4" name="Google Shape;1334;p3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335" name="Google Shape;1335;p3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336" name="Google Shape;1336;p3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7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42" name="Google Shape;134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37"/>
          <p:cNvSpPr txBox="1"/>
          <p:nvPr>
            <p:ph type="title"/>
          </p:nvPr>
        </p:nvSpPr>
        <p:spPr>
          <a:xfrm>
            <a:off x="154766" y="121020"/>
            <a:ext cx="259842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Connected vs. unconnected graphs</a:t>
            </a:r>
            <a:endParaRPr/>
          </a:p>
        </p:txBody>
      </p:sp>
      <p:pic>
        <p:nvPicPr>
          <p:cNvPr id="1344" name="Google Shape;134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5" name="Google Shape;1345;p37"/>
          <p:cNvGrpSpPr/>
          <p:nvPr/>
        </p:nvGrpSpPr>
        <p:grpSpPr>
          <a:xfrm>
            <a:off x="309197" y="623818"/>
            <a:ext cx="4040452" cy="1165084"/>
            <a:chOff x="309197" y="623818"/>
            <a:chExt cx="4040452" cy="1165084"/>
          </a:xfrm>
        </p:grpSpPr>
        <p:sp>
          <p:nvSpPr>
            <p:cNvPr id="1346" name="Google Shape;1346;p37"/>
            <p:cNvSpPr/>
            <p:nvPr/>
          </p:nvSpPr>
          <p:spPr>
            <a:xfrm>
              <a:off x="309197" y="62381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7" name="Google Shape;1347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12634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8" name="Google Shape;1348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8730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9" name="Google Shape;1349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67460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0" name="Google Shape;1350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668043"/>
              <a:ext cx="50800" cy="1019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37"/>
            <p:cNvSpPr/>
            <p:nvPr/>
          </p:nvSpPr>
          <p:spPr>
            <a:xfrm>
              <a:off x="309197" y="856908"/>
              <a:ext cx="3989704" cy="881380"/>
            </a:xfrm>
            <a:custGeom>
              <a:rect b="b" l="l" r="r" t="t"/>
              <a:pathLst>
                <a:path extrusionOk="0" h="88138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0392"/>
                  </a:lnTo>
                  <a:lnTo>
                    <a:pt x="4008" y="850117"/>
                  </a:lnTo>
                  <a:lnTo>
                    <a:pt x="14922" y="866270"/>
                  </a:lnTo>
                  <a:lnTo>
                    <a:pt x="31075" y="877184"/>
                  </a:lnTo>
                  <a:lnTo>
                    <a:pt x="50800" y="881193"/>
                  </a:lnTo>
                  <a:lnTo>
                    <a:pt x="3938852" y="881193"/>
                  </a:lnTo>
                  <a:lnTo>
                    <a:pt x="3958576" y="877184"/>
                  </a:lnTo>
                  <a:lnTo>
                    <a:pt x="3974729" y="866270"/>
                  </a:lnTo>
                  <a:lnTo>
                    <a:pt x="3985644" y="850117"/>
                  </a:lnTo>
                  <a:lnTo>
                    <a:pt x="3989652" y="83039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4298849" y="706143"/>
              <a:ext cx="0" cy="1000760"/>
            </a:xfrm>
            <a:custGeom>
              <a:rect b="b" l="l" r="r" t="t"/>
              <a:pathLst>
                <a:path extrusionOk="0" h="1000760" w="120000">
                  <a:moveTo>
                    <a:pt x="0" y="100020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4298849" y="6934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4298849" y="6807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4298849" y="6680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6" name="Google Shape;1356;p37"/>
          <p:cNvGrpSpPr/>
          <p:nvPr/>
        </p:nvGrpSpPr>
        <p:grpSpPr>
          <a:xfrm>
            <a:off x="309197" y="1890026"/>
            <a:ext cx="4040452" cy="1268033"/>
            <a:chOff x="309197" y="1890026"/>
            <a:chExt cx="4040452" cy="1268033"/>
          </a:xfrm>
        </p:grpSpPr>
        <p:sp>
          <p:nvSpPr>
            <p:cNvPr id="1357" name="Google Shape;1357;p37"/>
            <p:cNvSpPr/>
            <p:nvPr/>
          </p:nvSpPr>
          <p:spPr>
            <a:xfrm>
              <a:off x="309197" y="1890026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8" name="Google Shape;1358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207884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9" name="Google Shape;1359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05645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0" name="Google Shape;1360;p3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04375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1" name="Google Shape;1361;p3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934249"/>
              <a:ext cx="50800" cy="1122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37"/>
            <p:cNvSpPr/>
            <p:nvPr/>
          </p:nvSpPr>
          <p:spPr>
            <a:xfrm>
              <a:off x="309197" y="2123114"/>
              <a:ext cx="3989704" cy="984250"/>
            </a:xfrm>
            <a:custGeom>
              <a:rect b="b" l="l" r="r" t="t"/>
              <a:pathLst>
                <a:path extrusionOk="0" h="984250" w="3989704">
                  <a:moveTo>
                    <a:pt x="3989652" y="0"/>
                  </a:moveTo>
                  <a:lnTo>
                    <a:pt x="0" y="0"/>
                  </a:lnTo>
                  <a:lnTo>
                    <a:pt x="0" y="933343"/>
                  </a:lnTo>
                  <a:lnTo>
                    <a:pt x="4008" y="953068"/>
                  </a:lnTo>
                  <a:lnTo>
                    <a:pt x="14922" y="969221"/>
                  </a:lnTo>
                  <a:lnTo>
                    <a:pt x="31075" y="980135"/>
                  </a:lnTo>
                  <a:lnTo>
                    <a:pt x="50800" y="984143"/>
                  </a:lnTo>
                  <a:lnTo>
                    <a:pt x="3938852" y="984143"/>
                  </a:lnTo>
                  <a:lnTo>
                    <a:pt x="3958576" y="980135"/>
                  </a:lnTo>
                  <a:lnTo>
                    <a:pt x="3974729" y="969221"/>
                  </a:lnTo>
                  <a:lnTo>
                    <a:pt x="3985644" y="953068"/>
                  </a:lnTo>
                  <a:lnTo>
                    <a:pt x="3989652" y="933343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4298849" y="1972349"/>
              <a:ext cx="0" cy="1103630"/>
            </a:xfrm>
            <a:custGeom>
              <a:rect b="b" l="l" r="r" t="t"/>
              <a:pathLst>
                <a:path extrusionOk="0" h="1103630" w="120000">
                  <a:moveTo>
                    <a:pt x="0" y="110315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4298849" y="195964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4298849" y="194694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4298849" y="193424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67" name="Google Shape;1367;p3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148441"/>
              <a:ext cx="1629204" cy="9143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8" name="Google Shape;1368;p37"/>
          <p:cNvSpPr txBox="1"/>
          <p:nvPr/>
        </p:nvSpPr>
        <p:spPr>
          <a:xfrm>
            <a:off x="347298" y="567266"/>
            <a:ext cx="3856354" cy="2078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(Connected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 undirected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connected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if for every pair of vertices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there exists 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path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13029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a graph is not connected, the vertices of the graph can be divided into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Two vertices are in the same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iff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they are connected by a 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path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(Connected components)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2827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100"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⇒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9" name="Google Shape;1369;p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79066" y="2148441"/>
            <a:ext cx="1629204" cy="9143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0" name="Google Shape;1370;p37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1371" name="Google Shape;1371;p3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2" name="Google Shape;1372;p3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37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4" name="Google Shape;1374;p3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5" name="Google Shape;1375;p3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376" name="Google Shape;1376;p3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377" name="Google Shape;1377;p37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3" name="Google Shape;1383;p3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3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85" name="Google Shape;1385;p38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386" name="Google Shape;138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7" name="Google Shape;138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8" name="Google Shape;1388;p38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389" name="Google Shape;1389;p38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0" name="Google Shape;1390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1" name="Google Shape;1391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2" name="Google Shape;1392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3" name="Google Shape;1393;p3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38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9" name="Google Shape;1399;p38"/>
          <p:cNvSpPr txBox="1"/>
          <p:nvPr/>
        </p:nvSpPr>
        <p:spPr>
          <a:xfrm>
            <a:off x="154766" y="121020"/>
            <a:ext cx="4106545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00" name="Google Shape;1400;p38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401" name="Google Shape;1401;p3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2" name="Google Shape;1402;p3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3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4" name="Google Shape;1404;p38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5" name="Google Shape;1405;p3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406" name="Google Shape;1406;p3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407" name="Google Shape;1407;p38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3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3" name="Google Shape;1413;p3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3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15" name="Google Shape;1415;p39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416" name="Google Shape;1416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7" name="Google Shape;141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8" name="Google Shape;1418;p39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419" name="Google Shape;1419;p39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20" name="Google Shape;1420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1" name="Google Shape;1421;p3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2" name="Google Shape;1422;p3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3" name="Google Shape;1423;p3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39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9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9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9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9" name="Google Shape;1429;p39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430" name="Google Shape;1430;p39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1" name="Google Shape;1431;p3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2" name="Google Shape;1432;p3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3" name="Google Shape;1433;p3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4" name="Google Shape;1434;p3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39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9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0" name="Google Shape;1440;p39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41" name="Google Shape;1441;p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39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43" name="Google Shape;1443;p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39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45" name="Google Shape;1445;p3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39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7" name="Google Shape;1447;p39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48" name="Google Shape;1448;p39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449" name="Google Shape;1449;p3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50" name="Google Shape;1450;p3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1" name="Google Shape;1451;p3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2" name="Google Shape;1452;p39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3" name="Google Shape;1453;p3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454" name="Google Shape;1454;p3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455" name="Google Shape;1455;p39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4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1" name="Google Shape;1461;p4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4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63" name="Google Shape;1463;p40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464" name="Google Shape;1464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5" name="Google Shape;146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6" name="Google Shape;1466;p40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467" name="Google Shape;1467;p40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8" name="Google Shape;1468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0" name="Google Shape;1470;p4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1" name="Google Shape;1471;p4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40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0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0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0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0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7" name="Google Shape;1477;p40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478" name="Google Shape;1478;p40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9" name="Google Shape;1479;p4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0" name="Google Shape;1480;p4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1" name="Google Shape;1481;p4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2" name="Google Shape;1482;p4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3" name="Google Shape;1483;p40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0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0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0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0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8" name="Google Shape;1488;p40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89" name="Google Shape;1489;p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0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91" name="Google Shape;1491;p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40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93" name="Google Shape;1493;p4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40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5" name="Google Shape;1495;p40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6" name="Google Shape;1496;p40"/>
          <p:cNvSpPr/>
          <p:nvPr/>
        </p:nvSpPr>
        <p:spPr>
          <a:xfrm>
            <a:off x="309198" y="238919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40"/>
          <p:cNvSpPr txBox="1"/>
          <p:nvPr/>
        </p:nvSpPr>
        <p:spPr>
          <a:xfrm>
            <a:off x="347299" y="2379477"/>
            <a:ext cx="14795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(Trees (or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))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98" name="Google Shape;1498;p40"/>
          <p:cNvGrpSpPr/>
          <p:nvPr/>
        </p:nvGrpSpPr>
        <p:grpSpPr>
          <a:xfrm>
            <a:off x="0" y="2433422"/>
            <a:ext cx="4608414" cy="1022814"/>
            <a:chOff x="0" y="2433422"/>
            <a:chExt cx="4608414" cy="1022814"/>
          </a:xfrm>
        </p:grpSpPr>
        <p:pic>
          <p:nvPicPr>
            <p:cNvPr id="1499" name="Google Shape;1499;p4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09198" y="257801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4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9999" y="318987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4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0799" y="3177172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2" name="Google Shape;1502;p4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98851" y="2433422"/>
              <a:ext cx="50800" cy="75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3" name="Google Shape;1503;p40"/>
            <p:cNvSpPr/>
            <p:nvPr/>
          </p:nvSpPr>
          <p:spPr>
            <a:xfrm>
              <a:off x="309198" y="2622288"/>
              <a:ext cx="3989704" cy="618490"/>
            </a:xfrm>
            <a:custGeom>
              <a:rect b="b" l="l" r="r" t="t"/>
              <a:pathLst>
                <a:path extrusionOk="0" h="618489" w="3989704">
                  <a:moveTo>
                    <a:pt x="3989652" y="0"/>
                  </a:moveTo>
                  <a:lnTo>
                    <a:pt x="0" y="0"/>
                  </a:lnTo>
                  <a:lnTo>
                    <a:pt x="0" y="567584"/>
                  </a:lnTo>
                  <a:lnTo>
                    <a:pt x="4008" y="587308"/>
                  </a:lnTo>
                  <a:lnTo>
                    <a:pt x="14922" y="603461"/>
                  </a:lnTo>
                  <a:lnTo>
                    <a:pt x="31075" y="614376"/>
                  </a:lnTo>
                  <a:lnTo>
                    <a:pt x="50800" y="618384"/>
                  </a:lnTo>
                  <a:lnTo>
                    <a:pt x="3938852" y="618384"/>
                  </a:lnTo>
                  <a:lnTo>
                    <a:pt x="3958576" y="614376"/>
                  </a:lnTo>
                  <a:lnTo>
                    <a:pt x="3974729" y="603461"/>
                  </a:lnTo>
                  <a:lnTo>
                    <a:pt x="3985644" y="587308"/>
                  </a:lnTo>
                  <a:lnTo>
                    <a:pt x="3989652" y="567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0"/>
            <p:cNvSpPr/>
            <p:nvPr/>
          </p:nvSpPr>
          <p:spPr>
            <a:xfrm>
              <a:off x="4298851" y="2471522"/>
              <a:ext cx="0" cy="737870"/>
            </a:xfrm>
            <a:custGeom>
              <a:rect b="b" l="l" r="r" t="t"/>
              <a:pathLst>
                <a:path extrusionOk="0" h="737869" w="120000">
                  <a:moveTo>
                    <a:pt x="0" y="7373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0"/>
            <p:cNvSpPr/>
            <p:nvPr/>
          </p:nvSpPr>
          <p:spPr>
            <a:xfrm>
              <a:off x="4298851" y="24588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0"/>
            <p:cNvSpPr/>
            <p:nvPr/>
          </p:nvSpPr>
          <p:spPr>
            <a:xfrm>
              <a:off x="4298851" y="24461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0"/>
            <p:cNvSpPr/>
            <p:nvPr/>
          </p:nvSpPr>
          <p:spPr>
            <a:xfrm>
              <a:off x="4298851" y="24334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8" name="Google Shape;1508;p4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999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4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0" name="Google Shape;1510;p4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1" name="Google Shape;1511;p4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2" name="Google Shape;1512;p40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13" name="Google Shape;1513;p4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514" name="Google Shape;1514;p4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515" name="Google Shape;1515;p40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4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1" name="Google Shape;1521;p4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4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23" name="Google Shape;1523;p41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524" name="Google Shape;152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5" name="Google Shape;1525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6" name="Google Shape;1526;p41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527" name="Google Shape;1527;p41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8" name="Google Shape;1528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9" name="Google Shape;1529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0" name="Google Shape;1530;p4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1" name="Google Shape;1531;p4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41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1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1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1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1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7" name="Google Shape;1537;p41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538" name="Google Shape;1538;p41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9" name="Google Shape;1539;p4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0" name="Google Shape;1540;p4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1" name="Google Shape;1541;p4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2" name="Google Shape;1542;p4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41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1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1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1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1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8" name="Google Shape;1548;p41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49" name="Google Shape;1549;p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41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51" name="Google Shape;1551;p4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41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53" name="Google Shape;1553;p4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41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5" name="Google Shape;1555;p41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6" name="Google Shape;1556;p41"/>
          <p:cNvSpPr/>
          <p:nvPr/>
        </p:nvSpPr>
        <p:spPr>
          <a:xfrm>
            <a:off x="309198" y="238919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41"/>
          <p:cNvSpPr txBox="1"/>
          <p:nvPr/>
        </p:nvSpPr>
        <p:spPr>
          <a:xfrm>
            <a:off x="347299" y="2379477"/>
            <a:ext cx="14795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(Trees (or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))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58" name="Google Shape;1558;p41"/>
          <p:cNvGrpSpPr/>
          <p:nvPr/>
        </p:nvGrpSpPr>
        <p:grpSpPr>
          <a:xfrm>
            <a:off x="0" y="2433422"/>
            <a:ext cx="4608414" cy="1022814"/>
            <a:chOff x="0" y="2433422"/>
            <a:chExt cx="4608414" cy="1022814"/>
          </a:xfrm>
        </p:grpSpPr>
        <p:pic>
          <p:nvPicPr>
            <p:cNvPr id="1559" name="Google Shape;1559;p4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09198" y="257801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0" name="Google Shape;1560;p4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9999" y="318987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1" name="Google Shape;1561;p4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0799" y="3177172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2" name="Google Shape;1562;p4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98851" y="2433422"/>
              <a:ext cx="50800" cy="75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3" name="Google Shape;1563;p41"/>
            <p:cNvSpPr/>
            <p:nvPr/>
          </p:nvSpPr>
          <p:spPr>
            <a:xfrm>
              <a:off x="309198" y="2622288"/>
              <a:ext cx="3989704" cy="618490"/>
            </a:xfrm>
            <a:custGeom>
              <a:rect b="b" l="l" r="r" t="t"/>
              <a:pathLst>
                <a:path extrusionOk="0" h="618489" w="3989704">
                  <a:moveTo>
                    <a:pt x="3989652" y="0"/>
                  </a:moveTo>
                  <a:lnTo>
                    <a:pt x="0" y="0"/>
                  </a:lnTo>
                  <a:lnTo>
                    <a:pt x="0" y="567584"/>
                  </a:lnTo>
                  <a:lnTo>
                    <a:pt x="4008" y="587308"/>
                  </a:lnTo>
                  <a:lnTo>
                    <a:pt x="14922" y="603461"/>
                  </a:lnTo>
                  <a:lnTo>
                    <a:pt x="31075" y="614376"/>
                  </a:lnTo>
                  <a:lnTo>
                    <a:pt x="50800" y="618384"/>
                  </a:lnTo>
                  <a:lnTo>
                    <a:pt x="3938852" y="618384"/>
                  </a:lnTo>
                  <a:lnTo>
                    <a:pt x="3958576" y="614376"/>
                  </a:lnTo>
                  <a:lnTo>
                    <a:pt x="3974729" y="603461"/>
                  </a:lnTo>
                  <a:lnTo>
                    <a:pt x="3985644" y="587308"/>
                  </a:lnTo>
                  <a:lnTo>
                    <a:pt x="3989652" y="567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1"/>
            <p:cNvSpPr/>
            <p:nvPr/>
          </p:nvSpPr>
          <p:spPr>
            <a:xfrm>
              <a:off x="4298851" y="2471522"/>
              <a:ext cx="0" cy="737870"/>
            </a:xfrm>
            <a:custGeom>
              <a:rect b="b" l="l" r="r" t="t"/>
              <a:pathLst>
                <a:path extrusionOk="0" h="737869" w="120000">
                  <a:moveTo>
                    <a:pt x="0" y="7373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1"/>
            <p:cNvSpPr/>
            <p:nvPr/>
          </p:nvSpPr>
          <p:spPr>
            <a:xfrm>
              <a:off x="4298851" y="24588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1"/>
            <p:cNvSpPr/>
            <p:nvPr/>
          </p:nvSpPr>
          <p:spPr>
            <a:xfrm>
              <a:off x="4298851" y="24461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1"/>
            <p:cNvSpPr/>
            <p:nvPr/>
          </p:nvSpPr>
          <p:spPr>
            <a:xfrm>
              <a:off x="4298851" y="24334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68" name="Google Shape;1568;p4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999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9" name="Google Shape;1569;p4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85501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0" name="Google Shape;1570;p4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1" name="Google Shape;1571;p4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2" name="Google Shape;1572;p4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3" name="Google Shape;1573;p41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4" name="Google Shape;1574;p4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575" name="Google Shape;1575;p4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576" name="Google Shape;1576;p41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4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2" name="Google Shape;1582;p4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4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84" name="Google Shape;1584;p42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585" name="Google Shape;1585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7" name="Google Shape;1587;p42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588" name="Google Shape;1588;p42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9" name="Google Shape;1589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0" name="Google Shape;1590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4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2" name="Google Shape;1592;p4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3" name="Google Shape;1593;p42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2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2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2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2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8" name="Google Shape;1598;p42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599" name="Google Shape;1599;p42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00" name="Google Shape;1600;p4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1" name="Google Shape;1601;p4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2" name="Google Shape;1602;p4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3" name="Google Shape;1603;p4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4" name="Google Shape;1604;p42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2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2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2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2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9" name="Google Shape;1609;p42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0" name="Google Shape;1610;p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42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2" name="Google Shape;1612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42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14" name="Google Shape;1614;p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42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6" name="Google Shape;1616;p42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7" name="Google Shape;1617;p42"/>
          <p:cNvSpPr/>
          <p:nvPr/>
        </p:nvSpPr>
        <p:spPr>
          <a:xfrm>
            <a:off x="309198" y="238919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42"/>
          <p:cNvSpPr txBox="1"/>
          <p:nvPr/>
        </p:nvSpPr>
        <p:spPr>
          <a:xfrm>
            <a:off x="347299" y="2379477"/>
            <a:ext cx="14795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(Trees (or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))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19" name="Google Shape;1619;p42"/>
          <p:cNvGrpSpPr/>
          <p:nvPr/>
        </p:nvGrpSpPr>
        <p:grpSpPr>
          <a:xfrm>
            <a:off x="0" y="2433422"/>
            <a:ext cx="4608414" cy="1022814"/>
            <a:chOff x="0" y="2433422"/>
            <a:chExt cx="4608414" cy="1022814"/>
          </a:xfrm>
        </p:grpSpPr>
        <p:pic>
          <p:nvPicPr>
            <p:cNvPr id="1620" name="Google Shape;1620;p4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09198" y="257801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1" name="Google Shape;1621;p4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9999" y="318987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2" name="Google Shape;1622;p4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0799" y="3177172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3" name="Google Shape;1623;p4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98851" y="2433422"/>
              <a:ext cx="50800" cy="75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4" name="Google Shape;1624;p42"/>
            <p:cNvSpPr/>
            <p:nvPr/>
          </p:nvSpPr>
          <p:spPr>
            <a:xfrm>
              <a:off x="309198" y="2622288"/>
              <a:ext cx="3989704" cy="618490"/>
            </a:xfrm>
            <a:custGeom>
              <a:rect b="b" l="l" r="r" t="t"/>
              <a:pathLst>
                <a:path extrusionOk="0" h="618489" w="3989704">
                  <a:moveTo>
                    <a:pt x="3989652" y="0"/>
                  </a:moveTo>
                  <a:lnTo>
                    <a:pt x="0" y="0"/>
                  </a:lnTo>
                  <a:lnTo>
                    <a:pt x="0" y="567584"/>
                  </a:lnTo>
                  <a:lnTo>
                    <a:pt x="4008" y="587308"/>
                  </a:lnTo>
                  <a:lnTo>
                    <a:pt x="14922" y="603461"/>
                  </a:lnTo>
                  <a:lnTo>
                    <a:pt x="31075" y="614376"/>
                  </a:lnTo>
                  <a:lnTo>
                    <a:pt x="50800" y="618384"/>
                  </a:lnTo>
                  <a:lnTo>
                    <a:pt x="3938852" y="618384"/>
                  </a:lnTo>
                  <a:lnTo>
                    <a:pt x="3958576" y="614376"/>
                  </a:lnTo>
                  <a:lnTo>
                    <a:pt x="3974729" y="603461"/>
                  </a:lnTo>
                  <a:lnTo>
                    <a:pt x="3985644" y="587308"/>
                  </a:lnTo>
                  <a:lnTo>
                    <a:pt x="3989652" y="567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4298851" y="2471522"/>
              <a:ext cx="0" cy="737870"/>
            </a:xfrm>
            <a:custGeom>
              <a:rect b="b" l="l" r="r" t="t"/>
              <a:pathLst>
                <a:path extrusionOk="0" h="737869" w="120000">
                  <a:moveTo>
                    <a:pt x="0" y="7373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4298851" y="24588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4298851" y="24461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4298851" y="24334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29" name="Google Shape;1629;p4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999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0" name="Google Shape;1630;p4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85501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1" name="Google Shape;1631;p4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103367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2" name="Google Shape;1632;p4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3" name="Google Shape;1633;p4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4" name="Google Shape;1634;p42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5" name="Google Shape;1635;p42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36" name="Google Shape;1636;p4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637" name="Google Shape;1637;p4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638" name="Google Shape;1638;p42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4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44" name="Google Shape;1644;p4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4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46" name="Google Shape;1646;p43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647" name="Google Shape;1647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8" name="Google Shape;1648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9" name="Google Shape;1649;p43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650" name="Google Shape;1650;p43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51" name="Google Shape;1651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2" name="Google Shape;1652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3" name="Google Shape;1653;p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4" name="Google Shape;1654;p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5" name="Google Shape;1655;p43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3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3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3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3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0" name="Google Shape;1660;p43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661" name="Google Shape;1661;p43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62" name="Google Shape;1662;p4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3" name="Google Shape;1663;p4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4" name="Google Shape;1664;p4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5" name="Google Shape;1665;p4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6" name="Google Shape;1666;p43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3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3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3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3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1" name="Google Shape;1671;p43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2" name="Google Shape;1672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43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4" name="Google Shape;1674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43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6" name="Google Shape;1676;p4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43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8" name="Google Shape;1678;p43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9" name="Google Shape;1679;p43"/>
          <p:cNvSpPr/>
          <p:nvPr/>
        </p:nvSpPr>
        <p:spPr>
          <a:xfrm>
            <a:off x="309198" y="238919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43"/>
          <p:cNvSpPr txBox="1"/>
          <p:nvPr/>
        </p:nvSpPr>
        <p:spPr>
          <a:xfrm>
            <a:off x="347299" y="2379477"/>
            <a:ext cx="14795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(Trees (or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))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81" name="Google Shape;1681;p43"/>
          <p:cNvGrpSpPr/>
          <p:nvPr/>
        </p:nvGrpSpPr>
        <p:grpSpPr>
          <a:xfrm>
            <a:off x="0" y="2433422"/>
            <a:ext cx="4608414" cy="1022814"/>
            <a:chOff x="0" y="2433422"/>
            <a:chExt cx="4608414" cy="1022814"/>
          </a:xfrm>
        </p:grpSpPr>
        <p:pic>
          <p:nvPicPr>
            <p:cNvPr id="1682" name="Google Shape;1682;p4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09198" y="257801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4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9999" y="318987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4" name="Google Shape;1684;p4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0799" y="3177172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5" name="Google Shape;1685;p4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98851" y="2433422"/>
              <a:ext cx="50800" cy="75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6" name="Google Shape;1686;p43"/>
            <p:cNvSpPr/>
            <p:nvPr/>
          </p:nvSpPr>
          <p:spPr>
            <a:xfrm>
              <a:off x="309198" y="2622288"/>
              <a:ext cx="3989704" cy="618490"/>
            </a:xfrm>
            <a:custGeom>
              <a:rect b="b" l="l" r="r" t="t"/>
              <a:pathLst>
                <a:path extrusionOk="0" h="618489" w="3989704">
                  <a:moveTo>
                    <a:pt x="3989652" y="0"/>
                  </a:moveTo>
                  <a:lnTo>
                    <a:pt x="0" y="0"/>
                  </a:lnTo>
                  <a:lnTo>
                    <a:pt x="0" y="567584"/>
                  </a:lnTo>
                  <a:lnTo>
                    <a:pt x="4008" y="587308"/>
                  </a:lnTo>
                  <a:lnTo>
                    <a:pt x="14922" y="603461"/>
                  </a:lnTo>
                  <a:lnTo>
                    <a:pt x="31075" y="614376"/>
                  </a:lnTo>
                  <a:lnTo>
                    <a:pt x="50800" y="618384"/>
                  </a:lnTo>
                  <a:lnTo>
                    <a:pt x="3938852" y="618384"/>
                  </a:lnTo>
                  <a:lnTo>
                    <a:pt x="3958576" y="614376"/>
                  </a:lnTo>
                  <a:lnTo>
                    <a:pt x="3974729" y="603461"/>
                  </a:lnTo>
                  <a:lnTo>
                    <a:pt x="3985644" y="587308"/>
                  </a:lnTo>
                  <a:lnTo>
                    <a:pt x="3989652" y="567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3"/>
            <p:cNvSpPr/>
            <p:nvPr/>
          </p:nvSpPr>
          <p:spPr>
            <a:xfrm>
              <a:off x="4298851" y="2471522"/>
              <a:ext cx="0" cy="737870"/>
            </a:xfrm>
            <a:custGeom>
              <a:rect b="b" l="l" r="r" t="t"/>
              <a:pathLst>
                <a:path extrusionOk="0" h="737869" w="120000">
                  <a:moveTo>
                    <a:pt x="0" y="7373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3"/>
            <p:cNvSpPr/>
            <p:nvPr/>
          </p:nvSpPr>
          <p:spPr>
            <a:xfrm>
              <a:off x="4298851" y="24588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3"/>
            <p:cNvSpPr/>
            <p:nvPr/>
          </p:nvSpPr>
          <p:spPr>
            <a:xfrm>
              <a:off x="4298851" y="24461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3"/>
            <p:cNvSpPr/>
            <p:nvPr/>
          </p:nvSpPr>
          <p:spPr>
            <a:xfrm>
              <a:off x="4298851" y="24334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1" name="Google Shape;1691;p4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999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2" name="Google Shape;1692;p4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85501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3" name="Google Shape;1693;p4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14954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4" name="Google Shape;1694;p4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5" name="Google Shape;1695;p4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6" name="Google Shape;1696;p43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43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8" name="Google Shape;1698;p4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699" name="Google Shape;1699;p4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700" name="Google Shape;1700;p43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4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6" name="Google Shape;1706;p4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4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08" name="Google Shape;1708;p44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709" name="Google Shape;170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0" name="Google Shape;1710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1" name="Google Shape;1711;p44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712" name="Google Shape;1712;p44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3" name="Google Shape;1713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4" name="Google Shape;1714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5" name="Google Shape;1715;p4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6" name="Google Shape;1716;p4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7" name="Google Shape;1717;p44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4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4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4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4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2" name="Google Shape;1722;p44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723" name="Google Shape;1723;p44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4" name="Google Shape;1724;p4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5" name="Google Shape;1725;p4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6" name="Google Shape;1726;p4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7" name="Google Shape;1727;p4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8" name="Google Shape;1728;p44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4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4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4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4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3" name="Google Shape;1733;p44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4" name="Google Shape;1734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735" name="Google Shape;1735;p44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6" name="Google Shape;1736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44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8" name="Google Shape;1738;p4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44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0" name="Google Shape;1740;p44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1" name="Google Shape;1741;p44"/>
          <p:cNvSpPr/>
          <p:nvPr/>
        </p:nvSpPr>
        <p:spPr>
          <a:xfrm>
            <a:off x="309198" y="238919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44"/>
          <p:cNvSpPr txBox="1"/>
          <p:nvPr/>
        </p:nvSpPr>
        <p:spPr>
          <a:xfrm>
            <a:off x="347299" y="2379477"/>
            <a:ext cx="14795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(Trees (or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))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43" name="Google Shape;1743;p44"/>
          <p:cNvGrpSpPr/>
          <p:nvPr/>
        </p:nvGrpSpPr>
        <p:grpSpPr>
          <a:xfrm>
            <a:off x="0" y="2433422"/>
            <a:ext cx="4608414" cy="1022814"/>
            <a:chOff x="0" y="2433422"/>
            <a:chExt cx="4608414" cy="1022814"/>
          </a:xfrm>
        </p:grpSpPr>
        <p:pic>
          <p:nvPicPr>
            <p:cNvPr id="1744" name="Google Shape;1744;p4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09198" y="257801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5" name="Google Shape;1745;p4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9999" y="318987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6" name="Google Shape;1746;p4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0799" y="3177172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7" name="Google Shape;1747;p4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98851" y="2433422"/>
              <a:ext cx="50800" cy="75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8" name="Google Shape;1748;p44"/>
            <p:cNvSpPr/>
            <p:nvPr/>
          </p:nvSpPr>
          <p:spPr>
            <a:xfrm>
              <a:off x="309198" y="2622288"/>
              <a:ext cx="3989704" cy="618490"/>
            </a:xfrm>
            <a:custGeom>
              <a:rect b="b" l="l" r="r" t="t"/>
              <a:pathLst>
                <a:path extrusionOk="0" h="618489" w="3989704">
                  <a:moveTo>
                    <a:pt x="3989652" y="0"/>
                  </a:moveTo>
                  <a:lnTo>
                    <a:pt x="0" y="0"/>
                  </a:lnTo>
                  <a:lnTo>
                    <a:pt x="0" y="567584"/>
                  </a:lnTo>
                  <a:lnTo>
                    <a:pt x="4008" y="587308"/>
                  </a:lnTo>
                  <a:lnTo>
                    <a:pt x="14922" y="603461"/>
                  </a:lnTo>
                  <a:lnTo>
                    <a:pt x="31075" y="614376"/>
                  </a:lnTo>
                  <a:lnTo>
                    <a:pt x="50800" y="618384"/>
                  </a:lnTo>
                  <a:lnTo>
                    <a:pt x="3938852" y="618384"/>
                  </a:lnTo>
                  <a:lnTo>
                    <a:pt x="3958576" y="614376"/>
                  </a:lnTo>
                  <a:lnTo>
                    <a:pt x="3974729" y="603461"/>
                  </a:lnTo>
                  <a:lnTo>
                    <a:pt x="3985644" y="587308"/>
                  </a:lnTo>
                  <a:lnTo>
                    <a:pt x="3989652" y="567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4"/>
            <p:cNvSpPr/>
            <p:nvPr/>
          </p:nvSpPr>
          <p:spPr>
            <a:xfrm>
              <a:off x="4298851" y="2471522"/>
              <a:ext cx="0" cy="737870"/>
            </a:xfrm>
            <a:custGeom>
              <a:rect b="b" l="l" r="r" t="t"/>
              <a:pathLst>
                <a:path extrusionOk="0" h="737869" w="120000">
                  <a:moveTo>
                    <a:pt x="0" y="7373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4"/>
            <p:cNvSpPr/>
            <p:nvPr/>
          </p:nvSpPr>
          <p:spPr>
            <a:xfrm>
              <a:off x="4298851" y="24588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4"/>
            <p:cNvSpPr/>
            <p:nvPr/>
          </p:nvSpPr>
          <p:spPr>
            <a:xfrm>
              <a:off x="4298851" y="24461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44"/>
            <p:cNvSpPr/>
            <p:nvPr/>
          </p:nvSpPr>
          <p:spPr>
            <a:xfrm>
              <a:off x="4298851" y="24334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3" name="Google Shape;1753;p4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999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4" name="Google Shape;1754;p4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85501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5" name="Google Shape;1755;p4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14954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6" name="Google Shape;1756;p4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113598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7" name="Google Shape;1757;p4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8" name="Google Shape;1758;p4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9" name="Google Shape;1759;p4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0" name="Google Shape;1760;p44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1" name="Google Shape;1761;p4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762" name="Google Shape;1762;p4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763" name="Google Shape;1763;p4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4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9" name="Google Shape;1769;p4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4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71" name="Google Shape;1771;p45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772" name="Google Shape;177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3" name="Google Shape;1773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4" name="Google Shape;1774;p45"/>
          <p:cNvGrpSpPr/>
          <p:nvPr/>
        </p:nvGrpSpPr>
        <p:grpSpPr>
          <a:xfrm>
            <a:off x="309197" y="518785"/>
            <a:ext cx="4040452" cy="656556"/>
            <a:chOff x="309197" y="518785"/>
            <a:chExt cx="4040452" cy="656556"/>
          </a:xfrm>
        </p:grpSpPr>
        <p:sp>
          <p:nvSpPr>
            <p:cNvPr id="1775" name="Google Shape;1775;p45"/>
            <p:cNvSpPr/>
            <p:nvPr/>
          </p:nvSpPr>
          <p:spPr>
            <a:xfrm>
              <a:off x="309197" y="518785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6" name="Google Shape;1776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760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7" name="Google Shape;1777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07374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8" name="Google Shape;1778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061040"/>
              <a:ext cx="393885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9" name="Google Shape;1779;p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3016"/>
              <a:ext cx="50800" cy="51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0" name="Google Shape;1780;p45"/>
            <p:cNvSpPr/>
            <p:nvPr/>
          </p:nvSpPr>
          <p:spPr>
            <a:xfrm>
              <a:off x="309197" y="751881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5"/>
            <p:cNvSpPr/>
            <p:nvPr/>
          </p:nvSpPr>
          <p:spPr>
            <a:xfrm>
              <a:off x="4298849" y="601116"/>
              <a:ext cx="0" cy="492125"/>
            </a:xfrm>
            <a:custGeom>
              <a:rect b="b" l="l" r="r" t="t"/>
              <a:pathLst>
                <a:path extrusionOk="0" h="492125" w="120000">
                  <a:moveTo>
                    <a:pt x="0" y="49167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5"/>
            <p:cNvSpPr/>
            <p:nvPr/>
          </p:nvSpPr>
          <p:spPr>
            <a:xfrm>
              <a:off x="4298849" y="5884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5"/>
            <p:cNvSpPr/>
            <p:nvPr/>
          </p:nvSpPr>
          <p:spPr>
            <a:xfrm>
              <a:off x="4298849" y="5757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5"/>
            <p:cNvSpPr/>
            <p:nvPr/>
          </p:nvSpPr>
          <p:spPr>
            <a:xfrm>
              <a:off x="4298849" y="56301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5" name="Google Shape;1785;p45"/>
          <p:cNvGrpSpPr/>
          <p:nvPr/>
        </p:nvGrpSpPr>
        <p:grpSpPr>
          <a:xfrm>
            <a:off x="309197" y="1240263"/>
            <a:ext cx="4040452" cy="1084009"/>
            <a:chOff x="309197" y="1240263"/>
            <a:chExt cx="4040452" cy="1084009"/>
          </a:xfrm>
        </p:grpSpPr>
        <p:sp>
          <p:nvSpPr>
            <p:cNvPr id="1786" name="Google Shape;1786;p45"/>
            <p:cNvSpPr/>
            <p:nvPr/>
          </p:nvSpPr>
          <p:spPr>
            <a:xfrm>
              <a:off x="309197" y="1240263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7" name="Google Shape;1787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406207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8" name="Google Shape;1788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2226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9" name="Google Shape;1789;p4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20997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0" name="Google Shape;1790;p4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284489"/>
              <a:ext cx="50800" cy="9381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1" name="Google Shape;1791;p45"/>
            <p:cNvSpPr/>
            <p:nvPr/>
          </p:nvSpPr>
          <p:spPr>
            <a:xfrm>
              <a:off x="309197" y="1450481"/>
              <a:ext cx="3989704" cy="823594"/>
            </a:xfrm>
            <a:custGeom>
              <a:rect b="b" l="l" r="r" t="t"/>
              <a:pathLst>
                <a:path extrusionOk="0" h="823594" w="3989704">
                  <a:moveTo>
                    <a:pt x="3989652" y="0"/>
                  </a:moveTo>
                  <a:lnTo>
                    <a:pt x="0" y="0"/>
                  </a:lnTo>
                  <a:lnTo>
                    <a:pt x="0" y="772190"/>
                  </a:lnTo>
                  <a:lnTo>
                    <a:pt x="4008" y="791914"/>
                  </a:lnTo>
                  <a:lnTo>
                    <a:pt x="14922" y="808067"/>
                  </a:lnTo>
                  <a:lnTo>
                    <a:pt x="31075" y="818981"/>
                  </a:lnTo>
                  <a:lnTo>
                    <a:pt x="50800" y="822990"/>
                  </a:lnTo>
                  <a:lnTo>
                    <a:pt x="3938852" y="822990"/>
                  </a:lnTo>
                  <a:lnTo>
                    <a:pt x="3958576" y="818981"/>
                  </a:lnTo>
                  <a:lnTo>
                    <a:pt x="3974729" y="808067"/>
                  </a:lnTo>
                  <a:lnTo>
                    <a:pt x="3985644" y="791914"/>
                  </a:lnTo>
                  <a:lnTo>
                    <a:pt x="3989652" y="7721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5"/>
            <p:cNvSpPr/>
            <p:nvPr/>
          </p:nvSpPr>
          <p:spPr>
            <a:xfrm>
              <a:off x="4298849" y="1322589"/>
              <a:ext cx="0" cy="919480"/>
            </a:xfrm>
            <a:custGeom>
              <a:rect b="b" l="l" r="r" t="t"/>
              <a:pathLst>
                <a:path extrusionOk="0" h="919480" w="120000">
                  <a:moveTo>
                    <a:pt x="0" y="91913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5"/>
            <p:cNvSpPr/>
            <p:nvPr/>
          </p:nvSpPr>
          <p:spPr>
            <a:xfrm>
              <a:off x="4298849" y="13098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45"/>
            <p:cNvSpPr/>
            <p:nvPr/>
          </p:nvSpPr>
          <p:spPr>
            <a:xfrm>
              <a:off x="4298849" y="12971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45"/>
            <p:cNvSpPr/>
            <p:nvPr/>
          </p:nvSpPr>
          <p:spPr>
            <a:xfrm>
              <a:off x="4298849" y="128448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6" name="Google Shape;1796;p45"/>
          <p:cNvSpPr txBox="1"/>
          <p:nvPr/>
        </p:nvSpPr>
        <p:spPr>
          <a:xfrm>
            <a:off x="154766" y="121020"/>
            <a:ext cx="4106545" cy="149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(Trees)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marR="50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undirected graph is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it is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does not contain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cycle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(implies that every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-node tree has exactly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edges).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Theorem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For undirected graph G, any two of the following implies the third.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97" name="Google Shape;1797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129" y="16849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45"/>
          <p:cNvSpPr txBox="1"/>
          <p:nvPr/>
        </p:nvSpPr>
        <p:spPr>
          <a:xfrm>
            <a:off x="472664" y="16734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99" name="Google Shape;1799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129" y="189493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00" name="Google Shape;1800;p45"/>
          <p:cNvSpPr txBox="1"/>
          <p:nvPr/>
        </p:nvSpPr>
        <p:spPr>
          <a:xfrm>
            <a:off x="472664" y="188346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01" name="Google Shape;1801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129" y="210497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45"/>
          <p:cNvSpPr txBox="1"/>
          <p:nvPr/>
        </p:nvSpPr>
        <p:spPr>
          <a:xfrm>
            <a:off x="472664" y="20935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3" name="Google Shape;1803;p45"/>
          <p:cNvSpPr txBox="1"/>
          <p:nvPr/>
        </p:nvSpPr>
        <p:spPr>
          <a:xfrm>
            <a:off x="624390" y="1587017"/>
            <a:ext cx="1626235" cy="65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is connected.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does not contain a cycle. G has 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edges.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4" name="Google Shape;1804;p45"/>
          <p:cNvSpPr/>
          <p:nvPr/>
        </p:nvSpPr>
        <p:spPr>
          <a:xfrm>
            <a:off x="309198" y="238919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45"/>
          <p:cNvSpPr txBox="1"/>
          <p:nvPr/>
        </p:nvSpPr>
        <p:spPr>
          <a:xfrm>
            <a:off x="347299" y="2379477"/>
            <a:ext cx="14795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(Trees (or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not</a:t>
            </a: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))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06" name="Google Shape;1806;p45"/>
          <p:cNvGrpSpPr/>
          <p:nvPr/>
        </p:nvGrpSpPr>
        <p:grpSpPr>
          <a:xfrm>
            <a:off x="0" y="2433422"/>
            <a:ext cx="4608414" cy="1022814"/>
            <a:chOff x="0" y="2433422"/>
            <a:chExt cx="4608414" cy="1022814"/>
          </a:xfrm>
        </p:grpSpPr>
        <p:pic>
          <p:nvPicPr>
            <p:cNvPr id="1807" name="Google Shape;1807;p4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09198" y="257801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8" name="Google Shape;1808;p4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9999" y="318987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9" name="Google Shape;1809;p4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10799" y="3177172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0" name="Google Shape;1810;p4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98851" y="2433422"/>
              <a:ext cx="50800" cy="756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1" name="Google Shape;1811;p45"/>
            <p:cNvSpPr/>
            <p:nvPr/>
          </p:nvSpPr>
          <p:spPr>
            <a:xfrm>
              <a:off x="309198" y="2622288"/>
              <a:ext cx="3989704" cy="618490"/>
            </a:xfrm>
            <a:custGeom>
              <a:rect b="b" l="l" r="r" t="t"/>
              <a:pathLst>
                <a:path extrusionOk="0" h="618489" w="3989704">
                  <a:moveTo>
                    <a:pt x="3989652" y="0"/>
                  </a:moveTo>
                  <a:lnTo>
                    <a:pt x="0" y="0"/>
                  </a:lnTo>
                  <a:lnTo>
                    <a:pt x="0" y="567584"/>
                  </a:lnTo>
                  <a:lnTo>
                    <a:pt x="4008" y="587308"/>
                  </a:lnTo>
                  <a:lnTo>
                    <a:pt x="14922" y="603461"/>
                  </a:lnTo>
                  <a:lnTo>
                    <a:pt x="31075" y="614376"/>
                  </a:lnTo>
                  <a:lnTo>
                    <a:pt x="50800" y="618384"/>
                  </a:lnTo>
                  <a:lnTo>
                    <a:pt x="3938852" y="618384"/>
                  </a:lnTo>
                  <a:lnTo>
                    <a:pt x="3958576" y="614376"/>
                  </a:lnTo>
                  <a:lnTo>
                    <a:pt x="3974729" y="603461"/>
                  </a:lnTo>
                  <a:lnTo>
                    <a:pt x="3985644" y="587308"/>
                  </a:lnTo>
                  <a:lnTo>
                    <a:pt x="3989652" y="567584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45"/>
            <p:cNvSpPr/>
            <p:nvPr/>
          </p:nvSpPr>
          <p:spPr>
            <a:xfrm>
              <a:off x="4298851" y="2471522"/>
              <a:ext cx="0" cy="737870"/>
            </a:xfrm>
            <a:custGeom>
              <a:rect b="b" l="l" r="r" t="t"/>
              <a:pathLst>
                <a:path extrusionOk="0" h="737869" w="120000">
                  <a:moveTo>
                    <a:pt x="0" y="7373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45"/>
            <p:cNvSpPr/>
            <p:nvPr/>
          </p:nvSpPr>
          <p:spPr>
            <a:xfrm>
              <a:off x="4298851" y="24588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45"/>
            <p:cNvSpPr/>
            <p:nvPr/>
          </p:nvSpPr>
          <p:spPr>
            <a:xfrm>
              <a:off x="4298851" y="24461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45"/>
            <p:cNvSpPr/>
            <p:nvPr/>
          </p:nvSpPr>
          <p:spPr>
            <a:xfrm>
              <a:off x="4298851" y="243342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16" name="Google Shape;1816;p4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999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7" name="Google Shape;1817;p4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185501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8" name="Google Shape;1818;p4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14954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9" name="Google Shape;1819;p4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159779" y="2647606"/>
              <a:ext cx="733147" cy="548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0" name="Google Shape;1820;p4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21" name="Google Shape;1821;p4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2" name="Google Shape;1822;p4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3" name="Google Shape;1823;p45"/>
          <p:cNvSpPr txBox="1"/>
          <p:nvPr/>
        </p:nvSpPr>
        <p:spPr>
          <a:xfrm>
            <a:off x="506135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24" name="Google Shape;1824;p4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825" name="Google Shape;1825;p4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826" name="Google Shape;1826;p4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4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32" name="Google Shape;1832;p4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4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34" name="Google Shape;1834;p46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835" name="Google Shape;183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6" name="Google Shape;1836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7" name="Google Shape;1837;p46"/>
          <p:cNvGrpSpPr/>
          <p:nvPr/>
        </p:nvGrpSpPr>
        <p:grpSpPr>
          <a:xfrm>
            <a:off x="309197" y="517614"/>
            <a:ext cx="4040452" cy="1442368"/>
            <a:chOff x="309197" y="517614"/>
            <a:chExt cx="4040452" cy="1442368"/>
          </a:xfrm>
        </p:grpSpPr>
        <p:sp>
          <p:nvSpPr>
            <p:cNvPr id="1838" name="Google Shape;1838;p46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39" name="Google Shape;1839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0" name="Google Shape;1840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85838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1" name="Google Shape;1841;p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84568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2" name="Google Shape;1842;p4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6"/>
              <a:ext cx="50800" cy="12965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3" name="Google Shape;1843;p46"/>
            <p:cNvSpPr/>
            <p:nvPr/>
          </p:nvSpPr>
          <p:spPr>
            <a:xfrm>
              <a:off x="309197" y="750702"/>
              <a:ext cx="3989704" cy="1158875"/>
            </a:xfrm>
            <a:custGeom>
              <a:rect b="b" l="l" r="r" t="t"/>
              <a:pathLst>
                <a:path extrusionOk="0" h="1158875" w="3989704">
                  <a:moveTo>
                    <a:pt x="3989652" y="0"/>
                  </a:moveTo>
                  <a:lnTo>
                    <a:pt x="0" y="0"/>
                  </a:lnTo>
                  <a:lnTo>
                    <a:pt x="0" y="1107679"/>
                  </a:lnTo>
                  <a:lnTo>
                    <a:pt x="4008" y="1127404"/>
                  </a:lnTo>
                  <a:lnTo>
                    <a:pt x="14922" y="1143557"/>
                  </a:lnTo>
                  <a:lnTo>
                    <a:pt x="31075" y="1154471"/>
                  </a:lnTo>
                  <a:lnTo>
                    <a:pt x="50800" y="1158480"/>
                  </a:lnTo>
                  <a:lnTo>
                    <a:pt x="3938852" y="1158480"/>
                  </a:lnTo>
                  <a:lnTo>
                    <a:pt x="3958576" y="1154471"/>
                  </a:lnTo>
                  <a:lnTo>
                    <a:pt x="3974729" y="1143557"/>
                  </a:lnTo>
                  <a:lnTo>
                    <a:pt x="3985644" y="1127404"/>
                  </a:lnTo>
                  <a:lnTo>
                    <a:pt x="3989652" y="110767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6"/>
            <p:cNvSpPr/>
            <p:nvPr/>
          </p:nvSpPr>
          <p:spPr>
            <a:xfrm>
              <a:off x="4298849" y="599936"/>
              <a:ext cx="0" cy="1277620"/>
            </a:xfrm>
            <a:custGeom>
              <a:rect b="b" l="l" r="r" t="t"/>
              <a:pathLst>
                <a:path extrusionOk="0" h="1277620" w="120000">
                  <a:moveTo>
                    <a:pt x="0" y="127749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4298849" y="58723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4298849" y="57453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4298849" y="56183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8" name="Google Shape;1848;p46"/>
          <p:cNvSpPr txBox="1"/>
          <p:nvPr/>
        </p:nvSpPr>
        <p:spPr>
          <a:xfrm>
            <a:off x="142066" y="121020"/>
            <a:ext cx="3647440" cy="79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Representation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(Adjacency Matrix)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Represents the graph as an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matrix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i,j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where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9" name="Google Shape;1849;p46"/>
          <p:cNvSpPr txBox="1"/>
          <p:nvPr/>
        </p:nvSpPr>
        <p:spPr>
          <a:xfrm>
            <a:off x="1531274" y="1188445"/>
            <a:ext cx="120014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i,j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46"/>
          <p:cNvSpPr txBox="1"/>
          <p:nvPr/>
        </p:nvSpPr>
        <p:spPr>
          <a:xfrm>
            <a:off x="1464696" y="1129014"/>
            <a:ext cx="34861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	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51" name="Google Shape;1851;p46"/>
          <p:cNvSpPr txBox="1"/>
          <p:nvPr/>
        </p:nvSpPr>
        <p:spPr>
          <a:xfrm>
            <a:off x="1825837" y="933663"/>
            <a:ext cx="12953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Verdana"/>
                <a:ea typeface="Verdana"/>
                <a:cs typeface="Verdana"/>
                <a:sym typeface="Verdana"/>
              </a:rPr>
              <a:t> 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2" name="Google Shape;1852;p46"/>
          <p:cNvSpPr txBox="1"/>
          <p:nvPr/>
        </p:nvSpPr>
        <p:spPr>
          <a:xfrm>
            <a:off x="1954909" y="1042754"/>
            <a:ext cx="116078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50165" marR="558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0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otherwise.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53" name="Google Shape;1853;p46"/>
          <p:cNvGrpSpPr/>
          <p:nvPr/>
        </p:nvGrpSpPr>
        <p:grpSpPr>
          <a:xfrm>
            <a:off x="309197" y="2023148"/>
            <a:ext cx="4040452" cy="1359480"/>
            <a:chOff x="309197" y="2023148"/>
            <a:chExt cx="4040452" cy="1359480"/>
          </a:xfrm>
        </p:grpSpPr>
        <p:sp>
          <p:nvSpPr>
            <p:cNvPr id="1854" name="Google Shape;1854;p46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55" name="Google Shape;1855;p4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221196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6" name="Google Shape;1856;p4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7" name="Google Shape;1857;p4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68327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8" name="Google Shape;1858;p4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9" name="Google Shape;1859;p46"/>
            <p:cNvSpPr/>
            <p:nvPr/>
          </p:nvSpPr>
          <p:spPr>
            <a:xfrm>
              <a:off x="309197" y="2256237"/>
              <a:ext cx="3989704" cy="1075690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6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6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6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6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64" name="Google Shape;1864;p4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5" name="Google Shape;1865;p46"/>
          <p:cNvSpPr txBox="1"/>
          <p:nvPr/>
        </p:nvSpPr>
        <p:spPr>
          <a:xfrm>
            <a:off x="347298" y="1514495"/>
            <a:ext cx="3848735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 matrix is symmetric in case of undirected graph, while it may be asymmetric if the graph is directed.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6200" lvl="0" marL="1663064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900" u="sng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i="1" lang="en-US" sz="900" u="sng">
                <a:latin typeface="Arial"/>
                <a:ea typeface="Arial"/>
                <a:cs typeface="Arial"/>
                <a:sym typeface="Arial"/>
              </a:rPr>
              <a:t>a	b	c	d	e 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b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0	1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0	0	0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e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0	1	0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66" name="Google Shape;1866;p4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867" name="Google Shape;1867;p4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68" name="Google Shape;1868;p4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9" name="Google Shape;1869;p4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0" name="Google Shape;1870;p4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71" name="Google Shape;1871;p4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872" name="Google Shape;1872;p4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873" name="Google Shape;1873;p4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4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79" name="Google Shape;1879;p4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4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81" name="Google Shape;1881;p47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882" name="Google Shape;1882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3" name="Google Shape;1883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4" name="Google Shape;1884;p47"/>
          <p:cNvGrpSpPr/>
          <p:nvPr/>
        </p:nvGrpSpPr>
        <p:grpSpPr>
          <a:xfrm>
            <a:off x="309197" y="517614"/>
            <a:ext cx="4040452" cy="1442368"/>
            <a:chOff x="309197" y="517614"/>
            <a:chExt cx="4040452" cy="1442368"/>
          </a:xfrm>
        </p:grpSpPr>
        <p:sp>
          <p:nvSpPr>
            <p:cNvPr id="1885" name="Google Shape;1885;p47"/>
            <p:cNvSpPr/>
            <p:nvPr/>
          </p:nvSpPr>
          <p:spPr>
            <a:xfrm>
              <a:off x="309197" y="517614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86" name="Google Shape;1886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43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7" name="Google Shape;1887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85838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8" name="Google Shape;1888;p4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84568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9" name="Google Shape;1889;p4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6"/>
              <a:ext cx="50800" cy="12965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47"/>
            <p:cNvSpPr/>
            <p:nvPr/>
          </p:nvSpPr>
          <p:spPr>
            <a:xfrm>
              <a:off x="309197" y="750702"/>
              <a:ext cx="3989704" cy="1158875"/>
            </a:xfrm>
            <a:custGeom>
              <a:rect b="b" l="l" r="r" t="t"/>
              <a:pathLst>
                <a:path extrusionOk="0" h="1158875" w="3989704">
                  <a:moveTo>
                    <a:pt x="3989652" y="0"/>
                  </a:moveTo>
                  <a:lnTo>
                    <a:pt x="0" y="0"/>
                  </a:lnTo>
                  <a:lnTo>
                    <a:pt x="0" y="1107679"/>
                  </a:lnTo>
                  <a:lnTo>
                    <a:pt x="4008" y="1127404"/>
                  </a:lnTo>
                  <a:lnTo>
                    <a:pt x="14922" y="1143557"/>
                  </a:lnTo>
                  <a:lnTo>
                    <a:pt x="31075" y="1154471"/>
                  </a:lnTo>
                  <a:lnTo>
                    <a:pt x="50800" y="1158480"/>
                  </a:lnTo>
                  <a:lnTo>
                    <a:pt x="3938852" y="1158480"/>
                  </a:lnTo>
                  <a:lnTo>
                    <a:pt x="3958576" y="1154471"/>
                  </a:lnTo>
                  <a:lnTo>
                    <a:pt x="3974729" y="1143557"/>
                  </a:lnTo>
                  <a:lnTo>
                    <a:pt x="3985644" y="1127404"/>
                  </a:lnTo>
                  <a:lnTo>
                    <a:pt x="3989652" y="110767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7"/>
            <p:cNvSpPr/>
            <p:nvPr/>
          </p:nvSpPr>
          <p:spPr>
            <a:xfrm>
              <a:off x="4298849" y="599936"/>
              <a:ext cx="0" cy="1277620"/>
            </a:xfrm>
            <a:custGeom>
              <a:rect b="b" l="l" r="r" t="t"/>
              <a:pathLst>
                <a:path extrusionOk="0" h="1277620" w="120000">
                  <a:moveTo>
                    <a:pt x="0" y="127749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7"/>
            <p:cNvSpPr/>
            <p:nvPr/>
          </p:nvSpPr>
          <p:spPr>
            <a:xfrm>
              <a:off x="4298849" y="58723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7"/>
            <p:cNvSpPr/>
            <p:nvPr/>
          </p:nvSpPr>
          <p:spPr>
            <a:xfrm>
              <a:off x="4298849" y="57453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7"/>
            <p:cNvSpPr/>
            <p:nvPr/>
          </p:nvSpPr>
          <p:spPr>
            <a:xfrm>
              <a:off x="4298849" y="56183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5" name="Google Shape;1895;p47"/>
          <p:cNvSpPr txBox="1"/>
          <p:nvPr/>
        </p:nvSpPr>
        <p:spPr>
          <a:xfrm>
            <a:off x="142066" y="121020"/>
            <a:ext cx="3647440" cy="79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Representation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(Adjacency Matrix)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Represents the graph as an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matrix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i,j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where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6" name="Google Shape;1896;p47"/>
          <p:cNvSpPr txBox="1"/>
          <p:nvPr/>
        </p:nvSpPr>
        <p:spPr>
          <a:xfrm>
            <a:off x="1531274" y="1188445"/>
            <a:ext cx="120014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i,j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47"/>
          <p:cNvSpPr txBox="1"/>
          <p:nvPr/>
        </p:nvSpPr>
        <p:spPr>
          <a:xfrm>
            <a:off x="1464696" y="1129014"/>
            <a:ext cx="34861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	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98" name="Google Shape;1898;p47"/>
          <p:cNvSpPr txBox="1"/>
          <p:nvPr/>
        </p:nvSpPr>
        <p:spPr>
          <a:xfrm>
            <a:off x="1825837" y="933663"/>
            <a:ext cx="12953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Verdana"/>
                <a:ea typeface="Verdana"/>
                <a:cs typeface="Verdana"/>
                <a:sym typeface="Verdana"/>
              </a:rPr>
              <a:t> 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9" name="Google Shape;1899;p47"/>
          <p:cNvSpPr txBox="1"/>
          <p:nvPr/>
        </p:nvSpPr>
        <p:spPr>
          <a:xfrm>
            <a:off x="1954909" y="1042754"/>
            <a:ext cx="116078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50165" marR="558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0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otherwise.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00" name="Google Shape;1900;p47"/>
          <p:cNvGrpSpPr/>
          <p:nvPr/>
        </p:nvGrpSpPr>
        <p:grpSpPr>
          <a:xfrm>
            <a:off x="309197" y="2023148"/>
            <a:ext cx="4040452" cy="1359480"/>
            <a:chOff x="309197" y="2023148"/>
            <a:chExt cx="4040452" cy="1359480"/>
          </a:xfrm>
        </p:grpSpPr>
        <p:sp>
          <p:nvSpPr>
            <p:cNvPr id="1901" name="Google Shape;1901;p47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02" name="Google Shape;1902;p4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221196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3" name="Google Shape;1903;p4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4" name="Google Shape;1904;p4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268327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5" name="Google Shape;1905;p4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6" name="Google Shape;1906;p47"/>
            <p:cNvSpPr/>
            <p:nvPr/>
          </p:nvSpPr>
          <p:spPr>
            <a:xfrm>
              <a:off x="309197" y="2256237"/>
              <a:ext cx="3989704" cy="1075690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7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7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7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7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11" name="Google Shape;1911;p4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2" name="Google Shape;1912;p47"/>
          <p:cNvSpPr txBox="1"/>
          <p:nvPr/>
        </p:nvSpPr>
        <p:spPr>
          <a:xfrm>
            <a:off x="347298" y="1514495"/>
            <a:ext cx="3848735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 matrix is symmetric in case of undirected graph, while it may be asymmetric if the graph is directed.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6200" lvl="0" marL="1663064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900" u="sng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i="1" lang="en-US" sz="900" u="sng">
                <a:latin typeface="Arial"/>
                <a:ea typeface="Arial"/>
                <a:cs typeface="Arial"/>
                <a:sym typeface="Arial"/>
              </a:rPr>
              <a:t>a	b	c	d	e 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b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0	1	1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66306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e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1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13" name="Google Shape;1913;p47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1914" name="Google Shape;1914;p4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15" name="Google Shape;1915;p4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6" name="Google Shape;1916;p4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7" name="Google Shape;1917;p4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8" name="Google Shape;1918;p4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919" name="Google Shape;1919;p4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920" name="Google Shape;1920;p47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4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6" name="Google Shape;1926;p4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4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28" name="Google Shape;1928;p48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929" name="Google Shape;1929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0" name="Google Shape;1930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1" name="Google Shape;1931;p48"/>
          <p:cNvGrpSpPr/>
          <p:nvPr/>
        </p:nvGrpSpPr>
        <p:grpSpPr>
          <a:xfrm>
            <a:off x="309197" y="631519"/>
            <a:ext cx="4040452" cy="828631"/>
            <a:chOff x="309197" y="631519"/>
            <a:chExt cx="4040452" cy="828631"/>
          </a:xfrm>
        </p:grpSpPr>
        <p:sp>
          <p:nvSpPr>
            <p:cNvPr id="1932" name="Google Shape;1932;p48"/>
            <p:cNvSpPr/>
            <p:nvPr/>
          </p:nvSpPr>
          <p:spPr>
            <a:xfrm>
              <a:off x="309197" y="631519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33" name="Google Shape;1933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20336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4" name="Google Shape;1934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3585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5" name="Google Shape;1935;p4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345849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6" name="Google Shape;1936;p4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675748"/>
              <a:ext cx="50800" cy="682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7" name="Google Shape;1937;p48"/>
            <p:cNvSpPr/>
            <p:nvPr/>
          </p:nvSpPr>
          <p:spPr>
            <a:xfrm>
              <a:off x="309197" y="864613"/>
              <a:ext cx="3989704" cy="544830"/>
            </a:xfrm>
            <a:custGeom>
              <a:rect b="b" l="l" r="r" t="t"/>
              <a:pathLst>
                <a:path extrusionOk="0" h="544830" w="3989704">
                  <a:moveTo>
                    <a:pt x="3989652" y="0"/>
                  </a:moveTo>
                  <a:lnTo>
                    <a:pt x="0" y="0"/>
                  </a:lnTo>
                  <a:lnTo>
                    <a:pt x="0" y="493935"/>
                  </a:lnTo>
                  <a:lnTo>
                    <a:pt x="4008" y="513660"/>
                  </a:lnTo>
                  <a:lnTo>
                    <a:pt x="14922" y="529813"/>
                  </a:lnTo>
                  <a:lnTo>
                    <a:pt x="31075" y="540727"/>
                  </a:lnTo>
                  <a:lnTo>
                    <a:pt x="50800" y="544735"/>
                  </a:lnTo>
                  <a:lnTo>
                    <a:pt x="3938852" y="544735"/>
                  </a:lnTo>
                  <a:lnTo>
                    <a:pt x="3958576" y="540727"/>
                  </a:lnTo>
                  <a:lnTo>
                    <a:pt x="3974729" y="529813"/>
                  </a:lnTo>
                  <a:lnTo>
                    <a:pt x="3985644" y="513660"/>
                  </a:lnTo>
                  <a:lnTo>
                    <a:pt x="3989652" y="493935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8"/>
            <p:cNvSpPr/>
            <p:nvPr/>
          </p:nvSpPr>
          <p:spPr>
            <a:xfrm>
              <a:off x="4298849" y="713848"/>
              <a:ext cx="0" cy="664210"/>
            </a:xfrm>
            <a:custGeom>
              <a:rect b="b" l="l" r="r" t="t"/>
              <a:pathLst>
                <a:path extrusionOk="0" h="664210" w="120000">
                  <a:moveTo>
                    <a:pt x="0" y="66375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8"/>
            <p:cNvSpPr/>
            <p:nvPr/>
          </p:nvSpPr>
          <p:spPr>
            <a:xfrm>
              <a:off x="4298849" y="70114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8"/>
            <p:cNvSpPr/>
            <p:nvPr/>
          </p:nvSpPr>
          <p:spPr>
            <a:xfrm>
              <a:off x="4298849" y="68844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8"/>
            <p:cNvSpPr/>
            <p:nvPr/>
          </p:nvSpPr>
          <p:spPr>
            <a:xfrm>
              <a:off x="4298849" y="67574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2" name="Google Shape;1942;p48"/>
          <p:cNvSpPr txBox="1"/>
          <p:nvPr/>
        </p:nvSpPr>
        <p:spPr>
          <a:xfrm>
            <a:off x="142066" y="121020"/>
            <a:ext cx="3872865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Representation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(Adjacency List)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17804" marR="43180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Represent the graph by listing for 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its outgoing vertices in a list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(Representation can be linked list, or another appropriate structure.)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43" name="Google Shape;1943;p48"/>
          <p:cNvSpPr/>
          <p:nvPr/>
        </p:nvSpPr>
        <p:spPr>
          <a:xfrm>
            <a:off x="309197" y="1649874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48"/>
          <p:cNvSpPr txBox="1"/>
          <p:nvPr/>
        </p:nvSpPr>
        <p:spPr>
          <a:xfrm>
            <a:off x="347298" y="1640156"/>
            <a:ext cx="152844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45" name="Google Shape;1945;p48"/>
          <p:cNvGrpSpPr/>
          <p:nvPr/>
        </p:nvGrpSpPr>
        <p:grpSpPr>
          <a:xfrm>
            <a:off x="309197" y="1694094"/>
            <a:ext cx="4040452" cy="1452413"/>
            <a:chOff x="309197" y="1694094"/>
            <a:chExt cx="4040452" cy="1452413"/>
          </a:xfrm>
        </p:grpSpPr>
        <p:pic>
          <p:nvPicPr>
            <p:cNvPr id="1946" name="Google Shape;1946;p4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838690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7" name="Google Shape;1947;p4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04490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8" name="Google Shape;1948;p4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03220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9" name="Google Shape;1949;p4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694094"/>
              <a:ext cx="50800" cy="13508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0" name="Google Shape;1950;p48"/>
            <p:cNvSpPr/>
            <p:nvPr/>
          </p:nvSpPr>
          <p:spPr>
            <a:xfrm>
              <a:off x="309197" y="1882959"/>
              <a:ext cx="3989704" cy="1212850"/>
            </a:xfrm>
            <a:custGeom>
              <a:rect b="b" l="l" r="r" t="t"/>
              <a:pathLst>
                <a:path extrusionOk="0" h="1212850" w="3989704">
                  <a:moveTo>
                    <a:pt x="3989652" y="0"/>
                  </a:moveTo>
                  <a:lnTo>
                    <a:pt x="0" y="0"/>
                  </a:lnTo>
                  <a:lnTo>
                    <a:pt x="0" y="1161946"/>
                  </a:lnTo>
                  <a:lnTo>
                    <a:pt x="4008" y="1181671"/>
                  </a:lnTo>
                  <a:lnTo>
                    <a:pt x="14922" y="1197824"/>
                  </a:lnTo>
                  <a:lnTo>
                    <a:pt x="31075" y="1208738"/>
                  </a:lnTo>
                  <a:lnTo>
                    <a:pt x="50800" y="1212746"/>
                  </a:lnTo>
                  <a:lnTo>
                    <a:pt x="3938852" y="1212746"/>
                  </a:lnTo>
                  <a:lnTo>
                    <a:pt x="3958576" y="1208738"/>
                  </a:lnTo>
                  <a:lnTo>
                    <a:pt x="3974729" y="1197824"/>
                  </a:lnTo>
                  <a:lnTo>
                    <a:pt x="3985644" y="1181671"/>
                  </a:lnTo>
                  <a:lnTo>
                    <a:pt x="3989652" y="116194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8"/>
            <p:cNvSpPr/>
            <p:nvPr/>
          </p:nvSpPr>
          <p:spPr>
            <a:xfrm>
              <a:off x="4298849" y="1732194"/>
              <a:ext cx="0" cy="1332230"/>
            </a:xfrm>
            <a:custGeom>
              <a:rect b="b" l="l" r="r" t="t"/>
              <a:pathLst>
                <a:path extrusionOk="0" h="1332230" w="120000">
                  <a:moveTo>
                    <a:pt x="0" y="133176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8"/>
            <p:cNvSpPr/>
            <p:nvPr/>
          </p:nvSpPr>
          <p:spPr>
            <a:xfrm>
              <a:off x="4298849" y="1719494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8"/>
            <p:cNvSpPr/>
            <p:nvPr/>
          </p:nvSpPr>
          <p:spPr>
            <a:xfrm>
              <a:off x="4298849" y="1706794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8"/>
            <p:cNvSpPr/>
            <p:nvPr/>
          </p:nvSpPr>
          <p:spPr>
            <a:xfrm>
              <a:off x="4298849" y="1694094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55" name="Google Shape;1955;p4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1908265"/>
              <a:ext cx="1018275" cy="1143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6" name="Google Shape;1956;p4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24440" y="1908265"/>
              <a:ext cx="1143014" cy="11430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7" name="Google Shape;1957;p48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1958" name="Google Shape;1958;p4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59" name="Google Shape;1959;p4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0" name="Google Shape;1960;p48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1" name="Google Shape;1961;p48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2" name="Google Shape;1962;p4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1963" name="Google Shape;1963;p4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1964" name="Google Shape;1964;p48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4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70" name="Google Shape;1970;p4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4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72" name="Google Shape;1972;p49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1973" name="Google Shape;1973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4" name="Google Shape;1974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5" name="Google Shape;1975;p49"/>
          <p:cNvGrpSpPr/>
          <p:nvPr/>
        </p:nvGrpSpPr>
        <p:grpSpPr>
          <a:xfrm>
            <a:off x="309197" y="531569"/>
            <a:ext cx="4040452" cy="1172780"/>
            <a:chOff x="309197" y="531569"/>
            <a:chExt cx="4040452" cy="1172780"/>
          </a:xfrm>
        </p:grpSpPr>
        <p:sp>
          <p:nvSpPr>
            <p:cNvPr id="1976" name="Google Shape;1976;p49"/>
            <p:cNvSpPr/>
            <p:nvPr/>
          </p:nvSpPr>
          <p:spPr>
            <a:xfrm>
              <a:off x="309197" y="531569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7" name="Google Shape;1977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2038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8" name="Google Shape;1978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602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9" name="Google Shape;1979;p4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9004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0" name="Google Shape;1980;p4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75793"/>
              <a:ext cx="50800" cy="1026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1" name="Google Shape;1981;p49"/>
            <p:cNvSpPr/>
            <p:nvPr/>
          </p:nvSpPr>
          <p:spPr>
            <a:xfrm>
              <a:off x="309197" y="764659"/>
              <a:ext cx="3989704" cy="889000"/>
            </a:xfrm>
            <a:custGeom>
              <a:rect b="b" l="l" r="r" t="t"/>
              <a:pathLst>
                <a:path extrusionOk="0" h="889000" w="3989704">
                  <a:moveTo>
                    <a:pt x="3989652" y="0"/>
                  </a:moveTo>
                  <a:lnTo>
                    <a:pt x="0" y="0"/>
                  </a:lnTo>
                  <a:lnTo>
                    <a:pt x="0" y="838089"/>
                  </a:lnTo>
                  <a:lnTo>
                    <a:pt x="4008" y="857814"/>
                  </a:lnTo>
                  <a:lnTo>
                    <a:pt x="14922" y="873967"/>
                  </a:lnTo>
                  <a:lnTo>
                    <a:pt x="31075" y="884881"/>
                  </a:lnTo>
                  <a:lnTo>
                    <a:pt x="50800" y="888890"/>
                  </a:lnTo>
                  <a:lnTo>
                    <a:pt x="3938852" y="888890"/>
                  </a:lnTo>
                  <a:lnTo>
                    <a:pt x="3958576" y="884881"/>
                  </a:lnTo>
                  <a:lnTo>
                    <a:pt x="3974729" y="873967"/>
                  </a:lnTo>
                  <a:lnTo>
                    <a:pt x="3985644" y="857814"/>
                  </a:lnTo>
                  <a:lnTo>
                    <a:pt x="3989652" y="8380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9"/>
            <p:cNvSpPr/>
            <p:nvPr/>
          </p:nvSpPr>
          <p:spPr>
            <a:xfrm>
              <a:off x="4298849" y="613893"/>
              <a:ext cx="0" cy="1008380"/>
            </a:xfrm>
            <a:custGeom>
              <a:rect b="b" l="l" r="r" t="t"/>
              <a:pathLst>
                <a:path extrusionOk="0" h="1008380" w="120000">
                  <a:moveTo>
                    <a:pt x="0" y="10079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9"/>
            <p:cNvSpPr/>
            <p:nvPr/>
          </p:nvSpPr>
          <p:spPr>
            <a:xfrm>
              <a:off x="4298849" y="60119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9"/>
            <p:cNvSpPr/>
            <p:nvPr/>
          </p:nvSpPr>
          <p:spPr>
            <a:xfrm>
              <a:off x="4298849" y="58849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9"/>
            <p:cNvSpPr/>
            <p:nvPr/>
          </p:nvSpPr>
          <p:spPr>
            <a:xfrm>
              <a:off x="4298849" y="57579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6" name="Google Shape;1986;p49"/>
          <p:cNvSpPr/>
          <p:nvPr/>
        </p:nvSpPr>
        <p:spPr>
          <a:xfrm>
            <a:off x="309198" y="1788447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9"/>
          <p:cNvSpPr txBox="1"/>
          <p:nvPr/>
        </p:nvSpPr>
        <p:spPr>
          <a:xfrm>
            <a:off x="129366" y="121020"/>
            <a:ext cx="4062095" cy="1849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Representation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rtl="0" algn="l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(Adjacency List)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marR="219709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Represent the graph by listing for 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its outgoing vertices in a list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(Representation can be linked list, or another appropriate structure.)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graph is directed, it makes sense to build for each vertex 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200">
              <a:latin typeface="Arial"/>
              <a:ea typeface="Arial"/>
              <a:cs typeface="Arial"/>
              <a:sym typeface="Arial"/>
            </a:endParaRPr>
          </a:p>
          <a:p>
            <a:pPr indent="0" lvl="0" marL="2305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also list of its incoming vertices 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88" name="Google Shape;1988;p49"/>
          <p:cNvGrpSpPr/>
          <p:nvPr/>
        </p:nvGrpSpPr>
        <p:grpSpPr>
          <a:xfrm>
            <a:off x="309198" y="1832667"/>
            <a:ext cx="4040453" cy="1452413"/>
            <a:chOff x="309198" y="1832667"/>
            <a:chExt cx="4040453" cy="1452413"/>
          </a:xfrm>
        </p:grpSpPr>
        <p:pic>
          <p:nvPicPr>
            <p:cNvPr id="1989" name="Google Shape;1989;p4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8" y="1977264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0" name="Google Shape;1990;p4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9" y="318348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1" name="Google Shape;1991;p4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9" y="3170779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2" name="Google Shape;1992;p4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51" y="1832667"/>
              <a:ext cx="50800" cy="13508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3" name="Google Shape;1993;p49"/>
            <p:cNvSpPr/>
            <p:nvPr/>
          </p:nvSpPr>
          <p:spPr>
            <a:xfrm>
              <a:off x="309198" y="2021533"/>
              <a:ext cx="3989704" cy="1212850"/>
            </a:xfrm>
            <a:custGeom>
              <a:rect b="b" l="l" r="r" t="t"/>
              <a:pathLst>
                <a:path extrusionOk="0" h="1212850" w="3989704">
                  <a:moveTo>
                    <a:pt x="3989652" y="0"/>
                  </a:moveTo>
                  <a:lnTo>
                    <a:pt x="0" y="0"/>
                  </a:lnTo>
                  <a:lnTo>
                    <a:pt x="0" y="1161946"/>
                  </a:lnTo>
                  <a:lnTo>
                    <a:pt x="4008" y="1181671"/>
                  </a:lnTo>
                  <a:lnTo>
                    <a:pt x="14922" y="1197824"/>
                  </a:lnTo>
                  <a:lnTo>
                    <a:pt x="31075" y="1208738"/>
                  </a:lnTo>
                  <a:lnTo>
                    <a:pt x="50800" y="1212746"/>
                  </a:lnTo>
                  <a:lnTo>
                    <a:pt x="3938852" y="1212746"/>
                  </a:lnTo>
                  <a:lnTo>
                    <a:pt x="3958576" y="1208738"/>
                  </a:lnTo>
                  <a:lnTo>
                    <a:pt x="3974729" y="1197824"/>
                  </a:lnTo>
                  <a:lnTo>
                    <a:pt x="3985644" y="1181671"/>
                  </a:lnTo>
                  <a:lnTo>
                    <a:pt x="3989652" y="116194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9"/>
            <p:cNvSpPr/>
            <p:nvPr/>
          </p:nvSpPr>
          <p:spPr>
            <a:xfrm>
              <a:off x="4298851" y="1870767"/>
              <a:ext cx="0" cy="1332230"/>
            </a:xfrm>
            <a:custGeom>
              <a:rect b="b" l="l" r="r" t="t"/>
              <a:pathLst>
                <a:path extrusionOk="0" h="1332230" w="120000">
                  <a:moveTo>
                    <a:pt x="0" y="133176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49"/>
            <p:cNvSpPr/>
            <p:nvPr/>
          </p:nvSpPr>
          <p:spPr>
            <a:xfrm>
              <a:off x="4298851" y="185806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9"/>
            <p:cNvSpPr/>
            <p:nvPr/>
          </p:nvSpPr>
          <p:spPr>
            <a:xfrm>
              <a:off x="4298851" y="184536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9"/>
            <p:cNvSpPr/>
            <p:nvPr/>
          </p:nvSpPr>
          <p:spPr>
            <a:xfrm>
              <a:off x="4298851" y="183266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8" name="Google Shape;1998;p4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9" y="2046839"/>
              <a:ext cx="1018275" cy="1143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9" name="Google Shape;1999;p4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24440" y="2046839"/>
              <a:ext cx="1143014" cy="1143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0" name="Google Shape;2000;p4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659802" y="2046839"/>
              <a:ext cx="1143014" cy="11430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1" name="Google Shape;2001;p49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002" name="Google Shape;2002;p4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03" name="Google Shape;2003;p4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4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5" name="Google Shape;2005;p49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6" name="Google Shape;2006;p4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007" name="Google Shape;2007;p4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008" name="Google Shape;2008;p49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5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14" name="Google Shape;2014;p5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5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16" name="Google Shape;2016;p50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017" name="Google Shape;2017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8" name="Google Shape;2018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9" name="Google Shape;2019;p50"/>
          <p:cNvGrpSpPr/>
          <p:nvPr/>
        </p:nvGrpSpPr>
        <p:grpSpPr>
          <a:xfrm>
            <a:off x="309197" y="535746"/>
            <a:ext cx="4040452" cy="1160250"/>
            <a:chOff x="309197" y="535746"/>
            <a:chExt cx="4040452" cy="1160250"/>
          </a:xfrm>
        </p:grpSpPr>
        <p:sp>
          <p:nvSpPr>
            <p:cNvPr id="2020" name="Google Shape;2020;p50"/>
            <p:cNvSpPr/>
            <p:nvPr/>
          </p:nvSpPr>
          <p:spPr>
            <a:xfrm>
              <a:off x="309197" y="535746"/>
              <a:ext cx="3989704" cy="201930"/>
            </a:xfrm>
            <a:custGeom>
              <a:rect b="b" l="l" r="r" t="t"/>
              <a:pathLst>
                <a:path extrusionOk="0" h="20192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21" name="Google Shape;2021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24563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2" name="Google Shape;2022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9439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3" name="Google Shape;2023;p5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8169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4" name="Google Shape;2024;p5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79970"/>
              <a:ext cx="50800" cy="101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5" name="Google Shape;2025;p50"/>
            <p:cNvSpPr/>
            <p:nvPr/>
          </p:nvSpPr>
          <p:spPr>
            <a:xfrm>
              <a:off x="309197" y="768836"/>
              <a:ext cx="3989704" cy="876935"/>
            </a:xfrm>
            <a:custGeom>
              <a:rect b="b" l="l" r="r" t="t"/>
              <a:pathLst>
                <a:path extrusionOk="0" h="876935" w="3989704">
                  <a:moveTo>
                    <a:pt x="3989652" y="0"/>
                  </a:moveTo>
                  <a:lnTo>
                    <a:pt x="0" y="0"/>
                  </a:lnTo>
                  <a:lnTo>
                    <a:pt x="0" y="825559"/>
                  </a:lnTo>
                  <a:lnTo>
                    <a:pt x="4008" y="845284"/>
                  </a:lnTo>
                  <a:lnTo>
                    <a:pt x="14922" y="861437"/>
                  </a:lnTo>
                  <a:lnTo>
                    <a:pt x="31075" y="872351"/>
                  </a:lnTo>
                  <a:lnTo>
                    <a:pt x="50800" y="876360"/>
                  </a:lnTo>
                  <a:lnTo>
                    <a:pt x="3938852" y="876360"/>
                  </a:lnTo>
                  <a:lnTo>
                    <a:pt x="3958576" y="872351"/>
                  </a:lnTo>
                  <a:lnTo>
                    <a:pt x="3974729" y="861437"/>
                  </a:lnTo>
                  <a:lnTo>
                    <a:pt x="3985644" y="845284"/>
                  </a:lnTo>
                  <a:lnTo>
                    <a:pt x="3989652" y="82555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50"/>
            <p:cNvSpPr/>
            <p:nvPr/>
          </p:nvSpPr>
          <p:spPr>
            <a:xfrm>
              <a:off x="4298849" y="618070"/>
              <a:ext cx="0" cy="995680"/>
            </a:xfrm>
            <a:custGeom>
              <a:rect b="b" l="l" r="r" t="t"/>
              <a:pathLst>
                <a:path extrusionOk="0" h="995680" w="120000">
                  <a:moveTo>
                    <a:pt x="0" y="99537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50"/>
            <p:cNvSpPr/>
            <p:nvPr/>
          </p:nvSpPr>
          <p:spPr>
            <a:xfrm>
              <a:off x="4298849" y="60537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50"/>
            <p:cNvSpPr/>
            <p:nvPr/>
          </p:nvSpPr>
          <p:spPr>
            <a:xfrm>
              <a:off x="4298849" y="59267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50"/>
            <p:cNvSpPr/>
            <p:nvPr/>
          </p:nvSpPr>
          <p:spPr>
            <a:xfrm>
              <a:off x="4298849" y="57997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0" name="Google Shape;2030;p50"/>
          <p:cNvSpPr/>
          <p:nvPr/>
        </p:nvSpPr>
        <p:spPr>
          <a:xfrm>
            <a:off x="309197" y="1786359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50"/>
          <p:cNvSpPr txBox="1"/>
          <p:nvPr/>
        </p:nvSpPr>
        <p:spPr>
          <a:xfrm>
            <a:off x="129366" y="121020"/>
            <a:ext cx="3913504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Representation of graphs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 (Adjacency List)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marR="71120" rtl="0" algn="l">
              <a:lnSpc>
                <a:spcPct val="1026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Represent the graph by listing for 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its outgoing vertices in a list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out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(Representation can be linked list, or another appropriate structure.)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marR="55880" rtl="0" algn="l">
              <a:lnSpc>
                <a:spcPct val="102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graph is undirected, all incident edges are listed for each vertex 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aseline="-25000" i="1"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305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(Undirected graph)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32" name="Google Shape;2032;p50"/>
          <p:cNvGrpSpPr/>
          <p:nvPr/>
        </p:nvGrpSpPr>
        <p:grpSpPr>
          <a:xfrm>
            <a:off x="309197" y="1830579"/>
            <a:ext cx="4040452" cy="1452413"/>
            <a:chOff x="309197" y="1830579"/>
            <a:chExt cx="4040452" cy="1452413"/>
          </a:xfrm>
        </p:grpSpPr>
        <p:pic>
          <p:nvPicPr>
            <p:cNvPr id="2033" name="Google Shape;2033;p5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75176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4" name="Google Shape;2034;p5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318139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5" name="Google Shape;2035;p5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3168691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6" name="Google Shape;2036;p5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830579"/>
              <a:ext cx="50800" cy="13508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7" name="Google Shape;2037;p50"/>
            <p:cNvSpPr/>
            <p:nvPr/>
          </p:nvSpPr>
          <p:spPr>
            <a:xfrm>
              <a:off x="309197" y="2019445"/>
              <a:ext cx="3989704" cy="1212850"/>
            </a:xfrm>
            <a:custGeom>
              <a:rect b="b" l="l" r="r" t="t"/>
              <a:pathLst>
                <a:path extrusionOk="0" h="1212850" w="3989704">
                  <a:moveTo>
                    <a:pt x="3989652" y="0"/>
                  </a:moveTo>
                  <a:lnTo>
                    <a:pt x="0" y="0"/>
                  </a:lnTo>
                  <a:lnTo>
                    <a:pt x="0" y="1161946"/>
                  </a:lnTo>
                  <a:lnTo>
                    <a:pt x="4008" y="1181671"/>
                  </a:lnTo>
                  <a:lnTo>
                    <a:pt x="14922" y="1197824"/>
                  </a:lnTo>
                  <a:lnTo>
                    <a:pt x="31075" y="1208738"/>
                  </a:lnTo>
                  <a:lnTo>
                    <a:pt x="50800" y="1212746"/>
                  </a:lnTo>
                  <a:lnTo>
                    <a:pt x="3938852" y="1212746"/>
                  </a:lnTo>
                  <a:lnTo>
                    <a:pt x="3958576" y="1208738"/>
                  </a:lnTo>
                  <a:lnTo>
                    <a:pt x="3974729" y="1197824"/>
                  </a:lnTo>
                  <a:lnTo>
                    <a:pt x="3985644" y="1181671"/>
                  </a:lnTo>
                  <a:lnTo>
                    <a:pt x="3989652" y="116194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50"/>
            <p:cNvSpPr/>
            <p:nvPr/>
          </p:nvSpPr>
          <p:spPr>
            <a:xfrm>
              <a:off x="4298849" y="1868679"/>
              <a:ext cx="0" cy="1332230"/>
            </a:xfrm>
            <a:custGeom>
              <a:rect b="b" l="l" r="r" t="t"/>
              <a:pathLst>
                <a:path extrusionOk="0" h="1332230" w="120000">
                  <a:moveTo>
                    <a:pt x="0" y="133176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50"/>
            <p:cNvSpPr/>
            <p:nvPr/>
          </p:nvSpPr>
          <p:spPr>
            <a:xfrm>
              <a:off x="4298849" y="185597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50"/>
            <p:cNvSpPr/>
            <p:nvPr/>
          </p:nvSpPr>
          <p:spPr>
            <a:xfrm>
              <a:off x="4298849" y="184327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50"/>
            <p:cNvSpPr/>
            <p:nvPr/>
          </p:nvSpPr>
          <p:spPr>
            <a:xfrm>
              <a:off x="4298849" y="183057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42" name="Google Shape;2042;p5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9997" y="2044751"/>
              <a:ext cx="1018275" cy="1143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3" name="Google Shape;2043;p5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10621" y="2044751"/>
              <a:ext cx="1654698" cy="11430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4" name="Google Shape;2044;p50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045" name="Google Shape;2045;p5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46" name="Google Shape;2046;p5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7" name="Google Shape;2047;p50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8" name="Google Shape;2048;p50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9" name="Google Shape;2049;p5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050" name="Google Shape;2050;p5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051" name="Google Shape;2051;p50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51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57" name="Google Shape;205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51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 graph representations</a:t>
            </a:r>
            <a:endParaRPr/>
          </a:p>
        </p:txBody>
      </p:sp>
      <p:pic>
        <p:nvPicPr>
          <p:cNvPr id="2059" name="Google Shape;205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51"/>
          <p:cNvSpPr txBox="1"/>
          <p:nvPr/>
        </p:nvSpPr>
        <p:spPr>
          <a:xfrm>
            <a:off x="502671" y="684683"/>
            <a:ext cx="132334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-76200" lvl="0" marL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i="1" lang="en-US" sz="900" u="sng">
                <a:latin typeface="Arial"/>
                <a:ea typeface="Arial"/>
                <a:cs typeface="Arial"/>
                <a:sym typeface="Arial"/>
              </a:rPr>
              <a:t>a	b	c	d	e 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b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0	1	1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e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1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61" name="Google Shape;206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2319" y="621409"/>
            <a:ext cx="1601238" cy="10971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2" name="Google Shape;2062;p51"/>
          <p:cNvGraphicFramePr/>
          <p:nvPr/>
        </p:nvGraphicFramePr>
        <p:xfrm>
          <a:off x="387480" y="1733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1717050"/>
                <a:gridCol w="1155075"/>
                <a:gridCol w="96012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Operation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Adjacency matrix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Adjacency list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∈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?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outdeg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List edges outgoing from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outdeg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1911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Memory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baseline="30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63" name="Google Shape;2063;p51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064" name="Google Shape;2064;p5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65" name="Google Shape;2065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6" name="Google Shape;2066;p51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7" name="Google Shape;2067;p51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8" name="Google Shape;2068;p5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069" name="Google Shape;2069;p5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070" name="Google Shape;2070;p51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52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76" name="Google Shape;20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52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 graph representations</a:t>
            </a:r>
            <a:endParaRPr/>
          </a:p>
        </p:txBody>
      </p:sp>
      <p:pic>
        <p:nvPicPr>
          <p:cNvPr id="2078" name="Google Shape;207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52"/>
          <p:cNvSpPr txBox="1"/>
          <p:nvPr/>
        </p:nvSpPr>
        <p:spPr>
          <a:xfrm>
            <a:off x="502671" y="684683"/>
            <a:ext cx="1323340" cy="87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-76200" lvl="0" marL="88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i="1" lang="en-US" sz="900" u="sng">
                <a:latin typeface="Arial"/>
                <a:ea typeface="Arial"/>
                <a:cs typeface="Arial"/>
                <a:sym typeface="Arial"/>
              </a:rPr>
              <a:t>a	b	c	d	e 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b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0	1	1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1	0	0	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882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e	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	1	1	1	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80" name="Google Shape;208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2319" y="621409"/>
            <a:ext cx="1601238" cy="10971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1" name="Google Shape;2081;p52"/>
          <p:cNvGraphicFramePr/>
          <p:nvPr/>
        </p:nvGraphicFramePr>
        <p:xfrm>
          <a:off x="387480" y="1733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{79426FA0-DC2D-463D-BEE8-03265EB27D5F}</a:tableStyleId>
              </a:tblPr>
              <a:tblGrid>
                <a:gridCol w="1717050"/>
                <a:gridCol w="1155075"/>
                <a:gridCol w="96012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Operation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Adjacency matrix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Adjacency list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Is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∈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 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?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outdeg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List edges outgoing from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outdeg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1911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Memory</a:t>
                      </a:r>
                      <a:endParaRPr sz="11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baseline="30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 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1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</a:t>
                      </a:r>
                      <a:r>
                        <a:rPr lang="en-US" sz="11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1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82" name="Google Shape;2082;p52"/>
          <p:cNvGrpSpPr/>
          <p:nvPr/>
        </p:nvGrpSpPr>
        <p:grpSpPr>
          <a:xfrm>
            <a:off x="309197" y="2677487"/>
            <a:ext cx="4040452" cy="607008"/>
            <a:chOff x="309197" y="2677487"/>
            <a:chExt cx="4040452" cy="607008"/>
          </a:xfrm>
        </p:grpSpPr>
        <p:sp>
          <p:nvSpPr>
            <p:cNvPr id="2083" name="Google Shape;2083;p52"/>
            <p:cNvSpPr/>
            <p:nvPr/>
          </p:nvSpPr>
          <p:spPr>
            <a:xfrm>
              <a:off x="309197" y="2677487"/>
              <a:ext cx="3989704" cy="186690"/>
            </a:xfrm>
            <a:custGeom>
              <a:rect b="b" l="l" r="r" t="t"/>
              <a:pathLst>
                <a:path extrusionOk="0" h="18668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558"/>
                  </a:lnTo>
                  <a:lnTo>
                    <a:pt x="3989652" y="18655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4" name="Google Shape;2084;p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9197" y="2851391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5" name="Google Shape;2085;p5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8" y="318289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6" name="Google Shape;2086;p5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0798" y="317019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7" name="Google Shape;2087;p5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298849" y="2721719"/>
              <a:ext cx="50800" cy="461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8" name="Google Shape;2088;p52"/>
            <p:cNvSpPr/>
            <p:nvPr/>
          </p:nvSpPr>
          <p:spPr>
            <a:xfrm>
              <a:off x="309197" y="2895672"/>
              <a:ext cx="3989704" cy="338455"/>
            </a:xfrm>
            <a:custGeom>
              <a:rect b="b" l="l" r="r" t="t"/>
              <a:pathLst>
                <a:path extrusionOk="0" h="338455" w="3989704">
                  <a:moveTo>
                    <a:pt x="3989652" y="0"/>
                  </a:moveTo>
                  <a:lnTo>
                    <a:pt x="0" y="0"/>
                  </a:lnTo>
                  <a:lnTo>
                    <a:pt x="0" y="287221"/>
                  </a:lnTo>
                  <a:lnTo>
                    <a:pt x="4008" y="306946"/>
                  </a:lnTo>
                  <a:lnTo>
                    <a:pt x="14922" y="323099"/>
                  </a:lnTo>
                  <a:lnTo>
                    <a:pt x="31075" y="334013"/>
                  </a:lnTo>
                  <a:lnTo>
                    <a:pt x="50800" y="338022"/>
                  </a:lnTo>
                  <a:lnTo>
                    <a:pt x="3938852" y="338022"/>
                  </a:lnTo>
                  <a:lnTo>
                    <a:pt x="3958576" y="334013"/>
                  </a:lnTo>
                  <a:lnTo>
                    <a:pt x="3974729" y="323099"/>
                  </a:lnTo>
                  <a:lnTo>
                    <a:pt x="3985644" y="306946"/>
                  </a:lnTo>
                  <a:lnTo>
                    <a:pt x="3989652" y="28722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52"/>
            <p:cNvSpPr/>
            <p:nvPr/>
          </p:nvSpPr>
          <p:spPr>
            <a:xfrm>
              <a:off x="4298849" y="2759819"/>
              <a:ext cx="0" cy="442595"/>
            </a:xfrm>
            <a:custGeom>
              <a:rect b="b" l="l" r="r" t="t"/>
              <a:pathLst>
                <a:path extrusionOk="0" h="442594" w="120000">
                  <a:moveTo>
                    <a:pt x="0" y="44212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52"/>
            <p:cNvSpPr/>
            <p:nvPr/>
          </p:nvSpPr>
          <p:spPr>
            <a:xfrm>
              <a:off x="4298849" y="2747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52"/>
            <p:cNvSpPr/>
            <p:nvPr/>
          </p:nvSpPr>
          <p:spPr>
            <a:xfrm>
              <a:off x="4298849" y="27344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52"/>
            <p:cNvSpPr/>
            <p:nvPr/>
          </p:nvSpPr>
          <p:spPr>
            <a:xfrm>
              <a:off x="4298849" y="27217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3" name="Google Shape;2093;p52"/>
          <p:cNvSpPr txBox="1"/>
          <p:nvPr/>
        </p:nvSpPr>
        <p:spPr>
          <a:xfrm>
            <a:off x="347298" y="2621417"/>
            <a:ext cx="3846195" cy="608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Representation note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We will be using adjacency lists to represent graphs, unless stated otherwise.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94" name="Google Shape;2094;p52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095" name="Google Shape;2095;p5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96" name="Google Shape;2096;p5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7" name="Google Shape;2097;p52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8" name="Google Shape;2098;p5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9" name="Google Shape;2099;p5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100" name="Google Shape;2100;p5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101" name="Google Shape;2101;p52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53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07" name="Google Shape;210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8" name="Google Shape;2108;p53"/>
          <p:cNvSpPr txBox="1"/>
          <p:nvPr>
            <p:ph type="title"/>
          </p:nvPr>
        </p:nvSpPr>
        <p:spPr>
          <a:xfrm>
            <a:off x="154766" y="121020"/>
            <a:ext cx="28498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very basic questions for a graph</a:t>
            </a:r>
            <a:endParaRPr/>
          </a:p>
        </p:txBody>
      </p:sp>
      <p:pic>
        <p:nvPicPr>
          <p:cNvPr id="2109" name="Google Shape;210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29" y="82299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53"/>
          <p:cNvSpPr txBox="1"/>
          <p:nvPr/>
        </p:nvSpPr>
        <p:spPr>
          <a:xfrm>
            <a:off x="472664" y="811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2" name="Google Shape;2112;p53"/>
          <p:cNvSpPr txBox="1"/>
          <p:nvPr/>
        </p:nvSpPr>
        <p:spPr>
          <a:xfrm>
            <a:off x="624390" y="768888"/>
            <a:ext cx="328930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can I reach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s-t connectivity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13" name="Google Shape;2113;p53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2114" name="Google Shape;2114;p5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15" name="Google Shape;2115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6" name="Google Shape;2116;p53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7" name="Google Shape;2117;p5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8" name="Google Shape;2118;p5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119" name="Google Shape;2119;p5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120" name="Google Shape;2120;p53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54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26" name="Google Shape;212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54"/>
          <p:cNvSpPr txBox="1"/>
          <p:nvPr>
            <p:ph type="title"/>
          </p:nvPr>
        </p:nvSpPr>
        <p:spPr>
          <a:xfrm>
            <a:off x="154766" y="121020"/>
            <a:ext cx="28498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very basic questions for a graph</a:t>
            </a:r>
            <a:endParaRPr/>
          </a:p>
        </p:txBody>
      </p:sp>
      <p:pic>
        <p:nvPicPr>
          <p:cNvPr id="2128" name="Google Shape;212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29" y="82299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54"/>
          <p:cNvSpPr txBox="1"/>
          <p:nvPr/>
        </p:nvSpPr>
        <p:spPr>
          <a:xfrm>
            <a:off x="472664" y="811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1" name="Google Shape;2131;p54"/>
          <p:cNvSpPr txBox="1"/>
          <p:nvPr/>
        </p:nvSpPr>
        <p:spPr>
          <a:xfrm>
            <a:off x="624390" y="768888"/>
            <a:ext cx="3399790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can I reach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s-t connectivity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how can I visit all the other vertices that have a path from it?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32" name="Google Shape;2132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129" y="12051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54"/>
          <p:cNvSpPr txBox="1"/>
          <p:nvPr/>
        </p:nvSpPr>
        <p:spPr>
          <a:xfrm>
            <a:off x="472664" y="11936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34" name="Google Shape;2134;p54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2135" name="Google Shape;2135;p5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36" name="Google Shape;2136;p5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7" name="Google Shape;2137;p54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8" name="Google Shape;2138;p5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9" name="Google Shape;2139;p5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140" name="Google Shape;2140;p5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141" name="Google Shape;2141;p5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55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47" name="Google Shape;21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p55"/>
          <p:cNvSpPr txBox="1"/>
          <p:nvPr>
            <p:ph type="title"/>
          </p:nvPr>
        </p:nvSpPr>
        <p:spPr>
          <a:xfrm>
            <a:off x="154766" y="121020"/>
            <a:ext cx="28498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very basic questions for a graph</a:t>
            </a:r>
            <a:endParaRPr/>
          </a:p>
        </p:txBody>
      </p:sp>
      <p:pic>
        <p:nvPicPr>
          <p:cNvPr id="2149" name="Google Shape;214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0" name="Google Shape;2150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29" y="82299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51" name="Google Shape;2151;p55"/>
          <p:cNvSpPr txBox="1"/>
          <p:nvPr/>
        </p:nvSpPr>
        <p:spPr>
          <a:xfrm>
            <a:off x="472664" y="811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52" name="Google Shape;2152;p55"/>
          <p:cNvSpPr txBox="1"/>
          <p:nvPr/>
        </p:nvSpPr>
        <p:spPr>
          <a:xfrm>
            <a:off x="624390" y="768888"/>
            <a:ext cx="3399790" cy="1128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can I reach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s-t connectivity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how can I visit all the other vertices that have a path from it?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7272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 If not, what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53" name="Google Shape;2153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129" y="12051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55"/>
          <p:cNvSpPr txBox="1"/>
          <p:nvPr/>
        </p:nvSpPr>
        <p:spPr>
          <a:xfrm>
            <a:off x="472664" y="11936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55" name="Google Shape;2155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129" y="1587213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56" name="Google Shape;2156;p55"/>
          <p:cNvSpPr txBox="1"/>
          <p:nvPr/>
        </p:nvSpPr>
        <p:spPr>
          <a:xfrm>
            <a:off x="472664" y="157574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57" name="Google Shape;2157;p55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2158" name="Google Shape;2158;p5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9" name="Google Shape;2159;p5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0" name="Google Shape;2160;p55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1" name="Google Shape;2161;p5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62" name="Google Shape;2162;p5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163" name="Google Shape;2163;p5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164" name="Google Shape;2164;p5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56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70" name="Google Shape;217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56"/>
          <p:cNvSpPr txBox="1"/>
          <p:nvPr>
            <p:ph type="title"/>
          </p:nvPr>
        </p:nvSpPr>
        <p:spPr>
          <a:xfrm>
            <a:off x="154766" y="121020"/>
            <a:ext cx="28498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very basic questions for a graph</a:t>
            </a:r>
            <a:endParaRPr/>
          </a:p>
        </p:txBody>
      </p:sp>
      <p:pic>
        <p:nvPicPr>
          <p:cNvPr id="2172" name="Google Shape;217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29" y="82299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56"/>
          <p:cNvSpPr txBox="1"/>
          <p:nvPr/>
        </p:nvSpPr>
        <p:spPr>
          <a:xfrm>
            <a:off x="472664" y="811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5" name="Google Shape;2175;p56"/>
          <p:cNvSpPr txBox="1"/>
          <p:nvPr/>
        </p:nvSpPr>
        <p:spPr>
          <a:xfrm>
            <a:off x="624390" y="768888"/>
            <a:ext cx="3399790" cy="133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can I reach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s-t connectivity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how can I visit all the other vertices that have a path from it?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7272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 If not, what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76" name="Google Shape;2176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129" y="12051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56"/>
          <p:cNvSpPr txBox="1"/>
          <p:nvPr/>
        </p:nvSpPr>
        <p:spPr>
          <a:xfrm>
            <a:off x="472664" y="11936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78" name="Google Shape;2178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129" y="1587213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79" name="Google Shape;2179;p56"/>
          <p:cNvSpPr txBox="1"/>
          <p:nvPr/>
        </p:nvSpPr>
        <p:spPr>
          <a:xfrm>
            <a:off x="472664" y="157574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80" name="Google Shape;2180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129" y="196932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56"/>
          <p:cNvSpPr txBox="1"/>
          <p:nvPr/>
        </p:nvSpPr>
        <p:spPr>
          <a:xfrm>
            <a:off x="472664" y="195784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182" name="Google Shape;2182;p56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2183" name="Google Shape;2183;p5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84" name="Google Shape;2184;p5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5" name="Google Shape;2185;p56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6" name="Google Shape;2186;p5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7" name="Google Shape;2187;p5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188" name="Google Shape;2188;p5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189" name="Google Shape;2189;p5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57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95" name="Google Shape;219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96" name="Google Shape;2196;p57"/>
          <p:cNvSpPr txBox="1"/>
          <p:nvPr>
            <p:ph type="title"/>
          </p:nvPr>
        </p:nvSpPr>
        <p:spPr>
          <a:xfrm>
            <a:off x="154766" y="121020"/>
            <a:ext cx="28498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very basic questions for a graph</a:t>
            </a:r>
            <a:endParaRPr/>
          </a:p>
        </p:txBody>
      </p:sp>
      <p:pic>
        <p:nvPicPr>
          <p:cNvPr id="2197" name="Google Shape;219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8" name="Google Shape;2198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29" y="82299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57"/>
          <p:cNvSpPr txBox="1"/>
          <p:nvPr/>
        </p:nvSpPr>
        <p:spPr>
          <a:xfrm>
            <a:off x="472664" y="811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0" name="Google Shape;2200;p57"/>
          <p:cNvSpPr txBox="1"/>
          <p:nvPr/>
        </p:nvSpPr>
        <p:spPr>
          <a:xfrm>
            <a:off x="624390" y="768888"/>
            <a:ext cx="3580765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can I reach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s-t connectivity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8542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how can I visit all the other vertices that have a path from it?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35369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 If not, what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 in weighted graph, what is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shortest distance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all the other vertices?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Single-source shortest path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01" name="Google Shape;2201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129" y="12051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57"/>
          <p:cNvSpPr txBox="1"/>
          <p:nvPr/>
        </p:nvSpPr>
        <p:spPr>
          <a:xfrm>
            <a:off x="472664" y="11936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03" name="Google Shape;2203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129" y="1587213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04" name="Google Shape;2204;p57"/>
          <p:cNvSpPr txBox="1"/>
          <p:nvPr/>
        </p:nvSpPr>
        <p:spPr>
          <a:xfrm>
            <a:off x="472664" y="157574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05" name="Google Shape;2205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129" y="196932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57"/>
          <p:cNvSpPr txBox="1"/>
          <p:nvPr/>
        </p:nvSpPr>
        <p:spPr>
          <a:xfrm>
            <a:off x="472664" y="195784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07" name="Google Shape;2207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129" y="2179353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57"/>
          <p:cNvSpPr txBox="1"/>
          <p:nvPr/>
        </p:nvSpPr>
        <p:spPr>
          <a:xfrm>
            <a:off x="472664" y="216788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09" name="Google Shape;2209;p57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2210" name="Google Shape;2210;p5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11" name="Google Shape;2211;p5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2" name="Google Shape;2212;p57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3" name="Google Shape;2213;p5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4" name="Google Shape;2214;p5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215" name="Google Shape;2215;p5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216" name="Google Shape;2216;p57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58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Graph basics 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22" name="Google Shape;222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23" name="Google Shape;2223;p58"/>
          <p:cNvSpPr txBox="1"/>
          <p:nvPr>
            <p:ph type="title"/>
          </p:nvPr>
        </p:nvSpPr>
        <p:spPr>
          <a:xfrm>
            <a:off x="154766" y="121020"/>
            <a:ext cx="28498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very basic questions for a graph</a:t>
            </a:r>
            <a:endParaRPr/>
          </a:p>
        </p:txBody>
      </p:sp>
      <p:pic>
        <p:nvPicPr>
          <p:cNvPr id="2224" name="Google Shape;222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5" name="Google Shape;222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29" y="822998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26" name="Google Shape;2226;p58"/>
          <p:cNvSpPr txBox="1"/>
          <p:nvPr/>
        </p:nvSpPr>
        <p:spPr>
          <a:xfrm>
            <a:off x="472664" y="81152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7" name="Google Shape;2227;p58"/>
          <p:cNvSpPr txBox="1"/>
          <p:nvPr/>
        </p:nvSpPr>
        <p:spPr>
          <a:xfrm>
            <a:off x="624390" y="768888"/>
            <a:ext cx="3580765" cy="21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can I reach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s-t connectivity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8542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a given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vertex, how can I visit all the other vertices that have a path from it?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35369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 If not, what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connected components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source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vertex in weighted graph, what is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shortest distance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to all the other vertices?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Single-source shortest path problem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compute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minimum spanning tree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28" name="Google Shape;2228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129" y="120510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29" name="Google Shape;2229;p58"/>
          <p:cNvSpPr txBox="1"/>
          <p:nvPr/>
        </p:nvSpPr>
        <p:spPr>
          <a:xfrm>
            <a:off x="472664" y="119363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30" name="Google Shape;2230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129" y="1587213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58"/>
          <p:cNvSpPr txBox="1"/>
          <p:nvPr/>
        </p:nvSpPr>
        <p:spPr>
          <a:xfrm>
            <a:off x="472664" y="157574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32" name="Google Shape;2232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129" y="196932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33" name="Google Shape;2233;p58"/>
          <p:cNvSpPr txBox="1"/>
          <p:nvPr/>
        </p:nvSpPr>
        <p:spPr>
          <a:xfrm>
            <a:off x="472664" y="195784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34" name="Google Shape;2234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129" y="2179353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35" name="Google Shape;2235;p58"/>
          <p:cNvSpPr txBox="1"/>
          <p:nvPr/>
        </p:nvSpPr>
        <p:spPr>
          <a:xfrm>
            <a:off x="472664" y="216788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36" name="Google Shape;2236;p5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129" y="2733535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58"/>
          <p:cNvSpPr txBox="1"/>
          <p:nvPr/>
        </p:nvSpPr>
        <p:spPr>
          <a:xfrm>
            <a:off x="472664" y="272206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38" name="Google Shape;2238;p58"/>
          <p:cNvGrpSpPr/>
          <p:nvPr/>
        </p:nvGrpSpPr>
        <p:grpSpPr>
          <a:xfrm>
            <a:off x="0" y="3329872"/>
            <a:ext cx="4608414" cy="126365"/>
            <a:chOff x="0" y="3329872"/>
            <a:chExt cx="4608414" cy="126365"/>
          </a:xfrm>
        </p:grpSpPr>
        <p:sp>
          <p:nvSpPr>
            <p:cNvPr id="2239" name="Google Shape;2239;p5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40" name="Google Shape;2240;p5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1" name="Google Shape;2241;p58"/>
            <p:cNvSpPr/>
            <p:nvPr/>
          </p:nvSpPr>
          <p:spPr>
            <a:xfrm>
              <a:off x="2303999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2" name="Google Shape;2242;p58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3" name="Google Shape;2243;p5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244" name="Google Shape;2244;p5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245" name="Google Shape;2245;p58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5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51" name="Google Shape;2251;p5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5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53" name="Google Shape;225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59"/>
          <p:cNvSpPr txBox="1"/>
          <p:nvPr/>
        </p:nvSpPr>
        <p:spPr>
          <a:xfrm>
            <a:off x="154766" y="121020"/>
            <a:ext cx="68834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55" name="Google Shape;225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6" name="Google Shape;2256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737" y="1471843"/>
            <a:ext cx="160098" cy="160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" name="Google Shape;2257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033" y="1695643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8" name="Google Shape;2258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033" y="1867717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59"/>
          <p:cNvSpPr txBox="1"/>
          <p:nvPr/>
        </p:nvSpPr>
        <p:spPr>
          <a:xfrm>
            <a:off x="350250" y="1443751"/>
            <a:ext cx="1515745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305435" lvl="0" marL="3175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1200">
                <a:solidFill>
                  <a:srgbClr val="EAEAF7"/>
                </a:solidFill>
                <a:latin typeface="Trebuchet MS"/>
                <a:ea typeface="Trebuchet MS"/>
                <a:cs typeface="Trebuchet MS"/>
                <a:sym typeface="Trebuchet MS"/>
              </a:rPr>
              <a:t>1  </a:t>
            </a:r>
            <a:r>
              <a:rPr lang="en-US" sz="1100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 </a:t>
            </a:r>
            <a:r>
              <a:rPr lang="en-US" sz="1100">
                <a:solidFill>
                  <a:srgbClr val="CCCCCC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175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60" name="Google Shape;2260;p59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261" name="Google Shape;2261;p5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2" name="Google Shape;2262;p5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3" name="Google Shape;2263;p59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4" name="Google Shape;2264;p59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5" name="Google Shape;2265;p5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266" name="Google Shape;2266;p5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267" name="Google Shape;2267;p59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6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3" name="Google Shape;2273;p6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6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75" name="Google Shape;227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60"/>
          <p:cNvSpPr txBox="1"/>
          <p:nvPr/>
        </p:nvSpPr>
        <p:spPr>
          <a:xfrm>
            <a:off x="154766" y="121020"/>
            <a:ext cx="19989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 techniques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77" name="Google Shape;227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8" name="Google Shape;2278;p60"/>
          <p:cNvGrpSpPr/>
          <p:nvPr/>
        </p:nvGrpSpPr>
        <p:grpSpPr>
          <a:xfrm>
            <a:off x="309197" y="799112"/>
            <a:ext cx="4040452" cy="641644"/>
            <a:chOff x="309197" y="799112"/>
            <a:chExt cx="4040452" cy="641644"/>
          </a:xfrm>
        </p:grpSpPr>
        <p:sp>
          <p:nvSpPr>
            <p:cNvPr id="2279" name="Google Shape;2279;p60"/>
            <p:cNvSpPr/>
            <p:nvPr/>
          </p:nvSpPr>
          <p:spPr>
            <a:xfrm>
              <a:off x="309197" y="799112"/>
              <a:ext cx="3989704" cy="186690"/>
            </a:xfrm>
            <a:custGeom>
              <a:rect b="b" l="l" r="r" t="t"/>
              <a:pathLst>
                <a:path extrusionOk="0" h="18669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558"/>
                  </a:lnTo>
                  <a:lnTo>
                    <a:pt x="3989652" y="18655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80" name="Google Shape;2280;p6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97301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1" name="Google Shape;2281;p6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33915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2" name="Google Shape;2282;p6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32645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3" name="Google Shape;2283;p6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843343"/>
              <a:ext cx="50800" cy="4958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4" name="Google Shape;2284;p60"/>
            <p:cNvSpPr/>
            <p:nvPr/>
          </p:nvSpPr>
          <p:spPr>
            <a:xfrm>
              <a:off x="309197" y="1017296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0"/>
            <p:cNvSpPr/>
            <p:nvPr/>
          </p:nvSpPr>
          <p:spPr>
            <a:xfrm>
              <a:off x="4298849" y="881443"/>
              <a:ext cx="0" cy="476884"/>
            </a:xfrm>
            <a:custGeom>
              <a:rect b="b" l="l" r="r" t="t"/>
              <a:pathLst>
                <a:path extrusionOk="0" h="476884" w="120000">
                  <a:moveTo>
                    <a:pt x="0" y="47676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0"/>
            <p:cNvSpPr/>
            <p:nvPr/>
          </p:nvSpPr>
          <p:spPr>
            <a:xfrm>
              <a:off x="4298849" y="8687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60"/>
            <p:cNvSpPr/>
            <p:nvPr/>
          </p:nvSpPr>
          <p:spPr>
            <a:xfrm>
              <a:off x="4298849" y="8560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60"/>
            <p:cNvSpPr/>
            <p:nvPr/>
          </p:nvSpPr>
          <p:spPr>
            <a:xfrm>
              <a:off x="4298849" y="8433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9" name="Google Shape;2289;p60"/>
          <p:cNvSpPr txBox="1"/>
          <p:nvPr/>
        </p:nvSpPr>
        <p:spPr>
          <a:xfrm>
            <a:off x="347298" y="735344"/>
            <a:ext cx="3762375" cy="624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graph traversal problem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and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distinguished vertex 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how do you visit 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exactly once.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90" name="Google Shape;2290;p60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291" name="Google Shape;2291;p6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92" name="Google Shape;2292;p6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3" name="Google Shape;2293;p6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4" name="Google Shape;2294;p60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5" name="Google Shape;2295;p6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296" name="Google Shape;2296;p6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297" name="Google Shape;2297;p60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23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6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3" name="Google Shape;2303;p6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6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05" name="Google Shape;230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306" name="Google Shape;2306;p61"/>
          <p:cNvSpPr txBox="1"/>
          <p:nvPr/>
        </p:nvSpPr>
        <p:spPr>
          <a:xfrm>
            <a:off x="154766" y="121020"/>
            <a:ext cx="199898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 techniques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07" name="Google Shape;230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8" name="Google Shape;2308;p61"/>
          <p:cNvGrpSpPr/>
          <p:nvPr/>
        </p:nvGrpSpPr>
        <p:grpSpPr>
          <a:xfrm>
            <a:off x="309197" y="799112"/>
            <a:ext cx="4040452" cy="641644"/>
            <a:chOff x="309197" y="799112"/>
            <a:chExt cx="4040452" cy="641644"/>
          </a:xfrm>
        </p:grpSpPr>
        <p:sp>
          <p:nvSpPr>
            <p:cNvPr id="2309" name="Google Shape;2309;p61"/>
            <p:cNvSpPr/>
            <p:nvPr/>
          </p:nvSpPr>
          <p:spPr>
            <a:xfrm>
              <a:off x="309197" y="799112"/>
              <a:ext cx="3989704" cy="186690"/>
            </a:xfrm>
            <a:custGeom>
              <a:rect b="b" l="l" r="r" t="t"/>
              <a:pathLst>
                <a:path extrusionOk="0" h="18669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558"/>
                  </a:lnTo>
                  <a:lnTo>
                    <a:pt x="3989652" y="18655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0" name="Google Shape;2310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97301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1" name="Google Shape;2311;p6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33915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2" name="Google Shape;2312;p6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32645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3" name="Google Shape;2313;p6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843343"/>
              <a:ext cx="50800" cy="4958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4" name="Google Shape;2314;p61"/>
            <p:cNvSpPr/>
            <p:nvPr/>
          </p:nvSpPr>
          <p:spPr>
            <a:xfrm>
              <a:off x="309197" y="1017296"/>
              <a:ext cx="3989704" cy="372745"/>
            </a:xfrm>
            <a:custGeom>
              <a:rect b="b" l="l" r="r" t="t"/>
              <a:pathLst>
                <a:path extrusionOk="0" h="372744" w="3989704">
                  <a:moveTo>
                    <a:pt x="3989652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3938852" y="372659"/>
                  </a:lnTo>
                  <a:lnTo>
                    <a:pt x="3958576" y="368650"/>
                  </a:lnTo>
                  <a:lnTo>
                    <a:pt x="3974729" y="357736"/>
                  </a:lnTo>
                  <a:lnTo>
                    <a:pt x="3985644" y="341583"/>
                  </a:lnTo>
                  <a:lnTo>
                    <a:pt x="3989652" y="32185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1"/>
            <p:cNvSpPr/>
            <p:nvPr/>
          </p:nvSpPr>
          <p:spPr>
            <a:xfrm>
              <a:off x="4298849" y="881443"/>
              <a:ext cx="0" cy="476884"/>
            </a:xfrm>
            <a:custGeom>
              <a:rect b="b" l="l" r="r" t="t"/>
              <a:pathLst>
                <a:path extrusionOk="0" h="476884" w="120000">
                  <a:moveTo>
                    <a:pt x="0" y="47676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1"/>
            <p:cNvSpPr/>
            <p:nvPr/>
          </p:nvSpPr>
          <p:spPr>
            <a:xfrm>
              <a:off x="4298849" y="8687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1"/>
            <p:cNvSpPr/>
            <p:nvPr/>
          </p:nvSpPr>
          <p:spPr>
            <a:xfrm>
              <a:off x="4298849" y="8560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1"/>
            <p:cNvSpPr/>
            <p:nvPr/>
          </p:nvSpPr>
          <p:spPr>
            <a:xfrm>
              <a:off x="4298849" y="843343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9" name="Google Shape;2319;p61"/>
          <p:cNvSpPr txBox="1"/>
          <p:nvPr/>
        </p:nvSpPr>
        <p:spPr>
          <a:xfrm>
            <a:off x="347298" y="735344"/>
            <a:ext cx="3762375" cy="624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graph traversal problem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and a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distinguished vertex 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how do you visit 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exactly once.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0" name="Google Shape;2320;p61"/>
          <p:cNvSpPr/>
          <p:nvPr/>
        </p:nvSpPr>
        <p:spPr>
          <a:xfrm>
            <a:off x="189197" y="1554532"/>
            <a:ext cx="2045970" cy="201930"/>
          </a:xfrm>
          <a:custGeom>
            <a:rect b="b" l="l" r="r" t="t"/>
            <a:pathLst>
              <a:path extrusionOk="0" h="201930" w="2045970">
                <a:moveTo>
                  <a:pt x="199482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2045626" y="201471"/>
                </a:lnTo>
                <a:lnTo>
                  <a:pt x="2045626" y="50800"/>
                </a:lnTo>
                <a:lnTo>
                  <a:pt x="2041618" y="31075"/>
                </a:lnTo>
                <a:lnTo>
                  <a:pt x="2030704" y="14922"/>
                </a:lnTo>
                <a:lnTo>
                  <a:pt x="2014551" y="4008"/>
                </a:lnTo>
                <a:lnTo>
                  <a:pt x="1994826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61"/>
          <p:cNvSpPr txBox="1"/>
          <p:nvPr/>
        </p:nvSpPr>
        <p:spPr>
          <a:xfrm>
            <a:off x="227298" y="1544815"/>
            <a:ext cx="1564005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Breadth-first search (BFS)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22" name="Google Shape;2322;p61"/>
          <p:cNvGrpSpPr/>
          <p:nvPr/>
        </p:nvGrpSpPr>
        <p:grpSpPr>
          <a:xfrm>
            <a:off x="189197" y="1598754"/>
            <a:ext cx="2096427" cy="1334322"/>
            <a:chOff x="189197" y="1598754"/>
            <a:chExt cx="2096427" cy="1334322"/>
          </a:xfrm>
        </p:grpSpPr>
        <p:pic>
          <p:nvPicPr>
            <p:cNvPr id="2323" name="Google Shape;2323;p6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9197" y="1743349"/>
              <a:ext cx="2045626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4" name="Google Shape;2324;p6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9998" y="283147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5" name="Google Shape;2325;p6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0798" y="2818775"/>
              <a:ext cx="1994824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6" name="Google Shape;2326;p6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234824" y="1598754"/>
              <a:ext cx="50800" cy="1232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7" name="Google Shape;2327;p61"/>
            <p:cNvSpPr/>
            <p:nvPr/>
          </p:nvSpPr>
          <p:spPr>
            <a:xfrm>
              <a:off x="189197" y="1787620"/>
              <a:ext cx="2045970" cy="1094740"/>
            </a:xfrm>
            <a:custGeom>
              <a:rect b="b" l="l" r="r" t="t"/>
              <a:pathLst>
                <a:path extrusionOk="0" h="1094739" w="2045970">
                  <a:moveTo>
                    <a:pt x="2045626" y="0"/>
                  </a:moveTo>
                  <a:lnTo>
                    <a:pt x="0" y="0"/>
                  </a:lnTo>
                  <a:lnTo>
                    <a:pt x="0" y="1043854"/>
                  </a:lnTo>
                  <a:lnTo>
                    <a:pt x="4008" y="1063579"/>
                  </a:lnTo>
                  <a:lnTo>
                    <a:pt x="14922" y="1079732"/>
                  </a:lnTo>
                  <a:lnTo>
                    <a:pt x="31075" y="1090646"/>
                  </a:lnTo>
                  <a:lnTo>
                    <a:pt x="50800" y="1094654"/>
                  </a:lnTo>
                  <a:lnTo>
                    <a:pt x="1994826" y="1094654"/>
                  </a:lnTo>
                  <a:lnTo>
                    <a:pt x="2014551" y="1090646"/>
                  </a:lnTo>
                  <a:lnTo>
                    <a:pt x="2030704" y="1079732"/>
                  </a:lnTo>
                  <a:lnTo>
                    <a:pt x="2041618" y="1063579"/>
                  </a:lnTo>
                  <a:lnTo>
                    <a:pt x="2045626" y="1043854"/>
                  </a:lnTo>
                  <a:lnTo>
                    <a:pt x="2045626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1"/>
            <p:cNvSpPr/>
            <p:nvPr/>
          </p:nvSpPr>
          <p:spPr>
            <a:xfrm>
              <a:off x="2234824" y="1636854"/>
              <a:ext cx="0" cy="1214120"/>
            </a:xfrm>
            <a:custGeom>
              <a:rect b="b" l="l" r="r" t="t"/>
              <a:pathLst>
                <a:path extrusionOk="0" h="1214120" w="120000">
                  <a:moveTo>
                    <a:pt x="0" y="121367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1"/>
            <p:cNvSpPr/>
            <p:nvPr/>
          </p:nvSpPr>
          <p:spPr>
            <a:xfrm>
              <a:off x="2234824" y="1624154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1"/>
            <p:cNvSpPr/>
            <p:nvPr/>
          </p:nvSpPr>
          <p:spPr>
            <a:xfrm>
              <a:off x="2234824" y="1611454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1"/>
            <p:cNvSpPr/>
            <p:nvPr/>
          </p:nvSpPr>
          <p:spPr>
            <a:xfrm>
              <a:off x="2234824" y="1598754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2" name="Google Shape;2332;p6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82546" y="1841350"/>
              <a:ext cx="65270" cy="652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3" name="Google Shape;2333;p6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82546" y="2223457"/>
              <a:ext cx="65270" cy="652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4" name="Google Shape;2334;p61"/>
          <p:cNvSpPr txBox="1"/>
          <p:nvPr/>
        </p:nvSpPr>
        <p:spPr>
          <a:xfrm>
            <a:off x="504390" y="1757904"/>
            <a:ext cx="1681480" cy="918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just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 with the source vertex, 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fan out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there.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7305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Finds the distance (in terms of edges) of each node from the source.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5" name="Google Shape;2335;p61"/>
          <p:cNvSpPr/>
          <p:nvPr/>
        </p:nvSpPr>
        <p:spPr>
          <a:xfrm>
            <a:off x="2373198" y="1569715"/>
            <a:ext cx="2045970" cy="201930"/>
          </a:xfrm>
          <a:custGeom>
            <a:rect b="b" l="l" r="r" t="t"/>
            <a:pathLst>
              <a:path extrusionOk="0" h="201930" w="2045970">
                <a:moveTo>
                  <a:pt x="199482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2045626" y="201471"/>
                </a:lnTo>
                <a:lnTo>
                  <a:pt x="2045626" y="50800"/>
                </a:lnTo>
                <a:lnTo>
                  <a:pt x="2041618" y="31075"/>
                </a:lnTo>
                <a:lnTo>
                  <a:pt x="2030704" y="14922"/>
                </a:lnTo>
                <a:lnTo>
                  <a:pt x="2014551" y="4008"/>
                </a:lnTo>
                <a:lnTo>
                  <a:pt x="1994826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61"/>
          <p:cNvSpPr txBox="1"/>
          <p:nvPr/>
        </p:nvSpPr>
        <p:spPr>
          <a:xfrm>
            <a:off x="2411299" y="1559997"/>
            <a:ext cx="146558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Depth-first search (DFS)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37" name="Google Shape;2337;p61"/>
          <p:cNvGrpSpPr/>
          <p:nvPr/>
        </p:nvGrpSpPr>
        <p:grpSpPr>
          <a:xfrm>
            <a:off x="2373198" y="1613938"/>
            <a:ext cx="2096427" cy="1303955"/>
            <a:chOff x="2373198" y="1613938"/>
            <a:chExt cx="2096427" cy="1303955"/>
          </a:xfrm>
        </p:grpSpPr>
        <p:pic>
          <p:nvPicPr>
            <p:cNvPr id="2338" name="Google Shape;2338;p6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373198" y="1758532"/>
              <a:ext cx="2045626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9" name="Google Shape;2339;p6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424000" y="281629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0" name="Google Shape;2340;p6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474800" y="2803592"/>
              <a:ext cx="199482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1" name="Google Shape;2341;p6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418825" y="1613938"/>
              <a:ext cx="50800" cy="12023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2" name="Google Shape;2342;p61"/>
            <p:cNvSpPr/>
            <p:nvPr/>
          </p:nvSpPr>
          <p:spPr>
            <a:xfrm>
              <a:off x="2373198" y="1802804"/>
              <a:ext cx="2045970" cy="1064895"/>
            </a:xfrm>
            <a:custGeom>
              <a:rect b="b" l="l" r="r" t="t"/>
              <a:pathLst>
                <a:path extrusionOk="0" h="1064895" w="2045970">
                  <a:moveTo>
                    <a:pt x="2045626" y="0"/>
                  </a:moveTo>
                  <a:lnTo>
                    <a:pt x="0" y="0"/>
                  </a:lnTo>
                  <a:lnTo>
                    <a:pt x="0" y="1013488"/>
                  </a:lnTo>
                  <a:lnTo>
                    <a:pt x="4008" y="1033212"/>
                  </a:lnTo>
                  <a:lnTo>
                    <a:pt x="14922" y="1049365"/>
                  </a:lnTo>
                  <a:lnTo>
                    <a:pt x="31075" y="1060280"/>
                  </a:lnTo>
                  <a:lnTo>
                    <a:pt x="50800" y="1064288"/>
                  </a:lnTo>
                  <a:lnTo>
                    <a:pt x="1994826" y="1064288"/>
                  </a:lnTo>
                  <a:lnTo>
                    <a:pt x="2014551" y="1060280"/>
                  </a:lnTo>
                  <a:lnTo>
                    <a:pt x="2030704" y="1049365"/>
                  </a:lnTo>
                  <a:lnTo>
                    <a:pt x="2041618" y="1033212"/>
                  </a:lnTo>
                  <a:lnTo>
                    <a:pt x="2045626" y="1013488"/>
                  </a:lnTo>
                  <a:lnTo>
                    <a:pt x="2045626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1"/>
            <p:cNvSpPr/>
            <p:nvPr/>
          </p:nvSpPr>
          <p:spPr>
            <a:xfrm>
              <a:off x="4418825" y="1652038"/>
              <a:ext cx="0" cy="1183640"/>
            </a:xfrm>
            <a:custGeom>
              <a:rect b="b" l="l" r="r" t="t"/>
              <a:pathLst>
                <a:path extrusionOk="0" h="1183639" w="120000">
                  <a:moveTo>
                    <a:pt x="0" y="118330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1"/>
            <p:cNvSpPr/>
            <p:nvPr/>
          </p:nvSpPr>
          <p:spPr>
            <a:xfrm>
              <a:off x="4418825" y="163933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1"/>
            <p:cNvSpPr/>
            <p:nvPr/>
          </p:nvSpPr>
          <p:spPr>
            <a:xfrm>
              <a:off x="4418825" y="162663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1"/>
            <p:cNvSpPr/>
            <p:nvPr/>
          </p:nvSpPr>
          <p:spPr>
            <a:xfrm>
              <a:off x="4418825" y="1613938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7" name="Google Shape;2347;p6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566548" y="1856532"/>
              <a:ext cx="65270" cy="652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8" name="Google Shape;2348;p6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566548" y="2582790"/>
              <a:ext cx="65270" cy="652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9" name="Google Shape;2349;p61"/>
          <p:cNvSpPr txBox="1"/>
          <p:nvPr/>
        </p:nvSpPr>
        <p:spPr>
          <a:xfrm>
            <a:off x="2688390" y="1773087"/>
            <a:ext cx="1681480" cy="109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 with the source vertex,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recursively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visit each neighbor, only backtracking when choices are exhausted.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14629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Remember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pre-order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tree traversal?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50" name="Google Shape;2350;p61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351" name="Google Shape;2351;p6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52" name="Google Shape;2352;p6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3" name="Google Shape;2353;p6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4" name="Google Shape;2354;p61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5" name="Google Shape;2355;p6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356" name="Google Shape;2356;p6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357" name="Google Shape;2357;p61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23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62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63" name="Google Shape;236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62"/>
          <p:cNvSpPr txBox="1"/>
          <p:nvPr>
            <p:ph type="ctrTitle"/>
          </p:nvPr>
        </p:nvSpPr>
        <p:spPr>
          <a:xfrm>
            <a:off x="154766" y="121020"/>
            <a:ext cx="333184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idea behind breadth first search (BFS)</a:t>
            </a:r>
            <a:endParaRPr/>
          </a:p>
        </p:txBody>
      </p:sp>
      <p:pic>
        <p:nvPicPr>
          <p:cNvPr id="2365" name="Google Shape;236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366" name="Google Shape;2366;p62"/>
          <p:cNvSpPr txBox="1"/>
          <p:nvPr/>
        </p:nvSpPr>
        <p:spPr>
          <a:xfrm>
            <a:off x="347298" y="988659"/>
            <a:ext cx="383286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undirected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and a distinguished vertex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systematically visit 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that is reachable 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67" name="Google Shape;2367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9" y="1351568"/>
            <a:ext cx="3012948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8" name="Google Shape;2368;p62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369" name="Google Shape;2369;p6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70" name="Google Shape;2370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1" name="Google Shape;2371;p62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2" name="Google Shape;2372;p6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3" name="Google Shape;2373;p6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374" name="Google Shape;2374;p6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375" name="Google Shape;2375;p62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p6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1" name="Google Shape;2381;p6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6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83" name="Google Shape;2383;p63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384" name="Google Shape;2384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5" name="Google Shape;2385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6" name="Google Shape;2386;p63"/>
          <p:cNvGrpSpPr/>
          <p:nvPr/>
        </p:nvGrpSpPr>
        <p:grpSpPr>
          <a:xfrm>
            <a:off x="309197" y="517614"/>
            <a:ext cx="4040452" cy="1661333"/>
            <a:chOff x="309197" y="517614"/>
            <a:chExt cx="4040452" cy="1661333"/>
          </a:xfrm>
        </p:grpSpPr>
        <p:sp>
          <p:nvSpPr>
            <p:cNvPr id="2387" name="Google Shape;2387;p63"/>
            <p:cNvSpPr/>
            <p:nvPr/>
          </p:nvSpPr>
          <p:spPr>
            <a:xfrm>
              <a:off x="309197" y="517614"/>
              <a:ext cx="3989704" cy="202565"/>
            </a:xfrm>
            <a:custGeom>
              <a:rect b="b" l="l" r="r" t="t"/>
              <a:pathLst>
                <a:path extrusionOk="0" h="202565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8" name="Google Shape;2388;p6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9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9" name="Google Shape;2389;p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20773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0" name="Google Shape;2390;p6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206464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1" name="Google Shape;2391;p6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2"/>
              <a:ext cx="50800" cy="151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2" name="Google Shape;2392;p63"/>
            <p:cNvSpPr/>
            <p:nvPr/>
          </p:nvSpPr>
          <p:spPr>
            <a:xfrm>
              <a:off x="309197" y="751179"/>
              <a:ext cx="3989704" cy="1377315"/>
            </a:xfrm>
            <a:custGeom>
              <a:rect b="b" l="l" r="r" t="t"/>
              <a:pathLst>
                <a:path extrusionOk="0" h="1377314" w="3989704">
                  <a:moveTo>
                    <a:pt x="3989652" y="0"/>
                  </a:moveTo>
                  <a:lnTo>
                    <a:pt x="0" y="0"/>
                  </a:lnTo>
                  <a:lnTo>
                    <a:pt x="0" y="1326166"/>
                  </a:lnTo>
                  <a:lnTo>
                    <a:pt x="4008" y="1345891"/>
                  </a:lnTo>
                  <a:lnTo>
                    <a:pt x="14922" y="1362044"/>
                  </a:lnTo>
                  <a:lnTo>
                    <a:pt x="31075" y="1372958"/>
                  </a:lnTo>
                  <a:lnTo>
                    <a:pt x="50800" y="1376967"/>
                  </a:lnTo>
                  <a:lnTo>
                    <a:pt x="3938852" y="1376967"/>
                  </a:lnTo>
                  <a:lnTo>
                    <a:pt x="3958576" y="1372958"/>
                  </a:lnTo>
                  <a:lnTo>
                    <a:pt x="3974729" y="1362044"/>
                  </a:lnTo>
                  <a:lnTo>
                    <a:pt x="3985644" y="1345891"/>
                  </a:lnTo>
                  <a:lnTo>
                    <a:pt x="3989652" y="132616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3"/>
            <p:cNvSpPr/>
            <p:nvPr/>
          </p:nvSpPr>
          <p:spPr>
            <a:xfrm>
              <a:off x="4298849" y="599932"/>
              <a:ext cx="0" cy="1496695"/>
            </a:xfrm>
            <a:custGeom>
              <a:rect b="b" l="l" r="r" t="t"/>
              <a:pathLst>
                <a:path extrusionOk="0" h="1496695" w="120000">
                  <a:moveTo>
                    <a:pt x="0" y="149646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3"/>
            <p:cNvSpPr/>
            <p:nvPr/>
          </p:nvSpPr>
          <p:spPr>
            <a:xfrm>
              <a:off x="4298849" y="5872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3"/>
            <p:cNvSpPr/>
            <p:nvPr/>
          </p:nvSpPr>
          <p:spPr>
            <a:xfrm>
              <a:off x="4298849" y="5745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3"/>
            <p:cNvSpPr/>
            <p:nvPr/>
          </p:nvSpPr>
          <p:spPr>
            <a:xfrm>
              <a:off x="4298849" y="5618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7" name="Google Shape;2397;p63"/>
          <p:cNvSpPr txBox="1"/>
          <p:nvPr/>
        </p:nvSpPr>
        <p:spPr>
          <a:xfrm>
            <a:off x="154766" y="121020"/>
            <a:ext cx="2123440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{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Ø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8" name="Google Shape;2398;p63"/>
          <p:cNvSpPr txBox="1"/>
          <p:nvPr/>
        </p:nvSpPr>
        <p:spPr>
          <a:xfrm>
            <a:off x="347298" y="1192552"/>
            <a:ext cx="9525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9" name="Google Shape;2399;p63"/>
          <p:cNvSpPr txBox="1"/>
          <p:nvPr/>
        </p:nvSpPr>
        <p:spPr>
          <a:xfrm>
            <a:off x="873003" y="1192552"/>
            <a:ext cx="216852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81089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77914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81406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23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en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400" name="Google Shape;2400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7529" y="2142798"/>
            <a:ext cx="3012947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1" name="Google Shape;2401;p63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402" name="Google Shape;2402;p6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03" name="Google Shape;2403;p6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4" name="Google Shape;2404;p63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5" name="Google Shape;2405;p63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6" name="Google Shape;2406;p6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407" name="Google Shape;2407;p6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408" name="Google Shape;2408;p63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6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4" name="Google Shape;2414;p6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6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416" name="Google Shape;2416;p64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417" name="Google Shape;2417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8" name="Google Shape;241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9" name="Google Shape;2419;p64"/>
          <p:cNvGrpSpPr/>
          <p:nvPr/>
        </p:nvGrpSpPr>
        <p:grpSpPr>
          <a:xfrm>
            <a:off x="309197" y="517614"/>
            <a:ext cx="4040452" cy="1661333"/>
            <a:chOff x="309197" y="517614"/>
            <a:chExt cx="4040452" cy="1661333"/>
          </a:xfrm>
        </p:grpSpPr>
        <p:sp>
          <p:nvSpPr>
            <p:cNvPr id="2420" name="Google Shape;2420;p64"/>
            <p:cNvSpPr/>
            <p:nvPr/>
          </p:nvSpPr>
          <p:spPr>
            <a:xfrm>
              <a:off x="309197" y="517614"/>
              <a:ext cx="3989704" cy="202565"/>
            </a:xfrm>
            <a:custGeom>
              <a:rect b="b" l="l" r="r" t="t"/>
              <a:pathLst>
                <a:path extrusionOk="0" h="202565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1" name="Google Shape;2421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9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2" name="Google Shape;2422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20773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3" name="Google Shape;2423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206464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4" name="Google Shape;2424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2"/>
              <a:ext cx="50800" cy="151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5" name="Google Shape;2425;p64"/>
            <p:cNvSpPr/>
            <p:nvPr/>
          </p:nvSpPr>
          <p:spPr>
            <a:xfrm>
              <a:off x="309197" y="751179"/>
              <a:ext cx="3989704" cy="1377315"/>
            </a:xfrm>
            <a:custGeom>
              <a:rect b="b" l="l" r="r" t="t"/>
              <a:pathLst>
                <a:path extrusionOk="0" h="1377314" w="3989704">
                  <a:moveTo>
                    <a:pt x="3989652" y="0"/>
                  </a:moveTo>
                  <a:lnTo>
                    <a:pt x="0" y="0"/>
                  </a:lnTo>
                  <a:lnTo>
                    <a:pt x="0" y="1326166"/>
                  </a:lnTo>
                  <a:lnTo>
                    <a:pt x="4008" y="1345891"/>
                  </a:lnTo>
                  <a:lnTo>
                    <a:pt x="14922" y="1362044"/>
                  </a:lnTo>
                  <a:lnTo>
                    <a:pt x="31075" y="1372958"/>
                  </a:lnTo>
                  <a:lnTo>
                    <a:pt x="50800" y="1376967"/>
                  </a:lnTo>
                  <a:lnTo>
                    <a:pt x="3938852" y="1376967"/>
                  </a:lnTo>
                  <a:lnTo>
                    <a:pt x="3958576" y="1372958"/>
                  </a:lnTo>
                  <a:lnTo>
                    <a:pt x="3974729" y="1362044"/>
                  </a:lnTo>
                  <a:lnTo>
                    <a:pt x="3985644" y="1345891"/>
                  </a:lnTo>
                  <a:lnTo>
                    <a:pt x="3989652" y="132616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4"/>
            <p:cNvSpPr/>
            <p:nvPr/>
          </p:nvSpPr>
          <p:spPr>
            <a:xfrm>
              <a:off x="4298849" y="599932"/>
              <a:ext cx="0" cy="1496695"/>
            </a:xfrm>
            <a:custGeom>
              <a:rect b="b" l="l" r="r" t="t"/>
              <a:pathLst>
                <a:path extrusionOk="0" h="1496695" w="120000">
                  <a:moveTo>
                    <a:pt x="0" y="149646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4"/>
            <p:cNvSpPr/>
            <p:nvPr/>
          </p:nvSpPr>
          <p:spPr>
            <a:xfrm>
              <a:off x="4298849" y="5872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4"/>
            <p:cNvSpPr/>
            <p:nvPr/>
          </p:nvSpPr>
          <p:spPr>
            <a:xfrm>
              <a:off x="4298849" y="5745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4"/>
            <p:cNvSpPr/>
            <p:nvPr/>
          </p:nvSpPr>
          <p:spPr>
            <a:xfrm>
              <a:off x="4298849" y="5618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0" name="Google Shape;2430;p64"/>
          <p:cNvSpPr txBox="1"/>
          <p:nvPr/>
        </p:nvSpPr>
        <p:spPr>
          <a:xfrm>
            <a:off x="154766" y="121020"/>
            <a:ext cx="2123440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{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Ø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1" name="Google Shape;2431;p64"/>
          <p:cNvSpPr txBox="1"/>
          <p:nvPr/>
        </p:nvSpPr>
        <p:spPr>
          <a:xfrm>
            <a:off x="347298" y="1192552"/>
            <a:ext cx="9525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2" name="Google Shape;2432;p64"/>
          <p:cNvSpPr txBox="1"/>
          <p:nvPr/>
        </p:nvSpPr>
        <p:spPr>
          <a:xfrm>
            <a:off x="873003" y="1192552"/>
            <a:ext cx="216852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81089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77914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81406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23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en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433" name="Google Shape;2433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243" y="2142798"/>
            <a:ext cx="3017520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4" name="Google Shape;2434;p64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435" name="Google Shape;2435;p6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36" name="Google Shape;2436;p6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7" name="Google Shape;2437;p6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8" name="Google Shape;2438;p64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39" name="Google Shape;2439;p6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440" name="Google Shape;2440;p6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441" name="Google Shape;2441;p64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6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7" name="Google Shape;2447;p6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6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449" name="Google Shape;2449;p65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450" name="Google Shape;2450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1" name="Google Shape;2451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2" name="Google Shape;2452;p65"/>
          <p:cNvGrpSpPr/>
          <p:nvPr/>
        </p:nvGrpSpPr>
        <p:grpSpPr>
          <a:xfrm>
            <a:off x="309197" y="517614"/>
            <a:ext cx="4040452" cy="1661333"/>
            <a:chOff x="309197" y="517614"/>
            <a:chExt cx="4040452" cy="1661333"/>
          </a:xfrm>
        </p:grpSpPr>
        <p:sp>
          <p:nvSpPr>
            <p:cNvPr id="2453" name="Google Shape;2453;p65"/>
            <p:cNvSpPr/>
            <p:nvPr/>
          </p:nvSpPr>
          <p:spPr>
            <a:xfrm>
              <a:off x="309197" y="517614"/>
              <a:ext cx="3989704" cy="202565"/>
            </a:xfrm>
            <a:custGeom>
              <a:rect b="b" l="l" r="r" t="t"/>
              <a:pathLst>
                <a:path extrusionOk="0" h="202565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54" name="Google Shape;2454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9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5" name="Google Shape;2455;p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20773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6" name="Google Shape;2456;p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206464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7" name="Google Shape;2457;p6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2"/>
              <a:ext cx="50800" cy="151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8" name="Google Shape;2458;p65"/>
            <p:cNvSpPr/>
            <p:nvPr/>
          </p:nvSpPr>
          <p:spPr>
            <a:xfrm>
              <a:off x="309197" y="751179"/>
              <a:ext cx="3989704" cy="1377315"/>
            </a:xfrm>
            <a:custGeom>
              <a:rect b="b" l="l" r="r" t="t"/>
              <a:pathLst>
                <a:path extrusionOk="0" h="1377314" w="3989704">
                  <a:moveTo>
                    <a:pt x="3989652" y="0"/>
                  </a:moveTo>
                  <a:lnTo>
                    <a:pt x="0" y="0"/>
                  </a:lnTo>
                  <a:lnTo>
                    <a:pt x="0" y="1326166"/>
                  </a:lnTo>
                  <a:lnTo>
                    <a:pt x="4008" y="1345891"/>
                  </a:lnTo>
                  <a:lnTo>
                    <a:pt x="14922" y="1362044"/>
                  </a:lnTo>
                  <a:lnTo>
                    <a:pt x="31075" y="1372958"/>
                  </a:lnTo>
                  <a:lnTo>
                    <a:pt x="50800" y="1376967"/>
                  </a:lnTo>
                  <a:lnTo>
                    <a:pt x="3938852" y="1376967"/>
                  </a:lnTo>
                  <a:lnTo>
                    <a:pt x="3958576" y="1372958"/>
                  </a:lnTo>
                  <a:lnTo>
                    <a:pt x="3974729" y="1362044"/>
                  </a:lnTo>
                  <a:lnTo>
                    <a:pt x="3985644" y="1345891"/>
                  </a:lnTo>
                  <a:lnTo>
                    <a:pt x="3989652" y="132616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4298849" y="599932"/>
              <a:ext cx="0" cy="1496695"/>
            </a:xfrm>
            <a:custGeom>
              <a:rect b="b" l="l" r="r" t="t"/>
              <a:pathLst>
                <a:path extrusionOk="0" h="1496695" w="120000">
                  <a:moveTo>
                    <a:pt x="0" y="149646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4298849" y="5872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4298849" y="5745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4298849" y="5618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3" name="Google Shape;2463;p65"/>
          <p:cNvSpPr txBox="1"/>
          <p:nvPr/>
        </p:nvSpPr>
        <p:spPr>
          <a:xfrm>
            <a:off x="154766" y="121020"/>
            <a:ext cx="2123440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{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Ø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4" name="Google Shape;2464;p65"/>
          <p:cNvSpPr txBox="1"/>
          <p:nvPr/>
        </p:nvSpPr>
        <p:spPr>
          <a:xfrm>
            <a:off x="347298" y="1192552"/>
            <a:ext cx="9525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5" name="Google Shape;2465;p65"/>
          <p:cNvSpPr txBox="1"/>
          <p:nvPr/>
        </p:nvSpPr>
        <p:spPr>
          <a:xfrm>
            <a:off x="873003" y="1192552"/>
            <a:ext cx="216852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81089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77914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81406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23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en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466" name="Google Shape;2466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243" y="2142798"/>
            <a:ext cx="3017520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7" name="Google Shape;2467;p65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468" name="Google Shape;2468;p6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9" name="Google Shape;2469;p6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0" name="Google Shape;2470;p6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1" name="Google Shape;2471;p65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2" name="Google Shape;2472;p6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473" name="Google Shape;2473;p6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474" name="Google Shape;2474;p65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8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479;p6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0" name="Google Shape;2480;p6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6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482" name="Google Shape;2482;p66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483" name="Google Shape;2483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4" name="Google Shape;2484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5" name="Google Shape;2485;p66"/>
          <p:cNvGrpSpPr/>
          <p:nvPr/>
        </p:nvGrpSpPr>
        <p:grpSpPr>
          <a:xfrm>
            <a:off x="309197" y="517614"/>
            <a:ext cx="4040452" cy="1661333"/>
            <a:chOff x="309197" y="517614"/>
            <a:chExt cx="4040452" cy="1661333"/>
          </a:xfrm>
        </p:grpSpPr>
        <p:sp>
          <p:nvSpPr>
            <p:cNvPr id="2486" name="Google Shape;2486;p66"/>
            <p:cNvSpPr/>
            <p:nvPr/>
          </p:nvSpPr>
          <p:spPr>
            <a:xfrm>
              <a:off x="309197" y="517614"/>
              <a:ext cx="3989704" cy="202565"/>
            </a:xfrm>
            <a:custGeom>
              <a:rect b="b" l="l" r="r" t="t"/>
              <a:pathLst>
                <a:path extrusionOk="0" h="202565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87" name="Google Shape;2487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9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8" name="Google Shape;2488;p6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20773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9" name="Google Shape;2489;p6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206464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0" name="Google Shape;2490;p6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2"/>
              <a:ext cx="50800" cy="151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1" name="Google Shape;2491;p66"/>
            <p:cNvSpPr/>
            <p:nvPr/>
          </p:nvSpPr>
          <p:spPr>
            <a:xfrm>
              <a:off x="309197" y="751179"/>
              <a:ext cx="3989704" cy="1377315"/>
            </a:xfrm>
            <a:custGeom>
              <a:rect b="b" l="l" r="r" t="t"/>
              <a:pathLst>
                <a:path extrusionOk="0" h="1377314" w="3989704">
                  <a:moveTo>
                    <a:pt x="3989652" y="0"/>
                  </a:moveTo>
                  <a:lnTo>
                    <a:pt x="0" y="0"/>
                  </a:lnTo>
                  <a:lnTo>
                    <a:pt x="0" y="1326166"/>
                  </a:lnTo>
                  <a:lnTo>
                    <a:pt x="4008" y="1345891"/>
                  </a:lnTo>
                  <a:lnTo>
                    <a:pt x="14922" y="1362044"/>
                  </a:lnTo>
                  <a:lnTo>
                    <a:pt x="31075" y="1372958"/>
                  </a:lnTo>
                  <a:lnTo>
                    <a:pt x="50800" y="1376967"/>
                  </a:lnTo>
                  <a:lnTo>
                    <a:pt x="3938852" y="1376967"/>
                  </a:lnTo>
                  <a:lnTo>
                    <a:pt x="3958576" y="1372958"/>
                  </a:lnTo>
                  <a:lnTo>
                    <a:pt x="3974729" y="1362044"/>
                  </a:lnTo>
                  <a:lnTo>
                    <a:pt x="3985644" y="1345891"/>
                  </a:lnTo>
                  <a:lnTo>
                    <a:pt x="3989652" y="132616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6"/>
            <p:cNvSpPr/>
            <p:nvPr/>
          </p:nvSpPr>
          <p:spPr>
            <a:xfrm>
              <a:off x="4298849" y="599932"/>
              <a:ext cx="0" cy="1496695"/>
            </a:xfrm>
            <a:custGeom>
              <a:rect b="b" l="l" r="r" t="t"/>
              <a:pathLst>
                <a:path extrusionOk="0" h="1496695" w="120000">
                  <a:moveTo>
                    <a:pt x="0" y="149646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6"/>
            <p:cNvSpPr/>
            <p:nvPr/>
          </p:nvSpPr>
          <p:spPr>
            <a:xfrm>
              <a:off x="4298849" y="5872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6"/>
            <p:cNvSpPr/>
            <p:nvPr/>
          </p:nvSpPr>
          <p:spPr>
            <a:xfrm>
              <a:off x="4298849" y="5745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6"/>
            <p:cNvSpPr/>
            <p:nvPr/>
          </p:nvSpPr>
          <p:spPr>
            <a:xfrm>
              <a:off x="4298849" y="5618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6" name="Google Shape;2496;p66"/>
          <p:cNvSpPr txBox="1"/>
          <p:nvPr/>
        </p:nvSpPr>
        <p:spPr>
          <a:xfrm>
            <a:off x="154766" y="121020"/>
            <a:ext cx="2123440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{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Ø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7" name="Google Shape;2497;p66"/>
          <p:cNvSpPr txBox="1"/>
          <p:nvPr/>
        </p:nvSpPr>
        <p:spPr>
          <a:xfrm>
            <a:off x="347298" y="1192552"/>
            <a:ext cx="9525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8" name="Google Shape;2498;p66"/>
          <p:cNvSpPr txBox="1"/>
          <p:nvPr/>
        </p:nvSpPr>
        <p:spPr>
          <a:xfrm>
            <a:off x="873003" y="1192552"/>
            <a:ext cx="216852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81089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77914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81406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23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en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499" name="Google Shape;2499;p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243" y="2142798"/>
            <a:ext cx="3017520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0" name="Google Shape;2500;p6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501" name="Google Shape;2501;p6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02" name="Google Shape;2502;p6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3" name="Google Shape;2503;p6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4" name="Google Shape;2504;p66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5" name="Google Shape;2505;p6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506" name="Google Shape;2506;p6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507" name="Google Shape;2507;p66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6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13" name="Google Shape;2513;p6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6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515" name="Google Shape;2515;p67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516" name="Google Shape;2516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7" name="Google Shape;2517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8" name="Google Shape;2518;p67"/>
          <p:cNvGrpSpPr/>
          <p:nvPr/>
        </p:nvGrpSpPr>
        <p:grpSpPr>
          <a:xfrm>
            <a:off x="309197" y="517614"/>
            <a:ext cx="4040452" cy="1661333"/>
            <a:chOff x="309197" y="517614"/>
            <a:chExt cx="4040452" cy="1661333"/>
          </a:xfrm>
        </p:grpSpPr>
        <p:sp>
          <p:nvSpPr>
            <p:cNvPr id="2519" name="Google Shape;2519;p67"/>
            <p:cNvSpPr/>
            <p:nvPr/>
          </p:nvSpPr>
          <p:spPr>
            <a:xfrm>
              <a:off x="309197" y="517614"/>
              <a:ext cx="3989704" cy="202565"/>
            </a:xfrm>
            <a:custGeom>
              <a:rect b="b" l="l" r="r" t="t"/>
              <a:pathLst>
                <a:path extrusionOk="0" h="202565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20" name="Google Shape;2520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70691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1" name="Google Shape;2521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20773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2" name="Google Shape;2522;p6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2064646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3" name="Google Shape;2523;p6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561832"/>
              <a:ext cx="50800" cy="151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4" name="Google Shape;2524;p67"/>
            <p:cNvSpPr/>
            <p:nvPr/>
          </p:nvSpPr>
          <p:spPr>
            <a:xfrm>
              <a:off x="309197" y="751179"/>
              <a:ext cx="3989704" cy="1377315"/>
            </a:xfrm>
            <a:custGeom>
              <a:rect b="b" l="l" r="r" t="t"/>
              <a:pathLst>
                <a:path extrusionOk="0" h="1377314" w="3989704">
                  <a:moveTo>
                    <a:pt x="3989652" y="0"/>
                  </a:moveTo>
                  <a:lnTo>
                    <a:pt x="0" y="0"/>
                  </a:lnTo>
                  <a:lnTo>
                    <a:pt x="0" y="1326166"/>
                  </a:lnTo>
                  <a:lnTo>
                    <a:pt x="4008" y="1345891"/>
                  </a:lnTo>
                  <a:lnTo>
                    <a:pt x="14922" y="1362044"/>
                  </a:lnTo>
                  <a:lnTo>
                    <a:pt x="31075" y="1372958"/>
                  </a:lnTo>
                  <a:lnTo>
                    <a:pt x="50800" y="1376967"/>
                  </a:lnTo>
                  <a:lnTo>
                    <a:pt x="3938852" y="1376967"/>
                  </a:lnTo>
                  <a:lnTo>
                    <a:pt x="3958576" y="1372958"/>
                  </a:lnTo>
                  <a:lnTo>
                    <a:pt x="3974729" y="1362044"/>
                  </a:lnTo>
                  <a:lnTo>
                    <a:pt x="3985644" y="1345891"/>
                  </a:lnTo>
                  <a:lnTo>
                    <a:pt x="3989652" y="132616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7"/>
            <p:cNvSpPr/>
            <p:nvPr/>
          </p:nvSpPr>
          <p:spPr>
            <a:xfrm>
              <a:off x="4298849" y="599932"/>
              <a:ext cx="0" cy="1496695"/>
            </a:xfrm>
            <a:custGeom>
              <a:rect b="b" l="l" r="r" t="t"/>
              <a:pathLst>
                <a:path extrusionOk="0" h="1496695" w="120000">
                  <a:moveTo>
                    <a:pt x="0" y="149646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7"/>
            <p:cNvSpPr/>
            <p:nvPr/>
          </p:nvSpPr>
          <p:spPr>
            <a:xfrm>
              <a:off x="4298849" y="5872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7"/>
            <p:cNvSpPr/>
            <p:nvPr/>
          </p:nvSpPr>
          <p:spPr>
            <a:xfrm>
              <a:off x="4298849" y="5745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7"/>
            <p:cNvSpPr/>
            <p:nvPr/>
          </p:nvSpPr>
          <p:spPr>
            <a:xfrm>
              <a:off x="4298849" y="561832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9" name="Google Shape;2529;p67"/>
          <p:cNvSpPr txBox="1"/>
          <p:nvPr/>
        </p:nvSpPr>
        <p:spPr>
          <a:xfrm>
            <a:off x="154766" y="121020"/>
            <a:ext cx="2123440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{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Ø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0" name="Google Shape;2530;p67"/>
          <p:cNvSpPr txBox="1"/>
          <p:nvPr/>
        </p:nvSpPr>
        <p:spPr>
          <a:xfrm>
            <a:off x="347298" y="1192552"/>
            <a:ext cx="9525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1" name="Google Shape;2531;p67"/>
          <p:cNvSpPr txBox="1"/>
          <p:nvPr/>
        </p:nvSpPr>
        <p:spPr>
          <a:xfrm>
            <a:off x="873003" y="1192552"/>
            <a:ext cx="216852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81089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77914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81406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23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en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532" name="Google Shape;2532;p6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243" y="2142798"/>
            <a:ext cx="3017520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3" name="Google Shape;2533;p67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534" name="Google Shape;2534;p6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35" name="Google Shape;2535;p6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6" name="Google Shape;2536;p6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7" name="Google Shape;2537;p67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8" name="Google Shape;2538;p6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539" name="Google Shape;2539;p6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540" name="Google Shape;2540;p67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6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46" name="Google Shape;2546;p6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6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548" name="Google Shape;2548;p68"/>
          <p:cNvGrpSpPr/>
          <p:nvPr/>
        </p:nvGrpSpPr>
        <p:grpSpPr>
          <a:xfrm>
            <a:off x="0" y="123595"/>
            <a:ext cx="4607999" cy="308726"/>
            <a:chOff x="0" y="123595"/>
            <a:chExt cx="4607999" cy="308726"/>
          </a:xfrm>
        </p:grpSpPr>
        <p:pic>
          <p:nvPicPr>
            <p:cNvPr id="2549" name="Google Shape;2549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0" name="Google Shape;2550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1" name="Google Shape;2551;p68"/>
          <p:cNvGrpSpPr/>
          <p:nvPr/>
        </p:nvGrpSpPr>
        <p:grpSpPr>
          <a:xfrm>
            <a:off x="309197" y="695139"/>
            <a:ext cx="4040452" cy="1661332"/>
            <a:chOff x="309197" y="695139"/>
            <a:chExt cx="4040452" cy="1661332"/>
          </a:xfrm>
        </p:grpSpPr>
        <p:sp>
          <p:nvSpPr>
            <p:cNvPr id="2552" name="Google Shape;2552;p68"/>
            <p:cNvSpPr/>
            <p:nvPr/>
          </p:nvSpPr>
          <p:spPr>
            <a:xfrm>
              <a:off x="309197" y="695139"/>
              <a:ext cx="3989704" cy="202565"/>
            </a:xfrm>
            <a:custGeom>
              <a:rect b="b" l="l" r="r" t="t"/>
              <a:pathLst>
                <a:path extrusionOk="0" h="202565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53" name="Google Shape;2553;p6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84436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4" name="Google Shape;2554;p6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225487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5" name="Google Shape;2555;p6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224217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6" name="Google Shape;2556;p6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739357"/>
              <a:ext cx="50800" cy="1515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7" name="Google Shape;2557;p68"/>
            <p:cNvSpPr/>
            <p:nvPr/>
          </p:nvSpPr>
          <p:spPr>
            <a:xfrm>
              <a:off x="309197" y="928704"/>
              <a:ext cx="3989704" cy="1377315"/>
            </a:xfrm>
            <a:custGeom>
              <a:rect b="b" l="l" r="r" t="t"/>
              <a:pathLst>
                <a:path extrusionOk="0" h="1377314" w="3989704">
                  <a:moveTo>
                    <a:pt x="3989652" y="0"/>
                  </a:moveTo>
                  <a:lnTo>
                    <a:pt x="0" y="0"/>
                  </a:lnTo>
                  <a:lnTo>
                    <a:pt x="0" y="1326166"/>
                  </a:lnTo>
                  <a:lnTo>
                    <a:pt x="4008" y="1345891"/>
                  </a:lnTo>
                  <a:lnTo>
                    <a:pt x="14922" y="1362044"/>
                  </a:lnTo>
                  <a:lnTo>
                    <a:pt x="31075" y="1372958"/>
                  </a:lnTo>
                  <a:lnTo>
                    <a:pt x="50800" y="1376967"/>
                  </a:lnTo>
                  <a:lnTo>
                    <a:pt x="3938852" y="1376967"/>
                  </a:lnTo>
                  <a:lnTo>
                    <a:pt x="3958576" y="1372958"/>
                  </a:lnTo>
                  <a:lnTo>
                    <a:pt x="3974729" y="1362044"/>
                  </a:lnTo>
                  <a:lnTo>
                    <a:pt x="3985644" y="1345891"/>
                  </a:lnTo>
                  <a:lnTo>
                    <a:pt x="3989652" y="132616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8"/>
            <p:cNvSpPr/>
            <p:nvPr/>
          </p:nvSpPr>
          <p:spPr>
            <a:xfrm>
              <a:off x="4298849" y="777457"/>
              <a:ext cx="0" cy="1496695"/>
            </a:xfrm>
            <a:custGeom>
              <a:rect b="b" l="l" r="r" t="t"/>
              <a:pathLst>
                <a:path extrusionOk="0" h="1496695" w="120000">
                  <a:moveTo>
                    <a:pt x="0" y="149646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8"/>
            <p:cNvSpPr/>
            <p:nvPr/>
          </p:nvSpPr>
          <p:spPr>
            <a:xfrm>
              <a:off x="4298849" y="76475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8"/>
            <p:cNvSpPr/>
            <p:nvPr/>
          </p:nvSpPr>
          <p:spPr>
            <a:xfrm>
              <a:off x="4298849" y="75205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8"/>
            <p:cNvSpPr/>
            <p:nvPr/>
          </p:nvSpPr>
          <p:spPr>
            <a:xfrm>
              <a:off x="4298849" y="73935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2" name="Google Shape;2562;p68"/>
          <p:cNvSpPr txBox="1"/>
          <p:nvPr/>
        </p:nvSpPr>
        <p:spPr>
          <a:xfrm>
            <a:off x="154766" y="121020"/>
            <a:ext cx="2123440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{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Ø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63" name="Google Shape;2563;p68"/>
          <p:cNvSpPr txBox="1"/>
          <p:nvPr/>
        </p:nvSpPr>
        <p:spPr>
          <a:xfrm>
            <a:off x="347298" y="1370077"/>
            <a:ext cx="9525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64" name="Google Shape;2564;p68"/>
          <p:cNvSpPr txBox="1"/>
          <p:nvPr/>
        </p:nvSpPr>
        <p:spPr>
          <a:xfrm>
            <a:off x="873003" y="1370077"/>
            <a:ext cx="2168525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81089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77914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81406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23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en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565" name="Google Shape;2565;p68"/>
          <p:cNvGrpSpPr/>
          <p:nvPr/>
        </p:nvGrpSpPr>
        <p:grpSpPr>
          <a:xfrm>
            <a:off x="309198" y="2573812"/>
            <a:ext cx="4040453" cy="477266"/>
            <a:chOff x="309198" y="2573812"/>
            <a:chExt cx="4040453" cy="477266"/>
          </a:xfrm>
        </p:grpSpPr>
        <p:sp>
          <p:nvSpPr>
            <p:cNvPr id="2566" name="Google Shape;2566;p68"/>
            <p:cNvSpPr/>
            <p:nvPr/>
          </p:nvSpPr>
          <p:spPr>
            <a:xfrm>
              <a:off x="309198" y="2573812"/>
              <a:ext cx="3989704" cy="186690"/>
            </a:xfrm>
            <a:custGeom>
              <a:rect b="b" l="l" r="r" t="t"/>
              <a:pathLst>
                <a:path extrusionOk="0" h="18668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558"/>
                  </a:lnTo>
                  <a:lnTo>
                    <a:pt x="3989652" y="18655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7" name="Google Shape;2567;p6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8" y="2747716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8" name="Google Shape;2568;p6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9" y="294947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9" name="Google Shape;2569;p6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9" y="2936777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0" name="Google Shape;2570;p6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51" y="2618045"/>
              <a:ext cx="50800" cy="331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1" name="Google Shape;2571;p68"/>
            <p:cNvSpPr/>
            <p:nvPr/>
          </p:nvSpPr>
          <p:spPr>
            <a:xfrm>
              <a:off x="309198" y="2791998"/>
              <a:ext cx="3989704" cy="208279"/>
            </a:xfrm>
            <a:custGeom>
              <a:rect b="b" l="l" r="r" t="t"/>
              <a:pathLst>
                <a:path extrusionOk="0" h="208280" w="3989704">
                  <a:moveTo>
                    <a:pt x="3989652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3938852" y="208279"/>
                  </a:lnTo>
                  <a:lnTo>
                    <a:pt x="3958576" y="204270"/>
                  </a:lnTo>
                  <a:lnTo>
                    <a:pt x="3974729" y="193356"/>
                  </a:lnTo>
                  <a:lnTo>
                    <a:pt x="3985644" y="177203"/>
                  </a:lnTo>
                  <a:lnTo>
                    <a:pt x="3989652" y="15747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8"/>
            <p:cNvSpPr/>
            <p:nvPr/>
          </p:nvSpPr>
          <p:spPr>
            <a:xfrm>
              <a:off x="4298851" y="2656145"/>
              <a:ext cx="0" cy="312420"/>
            </a:xfrm>
            <a:custGeom>
              <a:rect b="b" l="l" r="r" t="t"/>
              <a:pathLst>
                <a:path extrusionOk="0" h="312419" w="120000">
                  <a:moveTo>
                    <a:pt x="0" y="31238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8"/>
            <p:cNvSpPr/>
            <p:nvPr/>
          </p:nvSpPr>
          <p:spPr>
            <a:xfrm>
              <a:off x="4298851" y="264344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8"/>
            <p:cNvSpPr/>
            <p:nvPr/>
          </p:nvSpPr>
          <p:spPr>
            <a:xfrm>
              <a:off x="4298851" y="263074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8"/>
            <p:cNvSpPr/>
            <p:nvPr/>
          </p:nvSpPr>
          <p:spPr>
            <a:xfrm>
              <a:off x="4298851" y="2618045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6" name="Google Shape;2576;p68"/>
          <p:cNvSpPr txBox="1"/>
          <p:nvPr/>
        </p:nvSpPr>
        <p:spPr>
          <a:xfrm>
            <a:off x="347299" y="2510044"/>
            <a:ext cx="119570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Time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+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577" name="Google Shape;2577;p68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578" name="Google Shape;2578;p6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79" name="Google Shape;2579;p6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0" name="Google Shape;2580;p6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1" name="Google Shape;2581;p68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2" name="Google Shape;2582;p6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583" name="Google Shape;2583;p6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584" name="Google Shape;2584;p68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69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90" name="Google Shape;25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591" name="Google Shape;2591;p69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does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this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/>
              <a:t>algorithm tell us?</a:t>
            </a:r>
            <a:endParaRPr/>
          </a:p>
        </p:txBody>
      </p:sp>
      <p:pic>
        <p:nvPicPr>
          <p:cNvPr id="2592" name="Google Shape;259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3" name="Google Shape;2593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844094"/>
            <a:ext cx="2162556" cy="106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4" name="Google Shape;2594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2094130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95" name="Google Shape;2595;p69"/>
          <p:cNvSpPr txBox="1"/>
          <p:nvPr/>
        </p:nvSpPr>
        <p:spPr>
          <a:xfrm>
            <a:off x="624390" y="2010685"/>
            <a:ext cx="3265804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This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connected since BFS visits all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596" name="Google Shape;2596;p69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597" name="Google Shape;2597;p6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98" name="Google Shape;2598;p6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9" name="Google Shape;2599;p69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69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1" name="Google Shape;2601;p6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602" name="Google Shape;2602;p6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603" name="Google Shape;2603;p69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70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09" name="Google Shape;260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10" name="Google Shape;2610;p70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does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this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/>
              <a:t>algorithm tell us?</a:t>
            </a:r>
            <a:endParaRPr/>
          </a:p>
        </p:txBody>
      </p:sp>
      <p:pic>
        <p:nvPicPr>
          <p:cNvPr id="2611" name="Google Shape;2611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2" name="Google Shape;2612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844094"/>
            <a:ext cx="2162556" cy="106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3" name="Google Shape;2613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2094130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70"/>
          <p:cNvSpPr txBox="1"/>
          <p:nvPr/>
        </p:nvSpPr>
        <p:spPr>
          <a:xfrm>
            <a:off x="624390" y="2010685"/>
            <a:ext cx="3443604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1828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This graph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connected since BFS visits all vertices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starting from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The minimum number of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hops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or edges between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any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15" name="Google Shape;2615;p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2476238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6" name="Google Shape;2616;p70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617" name="Google Shape;2617;p7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18" name="Google Shape;2618;p7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9" name="Google Shape;2619;p70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0" name="Google Shape;2620;p70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21" name="Google Shape;2621;p7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622" name="Google Shape;2622;p7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623" name="Google Shape;2623;p70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p71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29" name="Google Shape;262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30" name="Google Shape;2630;p71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does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this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/>
              <a:t>algorithm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lang="en-US"/>
              <a:t>tell us?</a:t>
            </a:r>
            <a:endParaRPr/>
          </a:p>
        </p:txBody>
      </p:sp>
      <p:pic>
        <p:nvPicPr>
          <p:cNvPr id="2631" name="Google Shape;2631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598628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3" name="Google Shape;2633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848666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34" name="Google Shape;2634;p71"/>
          <p:cNvSpPr txBox="1"/>
          <p:nvPr/>
        </p:nvSpPr>
        <p:spPr>
          <a:xfrm>
            <a:off x="624390" y="1765221"/>
            <a:ext cx="1739264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635" name="Google Shape;2635;p71"/>
          <p:cNvGrpSpPr/>
          <p:nvPr/>
        </p:nvGrpSpPr>
        <p:grpSpPr>
          <a:xfrm>
            <a:off x="0" y="3329872"/>
            <a:ext cx="4608413" cy="126365"/>
            <a:chOff x="0" y="3329872"/>
            <a:chExt cx="4608413" cy="126365"/>
          </a:xfrm>
        </p:grpSpPr>
        <p:sp>
          <p:nvSpPr>
            <p:cNvPr id="2636" name="Google Shape;2636;p7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37" name="Google Shape;2637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8" name="Google Shape;2638;p71"/>
            <p:cNvSpPr/>
            <p:nvPr/>
          </p:nvSpPr>
          <p:spPr>
            <a:xfrm>
              <a:off x="2303998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9" name="Google Shape;2639;p71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40" name="Google Shape;2640;p7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641" name="Google Shape;2641;p7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642" name="Google Shape;2642;p71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6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p72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48" name="Google Shape;264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49" name="Google Shape;2649;p72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does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this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/>
              <a:t>algorithm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lang="en-US"/>
              <a:t>tell us?</a:t>
            </a:r>
            <a:endParaRPr/>
          </a:p>
        </p:txBody>
      </p:sp>
      <p:pic>
        <p:nvPicPr>
          <p:cNvPr id="2650" name="Google Shape;265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1" name="Google Shape;2651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598628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2" name="Google Shape;2652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848666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53" name="Google Shape;2653;p72"/>
          <p:cNvSpPr txBox="1"/>
          <p:nvPr/>
        </p:nvSpPr>
        <p:spPr>
          <a:xfrm>
            <a:off x="624389" y="1721443"/>
            <a:ext cx="3470275" cy="617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target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what is the path with smallest number of edges back 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54" name="Google Shape;2654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2058697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5" name="Google Shape;2655;p72"/>
          <p:cNvGrpSpPr/>
          <p:nvPr/>
        </p:nvGrpSpPr>
        <p:grpSpPr>
          <a:xfrm>
            <a:off x="0" y="3329872"/>
            <a:ext cx="4608413" cy="126365"/>
            <a:chOff x="0" y="3329872"/>
            <a:chExt cx="4608413" cy="126365"/>
          </a:xfrm>
        </p:grpSpPr>
        <p:sp>
          <p:nvSpPr>
            <p:cNvPr id="2656" name="Google Shape;2656;p7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57" name="Google Shape;2657;p7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8" name="Google Shape;2658;p72"/>
            <p:cNvSpPr/>
            <p:nvPr/>
          </p:nvSpPr>
          <p:spPr>
            <a:xfrm>
              <a:off x="2303998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9" name="Google Shape;2659;p7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0" name="Google Shape;2660;p7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661" name="Google Shape;2661;p7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662" name="Google Shape;2662;p72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73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68" name="Google Shape;266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69" name="Google Shape;2669;p73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does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this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/>
              <a:t>algorithm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lang="en-US"/>
              <a:t>tell us?</a:t>
            </a:r>
            <a:endParaRPr/>
          </a:p>
        </p:txBody>
      </p:sp>
      <p:pic>
        <p:nvPicPr>
          <p:cNvPr id="2670" name="Google Shape;267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1" name="Google Shape;2671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598628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2" name="Google Shape;2672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848666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73" name="Google Shape;2673;p73"/>
          <p:cNvSpPr txBox="1"/>
          <p:nvPr/>
        </p:nvSpPr>
        <p:spPr>
          <a:xfrm>
            <a:off x="624389" y="1721443"/>
            <a:ext cx="34702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target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what is the path with smallest number of edges back 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8892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this were not a connected graph, how to visit all the vertices?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74" name="Google Shape;2674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2058697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5" name="Google Shape;2675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546" y="2440805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6" name="Google Shape;2676;p73"/>
          <p:cNvGrpSpPr/>
          <p:nvPr/>
        </p:nvGrpSpPr>
        <p:grpSpPr>
          <a:xfrm>
            <a:off x="0" y="3329872"/>
            <a:ext cx="4608413" cy="126365"/>
            <a:chOff x="0" y="3329872"/>
            <a:chExt cx="4608413" cy="126365"/>
          </a:xfrm>
        </p:grpSpPr>
        <p:sp>
          <p:nvSpPr>
            <p:cNvPr id="2677" name="Google Shape;2677;p7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78" name="Google Shape;2678;p7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9" name="Google Shape;2679;p73"/>
            <p:cNvSpPr/>
            <p:nvPr/>
          </p:nvSpPr>
          <p:spPr>
            <a:xfrm>
              <a:off x="2303998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0" name="Google Shape;2680;p7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1" name="Google Shape;2681;p7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682" name="Google Shape;2682;p7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683" name="Google Shape;2683;p73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p74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89" name="Google Shape;268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90" name="Google Shape;2690;p74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does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this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/>
              <a:t>algorithm </a:t>
            </a:r>
            <a:r>
              <a:rPr i="1" lang="en-US">
                <a:latin typeface="Trebuchet MS"/>
                <a:ea typeface="Trebuchet MS"/>
                <a:cs typeface="Trebuchet MS"/>
                <a:sym typeface="Trebuchet MS"/>
              </a:rPr>
              <a:t>not </a:t>
            </a:r>
            <a:r>
              <a:rPr lang="en-US"/>
              <a:t>tell us?</a:t>
            </a:r>
            <a:endParaRPr/>
          </a:p>
        </p:txBody>
      </p:sp>
      <p:pic>
        <p:nvPicPr>
          <p:cNvPr id="2691" name="Google Shape;2691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2" name="Google Shape;2692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598628"/>
            <a:ext cx="2162556" cy="1069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3" name="Google Shape;2693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848666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94" name="Google Shape;2694;p74"/>
          <p:cNvSpPr txBox="1"/>
          <p:nvPr/>
        </p:nvSpPr>
        <p:spPr>
          <a:xfrm>
            <a:off x="624389" y="1721443"/>
            <a:ext cx="3515360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Is there a cycle in this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4953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Given a target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what is the path with smallest number of edges back 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33337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If this were not a connected graph, how to visit all the vertices?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Equivalently, how to compute all the connected components of a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95" name="Google Shape;2695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2058697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6" name="Google Shape;2696;p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546" y="2440805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7" name="Google Shape;2697;p7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546" y="2822912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8" name="Google Shape;2698;p74"/>
          <p:cNvGrpSpPr/>
          <p:nvPr/>
        </p:nvGrpSpPr>
        <p:grpSpPr>
          <a:xfrm>
            <a:off x="0" y="3329872"/>
            <a:ext cx="4608413" cy="126365"/>
            <a:chOff x="0" y="3329872"/>
            <a:chExt cx="4608413" cy="126365"/>
          </a:xfrm>
        </p:grpSpPr>
        <p:sp>
          <p:nvSpPr>
            <p:cNvPr id="2699" name="Google Shape;2699;p7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1"/>
                  </a:moveTo>
                  <a:lnTo>
                    <a:pt x="-1" y="1"/>
                  </a:lnTo>
                  <a:lnTo>
                    <a:pt x="-1" y="126130"/>
                  </a:lnTo>
                  <a:lnTo>
                    <a:pt x="2303999" y="126130"/>
                  </a:lnTo>
                  <a:lnTo>
                    <a:pt x="230399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0" name="Google Shape;2700;p7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1" name="Google Shape;2701;p74"/>
            <p:cNvSpPr/>
            <p:nvPr/>
          </p:nvSpPr>
          <p:spPr>
            <a:xfrm>
              <a:off x="2303998" y="3329873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2" name="Google Shape;2702;p7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3" name="Google Shape;2703;p7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704" name="Google Shape;2704;p7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705" name="Google Shape;2705;p7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75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11" name="Google Shape;271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12" name="Google Shape;2712;p75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Computing connected components</a:t>
            </a:r>
            <a:endParaRPr/>
          </a:p>
        </p:txBody>
      </p:sp>
      <p:pic>
        <p:nvPicPr>
          <p:cNvPr id="2713" name="Google Shape;271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4" name="Google Shape;2714;p75"/>
          <p:cNvGrpSpPr/>
          <p:nvPr/>
        </p:nvGrpSpPr>
        <p:grpSpPr>
          <a:xfrm>
            <a:off x="309197" y="712840"/>
            <a:ext cx="4040452" cy="985529"/>
            <a:chOff x="309197" y="712840"/>
            <a:chExt cx="4040452" cy="985529"/>
          </a:xfrm>
        </p:grpSpPr>
        <p:sp>
          <p:nvSpPr>
            <p:cNvPr id="2715" name="Google Shape;2715;p75"/>
            <p:cNvSpPr/>
            <p:nvPr/>
          </p:nvSpPr>
          <p:spPr>
            <a:xfrm>
              <a:off x="309197" y="712840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16" name="Google Shape;2716;p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7878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7" name="Google Shape;2717;p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9676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8" name="Google Shape;2718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8406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9" name="Google Shape;2719;p7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757066"/>
              <a:ext cx="50800" cy="839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0" name="Google Shape;2720;p75"/>
            <p:cNvSpPr/>
            <p:nvPr/>
          </p:nvSpPr>
          <p:spPr>
            <a:xfrm>
              <a:off x="309197" y="923058"/>
              <a:ext cx="3989704" cy="724535"/>
            </a:xfrm>
            <a:custGeom>
              <a:rect b="b" l="l" r="r" t="t"/>
              <a:pathLst>
                <a:path extrusionOk="0" h="724535" w="3989704">
                  <a:moveTo>
                    <a:pt x="3989652" y="0"/>
                  </a:moveTo>
                  <a:lnTo>
                    <a:pt x="0" y="0"/>
                  </a:lnTo>
                  <a:lnTo>
                    <a:pt x="0" y="673709"/>
                  </a:lnTo>
                  <a:lnTo>
                    <a:pt x="4008" y="693434"/>
                  </a:lnTo>
                  <a:lnTo>
                    <a:pt x="14922" y="709587"/>
                  </a:lnTo>
                  <a:lnTo>
                    <a:pt x="31075" y="720501"/>
                  </a:lnTo>
                  <a:lnTo>
                    <a:pt x="50800" y="724510"/>
                  </a:lnTo>
                  <a:lnTo>
                    <a:pt x="3938852" y="724510"/>
                  </a:lnTo>
                  <a:lnTo>
                    <a:pt x="3958576" y="720501"/>
                  </a:lnTo>
                  <a:lnTo>
                    <a:pt x="3974729" y="709587"/>
                  </a:lnTo>
                  <a:lnTo>
                    <a:pt x="3985644" y="693434"/>
                  </a:lnTo>
                  <a:lnTo>
                    <a:pt x="3989652" y="67370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75"/>
            <p:cNvSpPr/>
            <p:nvPr/>
          </p:nvSpPr>
          <p:spPr>
            <a:xfrm>
              <a:off x="4298849" y="795166"/>
              <a:ext cx="0" cy="821055"/>
            </a:xfrm>
            <a:custGeom>
              <a:rect b="b" l="l" r="r" t="t"/>
              <a:pathLst>
                <a:path extrusionOk="0" h="821055" w="120000">
                  <a:moveTo>
                    <a:pt x="0" y="82065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75"/>
            <p:cNvSpPr/>
            <p:nvPr/>
          </p:nvSpPr>
          <p:spPr>
            <a:xfrm>
              <a:off x="4298849" y="78246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75"/>
            <p:cNvSpPr/>
            <p:nvPr/>
          </p:nvSpPr>
          <p:spPr>
            <a:xfrm>
              <a:off x="4298849" y="76976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75"/>
            <p:cNvSpPr/>
            <p:nvPr/>
          </p:nvSpPr>
          <p:spPr>
            <a:xfrm>
              <a:off x="4298849" y="75706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5" name="Google Shape;2725;p75"/>
          <p:cNvSpPr txBox="1"/>
          <p:nvPr/>
        </p:nvSpPr>
        <p:spPr>
          <a:xfrm>
            <a:off x="347298" y="657032"/>
            <a:ext cx="385064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Idea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Since each node is visited no more than once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/= ∞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after the first visit), simply apply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algorithm over each vertex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6034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creating a new component each time a vertex is found for which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726" name="Google Shape;2726;p75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727" name="Google Shape;2727;p7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28" name="Google Shape;2728;p7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9" name="Google Shape;2729;p7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0" name="Google Shape;2730;p7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1" name="Google Shape;2731;p7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732" name="Google Shape;2732;p7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733" name="Google Shape;2733;p7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76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39" name="Google Shape;273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40" name="Google Shape;2740;p76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Computing connected components</a:t>
            </a:r>
            <a:endParaRPr/>
          </a:p>
        </p:txBody>
      </p:sp>
      <p:pic>
        <p:nvPicPr>
          <p:cNvPr id="2741" name="Google Shape;2741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2" name="Google Shape;2742;p76"/>
          <p:cNvGrpSpPr/>
          <p:nvPr/>
        </p:nvGrpSpPr>
        <p:grpSpPr>
          <a:xfrm>
            <a:off x="309197" y="712840"/>
            <a:ext cx="4040452" cy="985529"/>
            <a:chOff x="309197" y="712840"/>
            <a:chExt cx="4040452" cy="985529"/>
          </a:xfrm>
        </p:grpSpPr>
        <p:sp>
          <p:nvSpPr>
            <p:cNvPr id="2743" name="Google Shape;2743;p76"/>
            <p:cNvSpPr/>
            <p:nvPr/>
          </p:nvSpPr>
          <p:spPr>
            <a:xfrm>
              <a:off x="309197" y="712840"/>
              <a:ext cx="3989704" cy="179070"/>
            </a:xfrm>
            <a:custGeom>
              <a:rect b="b" l="l" r="r" t="t"/>
              <a:pathLst>
                <a:path extrusionOk="0" h="179069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8597"/>
                  </a:lnTo>
                  <a:lnTo>
                    <a:pt x="3989652" y="178597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44" name="Google Shape;2744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87878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5" name="Google Shape;2745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59676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6" name="Google Shape;2746;p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584068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7" name="Google Shape;2747;p7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49" y="757066"/>
              <a:ext cx="50800" cy="839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8" name="Google Shape;2748;p76"/>
            <p:cNvSpPr/>
            <p:nvPr/>
          </p:nvSpPr>
          <p:spPr>
            <a:xfrm>
              <a:off x="309197" y="923058"/>
              <a:ext cx="3989704" cy="724535"/>
            </a:xfrm>
            <a:custGeom>
              <a:rect b="b" l="l" r="r" t="t"/>
              <a:pathLst>
                <a:path extrusionOk="0" h="724535" w="3989704">
                  <a:moveTo>
                    <a:pt x="3989652" y="0"/>
                  </a:moveTo>
                  <a:lnTo>
                    <a:pt x="0" y="0"/>
                  </a:lnTo>
                  <a:lnTo>
                    <a:pt x="0" y="673709"/>
                  </a:lnTo>
                  <a:lnTo>
                    <a:pt x="4008" y="693434"/>
                  </a:lnTo>
                  <a:lnTo>
                    <a:pt x="14922" y="709587"/>
                  </a:lnTo>
                  <a:lnTo>
                    <a:pt x="31075" y="720501"/>
                  </a:lnTo>
                  <a:lnTo>
                    <a:pt x="50800" y="724510"/>
                  </a:lnTo>
                  <a:lnTo>
                    <a:pt x="3938852" y="724510"/>
                  </a:lnTo>
                  <a:lnTo>
                    <a:pt x="3958576" y="720501"/>
                  </a:lnTo>
                  <a:lnTo>
                    <a:pt x="3974729" y="709587"/>
                  </a:lnTo>
                  <a:lnTo>
                    <a:pt x="3985644" y="693434"/>
                  </a:lnTo>
                  <a:lnTo>
                    <a:pt x="3989652" y="67370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76"/>
            <p:cNvSpPr/>
            <p:nvPr/>
          </p:nvSpPr>
          <p:spPr>
            <a:xfrm>
              <a:off x="4298849" y="795166"/>
              <a:ext cx="0" cy="821055"/>
            </a:xfrm>
            <a:custGeom>
              <a:rect b="b" l="l" r="r" t="t"/>
              <a:pathLst>
                <a:path extrusionOk="0" h="821055" w="120000">
                  <a:moveTo>
                    <a:pt x="0" y="820651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76"/>
            <p:cNvSpPr/>
            <p:nvPr/>
          </p:nvSpPr>
          <p:spPr>
            <a:xfrm>
              <a:off x="4298849" y="78246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76"/>
            <p:cNvSpPr/>
            <p:nvPr/>
          </p:nvSpPr>
          <p:spPr>
            <a:xfrm>
              <a:off x="4298849" y="76976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76"/>
            <p:cNvSpPr/>
            <p:nvPr/>
          </p:nvSpPr>
          <p:spPr>
            <a:xfrm>
              <a:off x="4298849" y="75706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3" name="Google Shape;2753;p76"/>
          <p:cNvGrpSpPr/>
          <p:nvPr/>
        </p:nvGrpSpPr>
        <p:grpSpPr>
          <a:xfrm>
            <a:off x="309197" y="1799494"/>
            <a:ext cx="4040452" cy="1225032"/>
            <a:chOff x="309197" y="1799494"/>
            <a:chExt cx="4040452" cy="1225032"/>
          </a:xfrm>
        </p:grpSpPr>
        <p:sp>
          <p:nvSpPr>
            <p:cNvPr id="2754" name="Google Shape;2754;p76"/>
            <p:cNvSpPr/>
            <p:nvPr/>
          </p:nvSpPr>
          <p:spPr>
            <a:xfrm>
              <a:off x="309197" y="1799494"/>
              <a:ext cx="3989704" cy="202565"/>
            </a:xfrm>
            <a:custGeom>
              <a:rect b="b" l="l" r="r" t="t"/>
              <a:pathLst>
                <a:path extrusionOk="0" h="202564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952"/>
                  </a:lnTo>
                  <a:lnTo>
                    <a:pt x="3989652" y="201952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55" name="Google Shape;2755;p7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197" y="1988792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6" name="Google Shape;2756;p7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9998" y="292292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7" name="Google Shape;2757;p7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0798" y="2910225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8" name="Google Shape;2758;p7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98849" y="1843717"/>
              <a:ext cx="50800" cy="10792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9" name="Google Shape;2759;p76"/>
            <p:cNvSpPr/>
            <p:nvPr/>
          </p:nvSpPr>
          <p:spPr>
            <a:xfrm>
              <a:off x="309197" y="2033064"/>
              <a:ext cx="3989704" cy="941069"/>
            </a:xfrm>
            <a:custGeom>
              <a:rect b="b" l="l" r="r" t="t"/>
              <a:pathLst>
                <a:path extrusionOk="0" h="941069" w="3989704">
                  <a:moveTo>
                    <a:pt x="3989652" y="0"/>
                  </a:moveTo>
                  <a:lnTo>
                    <a:pt x="0" y="0"/>
                  </a:lnTo>
                  <a:lnTo>
                    <a:pt x="0" y="889860"/>
                  </a:lnTo>
                  <a:lnTo>
                    <a:pt x="4008" y="909585"/>
                  </a:lnTo>
                  <a:lnTo>
                    <a:pt x="14922" y="925738"/>
                  </a:lnTo>
                  <a:lnTo>
                    <a:pt x="31075" y="936652"/>
                  </a:lnTo>
                  <a:lnTo>
                    <a:pt x="50800" y="940661"/>
                  </a:lnTo>
                  <a:lnTo>
                    <a:pt x="3938852" y="940661"/>
                  </a:lnTo>
                  <a:lnTo>
                    <a:pt x="3958576" y="936652"/>
                  </a:lnTo>
                  <a:lnTo>
                    <a:pt x="3974729" y="925738"/>
                  </a:lnTo>
                  <a:lnTo>
                    <a:pt x="3985644" y="909585"/>
                  </a:lnTo>
                  <a:lnTo>
                    <a:pt x="3989652" y="88986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76"/>
            <p:cNvSpPr/>
            <p:nvPr/>
          </p:nvSpPr>
          <p:spPr>
            <a:xfrm>
              <a:off x="4298849" y="1881817"/>
              <a:ext cx="0" cy="1060450"/>
            </a:xfrm>
            <a:custGeom>
              <a:rect b="b" l="l" r="r" t="t"/>
              <a:pathLst>
                <a:path extrusionOk="0" h="1060450" w="120000">
                  <a:moveTo>
                    <a:pt x="0" y="106015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76"/>
            <p:cNvSpPr/>
            <p:nvPr/>
          </p:nvSpPr>
          <p:spPr>
            <a:xfrm>
              <a:off x="4298849" y="186911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76"/>
            <p:cNvSpPr/>
            <p:nvPr/>
          </p:nvSpPr>
          <p:spPr>
            <a:xfrm>
              <a:off x="4298849" y="185641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76"/>
            <p:cNvSpPr/>
            <p:nvPr/>
          </p:nvSpPr>
          <p:spPr>
            <a:xfrm>
              <a:off x="4298849" y="1843717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4" name="Google Shape;2764;p76"/>
          <p:cNvSpPr txBox="1"/>
          <p:nvPr/>
        </p:nvSpPr>
        <p:spPr>
          <a:xfrm>
            <a:off x="347298" y="657032"/>
            <a:ext cx="3850640" cy="1917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Idea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Since each node is visited no more than once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/= ∞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after the first visit), simply apply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algorithm over each vertex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6034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, creating a new component each time a vertex is found for which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	</a:t>
            </a:r>
            <a:r>
              <a:rPr i="1" lang="en-US" sz="1100">
                <a:solidFill>
                  <a:srgbClr val="FFFF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← ∞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∀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2	</a:t>
            </a: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5" name="Google Shape;2765;p76"/>
          <p:cNvSpPr txBox="1"/>
          <p:nvPr/>
        </p:nvSpPr>
        <p:spPr>
          <a:xfrm>
            <a:off x="347299" y="2554356"/>
            <a:ext cx="9525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6" name="Google Shape;2766;p76"/>
          <p:cNvSpPr txBox="1"/>
          <p:nvPr/>
        </p:nvSpPr>
        <p:spPr>
          <a:xfrm>
            <a:off x="873003" y="2554356"/>
            <a:ext cx="1335405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∞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34671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767" name="Google Shape;2767;p7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2768" name="Google Shape;2768;p7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69" name="Google Shape;2769;p7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0" name="Google Shape;2770;p7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1" name="Google Shape;2771;p7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2" name="Google Shape;2772;p7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773" name="Google Shape;2773;p7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774" name="Google Shape;2774;p7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p77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80" name="Google Shape;278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81" name="Google Shape;2781;p77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782" name="Google Shape;278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783" name="Google Shape;2783;p77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77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85" name="Google Shape;2785;p77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786" name="Google Shape;2786;p7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7" name="Google Shape;2787;p7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8" name="Google Shape;2788;p7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9" name="Google Shape;2789;p7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0" name="Google Shape;2790;p77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77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77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77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77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95" name="Google Shape;2795;p7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6" name="Google Shape;2796;p77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97" name="Google Shape;2797;p77"/>
          <p:cNvSpPr txBox="1"/>
          <p:nvPr/>
        </p:nvSpPr>
        <p:spPr>
          <a:xfrm>
            <a:off x="624389" y="732218"/>
            <a:ext cx="199263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: the </a:t>
            </a:r>
            <a:r>
              <a:rPr lang="en-US" sz="9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color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of each vertex visited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98" name="Google Shape;2798;p77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799" name="Google Shape;2799;p7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00" name="Google Shape;2800;p7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1" name="Google Shape;2801;p77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2" name="Google Shape;2802;p77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3" name="Google Shape;2803;p7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804" name="Google Shape;2804;p7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805" name="Google Shape;2805;p77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78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11" name="Google Shape;2811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78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813" name="Google Shape;2813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14" name="Google Shape;2814;p78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78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16" name="Google Shape;2816;p78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817" name="Google Shape;2817;p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8" name="Google Shape;2818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9" name="Google Shape;2819;p7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0" name="Google Shape;2820;p7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1" name="Google Shape;2821;p78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78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78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78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78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26" name="Google Shape;2826;p7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7" name="Google Shape;2827;p78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28" name="Google Shape;2828;p7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2321" y="1006115"/>
            <a:ext cx="52586" cy="52586"/>
          </a:xfrm>
          <a:prstGeom prst="rect">
            <a:avLst/>
          </a:prstGeom>
          <a:noFill/>
          <a:ln>
            <a:noFill/>
          </a:ln>
        </p:spPr>
      </p:pic>
      <p:sp>
        <p:nvSpPr>
          <p:cNvPr id="2829" name="Google Shape;2829;p78"/>
          <p:cNvSpPr txBox="1"/>
          <p:nvPr/>
        </p:nvSpPr>
        <p:spPr>
          <a:xfrm>
            <a:off x="624389" y="684391"/>
            <a:ext cx="1992630" cy="415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: the </a:t>
            </a:r>
            <a:r>
              <a:rPr lang="en-US" sz="9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color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of each vertex visited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956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830" name="Google Shape;2830;p78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831" name="Google Shape;2831;p7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32" name="Google Shape;2832;p7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3" name="Google Shape;2833;p78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4" name="Google Shape;2834;p78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5" name="Google Shape;2835;p7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836" name="Google Shape;2836;p7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837" name="Google Shape;2837;p78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p79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43" name="Google Shape;284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79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845" name="Google Shape;2845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46" name="Google Shape;2846;p79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79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48" name="Google Shape;2848;p79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849" name="Google Shape;2849;p7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0" name="Google Shape;2850;p7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1" name="Google Shape;2851;p7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2" name="Google Shape;2852;p7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3" name="Google Shape;2853;p79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79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79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79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79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58" name="Google Shape;2858;p7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59" name="Google Shape;2859;p79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860" name="Google Shape;2860;p79"/>
          <p:cNvGrpSpPr/>
          <p:nvPr/>
        </p:nvGrpSpPr>
        <p:grpSpPr>
          <a:xfrm>
            <a:off x="792321" y="1006115"/>
            <a:ext cx="52586" cy="204416"/>
            <a:chOff x="792321" y="1006115"/>
            <a:chExt cx="52586" cy="204416"/>
          </a:xfrm>
        </p:grpSpPr>
        <p:pic>
          <p:nvPicPr>
            <p:cNvPr id="2861" name="Google Shape;2861;p7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321" y="100611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2" name="Google Shape;2862;p7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2321" y="115794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3" name="Google Shape;2863;p79"/>
          <p:cNvSpPr txBox="1"/>
          <p:nvPr/>
        </p:nvSpPr>
        <p:spPr>
          <a:xfrm>
            <a:off x="624389" y="684391"/>
            <a:ext cx="2618105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: the </a:t>
            </a:r>
            <a:r>
              <a:rPr lang="en-US" sz="9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color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of each vertex visited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864" name="Google Shape;2864;p79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865" name="Google Shape;2865;p7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66" name="Google Shape;2866;p7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7" name="Google Shape;2867;p79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8" name="Google Shape;2868;p79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69" name="Google Shape;2869;p7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870" name="Google Shape;2870;p7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871" name="Google Shape;2871;p79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Google Shape;2876;p80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77" name="Google Shape;287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878" name="Google Shape;2878;p80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879" name="Google Shape;2879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80" name="Google Shape;2880;p80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80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882" name="Google Shape;2882;p80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883" name="Google Shape;2883;p8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4" name="Google Shape;2884;p8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5" name="Google Shape;2885;p8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6" name="Google Shape;2886;p8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7" name="Google Shape;2887;p80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80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80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80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80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92" name="Google Shape;2892;p8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3" name="Google Shape;2893;p80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894" name="Google Shape;2894;p80"/>
          <p:cNvGrpSpPr/>
          <p:nvPr/>
        </p:nvGrpSpPr>
        <p:grpSpPr>
          <a:xfrm>
            <a:off x="792321" y="1006115"/>
            <a:ext cx="52586" cy="356247"/>
            <a:chOff x="792321" y="1006115"/>
            <a:chExt cx="52586" cy="356247"/>
          </a:xfrm>
        </p:grpSpPr>
        <p:pic>
          <p:nvPicPr>
            <p:cNvPr id="2895" name="Google Shape;2895;p8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321" y="100611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6" name="Google Shape;2896;p8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2321" y="115794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7" name="Google Shape;2897;p8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2321" y="1309776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8" name="Google Shape;2898;p80"/>
          <p:cNvSpPr txBox="1"/>
          <p:nvPr>
            <p:ph idx="1" type="body"/>
          </p:nvPr>
        </p:nvSpPr>
        <p:spPr>
          <a:xfrm>
            <a:off x="624389" y="684391"/>
            <a:ext cx="2618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color </a:t>
            </a:r>
            <a:r>
              <a:rPr lang="en-US"/>
              <a:t>of each vertex visited</a:t>
            </a:r>
            <a:endParaRPr/>
          </a:p>
          <a:p>
            <a:pPr indent="0" lvl="0" marL="289560" rtl="0" algn="l">
              <a:lnSpc>
                <a:spcPct val="12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899" name="Google Shape;2899;p80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900" name="Google Shape;2900;p8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01" name="Google Shape;2901;p8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2" name="Google Shape;2902;p80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3" name="Google Shape;2903;p80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4" name="Google Shape;2904;p8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905" name="Google Shape;2905;p8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906" name="Google Shape;2906;p80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81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12" name="Google Shape;291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913" name="Google Shape;2913;p81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914" name="Google Shape;2914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915" name="Google Shape;2915;p81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81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17" name="Google Shape;2917;p81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918" name="Google Shape;2918;p8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9" name="Google Shape;2919;p8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0" name="Google Shape;2920;p8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1" name="Google Shape;2921;p8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2" name="Google Shape;2922;p81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81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81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81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81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27" name="Google Shape;2927;p8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28" name="Google Shape;2928;p81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929" name="Google Shape;2929;p81"/>
          <p:cNvGrpSpPr/>
          <p:nvPr/>
        </p:nvGrpSpPr>
        <p:grpSpPr>
          <a:xfrm>
            <a:off x="460094" y="1006115"/>
            <a:ext cx="384813" cy="572781"/>
            <a:chOff x="460094" y="1006115"/>
            <a:chExt cx="384813" cy="572781"/>
          </a:xfrm>
        </p:grpSpPr>
        <p:pic>
          <p:nvPicPr>
            <p:cNvPr id="2930" name="Google Shape;2930;p8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321" y="100611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1" name="Google Shape;2931;p8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2321" y="115794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2" name="Google Shape;2932;p8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2321" y="1309776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3" name="Google Shape;2933;p8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094" y="146467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4" name="Google Shape;2934;p81"/>
          <p:cNvSpPr txBox="1"/>
          <p:nvPr/>
        </p:nvSpPr>
        <p:spPr>
          <a:xfrm>
            <a:off x="483629" y="145320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35" name="Google Shape;2935;p81"/>
          <p:cNvSpPr txBox="1"/>
          <p:nvPr>
            <p:ph idx="1" type="body"/>
          </p:nvPr>
        </p:nvSpPr>
        <p:spPr>
          <a:xfrm>
            <a:off x="624389" y="684391"/>
            <a:ext cx="2618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color </a:t>
            </a:r>
            <a:r>
              <a:rPr lang="en-US"/>
              <a:t>of each vertex visited</a:t>
            </a:r>
            <a:endParaRPr/>
          </a:p>
          <a:p>
            <a:pPr indent="0" lvl="0" marL="289560" rtl="0" algn="l">
              <a:lnSpc>
                <a:spcPct val="12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predecessor </a:t>
            </a:r>
            <a:r>
              <a:rPr lang="en-US"/>
              <a:t>pointer</a:t>
            </a:r>
            <a:endParaRPr/>
          </a:p>
        </p:txBody>
      </p:sp>
      <p:grpSp>
        <p:nvGrpSpPr>
          <p:cNvPr id="2936" name="Google Shape;2936;p81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937" name="Google Shape;2937;p8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38" name="Google Shape;2938;p8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9" name="Google Shape;2939;p81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0" name="Google Shape;2940;p81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41" name="Google Shape;2941;p8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942" name="Google Shape;2942;p8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943" name="Google Shape;2943;p81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7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p82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49" name="Google Shape;294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950" name="Google Shape;2950;p82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951" name="Google Shape;295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952" name="Google Shape;2952;p82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82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54" name="Google Shape;2954;p82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955" name="Google Shape;2955;p8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6" name="Google Shape;2956;p8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7" name="Google Shape;2957;p8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8" name="Google Shape;2958;p8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9" name="Google Shape;2959;p82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82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82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82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82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64" name="Google Shape;2964;p8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65" name="Google Shape;2965;p82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966" name="Google Shape;2966;p82"/>
          <p:cNvGrpSpPr/>
          <p:nvPr/>
        </p:nvGrpSpPr>
        <p:grpSpPr>
          <a:xfrm>
            <a:off x="460094" y="1006115"/>
            <a:ext cx="384813" cy="572781"/>
            <a:chOff x="460094" y="1006115"/>
            <a:chExt cx="384813" cy="572781"/>
          </a:xfrm>
        </p:grpSpPr>
        <p:pic>
          <p:nvPicPr>
            <p:cNvPr id="2967" name="Google Shape;2967;p8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321" y="100611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8" name="Google Shape;2968;p8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2321" y="115794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9" name="Google Shape;2969;p8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2321" y="1309776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0" name="Google Shape;2970;p8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094" y="146467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1" name="Google Shape;2971;p82"/>
          <p:cNvSpPr txBox="1"/>
          <p:nvPr/>
        </p:nvSpPr>
        <p:spPr>
          <a:xfrm>
            <a:off x="483629" y="145320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72" name="Google Shape;2972;p8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0094" y="1654462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2973" name="Google Shape;2973;p82"/>
          <p:cNvSpPr txBox="1"/>
          <p:nvPr/>
        </p:nvSpPr>
        <p:spPr>
          <a:xfrm>
            <a:off x="483629" y="16429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74" name="Google Shape;2974;p82"/>
          <p:cNvSpPr txBox="1"/>
          <p:nvPr>
            <p:ph idx="1" type="body"/>
          </p:nvPr>
        </p:nvSpPr>
        <p:spPr>
          <a:xfrm>
            <a:off x="624389" y="684391"/>
            <a:ext cx="2618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color </a:t>
            </a:r>
            <a:r>
              <a:rPr lang="en-US"/>
              <a:t>of each vertex visited</a:t>
            </a:r>
            <a:endParaRPr/>
          </a:p>
          <a:p>
            <a:pPr indent="0" lvl="0" marL="289560" rtl="0" algn="l">
              <a:lnSpc>
                <a:spcPct val="12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predecessor </a:t>
            </a:r>
            <a:r>
              <a:rPr lang="en-US"/>
              <a:t>pointer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discovery time </a:t>
            </a:r>
            <a:r>
              <a:rPr lang="en-US"/>
              <a:t>(or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hops </a:t>
            </a:r>
            <a:r>
              <a:rPr lang="en-US"/>
              <a:t>from the start)</a:t>
            </a:r>
            <a:endParaRPr/>
          </a:p>
        </p:txBody>
      </p:sp>
      <p:grpSp>
        <p:nvGrpSpPr>
          <p:cNvPr id="2975" name="Google Shape;2975;p82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2976" name="Google Shape;2976;p8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77" name="Google Shape;2977;p8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8" name="Google Shape;2978;p82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9" name="Google Shape;2979;p82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80" name="Google Shape;2980;p8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2981" name="Google Shape;2981;p8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2982" name="Google Shape;2982;p82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6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83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88" name="Google Shape;298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989" name="Google Shape;2989;p83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2990" name="Google Shape;2990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2991" name="Google Shape;2991;p83"/>
          <p:cNvSpPr/>
          <p:nvPr/>
        </p:nvSpPr>
        <p:spPr>
          <a:xfrm>
            <a:off x="309197" y="527185"/>
            <a:ext cx="3989704" cy="164465"/>
          </a:xfrm>
          <a:custGeom>
            <a:rect b="b" l="l" r="r" t="t"/>
            <a:pathLst>
              <a:path extrusionOk="0" h="164465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3962"/>
                </a:lnTo>
                <a:lnTo>
                  <a:pt x="3989652" y="16396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83"/>
          <p:cNvSpPr txBox="1"/>
          <p:nvPr/>
        </p:nvSpPr>
        <p:spPr>
          <a:xfrm>
            <a:off x="347298" y="517125"/>
            <a:ext cx="13874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Information during traversal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93" name="Google Shape;2993;p83"/>
          <p:cNvGrpSpPr/>
          <p:nvPr/>
        </p:nvGrpSpPr>
        <p:grpSpPr>
          <a:xfrm>
            <a:off x="309197" y="571406"/>
            <a:ext cx="4040453" cy="1296759"/>
            <a:chOff x="309197" y="571406"/>
            <a:chExt cx="4040453" cy="1296759"/>
          </a:xfrm>
        </p:grpSpPr>
        <p:pic>
          <p:nvPicPr>
            <p:cNvPr id="2994" name="Google Shape;2994;p8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7" y="571406"/>
              <a:ext cx="4040452" cy="157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5" name="Google Shape;2995;p8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998" y="176656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6" name="Google Shape;2996;p8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0798" y="1753864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7" name="Google Shape;2997;p8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8850" y="622206"/>
              <a:ext cx="50800" cy="114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8" name="Google Shape;2998;p83"/>
            <p:cNvSpPr/>
            <p:nvPr/>
          </p:nvSpPr>
          <p:spPr>
            <a:xfrm>
              <a:off x="309197" y="722763"/>
              <a:ext cx="3989704" cy="1094740"/>
            </a:xfrm>
            <a:custGeom>
              <a:rect b="b" l="l" r="r" t="t"/>
              <a:pathLst>
                <a:path extrusionOk="0" h="109473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43801"/>
                  </a:lnTo>
                  <a:lnTo>
                    <a:pt x="4008" y="1063526"/>
                  </a:lnTo>
                  <a:lnTo>
                    <a:pt x="14922" y="1079679"/>
                  </a:lnTo>
                  <a:lnTo>
                    <a:pt x="31075" y="1090593"/>
                  </a:lnTo>
                  <a:lnTo>
                    <a:pt x="50800" y="1094602"/>
                  </a:lnTo>
                  <a:lnTo>
                    <a:pt x="3938852" y="1094602"/>
                  </a:lnTo>
                  <a:lnTo>
                    <a:pt x="3958576" y="1090593"/>
                  </a:lnTo>
                  <a:lnTo>
                    <a:pt x="3974729" y="1079679"/>
                  </a:lnTo>
                  <a:lnTo>
                    <a:pt x="3985644" y="1063526"/>
                  </a:lnTo>
                  <a:lnTo>
                    <a:pt x="3989652" y="1043801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83"/>
            <p:cNvSpPr/>
            <p:nvPr/>
          </p:nvSpPr>
          <p:spPr>
            <a:xfrm>
              <a:off x="4298849" y="609506"/>
              <a:ext cx="0" cy="1176655"/>
            </a:xfrm>
            <a:custGeom>
              <a:rect b="b" l="l" r="r" t="t"/>
              <a:pathLst>
                <a:path extrusionOk="0" h="1176655" w="120000">
                  <a:moveTo>
                    <a:pt x="0" y="117610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83"/>
            <p:cNvSpPr/>
            <p:nvPr/>
          </p:nvSpPr>
          <p:spPr>
            <a:xfrm>
              <a:off x="4298849" y="5968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83"/>
            <p:cNvSpPr/>
            <p:nvPr/>
          </p:nvSpPr>
          <p:spPr>
            <a:xfrm>
              <a:off x="4298849" y="5841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83"/>
            <p:cNvSpPr/>
            <p:nvPr/>
          </p:nvSpPr>
          <p:spPr>
            <a:xfrm>
              <a:off x="4298849" y="571406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03" name="Google Shape;3003;p8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4" y="76878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4" name="Google Shape;3004;p83"/>
          <p:cNvSpPr txBox="1"/>
          <p:nvPr/>
        </p:nvSpPr>
        <p:spPr>
          <a:xfrm>
            <a:off x="483629" y="7573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005" name="Google Shape;3005;p83"/>
          <p:cNvGrpSpPr/>
          <p:nvPr/>
        </p:nvGrpSpPr>
        <p:grpSpPr>
          <a:xfrm>
            <a:off x="460094" y="1006115"/>
            <a:ext cx="384813" cy="572781"/>
            <a:chOff x="460094" y="1006115"/>
            <a:chExt cx="384813" cy="572781"/>
          </a:xfrm>
        </p:grpSpPr>
        <p:pic>
          <p:nvPicPr>
            <p:cNvPr id="3006" name="Google Shape;3006;p8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321" y="100611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7" name="Google Shape;3007;p8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2321" y="1157945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8" name="Google Shape;3008;p8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2321" y="1309776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9" name="Google Shape;3009;p8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094" y="1464673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0" name="Google Shape;3010;p83"/>
          <p:cNvSpPr txBox="1"/>
          <p:nvPr/>
        </p:nvSpPr>
        <p:spPr>
          <a:xfrm>
            <a:off x="483629" y="145320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11" name="Google Shape;3011;p8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0094" y="1654462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3012" name="Google Shape;3012;p83"/>
          <p:cNvSpPr txBox="1"/>
          <p:nvPr/>
        </p:nvSpPr>
        <p:spPr>
          <a:xfrm>
            <a:off x="483629" y="16429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3" name="Google Shape;3013;p83"/>
          <p:cNvSpPr txBox="1"/>
          <p:nvPr>
            <p:ph idx="1" type="body"/>
          </p:nvPr>
        </p:nvSpPr>
        <p:spPr>
          <a:xfrm>
            <a:off x="624389" y="684391"/>
            <a:ext cx="2618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color </a:t>
            </a:r>
            <a:r>
              <a:rPr lang="en-US"/>
              <a:t>of each vertex visited</a:t>
            </a:r>
            <a:endParaRPr/>
          </a:p>
          <a:p>
            <a:pPr indent="0" lvl="0" marL="289560" rtl="0" algn="l">
              <a:lnSpc>
                <a:spcPct val="12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predecessor </a:t>
            </a:r>
            <a:r>
              <a:rPr lang="en-US"/>
              <a:t>pointer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/>
              <a:t>: the </a:t>
            </a:r>
            <a:r>
              <a:rPr lang="en-US">
                <a:solidFill>
                  <a:srgbClr val="FF0000"/>
                </a:solidFill>
              </a:rPr>
              <a:t>discovery time </a:t>
            </a:r>
            <a:r>
              <a:rPr lang="en-US"/>
              <a:t>(or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hops </a:t>
            </a:r>
            <a:r>
              <a:rPr lang="en-US"/>
              <a:t>from the start)</a:t>
            </a:r>
            <a:endParaRPr/>
          </a:p>
        </p:txBody>
      </p:sp>
      <p:sp>
        <p:nvSpPr>
          <p:cNvPr id="3014" name="Google Shape;3014;p83"/>
          <p:cNvSpPr txBox="1"/>
          <p:nvPr/>
        </p:nvSpPr>
        <p:spPr>
          <a:xfrm>
            <a:off x="347298" y="1935906"/>
            <a:ext cx="2434590" cy="92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89865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Initialize the vertex colors and predecessors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439420" lvl="0" marL="46228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600710" lvl="0" marL="62357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nu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ll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83"/>
          <p:cNvSpPr txBox="1"/>
          <p:nvPr/>
        </p:nvSpPr>
        <p:spPr>
          <a:xfrm>
            <a:off x="358051" y="2841828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5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6" name="Google Shape;3016;p83"/>
          <p:cNvSpPr txBox="1"/>
          <p:nvPr/>
        </p:nvSpPr>
        <p:spPr>
          <a:xfrm>
            <a:off x="797093" y="2841828"/>
            <a:ext cx="116903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3017" name="Google Shape;3017;p83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018" name="Google Shape;3018;p8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19" name="Google Shape;3019;p8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0" name="Google Shape;3020;p83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1" name="Google Shape;3021;p83"/>
          <p:cNvSpPr txBox="1"/>
          <p:nvPr/>
        </p:nvSpPr>
        <p:spPr>
          <a:xfrm>
            <a:off x="506133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2" name="Google Shape;3022;p8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023" name="Google Shape;3023;p8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024" name="Google Shape;3024;p83"/>
          <p:cNvSpPr txBox="1"/>
          <p:nvPr/>
        </p:nvSpPr>
        <p:spPr>
          <a:xfrm>
            <a:off x="4250726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29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8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9" name="Google Shape;3029;p84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30" name="Google Shape;303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31" name="Google Shape;3031;p84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3032" name="Google Shape;3032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033" name="Google Shape;3033;p84"/>
          <p:cNvSpPr txBox="1"/>
          <p:nvPr/>
        </p:nvSpPr>
        <p:spPr>
          <a:xfrm>
            <a:off x="347298" y="728421"/>
            <a:ext cx="2583815" cy="617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1100"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207644" lvl="0" marL="2895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ray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;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nu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ll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7644" lvl="0" marL="2895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Q =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∅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Enqu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3034" name="Google Shape;3034;p84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035" name="Google Shape;3035;p8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36" name="Google Shape;3036;p8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7" name="Google Shape;3037;p8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8" name="Google Shape;3038;p8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9" name="Google Shape;3039;p8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040" name="Google Shape;3040;p8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041" name="Google Shape;3041;p8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5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85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47" name="Google Shape;304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48" name="Google Shape;3048;p85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Breadth first search (BFS) algorithm</a:t>
            </a:r>
            <a:endParaRPr/>
          </a:p>
        </p:txBody>
      </p:sp>
      <p:pic>
        <p:nvPicPr>
          <p:cNvPr id="3049" name="Google Shape;3049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050" name="Google Shape;3050;p85"/>
          <p:cNvSpPr txBox="1"/>
          <p:nvPr/>
        </p:nvSpPr>
        <p:spPr>
          <a:xfrm>
            <a:off x="347298" y="728421"/>
            <a:ext cx="2715895" cy="216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1100">
                <a:latin typeface="Palatino Linotype"/>
                <a:ea typeface="Palatino Linotype"/>
                <a:cs typeface="Palatino Linotype"/>
                <a:sym typeface="Palatino Linotype"/>
              </a:rPr>
              <a:t>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E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207644" lvl="0" marL="2895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ray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;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nu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ll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;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7644" lvl="0" marL="2895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Q =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∅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Enqu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207644" lvl="0" marL="2895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while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/= ∅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525145" lvl="0" marL="6070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720725" lvl="0" marL="80264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each vertex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Adj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992505" lvl="0" marL="107442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-1327150" lvl="0" marL="140906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/>
            </a:pPr>
            <a:r>
              <a:rPr b="1" lang="en-US" sz="11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8191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8	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+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655445" lvl="0" marL="17373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 startAt="9"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24660" lvl="0" marL="173736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 startAt="9"/>
            </a:pP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Enqu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-789940" lvl="0" marL="80264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1100"/>
              <a:buFont typeface="Trebuchet MS"/>
              <a:buAutoNum type="arabicPlain" startAt="9"/>
            </a:pP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u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11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3051" name="Google Shape;3051;p85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052" name="Google Shape;3052;p8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53" name="Google Shape;3053;p8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4" name="Google Shape;3054;p8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5" name="Google Shape;3055;p8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6" name="Google Shape;3056;p8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057" name="Google Shape;3057;p8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058" name="Google Shape;3058;p8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2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p8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64" name="Google Shape;3064;p8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8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66" name="Google Shape;306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67" name="Google Shape;3067;p86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68" name="Google Shape;306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9" name="Google Shape;3069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9" y="1486614"/>
            <a:ext cx="2162556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0" name="Google Shape;3070;p8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071" name="Google Shape;3071;p8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72" name="Google Shape;3072;p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3" name="Google Shape;3073;p8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4" name="Google Shape;3074;p8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75" name="Google Shape;3075;p8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076" name="Google Shape;3076;p8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077" name="Google Shape;3077;p8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8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83" name="Google Shape;3083;p8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8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85" name="Google Shape;308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86" name="Google Shape;3086;p87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87" name="Google Shape;3087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8" name="Google Shape;3088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601468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9" name="Google Shape;3089;p87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090" name="Google Shape;3090;p8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91" name="Google Shape;3091;p8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2" name="Google Shape;3092;p87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3" name="Google Shape;3093;p8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4" name="Google Shape;3094;p8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095" name="Google Shape;3095;p8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096" name="Google Shape;3096;p87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p8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02" name="Google Shape;3102;p8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8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04" name="Google Shape;310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105" name="Google Shape;3105;p88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06" name="Google Shape;3106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7" name="Google Shape;3107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788920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8" name="Google Shape;3108;p88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109" name="Google Shape;3109;p8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10" name="Google Shape;3110;p8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1" name="Google Shape;3111;p88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2" name="Google Shape;3112;p88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3" name="Google Shape;3113;p8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114" name="Google Shape;3114;p8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115" name="Google Shape;3115;p88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8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21" name="Google Shape;3121;p8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8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23" name="Google Shape;312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124" name="Google Shape;3124;p89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25" name="Google Shape;3125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6" name="Google Shape;3126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980944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7" name="Google Shape;3127;p89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128" name="Google Shape;3128;p8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29" name="Google Shape;3129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0" name="Google Shape;3130;p89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1" name="Google Shape;3131;p89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2" name="Google Shape;3132;p8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133" name="Google Shape;3133;p8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134" name="Google Shape;3134;p89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p9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0" name="Google Shape;3140;p9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9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42" name="Google Shape;314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143" name="Google Shape;3143;p90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44" name="Google Shape;3144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5" name="Google Shape;3145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980944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6" name="Google Shape;3146;p90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147" name="Google Shape;3147;p9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48" name="Google Shape;3148;p9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9" name="Google Shape;3149;p90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0" name="Google Shape;3150;p90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1" name="Google Shape;3151;p9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152" name="Google Shape;3152;p9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153" name="Google Shape;3153;p90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9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9" name="Google Shape;3159;p9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9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61" name="Google Shape;316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162" name="Google Shape;3162;p91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63" name="Google Shape;3163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4" name="Google Shape;3164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980944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5" name="Google Shape;3165;p91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166" name="Google Shape;3166;p9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67" name="Google Shape;3167;p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8" name="Google Shape;3168;p91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9" name="Google Shape;3169;p91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0" name="Google Shape;3170;p9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171" name="Google Shape;3171;p9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172" name="Google Shape;3172;p91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6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9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8" name="Google Shape;3178;p9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9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80" name="Google Shape;318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181" name="Google Shape;3181;p92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82" name="Google Shape;3182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3" name="Google Shape;3183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980944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4" name="Google Shape;3184;p92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185" name="Google Shape;3185;p9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86" name="Google Shape;3186;p9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7" name="Google Shape;3187;p92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8" name="Google Shape;3188;p9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89" name="Google Shape;3189;p9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190" name="Google Shape;3190;p9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191" name="Google Shape;3191;p92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5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p9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97" name="Google Shape;3197;p9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9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99" name="Google Shape;319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00" name="Google Shape;3200;p93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01" name="Google Shape;3201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2" name="Google Shape;3202;p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788920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3" name="Google Shape;3203;p93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204" name="Google Shape;3204;p9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05" name="Google Shape;3205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6" name="Google Shape;3206;p93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7" name="Google Shape;3207;p9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08" name="Google Shape;3208;p9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209" name="Google Shape;3209;p9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210" name="Google Shape;3210;p93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4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Google Shape;3215;p9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16" name="Google Shape;3216;p9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p9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18" name="Google Shape;321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19" name="Google Shape;3219;p94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20" name="Google Shape;3220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1" name="Google Shape;3221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601468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2" name="Google Shape;3222;p94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223" name="Google Shape;3223;p9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24" name="Google Shape;3224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5" name="Google Shape;3225;p94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6" name="Google Shape;3226;p9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7" name="Google Shape;3227;p9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228" name="Google Shape;3228;p9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229" name="Google Shape;3229;p9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9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35" name="Google Shape;3235;p9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6" name="Google Shape;3236;p9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37" name="Google Shape;3237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38" name="Google Shape;3238;p95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39" name="Google Shape;3239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0" name="Google Shape;3240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523744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1" name="Google Shape;3241;p95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242" name="Google Shape;3242;p9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43" name="Google Shape;3243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4" name="Google Shape;3244;p95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5" name="Google Shape;3245;p9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6" name="Google Shape;3246;p9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247" name="Google Shape;3247;p9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248" name="Google Shape;3248;p9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p9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4" name="Google Shape;3254;p9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9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56" name="Google Shape;325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57" name="Google Shape;3257;p96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58" name="Google Shape;3258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9" name="Google Shape;3259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242" y="1486614"/>
            <a:ext cx="2162556" cy="1069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0" name="Google Shape;3260;p96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261" name="Google Shape;3261;p9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62" name="Google Shape;3262;p9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3" name="Google Shape;3263;p96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4" name="Google Shape;3264;p9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65" name="Google Shape;3265;p9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266" name="Google Shape;3266;p9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267" name="Google Shape;3267;p9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31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9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73" name="Google Shape;3273;p9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4" name="Google Shape;3274;p9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75" name="Google Shape;327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76" name="Google Shape;3276;p97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77" name="Google Shape;3277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8" name="Google Shape;3278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60291"/>
            <a:ext cx="1182471" cy="4862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9" name="Google Shape;3279;p97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280" name="Google Shape;3280;p9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81" name="Google Shape;3281;p9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2" name="Google Shape;3282;p97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83" name="Google Shape;3283;p97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84" name="Google Shape;3284;p9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285" name="Google Shape;3285;p9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286" name="Google Shape;3286;p97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0" name="Shape 3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p9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2" name="Google Shape;3292;p9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3" name="Google Shape;3293;p9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94" name="Google Shape;329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295" name="Google Shape;3295;p98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96" name="Google Shape;3296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7" name="Google Shape;3297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10475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8" name="Google Shape;3298;p98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299" name="Google Shape;3299;p9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00" name="Google Shape;3300;p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1" name="Google Shape;3301;p98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2" name="Google Shape;3302;p98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03" name="Google Shape;3303;p9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304" name="Google Shape;3304;p9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305" name="Google Shape;3305;p98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9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p9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1" name="Google Shape;3311;p9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9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13" name="Google Shape;331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314" name="Google Shape;3314;p99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15" name="Google Shape;3315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6" name="Google Shape;3316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15776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7" name="Google Shape;3317;p99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318" name="Google Shape;3318;p9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19" name="Google Shape;3319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0" name="Google Shape;3320;p99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1" name="Google Shape;3321;p99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2" name="Google Shape;3322;p9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323" name="Google Shape;3323;p9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324" name="Google Shape;3324;p99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10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0" name="Google Shape;3330;p10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10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32" name="Google Shape;333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333" name="Google Shape;3333;p100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34" name="Google Shape;3334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5" name="Google Shape;3335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2107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6" name="Google Shape;3336;p100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337" name="Google Shape;3337;p10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38" name="Google Shape;3338;p10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9" name="Google Shape;3339;p100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0" name="Google Shape;3340;p100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1" name="Google Shape;3341;p10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342" name="Google Shape;3342;p10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343" name="Google Shape;3343;p100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p10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49" name="Google Shape;3349;p10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0" name="Google Shape;3350;p10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51" name="Google Shape;335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101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53" name="Google Shape;3353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4" name="Google Shape;3354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26379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5" name="Google Shape;3355;p101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356" name="Google Shape;3356;p10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57" name="Google Shape;3357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8" name="Google Shape;3358;p101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9" name="Google Shape;3359;p101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0" name="Google Shape;3360;p10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361" name="Google Shape;3361;p10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362" name="Google Shape;3362;p101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10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68" name="Google Shape;3368;p10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9" name="Google Shape;3369;p10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70" name="Google Shape;337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371" name="Google Shape;3371;p102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72" name="Google Shape;3372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3" name="Google Shape;3373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263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4" name="Google Shape;3374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3998" y="560291"/>
            <a:ext cx="1354958" cy="4862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5" name="Google Shape;3375;p102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376" name="Google Shape;3376;p10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77" name="Google Shape;3377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8" name="Google Shape;3378;p102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9" name="Google Shape;3379;p102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80" name="Google Shape;3380;p10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381" name="Google Shape;3381;p10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382" name="Google Shape;3382;p102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p10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88" name="Google Shape;3388;p10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9" name="Google Shape;3389;p10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90" name="Google Shape;33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391" name="Google Shape;3391;p103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92" name="Google Shape;3392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3" name="Google Shape;3393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263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4" name="Google Shape;3394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3998" y="529119"/>
            <a:ext cx="1371583" cy="10475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5" name="Google Shape;3395;p103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396" name="Google Shape;3396;p10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97" name="Google Shape;3397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8" name="Google Shape;3398;p103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9" name="Google Shape;3399;p103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0" name="Google Shape;3400;p10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401" name="Google Shape;3401;p10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402" name="Google Shape;3402;p103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p10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8" name="Google Shape;3408;p10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9" name="Google Shape;3409;p10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10" name="Google Shape;341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11" name="Google Shape;3411;p104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12" name="Google Shape;3412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3" name="Google Shape;3413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263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4" name="Google Shape;3414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3998" y="529119"/>
            <a:ext cx="1371583" cy="15776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5" name="Google Shape;3415;p104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416" name="Google Shape;3416;p10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17" name="Google Shape;3417;p10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8" name="Google Shape;3418;p104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9" name="Google Shape;3419;p104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20" name="Google Shape;3420;p10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421" name="Google Shape;3421;p10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422" name="Google Shape;3422;p104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10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28" name="Google Shape;3428;p10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10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30" name="Google Shape;343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31" name="Google Shape;3431;p105"/>
          <p:cNvSpPr txBox="1"/>
          <p:nvPr/>
        </p:nvSpPr>
        <p:spPr>
          <a:xfrm>
            <a:off x="154766" y="121020"/>
            <a:ext cx="144399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BFS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32" name="Google Shape;3432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3" name="Google Shape;3433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998" y="529119"/>
            <a:ext cx="1371583" cy="263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4" name="Google Shape;3434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3998" y="529119"/>
            <a:ext cx="1371583" cy="2107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5" name="Google Shape;3435;p105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3436" name="Google Shape;3436;p10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8" y="0"/>
                  </a:moveTo>
                  <a:lnTo>
                    <a:pt x="-2" y="0"/>
                  </a:lnTo>
                  <a:lnTo>
                    <a:pt x="-2" y="126128"/>
                  </a:lnTo>
                  <a:lnTo>
                    <a:pt x="2303998" y="126128"/>
                  </a:lnTo>
                  <a:lnTo>
                    <a:pt x="23039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37" name="Google Shape;3437;p10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8" name="Google Shape;3438;p105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9" name="Google Shape;3439;p105"/>
          <p:cNvSpPr txBox="1"/>
          <p:nvPr/>
        </p:nvSpPr>
        <p:spPr>
          <a:xfrm>
            <a:off x="506133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40" name="Google Shape;3440;p10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441" name="Google Shape;3441;p10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442" name="Google Shape;3442;p105"/>
          <p:cNvSpPr txBox="1"/>
          <p:nvPr/>
        </p:nvSpPr>
        <p:spPr>
          <a:xfrm>
            <a:off x="4250726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32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6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7" name="Google Shape;3447;p106"/>
          <p:cNvGrpSpPr/>
          <p:nvPr/>
        </p:nvGrpSpPr>
        <p:grpSpPr>
          <a:xfrm>
            <a:off x="0" y="0"/>
            <a:ext cx="4608414" cy="384241"/>
            <a:chOff x="0" y="0"/>
            <a:chExt cx="4608414" cy="384241"/>
          </a:xfrm>
        </p:grpSpPr>
        <p:sp>
          <p:nvSpPr>
            <p:cNvPr id="3448" name="Google Shape;3448;p106"/>
            <p:cNvSpPr/>
            <p:nvPr/>
          </p:nvSpPr>
          <p:spPr>
            <a:xfrm>
              <a:off x="2303999" y="0"/>
              <a:ext cx="2304415" cy="123825"/>
            </a:xfrm>
            <a:custGeom>
              <a:rect b="b" l="l" r="r" t="t"/>
              <a:pathLst>
                <a:path extrusionOk="0" h="123825" w="2304414">
                  <a:moveTo>
                    <a:pt x="0" y="123597"/>
                  </a:moveTo>
                  <a:lnTo>
                    <a:pt x="2304000" y="123597"/>
                  </a:lnTo>
                  <a:lnTo>
                    <a:pt x="2304000" y="0"/>
                  </a:lnTo>
                  <a:lnTo>
                    <a:pt x="0" y="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49" name="Google Shape;3449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50" name="Google Shape;3450;p106"/>
          <p:cNvSpPr txBox="1"/>
          <p:nvPr/>
        </p:nvSpPr>
        <p:spPr>
          <a:xfrm>
            <a:off x="154766" y="-14775"/>
            <a:ext cx="3307079" cy="38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244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 tree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51" name="Google Shape;3451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2" name="Google Shape;3452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85" y="618027"/>
            <a:ext cx="2162556" cy="1069847"/>
          </a:xfrm>
          <a:prstGeom prst="rect">
            <a:avLst/>
          </a:prstGeom>
          <a:noFill/>
          <a:ln>
            <a:noFill/>
          </a:ln>
        </p:spPr>
      </p:pic>
      <p:sp>
        <p:nvSpPr>
          <p:cNvPr id="3453" name="Google Shape;3453;p106"/>
          <p:cNvSpPr txBox="1"/>
          <p:nvPr/>
        </p:nvSpPr>
        <p:spPr>
          <a:xfrm>
            <a:off x="1607379" y="1715538"/>
            <a:ext cx="1333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Verdana"/>
                <a:ea typeface="Verdana"/>
                <a:cs typeface="Verdana"/>
                <a:sym typeface="Verdana"/>
              </a:rPr>
              <a:t>¨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4" name="Google Shape;3454;p106"/>
          <p:cNvSpPr txBox="1"/>
          <p:nvPr/>
        </p:nvSpPr>
        <p:spPr>
          <a:xfrm>
            <a:off x="1620079" y="1846003"/>
            <a:ext cx="107950" cy="43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Verdana"/>
                <a:ea typeface="Verdana"/>
                <a:cs typeface="Verdana"/>
                <a:sym typeface="Verdana"/>
              </a:rPr>
              <a:t>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55" name="Google Shape;3455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152" y="2045689"/>
            <a:ext cx="3017520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6" name="Google Shape;3456;p10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457" name="Google Shape;3457;p10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58" name="Google Shape;3458;p10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9" name="Google Shape;3459;p10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60" name="Google Shape;3460;p106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61" name="Google Shape;3461;p10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462" name="Google Shape;3462;p10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463" name="Google Shape;3463;p106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33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7" name="Shape 3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8" name="Google Shape;3468;p107"/>
          <p:cNvGrpSpPr/>
          <p:nvPr/>
        </p:nvGrpSpPr>
        <p:grpSpPr>
          <a:xfrm>
            <a:off x="0" y="0"/>
            <a:ext cx="4608414" cy="384241"/>
            <a:chOff x="0" y="0"/>
            <a:chExt cx="4608414" cy="384241"/>
          </a:xfrm>
        </p:grpSpPr>
        <p:sp>
          <p:nvSpPr>
            <p:cNvPr id="3469" name="Google Shape;3469;p107"/>
            <p:cNvSpPr/>
            <p:nvPr/>
          </p:nvSpPr>
          <p:spPr>
            <a:xfrm>
              <a:off x="2303999" y="0"/>
              <a:ext cx="2304415" cy="123825"/>
            </a:xfrm>
            <a:custGeom>
              <a:rect b="b" l="l" r="r" t="t"/>
              <a:pathLst>
                <a:path extrusionOk="0" h="123825" w="2304414">
                  <a:moveTo>
                    <a:pt x="0" y="123597"/>
                  </a:moveTo>
                  <a:lnTo>
                    <a:pt x="2304000" y="123597"/>
                  </a:lnTo>
                  <a:lnTo>
                    <a:pt x="2304000" y="0"/>
                  </a:lnTo>
                  <a:lnTo>
                    <a:pt x="0" y="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70" name="Google Shape;3470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3595"/>
              <a:ext cx="4607999" cy="2606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71" name="Google Shape;3471;p107"/>
          <p:cNvSpPr txBox="1"/>
          <p:nvPr/>
        </p:nvSpPr>
        <p:spPr>
          <a:xfrm>
            <a:off x="154766" y="-14775"/>
            <a:ext cx="3307079" cy="38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244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Breadth first search (BFS) tree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72" name="Google Shape;3472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3" name="Google Shape;3473;p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85" y="618027"/>
            <a:ext cx="2162556" cy="1069847"/>
          </a:xfrm>
          <a:prstGeom prst="rect">
            <a:avLst/>
          </a:prstGeom>
          <a:noFill/>
          <a:ln>
            <a:noFill/>
          </a:ln>
        </p:spPr>
      </p:pic>
      <p:sp>
        <p:nvSpPr>
          <p:cNvPr id="3474" name="Google Shape;3474;p107"/>
          <p:cNvSpPr txBox="1"/>
          <p:nvPr/>
        </p:nvSpPr>
        <p:spPr>
          <a:xfrm>
            <a:off x="1607379" y="1715538"/>
            <a:ext cx="13335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Verdana"/>
                <a:ea typeface="Verdana"/>
                <a:cs typeface="Verdana"/>
                <a:sym typeface="Verdana"/>
              </a:rPr>
              <a:t>¨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75" name="Google Shape;3475;p107"/>
          <p:cNvSpPr txBox="1"/>
          <p:nvPr/>
        </p:nvSpPr>
        <p:spPr>
          <a:xfrm>
            <a:off x="1620079" y="1846003"/>
            <a:ext cx="107950" cy="43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Verdana"/>
                <a:ea typeface="Verdana"/>
                <a:cs typeface="Verdana"/>
                <a:sym typeface="Verdana"/>
              </a:rPr>
              <a:t>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76" name="Google Shape;3476;p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5243" y="2045689"/>
            <a:ext cx="3017520" cy="1138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7" name="Google Shape;3477;p107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478" name="Google Shape;3478;p10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79" name="Google Shape;3479;p10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0" name="Google Shape;3480;p10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1" name="Google Shape;3481;p107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82" name="Google Shape;3482;p10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483" name="Google Shape;3483;p10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484" name="Google Shape;3484;p107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33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108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90" name="Google Shape;349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91" name="Google Shape;3491;p108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492" name="Google Shape;3492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3" name="Google Shape;3493;p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494" name="Google Shape;3494;p108"/>
          <p:cNvSpPr txBox="1"/>
          <p:nvPr/>
        </p:nvSpPr>
        <p:spPr>
          <a:xfrm>
            <a:off x="624390" y="532558"/>
            <a:ext cx="3512820" cy="8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95" name="Google Shape;3495;p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6" name="Google Shape;3496;p1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7" name="Google Shape;3497;p108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498" name="Google Shape;3498;p10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99" name="Google Shape;3499;p10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0" name="Google Shape;3500;p10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1" name="Google Shape;3501;p108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02" name="Google Shape;3502;p10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503" name="Google Shape;3503;p10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504" name="Google Shape;3504;p108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8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109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10" name="Google Shape;351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511" name="Google Shape;3511;p109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512" name="Google Shape;3512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3" name="Google Shape;3513;p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4" name="Google Shape;3514;p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5" name="Google Shape;3515;p10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16" name="Google Shape;3516;p109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7" name="Google Shape;3517;p109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18" name="Google Shape;3518;p109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519" name="Google Shape;3519;p10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0" name="Google Shape;3520;p10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1" name="Google Shape;3521;p10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2" name="Google Shape;3522;p10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3" name="Google Shape;3523;p109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109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109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109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109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28" name="Google Shape;3528;p10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29" name="Google Shape;3529;p109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0" name="Google Shape;3530;p109"/>
          <p:cNvSpPr txBox="1"/>
          <p:nvPr/>
        </p:nvSpPr>
        <p:spPr>
          <a:xfrm>
            <a:off x="624390" y="1693058"/>
            <a:ext cx="235458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31" name="Google Shape;3531;p109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532" name="Google Shape;3532;p10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33" name="Google Shape;3533;p10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4" name="Google Shape;3534;p10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5" name="Google Shape;3535;p109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36" name="Google Shape;3536;p10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537" name="Google Shape;3537;p10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538" name="Google Shape;3538;p109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110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44" name="Google Shape;354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545" name="Google Shape;3545;p110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546" name="Google Shape;3546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7" name="Google Shape;3547;p1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8" name="Google Shape;3548;p1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9" name="Google Shape;3549;p1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50" name="Google Shape;3550;p110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1" name="Google Shape;3551;p110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52" name="Google Shape;3552;p110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553" name="Google Shape;3553;p1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4" name="Google Shape;3554;p1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5" name="Google Shape;3555;p1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6" name="Google Shape;3556;p1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7" name="Google Shape;3557;p110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110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110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110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110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62" name="Google Shape;3562;p1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3" name="Google Shape;3563;p110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64" name="Google Shape;3564;p1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2322" y="1966323"/>
            <a:ext cx="52586" cy="52586"/>
          </a:xfrm>
          <a:prstGeom prst="rect">
            <a:avLst/>
          </a:prstGeom>
          <a:noFill/>
          <a:ln>
            <a:noFill/>
          </a:ln>
        </p:spPr>
      </p:pic>
      <p:sp>
        <p:nvSpPr>
          <p:cNvPr id="3565" name="Google Shape;3565;p110"/>
          <p:cNvSpPr txBox="1"/>
          <p:nvPr/>
        </p:nvSpPr>
        <p:spPr>
          <a:xfrm>
            <a:off x="624390" y="1667981"/>
            <a:ext cx="235458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66" name="Google Shape;3566;p110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567" name="Google Shape;3567;p11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68" name="Google Shape;3568;p1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9" name="Google Shape;3569;p11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0" name="Google Shape;3570;p110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71" name="Google Shape;3571;p11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572" name="Google Shape;3572;p11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573" name="Google Shape;3573;p110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7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111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79" name="Google Shape;357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580" name="Google Shape;3580;p111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581" name="Google Shape;3581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2" name="Google Shape;3582;p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3" name="Google Shape;3583;p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4" name="Google Shape;3584;p1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85" name="Google Shape;3585;p111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6" name="Google Shape;3586;p111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87" name="Google Shape;3587;p111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588" name="Google Shape;3588;p1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9" name="Google Shape;3589;p1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0" name="Google Shape;3590;p1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1" name="Google Shape;3591;p1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2" name="Google Shape;3592;p111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111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111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111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111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97" name="Google Shape;3597;p1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8" name="Google Shape;3598;p111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599" name="Google Shape;3599;p111"/>
          <p:cNvGrpSpPr/>
          <p:nvPr/>
        </p:nvGrpSpPr>
        <p:grpSpPr>
          <a:xfrm>
            <a:off x="792322" y="1966323"/>
            <a:ext cx="52586" cy="204415"/>
            <a:chOff x="792322" y="1966323"/>
            <a:chExt cx="52586" cy="204415"/>
          </a:xfrm>
        </p:grpSpPr>
        <p:pic>
          <p:nvPicPr>
            <p:cNvPr id="3600" name="Google Shape;3600;p1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2322" y="196632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1" name="Google Shape;3601;p1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2322" y="2118152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02" name="Google Shape;3602;p111"/>
          <p:cNvSpPr txBox="1"/>
          <p:nvPr/>
        </p:nvSpPr>
        <p:spPr>
          <a:xfrm>
            <a:off x="624390" y="1667981"/>
            <a:ext cx="261810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03" name="Google Shape;3603;p111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604" name="Google Shape;3604;p11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05" name="Google Shape;3605;p11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6" name="Google Shape;3606;p11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7" name="Google Shape;3607;p111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08" name="Google Shape;3608;p11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609" name="Google Shape;3609;p11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610" name="Google Shape;3610;p111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4" name="Shape 3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5" name="Google Shape;3615;p112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16" name="Google Shape;3616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617" name="Google Shape;3617;p112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618" name="Google Shape;3618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9" name="Google Shape;3619;p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0" name="Google Shape;3620;p1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1" name="Google Shape;3621;p1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22" name="Google Shape;3622;p112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3" name="Google Shape;3623;p112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24" name="Google Shape;3624;p112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625" name="Google Shape;3625;p1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6" name="Google Shape;3626;p1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7" name="Google Shape;3627;p1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8" name="Google Shape;3628;p1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9" name="Google Shape;3629;p112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112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112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112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112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34" name="Google Shape;3634;p1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5" name="Google Shape;3635;p112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36" name="Google Shape;3636;p112"/>
          <p:cNvGrpSpPr/>
          <p:nvPr/>
        </p:nvGrpSpPr>
        <p:grpSpPr>
          <a:xfrm>
            <a:off x="792322" y="1966323"/>
            <a:ext cx="52586" cy="356246"/>
            <a:chOff x="792322" y="1966323"/>
            <a:chExt cx="52586" cy="356246"/>
          </a:xfrm>
        </p:grpSpPr>
        <p:pic>
          <p:nvPicPr>
            <p:cNvPr id="3637" name="Google Shape;3637;p1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2322" y="196632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8" name="Google Shape;3638;p1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2322" y="2118152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9" name="Google Shape;3639;p1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2322" y="226998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40" name="Google Shape;3640;p112"/>
          <p:cNvSpPr txBox="1"/>
          <p:nvPr/>
        </p:nvSpPr>
        <p:spPr>
          <a:xfrm>
            <a:off x="624390" y="1667981"/>
            <a:ext cx="261810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41" name="Google Shape;3641;p112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642" name="Google Shape;3642;p11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43" name="Google Shape;3643;p1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4" name="Google Shape;3644;p112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5" name="Google Shape;3645;p112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6" name="Google Shape;3646;p11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647" name="Google Shape;3647;p11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648" name="Google Shape;3648;p112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2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p113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54" name="Google Shape;365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655" name="Google Shape;3655;p113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656" name="Google Shape;3656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7" name="Google Shape;3657;p1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8" name="Google Shape;3658;p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9" name="Google Shape;3659;p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60" name="Google Shape;3660;p113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1" name="Google Shape;3661;p113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62" name="Google Shape;3662;p113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663" name="Google Shape;3663;p1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4" name="Google Shape;3664;p1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5" name="Google Shape;3665;p1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6" name="Google Shape;3666;p1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7" name="Google Shape;3667;p113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113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113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113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113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72" name="Google Shape;3672;p1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3" name="Google Shape;3673;p113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74" name="Google Shape;3674;p113"/>
          <p:cNvGrpSpPr/>
          <p:nvPr/>
        </p:nvGrpSpPr>
        <p:grpSpPr>
          <a:xfrm>
            <a:off x="449129" y="1966323"/>
            <a:ext cx="395779" cy="585897"/>
            <a:chOff x="449129" y="1966323"/>
            <a:chExt cx="395779" cy="585897"/>
          </a:xfrm>
        </p:grpSpPr>
        <p:pic>
          <p:nvPicPr>
            <p:cNvPr id="3675" name="Google Shape;3675;p1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2322" y="196632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6" name="Google Shape;3676;p11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2322" y="2118152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7" name="Google Shape;3677;p1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2322" y="226998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8" name="Google Shape;3678;p1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49129" y="2437997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79" name="Google Shape;3679;p113"/>
          <p:cNvSpPr txBox="1"/>
          <p:nvPr/>
        </p:nvSpPr>
        <p:spPr>
          <a:xfrm>
            <a:off x="472664" y="242652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0" name="Google Shape;3680;p113"/>
          <p:cNvSpPr txBox="1"/>
          <p:nvPr/>
        </p:nvSpPr>
        <p:spPr>
          <a:xfrm>
            <a:off x="624390" y="1667981"/>
            <a:ext cx="2618105" cy="9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predecessor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pointer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81" name="Google Shape;3681;p113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682" name="Google Shape;3682;p11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83" name="Google Shape;3683;p11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4" name="Google Shape;3684;p113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5" name="Google Shape;3685;p113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6" name="Google Shape;3686;p11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687" name="Google Shape;3687;p11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688" name="Google Shape;3688;p113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2" name="Shape 3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" name="Google Shape;3693;p114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94" name="Google Shape;369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695" name="Google Shape;3695;p114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696" name="Google Shape;3696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7" name="Google Shape;3697;p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8" name="Google Shape;3698;p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9" name="Google Shape;3699;p1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00" name="Google Shape;3700;p114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1" name="Google Shape;3701;p114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02" name="Google Shape;3702;p114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703" name="Google Shape;3703;p1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4" name="Google Shape;3704;p1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5" name="Google Shape;3705;p1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6" name="Google Shape;3706;p1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7" name="Google Shape;3707;p114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114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114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114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114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12" name="Google Shape;3712;p1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3" name="Google Shape;3713;p114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14" name="Google Shape;3714;p114"/>
          <p:cNvGrpSpPr/>
          <p:nvPr/>
        </p:nvGrpSpPr>
        <p:grpSpPr>
          <a:xfrm>
            <a:off x="449129" y="1966323"/>
            <a:ext cx="395779" cy="585897"/>
            <a:chOff x="449129" y="1966323"/>
            <a:chExt cx="395779" cy="585897"/>
          </a:xfrm>
        </p:grpSpPr>
        <p:pic>
          <p:nvPicPr>
            <p:cNvPr id="3715" name="Google Shape;3715;p1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2322" y="196632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6" name="Google Shape;3716;p1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2322" y="2118152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7" name="Google Shape;3717;p1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2322" y="226998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8" name="Google Shape;3718;p1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49129" y="2437997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9" name="Google Shape;3719;p114"/>
          <p:cNvSpPr txBox="1"/>
          <p:nvPr/>
        </p:nvSpPr>
        <p:spPr>
          <a:xfrm>
            <a:off x="472664" y="242652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20" name="Google Shape;3720;p1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9129" y="264803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3721" name="Google Shape;3721;p114"/>
          <p:cNvSpPr txBox="1"/>
          <p:nvPr/>
        </p:nvSpPr>
        <p:spPr>
          <a:xfrm>
            <a:off x="472664" y="263656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2" name="Google Shape;3722;p114"/>
          <p:cNvSpPr txBox="1"/>
          <p:nvPr/>
        </p:nvSpPr>
        <p:spPr>
          <a:xfrm>
            <a:off x="624390" y="1667981"/>
            <a:ext cx="2857500" cy="11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244475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predecessor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pointer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discovery time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(or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hops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the start)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23" name="Google Shape;3723;p114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724" name="Google Shape;3724;p11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25" name="Google Shape;3725;p1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6" name="Google Shape;3726;p11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7" name="Google Shape;3727;p114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8" name="Google Shape;3728;p11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729" name="Google Shape;3729;p11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730" name="Google Shape;3730;p114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115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36" name="Google Shape;373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737" name="Google Shape;3737;p115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 first search (DFS)</a:t>
            </a:r>
            <a:endParaRPr/>
          </a:p>
        </p:txBody>
      </p:sp>
      <p:pic>
        <p:nvPicPr>
          <p:cNvPr id="3738" name="Google Shape;3738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9" name="Google Shape;3739;p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65977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0" name="Google Shape;3740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86981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1" name="Google Shape;3741;p1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079844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42" name="Google Shape;3742;p115"/>
          <p:cNvSpPr/>
          <p:nvPr/>
        </p:nvSpPr>
        <p:spPr>
          <a:xfrm>
            <a:off x="309198" y="1496901"/>
            <a:ext cx="3989704" cy="186690"/>
          </a:xfrm>
          <a:custGeom>
            <a:rect b="b" l="l" r="r" t="t"/>
            <a:pathLst>
              <a:path extrusionOk="0" h="186689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3989652" y="18655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3" name="Google Shape;3743;p115"/>
          <p:cNvSpPr txBox="1"/>
          <p:nvPr/>
        </p:nvSpPr>
        <p:spPr>
          <a:xfrm>
            <a:off x="347299" y="532558"/>
            <a:ext cx="3789679" cy="113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9560" marR="124587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from an initial vertex. Recursively visits each adjacent vertex.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Strategy to search </a:t>
            </a:r>
            <a:r>
              <a:rPr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deeper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into the graph, unlike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BFS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which fans out.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during traversal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44" name="Google Shape;3744;p115"/>
          <p:cNvGrpSpPr/>
          <p:nvPr/>
        </p:nvGrpSpPr>
        <p:grpSpPr>
          <a:xfrm>
            <a:off x="309198" y="1541119"/>
            <a:ext cx="4040453" cy="1681382"/>
            <a:chOff x="309198" y="1541119"/>
            <a:chExt cx="4040453" cy="1681382"/>
          </a:xfrm>
        </p:grpSpPr>
        <p:pic>
          <p:nvPicPr>
            <p:cNvPr id="3745" name="Google Shape;3745;p1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198" y="1670805"/>
              <a:ext cx="3989652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6" name="Google Shape;3746;p1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9999" y="312090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7" name="Google Shape;3747;p1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10799" y="3108200"/>
              <a:ext cx="3938850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8" name="Google Shape;3748;p1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298851" y="1541119"/>
              <a:ext cx="50800" cy="1579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9" name="Google Shape;3749;p115"/>
            <p:cNvSpPr/>
            <p:nvPr/>
          </p:nvSpPr>
          <p:spPr>
            <a:xfrm>
              <a:off x="309198" y="1715072"/>
              <a:ext cx="3989704" cy="1456690"/>
            </a:xfrm>
            <a:custGeom>
              <a:rect b="b" l="l" r="r" t="t"/>
              <a:pathLst>
                <a:path extrusionOk="0" h="1456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405827"/>
                  </a:lnTo>
                  <a:lnTo>
                    <a:pt x="4008" y="1425552"/>
                  </a:lnTo>
                  <a:lnTo>
                    <a:pt x="14922" y="1441705"/>
                  </a:lnTo>
                  <a:lnTo>
                    <a:pt x="31075" y="1452619"/>
                  </a:lnTo>
                  <a:lnTo>
                    <a:pt x="50800" y="1456628"/>
                  </a:lnTo>
                  <a:lnTo>
                    <a:pt x="3938852" y="1456628"/>
                  </a:lnTo>
                  <a:lnTo>
                    <a:pt x="3958576" y="1452619"/>
                  </a:lnTo>
                  <a:lnTo>
                    <a:pt x="3974729" y="1441705"/>
                  </a:lnTo>
                  <a:lnTo>
                    <a:pt x="3985644" y="1425552"/>
                  </a:lnTo>
                  <a:lnTo>
                    <a:pt x="3989652" y="1405827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9E9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115"/>
            <p:cNvSpPr/>
            <p:nvPr/>
          </p:nvSpPr>
          <p:spPr>
            <a:xfrm>
              <a:off x="4298851" y="1579219"/>
              <a:ext cx="0" cy="1560830"/>
            </a:xfrm>
            <a:custGeom>
              <a:rect b="b" l="l" r="r" t="t"/>
              <a:pathLst>
                <a:path extrusionOk="0" h="1560830" w="120000">
                  <a:moveTo>
                    <a:pt x="0" y="156073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115"/>
            <p:cNvSpPr/>
            <p:nvPr/>
          </p:nvSpPr>
          <p:spPr>
            <a:xfrm>
              <a:off x="4298851" y="15665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115"/>
            <p:cNvSpPr/>
            <p:nvPr/>
          </p:nvSpPr>
          <p:spPr>
            <a:xfrm>
              <a:off x="4298851" y="15538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115"/>
            <p:cNvSpPr/>
            <p:nvPr/>
          </p:nvSpPr>
          <p:spPr>
            <a:xfrm>
              <a:off x="4298851" y="1541119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54" name="Google Shape;3754;p1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9129" y="1747168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55" name="Google Shape;3755;p115"/>
          <p:cNvSpPr txBox="1"/>
          <p:nvPr/>
        </p:nvSpPr>
        <p:spPr>
          <a:xfrm>
            <a:off x="472664" y="173569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56" name="Google Shape;3756;p115"/>
          <p:cNvGrpSpPr/>
          <p:nvPr/>
        </p:nvGrpSpPr>
        <p:grpSpPr>
          <a:xfrm>
            <a:off x="449129" y="1966323"/>
            <a:ext cx="395779" cy="585897"/>
            <a:chOff x="449129" y="1966323"/>
            <a:chExt cx="395779" cy="585897"/>
          </a:xfrm>
        </p:grpSpPr>
        <p:pic>
          <p:nvPicPr>
            <p:cNvPr id="3757" name="Google Shape;3757;p1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2322" y="196632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8" name="Google Shape;3758;p1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2322" y="2118152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9" name="Google Shape;3759;p1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2322" y="2269983"/>
              <a:ext cx="52586" cy="52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0" name="Google Shape;3760;p11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49129" y="2437997"/>
              <a:ext cx="114223" cy="114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61" name="Google Shape;3761;p115"/>
          <p:cNvSpPr txBox="1"/>
          <p:nvPr/>
        </p:nvSpPr>
        <p:spPr>
          <a:xfrm>
            <a:off x="472664" y="242652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62" name="Google Shape;3762;p1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9129" y="2648030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3763" name="Google Shape;3763;p115"/>
          <p:cNvSpPr txBox="1"/>
          <p:nvPr/>
        </p:nvSpPr>
        <p:spPr>
          <a:xfrm>
            <a:off x="472664" y="263656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64" name="Google Shape;3764;p1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9129" y="2858062"/>
            <a:ext cx="114223" cy="114223"/>
          </a:xfrm>
          <a:prstGeom prst="rect">
            <a:avLst/>
          </a:prstGeom>
          <a:noFill/>
          <a:ln>
            <a:noFill/>
          </a:ln>
        </p:spPr>
      </p:pic>
      <p:sp>
        <p:nvSpPr>
          <p:cNvPr id="3765" name="Google Shape;3765;p115"/>
          <p:cNvSpPr txBox="1"/>
          <p:nvPr/>
        </p:nvSpPr>
        <p:spPr>
          <a:xfrm>
            <a:off x="472664" y="284659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66" name="Google Shape;3766;p115"/>
          <p:cNvSpPr txBox="1"/>
          <p:nvPr/>
        </p:nvSpPr>
        <p:spPr>
          <a:xfrm>
            <a:off x="624390" y="1667981"/>
            <a:ext cx="3189605" cy="149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each vertex visited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rtl="0" algn="l">
              <a:lnSpc>
                <a:spcPct val="12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white: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undiscovered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9560" marR="5765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gray: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but not finished processing black: </a:t>
            </a:r>
            <a:r>
              <a:rPr lang="en-US" sz="1000">
                <a:solidFill>
                  <a:srgbClr val="3C7F31"/>
                </a:solidFill>
                <a:latin typeface="Trebuchet MS"/>
                <a:ea typeface="Trebuchet MS"/>
                <a:cs typeface="Trebuchet MS"/>
                <a:sym typeface="Trebuchet MS"/>
              </a:rPr>
              <a:t>finished </a:t>
            </a:r>
            <a:r>
              <a:rPr lang="en-US" sz="1000"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predecessor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pointer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discovery time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(or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hops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from the start)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: the </a:t>
            </a:r>
            <a:r>
              <a:rPr lang="en-US" sz="1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finish time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– when processing of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all its descendants have finished.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767" name="Google Shape;3767;p115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768" name="Google Shape;3768;p11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69" name="Google Shape;3769;p1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021202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0" name="Google Shape;3770;p11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1" name="Google Shape;3771;p115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72" name="Google Shape;3772;p11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773" name="Google Shape;3773;p11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774" name="Google Shape;3774;p115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34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8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9" name="Google Shape;3779;p11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80" name="Google Shape;3780;p11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1" name="Google Shape;3781;p11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82" name="Google Shape;3782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783" name="Google Shape;3783;p116"/>
          <p:cNvSpPr txBox="1"/>
          <p:nvPr/>
        </p:nvSpPr>
        <p:spPr>
          <a:xfrm>
            <a:off x="154766" y="121020"/>
            <a:ext cx="11144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DFS algorithm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84" name="Google Shape;3784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785" name="Google Shape;3785;p116"/>
          <p:cNvSpPr txBox="1"/>
          <p:nvPr/>
        </p:nvSpPr>
        <p:spPr>
          <a:xfrm>
            <a:off x="347298" y="518786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786" name="Google Shape;3786;p116"/>
          <p:cNvSpPr txBox="1"/>
          <p:nvPr/>
        </p:nvSpPr>
        <p:spPr>
          <a:xfrm>
            <a:off x="358052" y="867995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7" name="Google Shape;3787;p116"/>
          <p:cNvSpPr txBox="1"/>
          <p:nvPr/>
        </p:nvSpPr>
        <p:spPr>
          <a:xfrm>
            <a:off x="797095" y="867995"/>
            <a:ext cx="107886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17399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88" name="Google Shape;3788;p116"/>
          <p:cNvSpPr txBox="1"/>
          <p:nvPr/>
        </p:nvSpPr>
        <p:spPr>
          <a:xfrm>
            <a:off x="358052" y="1146351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789" name="Google Shape;3789;p116"/>
          <p:cNvSpPr txBox="1"/>
          <p:nvPr/>
        </p:nvSpPr>
        <p:spPr>
          <a:xfrm>
            <a:off x="358052" y="1424707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0" name="Google Shape;3790;p116"/>
          <p:cNvSpPr txBox="1"/>
          <p:nvPr/>
        </p:nvSpPr>
        <p:spPr>
          <a:xfrm>
            <a:off x="797095" y="1424707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791" name="Google Shape;3791;p116"/>
          <p:cNvSpPr txBox="1"/>
          <p:nvPr/>
        </p:nvSpPr>
        <p:spPr>
          <a:xfrm>
            <a:off x="347299" y="1768225"/>
            <a:ext cx="194183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, 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9420" lvl="0" marL="46228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6280" lvl="0" marL="73914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789" lvl="0" marL="100965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92" name="Google Shape;3792;p11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3793" name="Google Shape;3793;p11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4" name="Google Shape;3794;p1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5" name="Google Shape;3795;p11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6" name="Google Shape;3796;p116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97" name="Google Shape;3797;p11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3798" name="Google Shape;3798;p11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3799" name="Google Shape;3799;p116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35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3" name="Shape 3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Google Shape;3804;p11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5" name="Google Shape;3805;p11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6" name="Google Shape;3806;p11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07" name="Google Shape;380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808" name="Google Shape;3808;p117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09" name="Google Shape;3809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10" name="Google Shape;3810;p117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11" name="Google Shape;3811;p117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12" name="Google Shape;3812;p117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13" name="Google Shape;3813;p117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14" name="Google Shape;3814;p117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15" name="Google Shape;3815;p117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16" name="Google Shape;3816;p117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17" name="Google Shape;3817;p117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18" name="Google Shape;3818;p117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819" name="Google Shape;3819;p1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356748"/>
            <a:ext cx="1741932" cy="95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0" name="Google Shape;3820;p117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1" name="Google Shape;3821;p117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22" name="Google Shape;3822;p117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823" name="Google Shape;3823;p1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4" name="Google Shape;3824;p11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25" name="Google Shape;3825;p117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26" name="Google Shape;3826;p117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0" name="Shape 3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1" name="Google Shape;3831;p11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32" name="Google Shape;3832;p11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3" name="Google Shape;3833;p11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34" name="Google Shape;3834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835" name="Google Shape;3835;p118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36" name="Google Shape;3836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37" name="Google Shape;3837;p118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38" name="Google Shape;3838;p118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9" name="Google Shape;3839;p118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40" name="Google Shape;3840;p118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41" name="Google Shape;3841;p118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42" name="Google Shape;3842;p118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43" name="Google Shape;3843;p118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44" name="Google Shape;3844;p118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45" name="Google Shape;3845;p118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846" name="Google Shape;3846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3847" name="Google Shape;3847;p118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8" name="Google Shape;3848;p118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49" name="Google Shape;3849;p118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850" name="Google Shape;3850;p1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1" name="Google Shape;3851;p11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52" name="Google Shape;3852;p118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53" name="Google Shape;3853;p118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11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59" name="Google Shape;3859;p11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0" name="Google Shape;3860;p11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61" name="Google Shape;3861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862" name="Google Shape;3862;p119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63" name="Google Shape;3863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64" name="Google Shape;3864;p119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65" name="Google Shape;3865;p119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6" name="Google Shape;3866;p119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67" name="Google Shape;3867;p119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8" name="Google Shape;3868;p119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69" name="Google Shape;3869;p119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70" name="Google Shape;3870;p119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71" name="Google Shape;3871;p119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72" name="Google Shape;3872;p119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873" name="Google Shape;3873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083564"/>
          </a:xfrm>
          <a:prstGeom prst="rect">
            <a:avLst/>
          </a:prstGeom>
          <a:noFill/>
          <a:ln>
            <a:noFill/>
          </a:ln>
        </p:spPr>
      </p:pic>
      <p:sp>
        <p:nvSpPr>
          <p:cNvPr id="3874" name="Google Shape;3874;p119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5" name="Google Shape;3875;p119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76" name="Google Shape;3876;p119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877" name="Google Shape;3877;p1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78" name="Google Shape;3878;p11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9" name="Google Shape;3879;p119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0" name="Google Shape;3880;p119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4" name="Shape 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Google Shape;3885;p12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6" name="Google Shape;3886;p12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7" name="Google Shape;3887;p12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88" name="Google Shape;3888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889" name="Google Shape;3889;p120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90" name="Google Shape;3890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91" name="Google Shape;3891;p120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92" name="Google Shape;3892;p120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3" name="Google Shape;3893;p120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94" name="Google Shape;3894;p120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5" name="Google Shape;3895;p120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96" name="Google Shape;3896;p120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97" name="Google Shape;3897;p120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8" name="Google Shape;3898;p120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899" name="Google Shape;3899;p120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900" name="Google Shape;3900;p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3901" name="Google Shape;3901;p120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2" name="Google Shape;3902;p120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903" name="Google Shape;3903;p120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904" name="Google Shape;3904;p1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5" name="Google Shape;3905;p12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6" name="Google Shape;3906;p120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07" name="Google Shape;3907;p120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1" name="Shape 3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2" name="Google Shape;3912;p12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13" name="Google Shape;3913;p12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p12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15" name="Google Shape;3915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916" name="Google Shape;3916;p121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17" name="Google Shape;3917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918" name="Google Shape;3918;p121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19" name="Google Shape;3919;p121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0" name="Google Shape;3920;p121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21" name="Google Shape;3921;p121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2" name="Google Shape;3922;p121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23" name="Google Shape;3923;p121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24" name="Google Shape;3924;p121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5" name="Google Shape;3925;p121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26" name="Google Shape;3926;p121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927" name="Google Shape;3927;p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3928" name="Google Shape;3928;p121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9" name="Google Shape;3929;p121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930" name="Google Shape;3930;p121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931" name="Google Shape;3931;p1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2" name="Google Shape;3932;p12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3" name="Google Shape;3933;p121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34" name="Google Shape;3934;p121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8" name="Shape 3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9" name="Google Shape;3939;p12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40" name="Google Shape;3940;p12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1" name="Google Shape;3941;p12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42" name="Google Shape;3942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943" name="Google Shape;3943;p122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44" name="Google Shape;3944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945" name="Google Shape;3945;p122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46" name="Google Shape;3946;p122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47" name="Google Shape;3947;p122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48" name="Google Shape;3948;p122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49" name="Google Shape;3949;p122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50" name="Google Shape;3950;p122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51" name="Google Shape;3951;p122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52" name="Google Shape;3952;p122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53" name="Google Shape;3953;p122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954" name="Google Shape;3954;p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3955" name="Google Shape;3955;p122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6" name="Google Shape;3956;p122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957" name="Google Shape;3957;p122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958" name="Google Shape;3958;p1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9" name="Google Shape;3959;p122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0" name="Google Shape;3960;p122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61" name="Google Shape;3961;p122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5" name="Shape 3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6" name="Google Shape;3966;p123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67" name="Google Shape;3967;p123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8" name="Google Shape;3968;p123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69" name="Google Shape;396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970" name="Google Shape;3970;p123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71" name="Google Shape;3971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972" name="Google Shape;3972;p123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73" name="Google Shape;3973;p123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74" name="Google Shape;3974;p123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75" name="Google Shape;3975;p123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76" name="Google Shape;3976;p123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77" name="Google Shape;3977;p123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78" name="Google Shape;3978;p123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79" name="Google Shape;3979;p123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980" name="Google Shape;3980;p123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981" name="Google Shape;3981;p1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3982" name="Google Shape;3982;p123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3" name="Google Shape;3983;p123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984" name="Google Shape;3984;p123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3985" name="Google Shape;3985;p1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6" name="Google Shape;3986;p123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7" name="Google Shape;3987;p123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8" name="Google Shape;3988;p123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2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124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94" name="Google Shape;3994;p124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5" name="Google Shape;3995;p124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96" name="Google Shape;3996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997" name="Google Shape;3997;p124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98" name="Google Shape;3998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999" name="Google Shape;3999;p124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00" name="Google Shape;4000;p124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1" name="Google Shape;4001;p124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02" name="Google Shape;4002;p124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3" name="Google Shape;4003;p124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04" name="Google Shape;4004;p124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05" name="Google Shape;4005;p124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6" name="Google Shape;4006;p124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07" name="Google Shape;4007;p124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008" name="Google Shape;4008;p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009" name="Google Shape;4009;p124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Google Shape;4010;p124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11" name="Google Shape;4011;p124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012" name="Google Shape;4012;p1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3" name="Google Shape;4013;p124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14" name="Google Shape;4014;p124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15" name="Google Shape;4015;p124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9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125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21" name="Google Shape;4021;p125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Google Shape;4022;p125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23" name="Google Shape;4023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024" name="Google Shape;4024;p125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25" name="Google Shape;4025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026" name="Google Shape;4026;p125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27" name="Google Shape;4027;p125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8" name="Google Shape;4028;p125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29" name="Google Shape;4029;p125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0" name="Google Shape;4030;p125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31" name="Google Shape;4031;p125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32" name="Google Shape;4032;p125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3" name="Google Shape;4033;p125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34" name="Google Shape;4034;p125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035" name="Google Shape;4035;p1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036" name="Google Shape;4036;p125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7" name="Google Shape;4037;p125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38" name="Google Shape;4038;p125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039" name="Google Shape;4039;p1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0" name="Google Shape;4040;p125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1" name="Google Shape;4041;p125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2" name="Google Shape;4042;p125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p126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8" name="Google Shape;4048;p126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9" name="Google Shape;4049;p126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50" name="Google Shape;4050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051" name="Google Shape;4051;p126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52" name="Google Shape;4052;p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053" name="Google Shape;4053;p126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54" name="Google Shape;4054;p126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55" name="Google Shape;4055;p126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6" name="Google Shape;4056;p126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57" name="Google Shape;4057;p126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8" name="Google Shape;4058;p126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59" name="Google Shape;4059;p126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0" name="Google Shape;4060;p126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61" name="Google Shape;4061;p126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062" name="Google Shape;4062;p1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063" name="Google Shape;4063;p126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4" name="Google Shape;4064;p126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65" name="Google Shape;4065;p126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066" name="Google Shape;4066;p1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7" name="Google Shape;4067;p12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8" name="Google Shape;4068;p126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69" name="Google Shape;4069;p126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3" name="Shape 4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4" name="Google Shape;4074;p127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5" name="Google Shape;4075;p127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6" name="Google Shape;4076;p127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77" name="Google Shape;4077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078" name="Google Shape;4078;p127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79" name="Google Shape;4079;p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080" name="Google Shape;4080;p127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81" name="Google Shape;4081;p127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2" name="Google Shape;4082;p127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83" name="Google Shape;4083;p127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4" name="Google Shape;4084;p127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85" name="Google Shape;4085;p127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86" name="Google Shape;4086;p127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7" name="Google Shape;4087;p127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88" name="Google Shape;4088;p127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089" name="Google Shape;4089;p1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090" name="Google Shape;4090;p127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1" name="Google Shape;4091;p127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92" name="Google Shape;4092;p127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093" name="Google Shape;4093;p1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4" name="Google Shape;4094;p12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5" name="Google Shape;4095;p127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96" name="Google Shape;4096;p127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0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p128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02" name="Google Shape;4102;p128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3" name="Google Shape;4103;p128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04" name="Google Shape;4104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05" name="Google Shape;4105;p128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06" name="Google Shape;4106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07" name="Google Shape;4107;p128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08" name="Google Shape;4108;p128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09" name="Google Shape;4109;p128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10" name="Google Shape;4110;p128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11" name="Google Shape;4111;p128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12" name="Google Shape;4112;p128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13" name="Google Shape;4113;p128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14" name="Google Shape;4114;p128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15" name="Google Shape;4115;p128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116" name="Google Shape;4116;p1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117" name="Google Shape;4117;p128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8" name="Google Shape;4118;p128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119" name="Google Shape;4119;p128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120" name="Google Shape;4120;p1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1" name="Google Shape;4121;p12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2" name="Google Shape;4122;p128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3" name="Google Shape;4123;p128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7" name="Shape 4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Google Shape;4128;p129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9" name="Google Shape;4129;p129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0" name="Google Shape;4130;p129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31" name="Google Shape;4131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32" name="Google Shape;4132;p129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33" name="Google Shape;4133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34" name="Google Shape;4134;p129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35" name="Google Shape;4135;p129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6" name="Google Shape;4136;p129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37" name="Google Shape;4137;p129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8" name="Google Shape;4138;p129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39" name="Google Shape;4139;p129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40" name="Google Shape;4140;p129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41" name="Google Shape;4141;p129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42" name="Google Shape;4142;p129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143" name="Google Shape;4143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41932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144" name="Google Shape;4144;p129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5" name="Google Shape;4145;p129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146" name="Google Shape;4146;p129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147" name="Google Shape;4147;p1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8" name="Google Shape;4148;p12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9" name="Google Shape;4149;p129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50" name="Google Shape;4150;p129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p130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56" name="Google Shape;4156;p130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7" name="Google Shape;4157;p130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58" name="Google Shape;4158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59" name="Google Shape;4159;p130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60" name="Google Shape;4160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61" name="Google Shape;4161;p130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62" name="Google Shape;4162;p130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3" name="Google Shape;4163;p130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64" name="Google Shape;4164;p130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5" name="Google Shape;4165;p130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66" name="Google Shape;4166;p130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67" name="Google Shape;4167;p130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8" name="Google Shape;4168;p130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69" name="Google Shape;4169;p130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170" name="Google Shape;4170;p1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37360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171" name="Google Shape;4171;p130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2" name="Google Shape;4172;p130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173" name="Google Shape;4173;p130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174" name="Google Shape;4174;p1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5" name="Google Shape;4175;p13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6" name="Google Shape;4176;p130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77" name="Google Shape;4177;p130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1" name="Shape 4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2" name="Google Shape;4182;p131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83" name="Google Shape;4183;p131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4" name="Google Shape;4184;p131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85" name="Google Shape;4185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186" name="Google Shape;4186;p131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87" name="Google Shape;4187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188" name="Google Shape;4188;p131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89" name="Google Shape;4189;p131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90" name="Google Shape;4190;p131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91" name="Google Shape;4191;p131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92" name="Google Shape;4192;p131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93" name="Google Shape;4193;p131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94" name="Google Shape;4194;p131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95" name="Google Shape;4195;p131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96" name="Google Shape;4196;p131"/>
          <p:cNvSpPr txBox="1"/>
          <p:nvPr/>
        </p:nvSpPr>
        <p:spPr>
          <a:xfrm>
            <a:off x="227299" y="1820842"/>
            <a:ext cx="8718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197" name="Google Shape;4197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37360" cy="113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198" name="Google Shape;4198;p131"/>
          <p:cNvSpPr/>
          <p:nvPr/>
        </p:nvSpPr>
        <p:spPr>
          <a:xfrm>
            <a:off x="0" y="3329872"/>
            <a:ext cx="2304415" cy="126364"/>
          </a:xfrm>
          <a:custGeom>
            <a:rect b="b" l="l" r="r" t="t"/>
            <a:pathLst>
              <a:path extrusionOk="0" h="126364" w="2304415">
                <a:moveTo>
                  <a:pt x="2303999" y="0"/>
                </a:moveTo>
                <a:lnTo>
                  <a:pt x="-1" y="0"/>
                </a:lnTo>
                <a:lnTo>
                  <a:pt x="-1" y="126128"/>
                </a:lnTo>
                <a:lnTo>
                  <a:pt x="2303999" y="126128"/>
                </a:lnTo>
                <a:lnTo>
                  <a:pt x="23039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9" name="Google Shape;4199;p131"/>
          <p:cNvSpPr txBox="1"/>
          <p:nvPr/>
        </p:nvSpPr>
        <p:spPr>
          <a:xfrm>
            <a:off x="238052" y="1994181"/>
            <a:ext cx="1768475" cy="14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8784" lvl="0" marL="451484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5645" lvl="0" marL="72834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155" lvl="0" marL="99885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28067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	Licensed under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200" name="Google Shape;4200;p131"/>
          <p:cNvGrpSpPr/>
          <p:nvPr/>
        </p:nvGrpSpPr>
        <p:grpSpPr>
          <a:xfrm>
            <a:off x="2021202" y="3329872"/>
            <a:ext cx="2587212" cy="126364"/>
            <a:chOff x="2021202" y="3329872"/>
            <a:chExt cx="2587212" cy="126364"/>
          </a:xfrm>
        </p:grpSpPr>
        <p:pic>
          <p:nvPicPr>
            <p:cNvPr id="4201" name="Google Shape;4201;p1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2" name="Google Shape;4202;p13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3" name="Google Shape;4203;p131"/>
          <p:cNvSpPr txBox="1"/>
          <p:nvPr/>
        </p:nvSpPr>
        <p:spPr>
          <a:xfrm>
            <a:off x="2399300" y="3328243"/>
            <a:ext cx="76263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CSE 221: Algorithms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04" name="Google Shape;4204;p131"/>
          <p:cNvSpPr txBox="1"/>
          <p:nvPr/>
        </p:nvSpPr>
        <p:spPr>
          <a:xfrm>
            <a:off x="4250728" y="3328243"/>
            <a:ext cx="26225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8" name="Shape 4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Google Shape;4209;p132"/>
          <p:cNvSpPr txBox="1"/>
          <p:nvPr/>
        </p:nvSpPr>
        <p:spPr>
          <a:xfrm>
            <a:off x="1386757" y="-1629"/>
            <a:ext cx="82232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10" name="Google Shape;4210;p132"/>
          <p:cNvSpPr/>
          <p:nvPr/>
        </p:nvSpPr>
        <p:spPr>
          <a:xfrm>
            <a:off x="2303999" y="0"/>
            <a:ext cx="2304415" cy="123825"/>
          </a:xfrm>
          <a:custGeom>
            <a:rect b="b" l="l" r="r" t="t"/>
            <a:pathLst>
              <a:path extrusionOk="0" h="123825" w="2304415">
                <a:moveTo>
                  <a:pt x="0" y="123597"/>
                </a:moveTo>
                <a:lnTo>
                  <a:pt x="2304000" y="123597"/>
                </a:lnTo>
                <a:lnTo>
                  <a:pt x="2304000" y="0"/>
                </a:lnTo>
                <a:lnTo>
                  <a:pt x="0" y="0"/>
                </a:lnTo>
                <a:lnTo>
                  <a:pt x="0" y="123597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1" name="Google Shape;4211;p132"/>
          <p:cNvSpPr txBox="1"/>
          <p:nvPr/>
        </p:nvSpPr>
        <p:spPr>
          <a:xfrm>
            <a:off x="2399300" y="-1629"/>
            <a:ext cx="106299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12" name="Google Shape;4212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213" name="Google Shape;4213;p132"/>
          <p:cNvSpPr txBox="1"/>
          <p:nvPr/>
        </p:nvSpPr>
        <p:spPr>
          <a:xfrm>
            <a:off x="154766" y="121020"/>
            <a:ext cx="145351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of DFS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14" name="Google Shape;4214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sp>
        <p:nvSpPr>
          <p:cNvPr id="4215" name="Google Shape;4215;p132"/>
          <p:cNvSpPr txBox="1"/>
          <p:nvPr/>
        </p:nvSpPr>
        <p:spPr>
          <a:xfrm>
            <a:off x="227299" y="499617"/>
            <a:ext cx="1449705" cy="37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900">
                <a:latin typeface="Verdana"/>
                <a:ea typeface="Verdana"/>
                <a:cs typeface="Verdana"/>
                <a:sym typeface="Verdana"/>
              </a:rPr>
              <a:t>¢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= 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, 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  </a:t>
            </a: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216" name="Google Shape;4216;p132"/>
          <p:cNvSpPr txBox="1"/>
          <p:nvPr/>
        </p:nvSpPr>
        <p:spPr>
          <a:xfrm>
            <a:off x="238052" y="848827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2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7" name="Google Shape;4217;p132"/>
          <p:cNvSpPr txBox="1"/>
          <p:nvPr/>
        </p:nvSpPr>
        <p:spPr>
          <a:xfrm>
            <a:off x="677095" y="848827"/>
            <a:ext cx="10788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18" name="Google Shape;4218;p132"/>
          <p:cNvSpPr txBox="1"/>
          <p:nvPr/>
        </p:nvSpPr>
        <p:spPr>
          <a:xfrm>
            <a:off x="238052" y="988005"/>
            <a:ext cx="844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3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9" name="Google Shape;4219;p132"/>
          <p:cNvSpPr txBox="1"/>
          <p:nvPr/>
        </p:nvSpPr>
        <p:spPr>
          <a:xfrm>
            <a:off x="838732" y="988005"/>
            <a:ext cx="5746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il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20" name="Google Shape;4220;p132"/>
          <p:cNvSpPr txBox="1"/>
          <p:nvPr/>
        </p:nvSpPr>
        <p:spPr>
          <a:xfrm>
            <a:off x="238052" y="1127183"/>
            <a:ext cx="143954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165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0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 startAt="4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221" name="Google Shape;4221;p132"/>
          <p:cNvSpPr txBox="1"/>
          <p:nvPr/>
        </p:nvSpPr>
        <p:spPr>
          <a:xfrm>
            <a:off x="238052" y="1405539"/>
            <a:ext cx="844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Tahoma"/>
                <a:ea typeface="Tahoma"/>
                <a:cs typeface="Tahoma"/>
                <a:sym typeface="Tahoma"/>
              </a:rPr>
              <a:t>7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2" name="Google Shape;4222;p132"/>
          <p:cNvSpPr txBox="1"/>
          <p:nvPr/>
        </p:nvSpPr>
        <p:spPr>
          <a:xfrm>
            <a:off x="677095" y="1405539"/>
            <a:ext cx="121539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0" lvl="0" marL="2889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223" name="Google Shape;4223;p132"/>
          <p:cNvSpPr txBox="1"/>
          <p:nvPr/>
        </p:nvSpPr>
        <p:spPr>
          <a:xfrm>
            <a:off x="227299" y="1784150"/>
            <a:ext cx="1726564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G, 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ray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each vertex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Adj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439420" lvl="0" marL="46228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do if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=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white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716280" lvl="0" marL="73914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b="1" lang="en-US" sz="900">
                <a:latin typeface="Trebuchet MS"/>
                <a:ea typeface="Trebuchet MS"/>
                <a:cs typeface="Trebuchet MS"/>
                <a:sym typeface="Trebuchet MS"/>
              </a:rPr>
              <a:t>then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986789" lvl="0" marL="100965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lang="en-US" sz="900">
                <a:latin typeface="Georgia"/>
                <a:ea typeface="Georgia"/>
                <a:cs typeface="Georgia"/>
                <a:sym typeface="Georgia"/>
              </a:rPr>
              <a:t>DFS-v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isit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color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lang="en-US" sz="900" cap="small">
                <a:latin typeface="Georgia"/>
                <a:ea typeface="Georgia"/>
                <a:cs typeface="Georgia"/>
                <a:sym typeface="Georgia"/>
              </a:rPr>
              <a:t>black</a:t>
            </a:r>
            <a:endParaRPr sz="900">
              <a:latin typeface="Georgia"/>
              <a:ea typeface="Georgia"/>
              <a:cs typeface="Georgia"/>
              <a:sym typeface="Georgia"/>
            </a:endParaRPr>
          </a:p>
          <a:p>
            <a:pPr indent="-177165" lvl="0" marL="20002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900"/>
              <a:buFont typeface="Tahoma"/>
              <a:buAutoNum type="arabicPlain"/>
            </a:pP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[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] ←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-US" sz="9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900">
                <a:latin typeface="Tahoma"/>
                <a:ea typeface="Tahoma"/>
                <a:cs typeface="Tahoma"/>
                <a:sym typeface="Tahoma"/>
              </a:rPr>
              <a:t>1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224" name="Google Shape;4224;p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1601" y="1228732"/>
            <a:ext cx="1737360" cy="1133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5" name="Google Shape;4225;p132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226" name="Google Shape;4226;p132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27" name="Google Shape;4227;p1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2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8" name="Google Shape;4228;p132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9" name="Google Shape;4229;p132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30" name="Google Shape;4230;p132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231" name="Google Shape;4231;p132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232" name="Google Shape;4232;p132"/>
          <p:cNvSpPr txBox="1"/>
          <p:nvPr>
            <p:ph idx="12" type="sldNum"/>
          </p:nvPr>
        </p:nvSpPr>
        <p:spPr>
          <a:xfrm>
            <a:off x="4225328" y="3333480"/>
            <a:ext cx="287654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36 / 38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6" name="Shape 4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7" name="Google Shape;4237;p133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38" name="Google Shape;423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239" name="Google Shape;4239;p133"/>
          <p:cNvSpPr txBox="1"/>
          <p:nvPr>
            <p:ph type="title"/>
          </p:nvPr>
        </p:nvSpPr>
        <p:spPr>
          <a:xfrm>
            <a:off x="154766" y="121020"/>
            <a:ext cx="321754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 first search (DFS) tree (or, forest)</a:t>
            </a:r>
            <a:endParaRPr/>
          </a:p>
        </p:txBody>
      </p:sp>
      <p:grpSp>
        <p:nvGrpSpPr>
          <p:cNvPr id="4240" name="Google Shape;4240;p133"/>
          <p:cNvGrpSpPr/>
          <p:nvPr/>
        </p:nvGrpSpPr>
        <p:grpSpPr>
          <a:xfrm>
            <a:off x="0" y="381711"/>
            <a:ext cx="4607999" cy="1408188"/>
            <a:chOff x="0" y="381711"/>
            <a:chExt cx="4607999" cy="1408188"/>
          </a:xfrm>
        </p:grpSpPr>
        <p:pic>
          <p:nvPicPr>
            <p:cNvPr id="4241" name="Google Shape;4241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2" name="Google Shape;4242;p1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9600" y="418299"/>
              <a:ext cx="1828800" cy="137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43" name="Google Shape;4243;p133"/>
          <p:cNvSpPr txBox="1"/>
          <p:nvPr/>
        </p:nvSpPr>
        <p:spPr>
          <a:xfrm>
            <a:off x="2248965" y="1810729"/>
            <a:ext cx="11048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⇓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244" name="Google Shape;4244;p1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9600" y="2129579"/>
            <a:ext cx="1737360" cy="1133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5" name="Google Shape;4245;p133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4246" name="Google Shape;4246;p133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47" name="Google Shape;4247;p1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8" name="Google Shape;4248;p133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9" name="Google Shape;4249;p133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50" name="Google Shape;4250;p133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251" name="Google Shape;4251;p133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252" name="Google Shape;4252;p133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6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7" name="Google Shape;4257;p134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58" name="Google Shape;4258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259" name="Google Shape;4259;p134"/>
          <p:cNvSpPr txBox="1"/>
          <p:nvPr>
            <p:ph type="title"/>
          </p:nvPr>
        </p:nvSpPr>
        <p:spPr>
          <a:xfrm>
            <a:off x="154766" y="121020"/>
            <a:ext cx="321754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 first search (DFS) tree (or, forest)</a:t>
            </a:r>
            <a:endParaRPr/>
          </a:p>
        </p:txBody>
      </p:sp>
      <p:grpSp>
        <p:nvGrpSpPr>
          <p:cNvPr id="4260" name="Google Shape;4260;p134"/>
          <p:cNvGrpSpPr/>
          <p:nvPr/>
        </p:nvGrpSpPr>
        <p:grpSpPr>
          <a:xfrm>
            <a:off x="0" y="381711"/>
            <a:ext cx="4607999" cy="1408188"/>
            <a:chOff x="0" y="381711"/>
            <a:chExt cx="4607999" cy="1408188"/>
          </a:xfrm>
        </p:grpSpPr>
        <p:pic>
          <p:nvPicPr>
            <p:cNvPr id="4261" name="Google Shape;4261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2" name="Google Shape;4262;p1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9600" y="418299"/>
              <a:ext cx="1828800" cy="137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63" name="Google Shape;4263;p134"/>
          <p:cNvSpPr txBox="1"/>
          <p:nvPr/>
        </p:nvSpPr>
        <p:spPr>
          <a:xfrm>
            <a:off x="2248965" y="1810729"/>
            <a:ext cx="11048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⇓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264" name="Google Shape;4264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9600" y="2129579"/>
            <a:ext cx="1618488" cy="1133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5" name="Google Shape;4265;p134"/>
          <p:cNvGrpSpPr/>
          <p:nvPr/>
        </p:nvGrpSpPr>
        <p:grpSpPr>
          <a:xfrm>
            <a:off x="0" y="3329872"/>
            <a:ext cx="4608413" cy="126364"/>
            <a:chOff x="0" y="3329872"/>
            <a:chExt cx="4608413" cy="126364"/>
          </a:xfrm>
        </p:grpSpPr>
        <p:sp>
          <p:nvSpPr>
            <p:cNvPr id="4266" name="Google Shape;4266;p134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67" name="Google Shape;4267;p1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8" name="Google Shape;4268;p134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9" name="Google Shape;4269;p134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70" name="Google Shape;4270;p134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271" name="Google Shape;4271;p134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272" name="Google Shape;4272;p134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6" name="Shape 4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7" name="Google Shape;4277;p135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78" name="Google Shape;4278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279" name="Google Shape;4279;p135"/>
          <p:cNvSpPr txBox="1"/>
          <p:nvPr>
            <p:ph type="title"/>
          </p:nvPr>
        </p:nvSpPr>
        <p:spPr>
          <a:xfrm>
            <a:off x="154766" y="121020"/>
            <a:ext cx="321754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 first search (DFS) tree (or, forest)</a:t>
            </a:r>
            <a:endParaRPr/>
          </a:p>
        </p:txBody>
      </p:sp>
      <p:grpSp>
        <p:nvGrpSpPr>
          <p:cNvPr id="4280" name="Google Shape;4280;p135"/>
          <p:cNvGrpSpPr/>
          <p:nvPr/>
        </p:nvGrpSpPr>
        <p:grpSpPr>
          <a:xfrm>
            <a:off x="0" y="381711"/>
            <a:ext cx="4607999" cy="1408188"/>
            <a:chOff x="0" y="381711"/>
            <a:chExt cx="4607999" cy="1408188"/>
          </a:xfrm>
        </p:grpSpPr>
        <p:pic>
          <p:nvPicPr>
            <p:cNvPr id="4281" name="Google Shape;4281;p1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81711"/>
              <a:ext cx="4607999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2" name="Google Shape;4282;p1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89600" y="418299"/>
              <a:ext cx="1828800" cy="137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83" name="Google Shape;4283;p135"/>
          <p:cNvSpPr txBox="1"/>
          <p:nvPr/>
        </p:nvSpPr>
        <p:spPr>
          <a:xfrm>
            <a:off x="2248965" y="1810729"/>
            <a:ext cx="11048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⇓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4284" name="Google Shape;4284;p135"/>
          <p:cNvGrpSpPr/>
          <p:nvPr/>
        </p:nvGrpSpPr>
        <p:grpSpPr>
          <a:xfrm>
            <a:off x="0" y="2019851"/>
            <a:ext cx="4608413" cy="1436385"/>
            <a:chOff x="0" y="2019851"/>
            <a:chExt cx="4608413" cy="1436385"/>
          </a:xfrm>
        </p:grpSpPr>
        <p:pic>
          <p:nvPicPr>
            <p:cNvPr id="4285" name="Google Shape;4285;p1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89600" y="2019851"/>
              <a:ext cx="1618488" cy="12847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6" name="Google Shape;4286;p135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87" name="Google Shape;4287;p1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2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8" name="Google Shape;4288;p135"/>
            <p:cNvSpPr/>
            <p:nvPr/>
          </p:nvSpPr>
          <p:spPr>
            <a:xfrm>
              <a:off x="2303998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9" name="Google Shape;4289;p135"/>
          <p:cNvSpPr txBox="1"/>
          <p:nvPr/>
        </p:nvSpPr>
        <p:spPr>
          <a:xfrm>
            <a:off x="506134" y="3333481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90" name="Google Shape;4290;p135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291" name="Google Shape;4291;p135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292" name="Google Shape;4292;p135"/>
          <p:cNvSpPr txBox="1"/>
          <p:nvPr/>
        </p:nvSpPr>
        <p:spPr>
          <a:xfrm>
            <a:off x="4250728" y="3333481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37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6" name="Shape 4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7" name="Google Shape;4297;p136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98" name="Google Shape;4298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299" name="Google Shape;4299;p136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to answer using DFS</a:t>
            </a:r>
            <a:endParaRPr/>
          </a:p>
        </p:txBody>
      </p:sp>
      <p:pic>
        <p:nvPicPr>
          <p:cNvPr id="4300" name="Google Shape;4300;p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1" name="Google Shape;4301;p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863109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4302" name="Google Shape;4302;p136"/>
          <p:cNvSpPr txBox="1"/>
          <p:nvPr/>
        </p:nvSpPr>
        <p:spPr>
          <a:xfrm>
            <a:off x="624390" y="779664"/>
            <a:ext cx="211074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detect a cycle in the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303" name="Google Shape;4303;p136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304" name="Google Shape;4304;p136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05" name="Google Shape;4305;p1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6" name="Google Shape;4306;p136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7" name="Google Shape;4307;p136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08" name="Google Shape;4308;p136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309" name="Google Shape;4309;p136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310" name="Google Shape;4310;p136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4" name="Shape 4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5" name="Google Shape;4315;p137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16" name="Google Shape;4316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17" name="Google Shape;4317;p137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to answer using DFS</a:t>
            </a:r>
            <a:endParaRPr/>
          </a:p>
        </p:txBody>
      </p:sp>
      <p:pic>
        <p:nvPicPr>
          <p:cNvPr id="4318" name="Google Shape;4318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9" name="Google Shape;4319;p1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863109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4320" name="Google Shape;4320;p137"/>
          <p:cNvSpPr txBox="1"/>
          <p:nvPr/>
        </p:nvSpPr>
        <p:spPr>
          <a:xfrm>
            <a:off x="624390" y="735886"/>
            <a:ext cx="3586479" cy="789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detect a cycle in the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compute the connected components? (Hint: line 7 in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a new tree, with each tree representing a connected component)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21" name="Google Shape;4321;p1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073141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2" name="Google Shape;4322;p137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323" name="Google Shape;4323;p137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24" name="Google Shape;4324;p1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5" name="Google Shape;4325;p137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6" name="Google Shape;4326;p137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27" name="Google Shape;4327;p137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328" name="Google Shape;4328;p137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329" name="Google Shape;4329;p137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3" name="Shape 4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4" name="Google Shape;4334;p138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35" name="Google Shape;4335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36" name="Google Shape;4336;p138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to answer using DFS</a:t>
            </a:r>
            <a:endParaRPr/>
          </a:p>
        </p:txBody>
      </p:sp>
      <p:pic>
        <p:nvPicPr>
          <p:cNvPr id="4337" name="Google Shape;4337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8" name="Google Shape;4338;p1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863109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4339" name="Google Shape;4339;p138"/>
          <p:cNvSpPr txBox="1"/>
          <p:nvPr/>
        </p:nvSpPr>
        <p:spPr>
          <a:xfrm>
            <a:off x="624390" y="735886"/>
            <a:ext cx="358647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detect a cycle in the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compute the connected components? (Hint: line 7 in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a new tree, with each tree representing a connected component)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what use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discovery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finish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times?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40" name="Google Shape;4340;p1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07314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1" name="Google Shape;4341;p1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627323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2" name="Google Shape;4342;p138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343" name="Google Shape;4343;p138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44" name="Google Shape;4344;p13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5" name="Google Shape;4345;p138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6" name="Google Shape;4346;p138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7" name="Google Shape;4347;p138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348" name="Google Shape;4348;p138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349" name="Google Shape;4349;p138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3" name="Shape 4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4" name="Google Shape;4354;p139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55" name="Google Shape;4355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56" name="Google Shape;4356;p139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to answer using DFS</a:t>
            </a:r>
            <a:endParaRPr/>
          </a:p>
        </p:txBody>
      </p:sp>
      <p:pic>
        <p:nvPicPr>
          <p:cNvPr id="4357" name="Google Shape;4357;p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8" name="Google Shape;4358;p1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863109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4359" name="Google Shape;4359;p139"/>
          <p:cNvSpPr txBox="1"/>
          <p:nvPr/>
        </p:nvSpPr>
        <p:spPr>
          <a:xfrm>
            <a:off x="624390" y="735886"/>
            <a:ext cx="3586479" cy="1553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detect a cycle in the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compute the connected components? (Hint: line 7 in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a new tree, with each tree representing a connected component)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what use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discovery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finish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times?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657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What are the different types of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non-tree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edges in a BFS or DFS tree of an undirected graph? What about a directed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60" name="Google Shape;4360;p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07314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1" name="Google Shape;4361;p1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627323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2" name="Google Shape;4362;p1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546" y="1837356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3" name="Google Shape;4363;p139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364" name="Google Shape;4364;p139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65" name="Google Shape;4365;p13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6" name="Google Shape;4366;p139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67" name="Google Shape;4367;p139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68" name="Google Shape;4368;p139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369" name="Google Shape;4369;p139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370" name="Google Shape;4370;p139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4" name="Shape 4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5" name="Google Shape;4375;p140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76" name="Google Shape;4376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77" name="Google Shape;4377;p140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to answer using DFS</a:t>
            </a:r>
            <a:endParaRPr/>
          </a:p>
        </p:txBody>
      </p:sp>
      <p:pic>
        <p:nvPicPr>
          <p:cNvPr id="4378" name="Google Shape;4378;p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9" name="Google Shape;4379;p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863109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4380" name="Google Shape;4380;p140"/>
          <p:cNvSpPr txBox="1"/>
          <p:nvPr/>
        </p:nvSpPr>
        <p:spPr>
          <a:xfrm>
            <a:off x="624390" y="735886"/>
            <a:ext cx="3602354" cy="1936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detect a cycle in the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0955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compute the connected components? (Hint: line 7 in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a new tree, with each tree representing a connected component)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what use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discovery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finish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times?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8161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What are the different types of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non-tree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edges in a BFS or DFS tree of an undirected graph? What about a directed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use DFS 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topologically sort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directed acyclic graph (DAG)?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81" name="Google Shape;4381;p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07314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2" name="Google Shape;4382;p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627323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3" name="Google Shape;4383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546" y="1837356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4" name="Google Shape;4384;p1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546" y="2391538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5" name="Google Shape;4385;p140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386" name="Google Shape;4386;p140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87" name="Google Shape;4387;p14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8" name="Google Shape;4388;p140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9" name="Google Shape;4389;p140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90" name="Google Shape;4390;p140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391" name="Google Shape;4391;p140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392" name="Google Shape;4392;p140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6" name="Shape 4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7" name="Google Shape;4397;p141"/>
          <p:cNvSpPr txBox="1"/>
          <p:nvPr/>
        </p:nvSpPr>
        <p:spPr>
          <a:xfrm>
            <a:off x="1386757" y="-1629"/>
            <a:ext cx="207518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Graphs	</a:t>
            </a:r>
            <a:r>
              <a:rPr b="1" lang="en-US" sz="600">
                <a:solidFill>
                  <a:srgbClr val="9898D8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basics </a:t>
            </a: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Graph traversal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98" name="Google Shape;4398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595"/>
            <a:ext cx="4607999" cy="26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99" name="Google Shape;4399;p141"/>
          <p:cNvSpPr txBox="1"/>
          <p:nvPr>
            <p:ph type="title"/>
          </p:nvPr>
        </p:nvSpPr>
        <p:spPr>
          <a:xfrm>
            <a:off x="154766" y="121020"/>
            <a:ext cx="369125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to answer using DFS</a:t>
            </a:r>
            <a:endParaRPr/>
          </a:p>
        </p:txBody>
      </p:sp>
      <p:pic>
        <p:nvPicPr>
          <p:cNvPr id="4400" name="Google Shape;4400;p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81711"/>
            <a:ext cx="4607999" cy="5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1" name="Google Shape;4401;p1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46" y="863109"/>
            <a:ext cx="65270" cy="65270"/>
          </a:xfrm>
          <a:prstGeom prst="rect">
            <a:avLst/>
          </a:prstGeom>
          <a:noFill/>
          <a:ln>
            <a:noFill/>
          </a:ln>
        </p:spPr>
      </p:pic>
      <p:sp>
        <p:nvSpPr>
          <p:cNvPr id="4402" name="Google Shape;4402;p141"/>
          <p:cNvSpPr txBox="1"/>
          <p:nvPr/>
        </p:nvSpPr>
        <p:spPr>
          <a:xfrm>
            <a:off x="624390" y="735886"/>
            <a:ext cx="3602354" cy="2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detect a cycle in the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20955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compute the connected components? (Hint: line 7 in the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DFS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G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starts a new tree, with each tree representing a connected component)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Of what use are the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discovery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finish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times?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8161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What are the different types of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non-tree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edges in a BFS or DFS tree of an undirected graph? What about a directed graph?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How to use DFS to </a:t>
            </a:r>
            <a:r>
              <a:rPr i="1" lang="en-US" sz="1100">
                <a:latin typeface="Trebuchet MS"/>
                <a:ea typeface="Trebuchet MS"/>
                <a:cs typeface="Trebuchet MS"/>
                <a:sym typeface="Trebuchet MS"/>
              </a:rPr>
              <a:t>topologically sort </a:t>
            </a: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a directed acyclic graph (DAG)?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100">
                <a:latin typeface="Trebuchet MS"/>
                <a:ea typeface="Trebuchet MS"/>
                <a:cs typeface="Trebuchet MS"/>
                <a:sym typeface="Trebuchet MS"/>
              </a:rPr>
              <a:t>. . .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03" name="Google Shape;4403;p1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546" y="1073141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4" name="Google Shape;4404;p1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546" y="1627323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5" name="Google Shape;4405;p1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546" y="1837356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6" name="Google Shape;4406;p1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546" y="2391538"/>
            <a:ext cx="65270" cy="6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7" name="Google Shape;4407;p1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546" y="2773645"/>
            <a:ext cx="65270" cy="6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8" name="Google Shape;4408;p141"/>
          <p:cNvGrpSpPr/>
          <p:nvPr/>
        </p:nvGrpSpPr>
        <p:grpSpPr>
          <a:xfrm>
            <a:off x="0" y="3329872"/>
            <a:ext cx="4608414" cy="126364"/>
            <a:chOff x="0" y="3329872"/>
            <a:chExt cx="4608414" cy="126364"/>
          </a:xfrm>
        </p:grpSpPr>
        <p:sp>
          <p:nvSpPr>
            <p:cNvPr id="4409" name="Google Shape;4409;p141"/>
            <p:cNvSpPr/>
            <p:nvPr/>
          </p:nvSpPr>
          <p:spPr>
            <a:xfrm>
              <a:off x="0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3999" y="0"/>
                  </a:moveTo>
                  <a:lnTo>
                    <a:pt x="-1" y="0"/>
                  </a:lnTo>
                  <a:lnTo>
                    <a:pt x="-1" y="126128"/>
                  </a:lnTo>
                  <a:lnTo>
                    <a:pt x="2303999" y="126128"/>
                  </a:lnTo>
                  <a:lnTo>
                    <a:pt x="23039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10" name="Google Shape;4410;p14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021201" y="3355281"/>
              <a:ext cx="174796" cy="6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1" name="Google Shape;4411;p141"/>
            <p:cNvSpPr/>
            <p:nvPr/>
          </p:nvSpPr>
          <p:spPr>
            <a:xfrm>
              <a:off x="2303999" y="3329872"/>
              <a:ext cx="2304415" cy="126364"/>
            </a:xfrm>
            <a:custGeom>
              <a:rect b="b" l="l" r="r" t="t"/>
              <a:pathLst>
                <a:path extrusionOk="0" h="126364" w="2304415">
                  <a:moveTo>
                    <a:pt x="2304000" y="0"/>
                  </a:moveTo>
                  <a:lnTo>
                    <a:pt x="0" y="0"/>
                  </a:lnTo>
                  <a:lnTo>
                    <a:pt x="0" y="126128"/>
                  </a:lnTo>
                  <a:lnTo>
                    <a:pt x="2304000" y="126128"/>
                  </a:lnTo>
                  <a:lnTo>
                    <a:pt x="230400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2" name="Google Shape;4412;p141"/>
          <p:cNvSpPr txBox="1"/>
          <p:nvPr/>
        </p:nvSpPr>
        <p:spPr>
          <a:xfrm>
            <a:off x="506134" y="3333480"/>
            <a:ext cx="46926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Mumit Khan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13" name="Google Shape;4413;p141"/>
          <p:cNvSpPr txBox="1"/>
          <p:nvPr>
            <p:ph idx="10" type="dt"/>
          </p:nvPr>
        </p:nvSpPr>
        <p:spPr>
          <a:xfrm>
            <a:off x="1462592" y="3333480"/>
            <a:ext cx="543562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Licensed under</a:t>
            </a:r>
            <a:endParaRPr/>
          </a:p>
        </p:txBody>
      </p:sp>
      <p:sp>
        <p:nvSpPr>
          <p:cNvPr id="4414" name="Google Shape;4414;p141"/>
          <p:cNvSpPr txBox="1"/>
          <p:nvPr>
            <p:ph idx="11" type="ftr"/>
          </p:nvPr>
        </p:nvSpPr>
        <p:spPr>
          <a:xfrm>
            <a:off x="2399299" y="3333480"/>
            <a:ext cx="762636" cy="11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221: Algorithms</a:t>
            </a:r>
            <a:endParaRPr/>
          </a:p>
        </p:txBody>
      </p:sp>
      <p:sp>
        <p:nvSpPr>
          <p:cNvPr id="4415" name="Google Shape;4415;p141"/>
          <p:cNvSpPr txBox="1"/>
          <p:nvPr/>
        </p:nvSpPr>
        <p:spPr>
          <a:xfrm>
            <a:off x="4250728" y="3333480"/>
            <a:ext cx="262255" cy="11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38 / 38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2024-06-21T06:03:46Z</dcterms:created>
  <dc:creator>Mumit Khan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2009-09-10T00:00:00Z</vt:filetime>
  </property>
  <property fmtid="{D5CDD505-2E9C-101B-9397-08002B2CF9AE}" pid="3" name="Creator">
    <vt:lpwstr>LaTeX with beamer class version 3.01</vt:lpwstr>
  </property>
  <property fmtid="{D5CDD505-2E9C-101B-9397-08002B2CF9AE}" pid="4" name="PTEX.Fullbanner">
    <vt:lpwstr>This is pdfeTeX, Version 3.141592-1.21a-2.2 (Web2C 7.5.4) kpathsea version 3.5.6</vt:lpwstr>
  </property>
  <property fmtid="{D5CDD505-2E9C-101B-9397-08002B2CF9AE}" pid="5" name="Producer">
    <vt:lpwstr>pdfeTeX-1.21a</vt:lpwstr>
  </property>
  <property fmtid="{D5CDD505-2E9C-101B-9397-08002B2CF9AE}" pid="6" name="LastSaved">
    <vt:filetime>2009-09-10T00:00:00Z</vt:filetime>
  </property>
</Properties>
</file>