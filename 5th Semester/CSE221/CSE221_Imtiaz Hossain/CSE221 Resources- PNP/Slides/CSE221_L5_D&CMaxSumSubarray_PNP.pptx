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5"/>
    <p:sldMasterId id="214748367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5143500" cx="9144000"/>
  <p:notesSz cx="6858000" cy="9144000"/>
  <p:embeddedFontLst>
    <p:embeddedFont>
      <p:font typeface="Proxima Nova"/>
      <p:regular r:id="rId22"/>
      <p:bold r:id="rId23"/>
      <p:italic r:id="rId24"/>
      <p:boldItalic r:id="rId25"/>
    </p:embeddedFont>
    <p:embeddedFont>
      <p:font typeface="Tahoma"/>
      <p:regular r:id="rId26"/>
      <p:bold r:id="rId27"/>
    </p:embeddedFont>
    <p:embeddedFont>
      <p:font typeface="Proxima Nova Semibold"/>
      <p:regular r:id="rId28"/>
      <p:bold r:id="rId29"/>
      <p:boldItalic r:id="rId30"/>
    </p:embeddedFont>
    <p:embeddedFont>
      <p:font typeface="Alfa Slab One"/>
      <p:regular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43430AC-E9CC-41CD-A9BB-0F5674EDDEFA}">
  <a:tblStyle styleId="{543430AC-E9CC-41CD-A9BB-0F5674EDDEF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7D8A9CF2-247B-4F79-A57F-2B4E094D5BEA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font" Target="fonts/ProximaNova-regular.fntdata"/><Relationship Id="rId21" Type="http://schemas.openxmlformats.org/officeDocument/2006/relationships/slide" Target="slides/slide14.xml"/><Relationship Id="rId24" Type="http://schemas.openxmlformats.org/officeDocument/2006/relationships/font" Target="fonts/ProximaNova-italic.fntdata"/><Relationship Id="rId23" Type="http://schemas.openxmlformats.org/officeDocument/2006/relationships/font" Target="fonts/ProximaNov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Tahoma-regular.fntdata"/><Relationship Id="rId25" Type="http://schemas.openxmlformats.org/officeDocument/2006/relationships/font" Target="fonts/ProximaNova-boldItalic.fntdata"/><Relationship Id="rId28" Type="http://schemas.openxmlformats.org/officeDocument/2006/relationships/font" Target="fonts/ProximaNovaSemibold-regular.fntdata"/><Relationship Id="rId27" Type="http://schemas.openxmlformats.org/officeDocument/2006/relationships/font" Target="fonts/Tahoma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ProximaNovaSemibold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AlfaSlabOne-regular.fntdata"/><Relationship Id="rId30" Type="http://schemas.openxmlformats.org/officeDocument/2006/relationships/font" Target="fonts/ProximaNovaSemibold-bold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e446e2640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2e446e264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73e8aad319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73e8aad319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73e8aad319_0_67:notes"/>
          <p:cNvSpPr txBox="1"/>
          <p:nvPr>
            <p:ph idx="1" type="body"/>
          </p:nvPr>
        </p:nvSpPr>
        <p:spPr>
          <a:xfrm>
            <a:off x="913904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143" name="Google Shape;143;g273e8aad319_0_67:notes"/>
          <p:cNvSpPr/>
          <p:nvPr>
            <p:ph idx="2" type="sldImg"/>
          </p:nvPr>
        </p:nvSpPr>
        <p:spPr>
          <a:xfrm>
            <a:off x="429101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73e8aad319_0_4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73e8aad319_0_4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273e8aad319_0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273e8aad319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73e8aad319_0_123:notes"/>
          <p:cNvSpPr txBox="1"/>
          <p:nvPr>
            <p:ph idx="1" type="body"/>
          </p:nvPr>
        </p:nvSpPr>
        <p:spPr>
          <a:xfrm>
            <a:off x="913904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206" name="Google Shape;206;g273e8aad319_0_123:notes"/>
          <p:cNvSpPr/>
          <p:nvPr>
            <p:ph idx="2" type="sldImg"/>
          </p:nvPr>
        </p:nvSpPr>
        <p:spPr>
          <a:xfrm>
            <a:off x="429101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73e8aad319_0_128:notes"/>
          <p:cNvSpPr txBox="1"/>
          <p:nvPr>
            <p:ph idx="1" type="body"/>
          </p:nvPr>
        </p:nvSpPr>
        <p:spPr>
          <a:xfrm>
            <a:off x="913904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213" name="Google Shape;213;g273e8aad319_0_128:notes"/>
          <p:cNvSpPr/>
          <p:nvPr>
            <p:ph idx="2" type="sldImg"/>
          </p:nvPr>
        </p:nvSpPr>
        <p:spPr>
          <a:xfrm>
            <a:off x="429101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73e8aad319_0_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73e8aad319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273e8aad319_0_4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273e8aad319_0_4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73e8aad319_0_157:notes"/>
          <p:cNvSpPr txBox="1"/>
          <p:nvPr>
            <p:ph idx="1" type="body"/>
          </p:nvPr>
        </p:nvSpPr>
        <p:spPr>
          <a:xfrm>
            <a:off x="913904" y="4343400"/>
            <a:ext cx="5030100" cy="41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550" lIns="91100" spcFirstLastPara="1" rIns="91100" wrap="square" tIns="455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</a:pPr>
            <a:r>
              <a:t/>
            </a:r>
            <a:endParaRPr/>
          </a:p>
        </p:txBody>
      </p:sp>
      <p:sp>
        <p:nvSpPr>
          <p:cNvPr id="247" name="Google Shape;247;g273e8aad319_0_157:notes"/>
          <p:cNvSpPr/>
          <p:nvPr>
            <p:ph idx="2" type="sldImg"/>
          </p:nvPr>
        </p:nvSpPr>
        <p:spPr>
          <a:xfrm>
            <a:off x="429101" y="687314"/>
            <a:ext cx="6001500" cy="3427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73e8aad319_0_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73e8aad319_0_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73e8aad319_0_5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73e8aad319_0_5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273e8aad319_0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273e8aad319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273e8aad319_0_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g273e8aad319_0_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4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14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21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85" name="Google Shape;85;p21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" name="Google Shape;86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90" name="Google Shape;9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23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1" name="Google Shape;101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2" name="Google Shape;102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6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6" name="Google Shape;106;p2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7" name="Google Shape;107;p2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2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" name="Google Shape;111;p27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2" name="Google Shape;112;p2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13" name="Google Shape;113;p2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14" name="Google Shape;114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3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8"/>
          <p:cNvSpPr txBox="1"/>
          <p:nvPr>
            <p:ph type="title"/>
          </p:nvPr>
        </p:nvSpPr>
        <p:spPr>
          <a:xfrm>
            <a:off x="623890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8"/>
          <p:cNvSpPr txBox="1"/>
          <p:nvPr>
            <p:ph idx="1" type="body"/>
          </p:nvPr>
        </p:nvSpPr>
        <p:spPr>
          <a:xfrm>
            <a:off x="623890" y="3442099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8" name="Google Shape;118;p28"/>
          <p:cNvSpPr txBox="1"/>
          <p:nvPr>
            <p:ph idx="10" type="dt"/>
          </p:nvPr>
        </p:nvSpPr>
        <p:spPr>
          <a:xfrm>
            <a:off x="6286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19" name="Google Shape;119;p28"/>
          <p:cNvSpPr txBox="1"/>
          <p:nvPr>
            <p:ph idx="11" type="ftr"/>
          </p:nvPr>
        </p:nvSpPr>
        <p:spPr>
          <a:xfrm>
            <a:off x="3028953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20" name="Google Shape;120;p28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b="0" i="0" sz="18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9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"/>
              <a:t>Algorithms</a:t>
            </a:r>
            <a:endParaRPr/>
          </a:p>
        </p:txBody>
      </p:sp>
      <p:sp>
        <p:nvSpPr>
          <p:cNvPr id="126" name="Google Shape;126;p29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">
                <a:solidFill>
                  <a:srgbClr val="5B0F00"/>
                </a:solidFill>
              </a:rPr>
              <a:t>Lecture 5</a:t>
            </a:r>
            <a:endParaRPr b="1">
              <a:solidFill>
                <a:srgbClr val="5B0F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">
                <a:solidFill>
                  <a:srgbClr val="0000FF"/>
                </a:solidFill>
              </a:rPr>
              <a:t>Max Sum Subarray (Divide and Conquer)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27" name="Google Shape;127;p29"/>
          <p:cNvSpPr txBox="1"/>
          <p:nvPr/>
        </p:nvSpPr>
        <p:spPr>
          <a:xfrm>
            <a:off x="1978800" y="3899325"/>
            <a:ext cx="5186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Prantik Paul [PNP]</a:t>
            </a:r>
            <a:endParaRPr b="1" sz="1700">
              <a:solidFill>
                <a:srgbClr val="A61C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Lecturer</a:t>
            </a:r>
            <a:endParaRPr b="1" sz="1700">
              <a:solidFill>
                <a:srgbClr val="A61C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Department of Computer Science and Engineering</a:t>
            </a:r>
            <a:endParaRPr b="1" sz="1700">
              <a:solidFill>
                <a:srgbClr val="A61C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BRAC University </a:t>
            </a:r>
            <a:endParaRPr b="1" sz="1700">
              <a:solidFill>
                <a:srgbClr val="A61C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8" name="Google Shape;12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4" name="Google Shape;134;p30"/>
          <p:cNvSpPr txBox="1"/>
          <p:nvPr>
            <p:ph idx="4294967295" type="title"/>
          </p:nvPr>
        </p:nvSpPr>
        <p:spPr>
          <a:xfrm>
            <a:off x="457200" y="431100"/>
            <a:ext cx="82296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Maximum Subarray Problem</a:t>
            </a:r>
            <a:endParaRPr/>
          </a:p>
        </p:txBody>
      </p:sp>
      <p:sp>
        <p:nvSpPr>
          <p:cNvPr id="135" name="Google Shape;135;p30"/>
          <p:cNvSpPr txBox="1"/>
          <p:nvPr/>
        </p:nvSpPr>
        <p:spPr>
          <a:xfrm>
            <a:off x="457200" y="1006079"/>
            <a:ext cx="8229600" cy="35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75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Proxima Nova"/>
              <a:buChar char="•"/>
            </a:pPr>
            <a:r>
              <a:rPr i="1" lang="en" sz="2400" u="none" cap="none" strike="noStrike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Input:</a:t>
            </a:r>
            <a:r>
              <a:rPr i="1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an array </a:t>
            </a:r>
            <a:r>
              <a:rPr i="1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[1..</a:t>
            </a:r>
            <a:r>
              <a:rPr i="1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] of </a:t>
            </a:r>
            <a:r>
              <a:rPr i="1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numbers</a:t>
            </a:r>
            <a:endParaRPr i="0" sz="2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603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Proxima Nova"/>
              <a:buChar char="–"/>
            </a:pPr>
            <a:r>
              <a:rPr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Assume that some of the numbers are </a:t>
            </a:r>
            <a:r>
              <a:rPr i="0" lang="en" sz="2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negative</a:t>
            </a:r>
            <a:r>
              <a:rPr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, because this problem is trivial when all numbers are nonnegative</a:t>
            </a:r>
            <a:endParaRPr i="0" sz="10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175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Proxima Nova"/>
              <a:buChar char="•"/>
            </a:pPr>
            <a:r>
              <a:rPr i="1" lang="en" sz="2400" u="none" cap="none" strike="noStrike">
                <a:solidFill>
                  <a:srgbClr val="0000FF"/>
                </a:solidFill>
                <a:latin typeface="Proxima Nova"/>
                <a:ea typeface="Proxima Nova"/>
                <a:cs typeface="Proxima Nova"/>
                <a:sym typeface="Proxima Nova"/>
              </a:rPr>
              <a:t>Output: </a:t>
            </a:r>
            <a:r>
              <a:rPr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 nonempty subarray </a:t>
            </a:r>
            <a:r>
              <a:rPr i="1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[</a:t>
            </a:r>
            <a:r>
              <a:rPr i="1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..</a:t>
            </a:r>
            <a:r>
              <a:rPr i="1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j</a:t>
            </a:r>
            <a:r>
              <a:rPr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]</a:t>
            </a:r>
            <a:r>
              <a:rPr i="1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having  the largest sum </a:t>
            </a:r>
            <a:r>
              <a:rPr i="1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</a:t>
            </a:r>
            <a:r>
              <a:rPr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[</a:t>
            </a:r>
            <a:r>
              <a:rPr i="1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, </a:t>
            </a:r>
            <a:r>
              <a:rPr i="1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j</a:t>
            </a:r>
            <a:r>
              <a:rPr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] = </a:t>
            </a:r>
            <a:r>
              <a:rPr i="1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baseline="-25000" i="1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+ </a:t>
            </a:r>
            <a:r>
              <a:rPr i="1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baseline="-25000" i="1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baseline="-25000"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+1</a:t>
            </a:r>
            <a:r>
              <a:rPr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+... + </a:t>
            </a:r>
            <a:r>
              <a:rPr i="1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baseline="-25000" i="1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j</a:t>
            </a:r>
            <a:endParaRPr i="0" sz="2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136" name="Google Shape;136;p30"/>
          <p:cNvGraphicFramePr/>
          <p:nvPr/>
        </p:nvGraphicFramePr>
        <p:xfrm>
          <a:off x="713250" y="38949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{543430AC-E9CC-41CD-A9BB-0F5674EDDEFA}</a:tableStyleId>
              </a:tblPr>
              <a:tblGrid>
                <a:gridCol w="495300"/>
                <a:gridCol w="495300"/>
                <a:gridCol w="495300"/>
                <a:gridCol w="493725"/>
                <a:gridCol w="495300"/>
                <a:gridCol w="495300"/>
                <a:gridCol w="495300"/>
                <a:gridCol w="495300"/>
                <a:gridCol w="495300"/>
                <a:gridCol w="493700"/>
                <a:gridCol w="495300"/>
                <a:gridCol w="495300"/>
                <a:gridCol w="495300"/>
                <a:gridCol w="495300"/>
                <a:gridCol w="495300"/>
                <a:gridCol w="495300"/>
              </a:tblGrid>
              <a:tr h="27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b="1" i="0" sz="1800" u="none" cap="none" strike="noStrike">
                        <a:solidFill>
                          <a:srgbClr val="0000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</a:t>
                      </a:r>
                      <a:endParaRPr b="1" i="0" sz="1800" u="none" cap="none" strike="noStrike">
                        <a:solidFill>
                          <a:srgbClr val="0000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-25</a:t>
                      </a:r>
                      <a:endParaRPr b="1" i="0" sz="1800" u="none" cap="none" strike="noStrike">
                        <a:solidFill>
                          <a:srgbClr val="0000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b="1" i="0" sz="1800" u="none" cap="none" strike="noStrike">
                        <a:solidFill>
                          <a:srgbClr val="0000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</a:t>
                      </a:r>
                      <a:endParaRPr b="1" i="0" sz="1800" u="none" cap="none" strike="noStrike">
                        <a:solidFill>
                          <a:srgbClr val="0000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-16</a:t>
                      </a:r>
                      <a:endParaRPr b="1" i="0" sz="1800" u="none" cap="none" strike="noStrike">
                        <a:solidFill>
                          <a:srgbClr val="0000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-23</a:t>
                      </a:r>
                      <a:endParaRPr b="1" i="0" sz="1800" u="none" cap="none" strike="noStrike">
                        <a:solidFill>
                          <a:srgbClr val="0000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b="1" i="0" sz="1800" u="none" cap="none" strike="noStrike">
                        <a:solidFill>
                          <a:srgbClr val="0000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b="1" i="0" sz="1800" u="none" cap="none" strike="noStrike">
                        <a:solidFill>
                          <a:srgbClr val="0000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-7</a:t>
                      </a:r>
                      <a:endParaRPr b="1" i="0" sz="1800" u="none" cap="none" strike="noStrike">
                        <a:solidFill>
                          <a:srgbClr val="0000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</a:t>
                      </a:r>
                      <a:endParaRPr b="1" i="0" sz="1800" u="none" cap="none" strike="noStrike">
                        <a:solidFill>
                          <a:srgbClr val="0000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-5</a:t>
                      </a:r>
                      <a:endParaRPr b="1" i="0" sz="1800" u="none" cap="none" strike="noStrike">
                        <a:solidFill>
                          <a:srgbClr val="0000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-22</a:t>
                      </a:r>
                      <a:endParaRPr b="1" i="0" sz="1800" u="none" cap="none" strike="noStrike">
                        <a:solidFill>
                          <a:srgbClr val="0000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15</a:t>
                      </a:r>
                      <a:endParaRPr b="1" i="0" sz="1800" u="none" cap="none" strike="noStrike">
                        <a:solidFill>
                          <a:srgbClr val="0000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-4</a:t>
                      </a:r>
                      <a:endParaRPr b="1" i="0" sz="1800" u="none" cap="none" strike="noStrike">
                        <a:solidFill>
                          <a:srgbClr val="0000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800" u="none" cap="none" strike="noStrike">
                          <a:solidFill>
                            <a:srgbClr val="0000C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b="1" i="0" sz="1800" u="none" cap="none" strike="noStrike">
                        <a:solidFill>
                          <a:srgbClr val="0000CC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6FA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  <p:sp>
        <p:nvSpPr>
          <p:cNvPr id="137" name="Google Shape;137;p30"/>
          <p:cNvSpPr txBox="1"/>
          <p:nvPr/>
        </p:nvSpPr>
        <p:spPr>
          <a:xfrm>
            <a:off x="739413" y="3452846"/>
            <a:ext cx="7869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1      2      3     4      5      6      7      8     9     10    11    12    13   14    15   16</a:t>
            </a:r>
            <a:endParaRPr b="0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30"/>
          <p:cNvSpPr txBox="1"/>
          <p:nvPr/>
        </p:nvSpPr>
        <p:spPr>
          <a:xfrm>
            <a:off x="305845" y="3662261"/>
            <a:ext cx="40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30"/>
          <p:cNvSpPr/>
          <p:nvPr/>
        </p:nvSpPr>
        <p:spPr>
          <a:xfrm rot="5400000">
            <a:off x="5033925" y="3427091"/>
            <a:ext cx="288300" cy="18717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30"/>
          <p:cNvSpPr txBox="1"/>
          <p:nvPr/>
        </p:nvSpPr>
        <p:spPr>
          <a:xfrm>
            <a:off x="3652425" y="4516075"/>
            <a:ext cx="305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ahoma"/>
              <a:buNone/>
            </a:pPr>
            <a:r>
              <a:rPr b="0" i="0" lang="en" sz="20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maximum subarray</a:t>
            </a:r>
            <a:endParaRPr b="0" i="0" sz="2000" u="none" cap="none" strike="noStrike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1"/>
          <p:cNvSpPr/>
          <p:nvPr/>
        </p:nvSpPr>
        <p:spPr>
          <a:xfrm>
            <a:off x="2681089" y="936625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1</a:t>
            </a:r>
            <a:endParaRPr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46" name="Google Shape;146;p31"/>
          <p:cNvSpPr/>
          <p:nvPr/>
        </p:nvSpPr>
        <p:spPr>
          <a:xfrm>
            <a:off x="3108058" y="936625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-4</a:t>
            </a:r>
            <a:endParaRPr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47" name="Google Shape;147;p31"/>
          <p:cNvSpPr/>
          <p:nvPr/>
        </p:nvSpPr>
        <p:spPr>
          <a:xfrm>
            <a:off x="3535027" y="936625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3</a:t>
            </a:r>
            <a:endParaRPr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48" name="Google Shape;148;p31"/>
          <p:cNvSpPr/>
          <p:nvPr/>
        </p:nvSpPr>
        <p:spPr>
          <a:xfrm>
            <a:off x="3951048" y="936625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2</a:t>
            </a:r>
            <a:endParaRPr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49" name="Google Shape;149;p31"/>
          <p:cNvSpPr txBox="1"/>
          <p:nvPr/>
        </p:nvSpPr>
        <p:spPr>
          <a:xfrm>
            <a:off x="1071744" y="913579"/>
            <a:ext cx="1406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6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Target array :</a:t>
            </a:r>
            <a:endParaRPr i="0" sz="1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0" name="Google Shape;150;p31"/>
          <p:cNvSpPr txBox="1"/>
          <p:nvPr/>
        </p:nvSpPr>
        <p:spPr>
          <a:xfrm>
            <a:off x="644775" y="1408974"/>
            <a:ext cx="185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6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All the sub arrays:</a:t>
            </a:r>
            <a:endParaRPr i="0" sz="1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1" name="Google Shape;151;p31"/>
          <p:cNvSpPr/>
          <p:nvPr/>
        </p:nvSpPr>
        <p:spPr>
          <a:xfrm>
            <a:off x="2664666" y="1455067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1</a:t>
            </a:r>
            <a:endParaRPr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52" name="Google Shape;152;p31"/>
          <p:cNvSpPr/>
          <p:nvPr/>
        </p:nvSpPr>
        <p:spPr>
          <a:xfrm>
            <a:off x="3080688" y="1800664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-4</a:t>
            </a:r>
            <a:endParaRPr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53" name="Google Shape;153;p31"/>
          <p:cNvSpPr/>
          <p:nvPr/>
        </p:nvSpPr>
        <p:spPr>
          <a:xfrm>
            <a:off x="3524079" y="2161490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3</a:t>
            </a:r>
            <a:endParaRPr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54" name="Google Shape;154;p31"/>
          <p:cNvSpPr/>
          <p:nvPr/>
        </p:nvSpPr>
        <p:spPr>
          <a:xfrm>
            <a:off x="3972944" y="2507105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2</a:t>
            </a:r>
            <a:endParaRPr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55" name="Google Shape;155;p31"/>
          <p:cNvSpPr/>
          <p:nvPr/>
        </p:nvSpPr>
        <p:spPr>
          <a:xfrm>
            <a:off x="2664666" y="2837530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1</a:t>
            </a:r>
            <a:endParaRPr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56" name="Google Shape;156;p31"/>
          <p:cNvSpPr/>
          <p:nvPr/>
        </p:nvSpPr>
        <p:spPr>
          <a:xfrm>
            <a:off x="3091635" y="2837530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-4</a:t>
            </a:r>
            <a:endParaRPr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57" name="Google Shape;157;p31"/>
          <p:cNvSpPr/>
          <p:nvPr/>
        </p:nvSpPr>
        <p:spPr>
          <a:xfrm>
            <a:off x="3108058" y="3183146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-4</a:t>
            </a:r>
            <a:endParaRPr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58" name="Google Shape;158;p31"/>
          <p:cNvSpPr/>
          <p:nvPr/>
        </p:nvSpPr>
        <p:spPr>
          <a:xfrm>
            <a:off x="3535027" y="3183146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3</a:t>
            </a:r>
            <a:endParaRPr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59" name="Google Shape;159;p31"/>
          <p:cNvSpPr/>
          <p:nvPr/>
        </p:nvSpPr>
        <p:spPr>
          <a:xfrm>
            <a:off x="3545975" y="3528762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3</a:t>
            </a:r>
            <a:endParaRPr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60" name="Google Shape;160;p31"/>
          <p:cNvSpPr/>
          <p:nvPr/>
        </p:nvSpPr>
        <p:spPr>
          <a:xfrm>
            <a:off x="3961996" y="3528762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2</a:t>
            </a:r>
            <a:endParaRPr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61" name="Google Shape;161;p31"/>
          <p:cNvSpPr/>
          <p:nvPr/>
        </p:nvSpPr>
        <p:spPr>
          <a:xfrm>
            <a:off x="2642771" y="3950337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1</a:t>
            </a:r>
            <a:endParaRPr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62" name="Google Shape;162;p31"/>
          <p:cNvSpPr/>
          <p:nvPr/>
        </p:nvSpPr>
        <p:spPr>
          <a:xfrm>
            <a:off x="3069740" y="3950337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-4</a:t>
            </a:r>
            <a:endParaRPr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63" name="Google Shape;163;p31"/>
          <p:cNvSpPr/>
          <p:nvPr/>
        </p:nvSpPr>
        <p:spPr>
          <a:xfrm>
            <a:off x="3496709" y="3950337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3</a:t>
            </a:r>
            <a:endParaRPr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64" name="Google Shape;164;p31"/>
          <p:cNvSpPr/>
          <p:nvPr/>
        </p:nvSpPr>
        <p:spPr>
          <a:xfrm>
            <a:off x="3065758" y="4304237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-4</a:t>
            </a:r>
            <a:endParaRPr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65" name="Google Shape;165;p31"/>
          <p:cNvSpPr/>
          <p:nvPr/>
        </p:nvSpPr>
        <p:spPr>
          <a:xfrm>
            <a:off x="3492727" y="4304237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3</a:t>
            </a:r>
            <a:endParaRPr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66" name="Google Shape;166;p31"/>
          <p:cNvSpPr/>
          <p:nvPr/>
        </p:nvSpPr>
        <p:spPr>
          <a:xfrm>
            <a:off x="3908748" y="4304237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2</a:t>
            </a:r>
            <a:endParaRPr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67" name="Google Shape;167;p31"/>
          <p:cNvSpPr/>
          <p:nvPr/>
        </p:nvSpPr>
        <p:spPr>
          <a:xfrm>
            <a:off x="2692037" y="4704217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1</a:t>
            </a:r>
            <a:endParaRPr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68" name="Google Shape;168;p31"/>
          <p:cNvSpPr/>
          <p:nvPr/>
        </p:nvSpPr>
        <p:spPr>
          <a:xfrm>
            <a:off x="3119006" y="4704217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-4</a:t>
            </a:r>
            <a:endParaRPr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69" name="Google Shape;169;p31"/>
          <p:cNvSpPr/>
          <p:nvPr/>
        </p:nvSpPr>
        <p:spPr>
          <a:xfrm>
            <a:off x="3545975" y="4704217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3</a:t>
            </a:r>
            <a:endParaRPr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70" name="Google Shape;170;p31"/>
          <p:cNvSpPr/>
          <p:nvPr/>
        </p:nvSpPr>
        <p:spPr>
          <a:xfrm>
            <a:off x="3961996" y="4704217"/>
            <a:ext cx="427200" cy="345900"/>
          </a:xfrm>
          <a:prstGeom prst="rect">
            <a:avLst/>
          </a:prstGeom>
          <a:solidFill>
            <a:srgbClr val="FFF2CC"/>
          </a:solidFill>
          <a:ln cap="flat" cmpd="sng" w="254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8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2</a:t>
            </a:r>
            <a:endParaRPr i="0" sz="14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171" name="Google Shape;171;p31"/>
          <p:cNvSpPr txBox="1"/>
          <p:nvPr/>
        </p:nvSpPr>
        <p:spPr>
          <a:xfrm>
            <a:off x="4821407" y="1508221"/>
            <a:ext cx="9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31"/>
          <p:cNvSpPr txBox="1"/>
          <p:nvPr/>
        </p:nvSpPr>
        <p:spPr>
          <a:xfrm>
            <a:off x="4777616" y="1853818"/>
            <a:ext cx="9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1"/>
          <p:cNvSpPr txBox="1"/>
          <p:nvPr/>
        </p:nvSpPr>
        <p:spPr>
          <a:xfrm>
            <a:off x="4821407" y="2199452"/>
            <a:ext cx="9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1"/>
          <p:cNvSpPr txBox="1"/>
          <p:nvPr/>
        </p:nvSpPr>
        <p:spPr>
          <a:xfrm>
            <a:off x="4821407" y="2545068"/>
            <a:ext cx="9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1"/>
          <p:cNvSpPr txBox="1"/>
          <p:nvPr/>
        </p:nvSpPr>
        <p:spPr>
          <a:xfrm>
            <a:off x="4783056" y="2890684"/>
            <a:ext cx="9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1"/>
          <p:cNvSpPr txBox="1"/>
          <p:nvPr/>
        </p:nvSpPr>
        <p:spPr>
          <a:xfrm>
            <a:off x="4810460" y="3236300"/>
            <a:ext cx="9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1"/>
          <p:cNvSpPr txBox="1"/>
          <p:nvPr/>
        </p:nvSpPr>
        <p:spPr>
          <a:xfrm>
            <a:off x="4862742" y="3581916"/>
            <a:ext cx="9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1"/>
          <p:cNvSpPr txBox="1"/>
          <p:nvPr/>
        </p:nvSpPr>
        <p:spPr>
          <a:xfrm>
            <a:off x="4810460" y="4003491"/>
            <a:ext cx="9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1"/>
          <p:cNvSpPr txBox="1"/>
          <p:nvPr/>
        </p:nvSpPr>
        <p:spPr>
          <a:xfrm>
            <a:off x="4783089" y="4341917"/>
            <a:ext cx="9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1"/>
          <p:cNvSpPr txBox="1"/>
          <p:nvPr/>
        </p:nvSpPr>
        <p:spPr>
          <a:xfrm>
            <a:off x="4810460" y="4757371"/>
            <a:ext cx="99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1"/>
          <p:cNvSpPr txBox="1"/>
          <p:nvPr/>
        </p:nvSpPr>
        <p:spPr>
          <a:xfrm>
            <a:off x="1224144" y="3505716"/>
            <a:ext cx="996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en" sz="16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Max!</a:t>
            </a:r>
            <a:endParaRPr i="0" sz="12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82" name="Google Shape;182;p31"/>
          <p:cNvCxnSpPr/>
          <p:nvPr/>
        </p:nvCxnSpPr>
        <p:spPr>
          <a:xfrm>
            <a:off x="1821676" y="3701570"/>
            <a:ext cx="1510800" cy="0"/>
          </a:xfrm>
          <a:prstGeom prst="straightConnector1">
            <a:avLst/>
          </a:prstGeom>
          <a:noFill/>
          <a:ln cap="flat" cmpd="sng" w="254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  <a:effectLst>
            <a:outerShdw blurRad="40000" rotWithShape="0" dir="5400000" dist="20000">
              <a:srgbClr val="000000">
                <a:alpha val="37250"/>
              </a:srgbClr>
            </a:outerShdw>
          </a:effectLst>
        </p:spPr>
      </p:cxnSp>
      <p:sp>
        <p:nvSpPr>
          <p:cNvPr id="183" name="Google Shape;183;p31"/>
          <p:cNvSpPr/>
          <p:nvPr/>
        </p:nvSpPr>
        <p:spPr>
          <a:xfrm>
            <a:off x="5455523" y="1052845"/>
            <a:ext cx="3059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What is a maximum subarray?</a:t>
            </a:r>
            <a:endParaRPr i="0" sz="10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4" name="Google Shape;184;p31"/>
          <p:cNvSpPr txBox="1"/>
          <p:nvPr/>
        </p:nvSpPr>
        <p:spPr>
          <a:xfrm>
            <a:off x="5455504" y="1855195"/>
            <a:ext cx="30594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Ans: The subarray with the largest sum</a:t>
            </a:r>
            <a:endParaRPr i="0" sz="10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5" name="Google Shape;185;p31"/>
          <p:cNvSpPr txBox="1"/>
          <p:nvPr/>
        </p:nvSpPr>
        <p:spPr>
          <a:xfrm>
            <a:off x="5455523" y="3020464"/>
            <a:ext cx="2757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i="0" lang="en" sz="24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What is the brute-force time?</a:t>
            </a:r>
            <a:endParaRPr i="0" sz="2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6" name="Google Shape;186;p31"/>
          <p:cNvSpPr txBox="1"/>
          <p:nvPr>
            <p:ph idx="4294967295" type="title"/>
          </p:nvPr>
        </p:nvSpPr>
        <p:spPr>
          <a:xfrm>
            <a:off x="457200" y="431100"/>
            <a:ext cx="82296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Maximum Subarray Problem</a:t>
            </a:r>
            <a:endParaRPr/>
          </a:p>
        </p:txBody>
      </p:sp>
      <p:sp>
        <p:nvSpPr>
          <p:cNvPr id="187" name="Google Shape;187;p3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32"/>
          <p:cNvSpPr txBox="1"/>
          <p:nvPr>
            <p:ph idx="4294967295" type="title"/>
          </p:nvPr>
        </p:nvSpPr>
        <p:spPr>
          <a:xfrm>
            <a:off x="457200" y="290525"/>
            <a:ext cx="82296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Brute-Force Algorithm</a:t>
            </a:r>
            <a:endParaRPr/>
          </a:p>
        </p:txBody>
      </p:sp>
      <p:sp>
        <p:nvSpPr>
          <p:cNvPr id="194" name="Google Shape;194;p32"/>
          <p:cNvSpPr txBox="1"/>
          <p:nvPr/>
        </p:nvSpPr>
        <p:spPr>
          <a:xfrm>
            <a:off x="304800" y="837400"/>
            <a:ext cx="8610600" cy="41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rPr i="0" lang="en" sz="2100" u="none" cap="none" strike="noStrike">
                <a:solidFill>
                  <a:srgbClr val="00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All possible contiguous subarrays</a:t>
            </a:r>
            <a:endParaRPr i="0" sz="2100" u="none" cap="none" strike="noStrike">
              <a:solidFill>
                <a:srgbClr val="0000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-25400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1060"/>
              <a:buFont typeface="Proxima Nova"/>
              <a:buChar char="●"/>
            </a:pPr>
            <a:r>
              <a:rPr i="0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A[1..1], A[1..2], A[1..3], ..., A[1..(</a:t>
            </a:r>
            <a:r>
              <a:rPr i="1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i="0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-1)], A[1..</a:t>
            </a:r>
            <a:r>
              <a:rPr i="1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i="0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]</a:t>
            </a:r>
            <a:endParaRPr i="0" sz="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5400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1060"/>
              <a:buFont typeface="Proxima Nova"/>
              <a:buChar char="●"/>
            </a:pPr>
            <a:r>
              <a:rPr i="0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A[2..2], A[2..3], ..., A[2..(</a:t>
            </a:r>
            <a:r>
              <a:rPr i="1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i="0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-1)], A[2..</a:t>
            </a:r>
            <a:r>
              <a:rPr i="1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i="0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]</a:t>
            </a:r>
            <a:endParaRPr i="0" sz="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5400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1060"/>
              <a:buFont typeface="Proxima Nova"/>
              <a:buChar char="●"/>
            </a:pPr>
            <a:r>
              <a:rPr i="0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...</a:t>
            </a:r>
            <a:endParaRPr i="0" sz="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5400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1060"/>
              <a:buFont typeface="Proxima Nova"/>
              <a:buChar char="●"/>
            </a:pPr>
            <a:r>
              <a:rPr i="0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                    A[(</a:t>
            </a:r>
            <a:r>
              <a:rPr i="1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i="0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-1)..(</a:t>
            </a:r>
            <a:r>
              <a:rPr i="1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i="0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-1)], A[(</a:t>
            </a:r>
            <a:r>
              <a:rPr i="1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i="0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-1)..</a:t>
            </a:r>
            <a:r>
              <a:rPr i="1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i="0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]</a:t>
            </a:r>
            <a:endParaRPr i="0" sz="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5400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00"/>
              </a:buClr>
              <a:buSzPts val="1060"/>
              <a:buFont typeface="Proxima Nova"/>
              <a:buChar char="●"/>
            </a:pPr>
            <a:r>
              <a:rPr i="0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                                                   A[</a:t>
            </a:r>
            <a:r>
              <a:rPr i="1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i="0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..</a:t>
            </a:r>
            <a:r>
              <a:rPr i="1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i="0" lang="en" sz="19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]</a:t>
            </a:r>
            <a:endParaRPr i="0" sz="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rPr i="0" lang="en" sz="2100" u="none" cap="none" strike="noStrike">
                <a:solidFill>
                  <a:srgbClr val="00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How many of them in total?</a:t>
            </a:r>
            <a:endParaRPr i="0" sz="900" u="none" cap="none" strike="noStrike">
              <a:solidFill>
                <a:srgbClr val="00000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t/>
            </a:r>
            <a:endParaRPr i="0" sz="21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rPr i="0" lang="en" sz="2100" u="none" cap="none" strike="noStrike">
                <a:solidFill>
                  <a:srgbClr val="00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Algorithm:</a:t>
            </a:r>
            <a:r>
              <a:rPr i="0" lang="en" sz="21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i="0" lang="en" sz="21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	</a:t>
            </a:r>
            <a:r>
              <a:rPr i="0" lang="en" sz="21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For each subarray, compute the sum. </a:t>
            </a:r>
            <a:endParaRPr i="0" sz="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rPr i="0" lang="en" sz="21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		Find the subarray that has the maximum sum.</a:t>
            </a:r>
            <a:endParaRPr i="0" sz="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5" name="Google Shape;195;p32"/>
          <p:cNvSpPr/>
          <p:nvPr/>
        </p:nvSpPr>
        <p:spPr>
          <a:xfrm>
            <a:off x="5220072" y="3111810"/>
            <a:ext cx="2607000" cy="754800"/>
          </a:xfrm>
          <a:prstGeom prst="cloudCallout">
            <a:avLst>
              <a:gd fmla="val -82425" name="adj1"/>
              <a:gd fmla="val -13584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O(n</a:t>
            </a:r>
            <a:r>
              <a:rPr b="1" baseline="30000" i="0" lang="en" sz="2400" u="none" cap="none" strike="noStrik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2</a:t>
            </a:r>
            <a:r>
              <a:rPr b="1" i="0" lang="en" sz="2400" u="none" cap="none" strike="noStrik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)</a:t>
            </a:r>
            <a:endParaRPr b="1" i="0" sz="2400" u="none" cap="none" strike="noStrike">
              <a:solidFill>
                <a:srgbClr val="FF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33"/>
          <p:cNvSpPr txBox="1"/>
          <p:nvPr>
            <p:ph idx="4294967295" type="title"/>
          </p:nvPr>
        </p:nvSpPr>
        <p:spPr>
          <a:xfrm>
            <a:off x="457200" y="171450"/>
            <a:ext cx="82296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Brute-Force Algorithm</a:t>
            </a:r>
            <a:endParaRPr/>
          </a:p>
        </p:txBody>
      </p:sp>
      <p:sp>
        <p:nvSpPr>
          <p:cNvPr id="202" name="Google Shape;202;p33"/>
          <p:cNvSpPr txBox="1"/>
          <p:nvPr/>
        </p:nvSpPr>
        <p:spPr>
          <a:xfrm>
            <a:off x="330200" y="914400"/>
            <a:ext cx="8058300" cy="33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i="0" lang="en" sz="26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Example:	</a:t>
            </a:r>
            <a:r>
              <a:rPr i="0" lang="en" sz="26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		2	-6	-1	3	-1	2	-2</a:t>
            </a:r>
            <a:endParaRPr i="0" sz="1400" u="none" cap="none" strike="noStrike">
              <a:solidFill>
                <a:srgbClr val="00000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i="0" lang="en" sz="26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sum from A[1]:</a:t>
            </a:r>
            <a:r>
              <a:rPr i="0" lang="en" sz="26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	2	-4	-5	-2	-3	-1	-3</a:t>
            </a:r>
            <a:endParaRPr i="0" sz="1400" u="none" cap="none" strike="noStrike">
              <a:solidFill>
                <a:srgbClr val="00000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i="0" lang="en" sz="26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sum from A[2]</a:t>
            </a:r>
            <a:r>
              <a:rPr i="0" lang="en" sz="26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:		-6	-7	-4	-5	-3	-5</a:t>
            </a:r>
            <a:endParaRPr i="0" sz="1400" u="none" cap="none" strike="noStrike">
              <a:solidFill>
                <a:srgbClr val="00000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i="0" lang="en" sz="26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sum from A[3]:</a:t>
            </a:r>
            <a:r>
              <a:rPr i="0" lang="en" sz="26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			-1	2	1	3	1</a:t>
            </a:r>
            <a:endParaRPr i="0" sz="1400" u="none" cap="none" strike="noStrike">
              <a:solidFill>
                <a:srgbClr val="00000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i="0" lang="en" sz="26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sum from A[4]:</a:t>
            </a:r>
            <a:r>
              <a:rPr i="0" lang="en" sz="26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				3	2	4	2</a:t>
            </a:r>
            <a:endParaRPr i="0" sz="1400" u="none" cap="none" strike="noStrike">
              <a:solidFill>
                <a:srgbClr val="00000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i="0" lang="en" sz="26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sum from A[5]:</a:t>
            </a:r>
            <a:r>
              <a:rPr i="0" lang="en" sz="26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					-1	1	-1</a:t>
            </a:r>
            <a:endParaRPr i="0" sz="1400" u="none" cap="none" strike="noStrike">
              <a:solidFill>
                <a:srgbClr val="00000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i="0" lang="en" sz="26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sum from A[6]:</a:t>
            </a:r>
            <a:r>
              <a:rPr i="0" lang="en" sz="26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						2	0</a:t>
            </a:r>
            <a:endParaRPr i="0" sz="1400" u="none" cap="none" strike="noStrike">
              <a:solidFill>
                <a:srgbClr val="00000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i="0" lang="en" sz="26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sum from A[7]:</a:t>
            </a:r>
            <a:r>
              <a:rPr i="0" lang="en" sz="26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							-2</a:t>
            </a:r>
            <a:endParaRPr i="0" sz="1400" u="none" cap="none" strike="noStrike">
              <a:solidFill>
                <a:srgbClr val="000000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203" name="Google Shape;203;p33"/>
          <p:cNvSpPr/>
          <p:nvPr/>
        </p:nvSpPr>
        <p:spPr>
          <a:xfrm>
            <a:off x="4737210" y="2271758"/>
            <a:ext cx="720600" cy="4320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4"/>
          <p:cNvSpPr txBox="1"/>
          <p:nvPr>
            <p:ph idx="4294967295" type="title"/>
          </p:nvPr>
        </p:nvSpPr>
        <p:spPr>
          <a:xfrm>
            <a:off x="457200" y="171450"/>
            <a:ext cx="82296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Brute-Force Algorithm</a:t>
            </a:r>
            <a:endParaRPr/>
          </a:p>
        </p:txBody>
      </p:sp>
      <p:sp>
        <p:nvSpPr>
          <p:cNvPr id="209" name="Google Shape;209;p34"/>
          <p:cNvSpPr txBox="1"/>
          <p:nvPr/>
        </p:nvSpPr>
        <p:spPr>
          <a:xfrm>
            <a:off x="330200" y="914400"/>
            <a:ext cx="7698300" cy="3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rPr i="0" lang="en" sz="2600" u="none" cap="none" strike="noStrike">
                <a:solidFill>
                  <a:srgbClr val="0000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Outer loop:</a:t>
            </a:r>
            <a:r>
              <a:rPr i="0" lang="en" sz="2600" u="none" cap="none" strike="noStrike">
                <a:solidFill>
                  <a:schemeClr val="dk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i="0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index variable </a:t>
            </a:r>
            <a:r>
              <a:rPr i="1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i="0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to indicate start of subarray, for 1 ≤ </a:t>
            </a:r>
            <a:r>
              <a:rPr i="1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i="0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≤ n, i.e., A[1], A[2], ..., A[</a:t>
            </a:r>
            <a:r>
              <a:rPr i="1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i="0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]</a:t>
            </a:r>
            <a:endParaRPr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560"/>
              <a:buFont typeface="Proxima Nova"/>
              <a:buChar char="●"/>
            </a:pPr>
            <a:r>
              <a:rPr i="0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for </a:t>
            </a:r>
            <a:r>
              <a:rPr i="1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i="0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= 1 to </a:t>
            </a:r>
            <a:r>
              <a:rPr i="1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i="0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do ...</a:t>
            </a:r>
            <a:endParaRPr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t/>
            </a:r>
            <a:endParaRPr i="0" sz="2600" u="none" cap="none" strike="noStrike">
              <a:solidFill>
                <a:srgbClr val="00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Arial"/>
              <a:buNone/>
            </a:pPr>
            <a:r>
              <a:rPr i="0" lang="en" sz="2600" u="none" cap="none" strike="noStrike">
                <a:solidFill>
                  <a:srgbClr val="00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Inner loop:</a:t>
            </a:r>
            <a:r>
              <a:rPr i="0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for each start index </a:t>
            </a:r>
            <a:r>
              <a:rPr i="1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i="0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, we need to go through A[</a:t>
            </a:r>
            <a:r>
              <a:rPr i="1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i="0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..</a:t>
            </a:r>
            <a:r>
              <a:rPr i="1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i="0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], A[</a:t>
            </a:r>
            <a:r>
              <a:rPr i="1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i="0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..(</a:t>
            </a:r>
            <a:r>
              <a:rPr i="1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i="0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+1)], ..., A[</a:t>
            </a:r>
            <a:r>
              <a:rPr i="1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i="0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..</a:t>
            </a:r>
            <a:r>
              <a:rPr i="1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i="0" lang="en" sz="26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]</a:t>
            </a:r>
            <a:endParaRPr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560"/>
              <a:buFont typeface="Proxima Nova"/>
              <a:buChar char="●"/>
            </a:pPr>
            <a:r>
              <a:rPr i="0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use an index </a:t>
            </a:r>
            <a:r>
              <a:rPr i="1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j</a:t>
            </a:r>
            <a:r>
              <a:rPr i="0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for </a:t>
            </a:r>
            <a:r>
              <a:rPr i="1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i="0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≤ </a:t>
            </a:r>
            <a:r>
              <a:rPr i="1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j</a:t>
            </a:r>
            <a:r>
              <a:rPr i="0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≤ </a:t>
            </a:r>
            <a:r>
              <a:rPr i="1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i="0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, i.e., consider A[</a:t>
            </a:r>
            <a:r>
              <a:rPr i="1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i="0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..</a:t>
            </a:r>
            <a:r>
              <a:rPr i="1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j</a:t>
            </a:r>
            <a:r>
              <a:rPr i="0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]</a:t>
            </a:r>
            <a:endParaRPr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1560"/>
              <a:buFont typeface="Proxima Nova"/>
              <a:buChar char="●"/>
            </a:pPr>
            <a:r>
              <a:rPr i="0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for </a:t>
            </a:r>
            <a:r>
              <a:rPr i="1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j</a:t>
            </a:r>
            <a:r>
              <a:rPr i="0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= </a:t>
            </a:r>
            <a:r>
              <a:rPr i="1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i="0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to </a:t>
            </a:r>
            <a:r>
              <a:rPr i="1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i="0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do ...</a:t>
            </a:r>
            <a:endParaRPr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0" name="Google Shape;210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/>
          <p:nvPr>
            <p:ph idx="4294967295" type="title"/>
          </p:nvPr>
        </p:nvSpPr>
        <p:spPr>
          <a:xfrm>
            <a:off x="457200" y="171450"/>
            <a:ext cx="82296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Brute-Force Algorithm</a:t>
            </a:r>
            <a:endParaRPr/>
          </a:p>
        </p:txBody>
      </p:sp>
      <p:sp>
        <p:nvSpPr>
          <p:cNvPr id="216" name="Google Shape;216;p35"/>
          <p:cNvSpPr txBox="1"/>
          <p:nvPr/>
        </p:nvSpPr>
        <p:spPr>
          <a:xfrm>
            <a:off x="330200" y="789552"/>
            <a:ext cx="6114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1" i="0" lang="en" sz="19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max = -</a:t>
            </a:r>
            <a:r>
              <a:rPr b="1" i="0" lang="en" sz="19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∞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1" i="0" lang="en" sz="1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for i = 1 to n do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1" i="0" lang="en" sz="1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1" i="0" lang="en" sz="1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i="0" lang="en" sz="1900" u="none" cap="none" strike="noStrike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sum = 0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1" i="0" lang="en" sz="1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for j = i to n do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1" i="0" lang="en" sz="1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begin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1" i="0" lang="en" sz="1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sum = sum + A[j]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1" i="0" lang="en" sz="1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if sum &gt; max 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1" i="0" lang="en" sz="1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then max = sum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1" i="0" lang="en" sz="1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end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None/>
            </a:pPr>
            <a:r>
              <a:rPr b="1" i="0" lang="en" sz="19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endParaRPr b="0" i="0" sz="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5"/>
          <p:cNvSpPr/>
          <p:nvPr/>
        </p:nvSpPr>
        <p:spPr>
          <a:xfrm>
            <a:off x="5580385" y="951570"/>
            <a:ext cx="3240000" cy="1241700"/>
          </a:xfrm>
          <a:prstGeom prst="cloudCallout">
            <a:avLst>
              <a:gd fmla="val -65010" name="adj1"/>
              <a:gd fmla="val 884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Time complexity?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" sz="24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O(n</a:t>
            </a:r>
            <a:r>
              <a:rPr b="1" baseline="30000" i="0" lang="en" sz="24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2</a:t>
            </a:r>
            <a:r>
              <a:rPr b="1" i="0" lang="en" sz="2400" u="none" cap="none" strike="noStrike">
                <a:solidFill>
                  <a:srgbClr val="FF0000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 b="1" i="0" sz="2400" u="none" cap="none" strike="noStrike">
              <a:solidFill>
                <a:srgbClr val="FF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18" name="Google Shape;21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36"/>
          <p:cNvSpPr txBox="1"/>
          <p:nvPr>
            <p:ph idx="4294967295" type="title"/>
          </p:nvPr>
        </p:nvSpPr>
        <p:spPr>
          <a:xfrm>
            <a:off x="457200" y="171450"/>
            <a:ext cx="82296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Divide-and-Conquer Algorithm</a:t>
            </a:r>
            <a:endParaRPr/>
          </a:p>
        </p:txBody>
      </p:sp>
      <p:sp>
        <p:nvSpPr>
          <p:cNvPr id="225" name="Google Shape;225;p36"/>
          <p:cNvSpPr txBox="1"/>
          <p:nvPr/>
        </p:nvSpPr>
        <p:spPr>
          <a:xfrm>
            <a:off x="468313" y="789552"/>
            <a:ext cx="8229600" cy="180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i="0" lang="en" sz="2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Possible locations of a maximum subarray </a:t>
            </a:r>
            <a:r>
              <a:rPr i="1" lang="en" sz="2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i="0" lang="en" sz="2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[</a:t>
            </a:r>
            <a:r>
              <a:rPr i="1" lang="en" sz="2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i="0" lang="en" sz="2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..</a:t>
            </a:r>
            <a:r>
              <a:rPr i="1" lang="en" sz="2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j</a:t>
            </a:r>
            <a:r>
              <a:rPr i="0" lang="en" sz="2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] of </a:t>
            </a:r>
            <a:r>
              <a:rPr i="1" lang="en" sz="2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i="0" lang="en" sz="2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[</a:t>
            </a:r>
            <a:r>
              <a:rPr i="1" lang="en" sz="2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low</a:t>
            </a:r>
            <a:r>
              <a:rPr i="0" lang="en" sz="2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..</a:t>
            </a:r>
            <a:r>
              <a:rPr i="1" lang="en" sz="2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high</a:t>
            </a:r>
            <a:r>
              <a:rPr i="0" lang="en" sz="2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], where </a:t>
            </a:r>
            <a:r>
              <a:rPr i="1" lang="en" sz="2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mid</a:t>
            </a:r>
            <a:r>
              <a:rPr i="0" lang="en" sz="2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= ⎣(</a:t>
            </a:r>
            <a:r>
              <a:rPr i="1" lang="en" sz="2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low </a:t>
            </a:r>
            <a:r>
              <a:rPr i="0" lang="en" sz="2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+ </a:t>
            </a:r>
            <a:r>
              <a:rPr i="1" lang="en" sz="2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high</a:t>
            </a:r>
            <a:r>
              <a:rPr i="0" lang="en" sz="2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)/2⎦</a:t>
            </a:r>
            <a:endParaRPr i="0" sz="25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730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Proxima Nova"/>
              <a:buChar char="▪"/>
            </a:pPr>
            <a:r>
              <a:rPr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entirely in </a:t>
            </a:r>
            <a:r>
              <a:rPr i="1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[</a:t>
            </a:r>
            <a:r>
              <a:rPr i="1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low</a:t>
            </a:r>
            <a:r>
              <a:rPr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..</a:t>
            </a:r>
            <a:r>
              <a:rPr i="1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mid</a:t>
            </a:r>
            <a:r>
              <a:rPr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] 		(</a:t>
            </a:r>
            <a:r>
              <a:rPr i="1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low</a:t>
            </a:r>
            <a:r>
              <a:rPr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 ≤ </a:t>
            </a:r>
            <a:r>
              <a:rPr i="1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i </a:t>
            </a:r>
            <a:r>
              <a:rPr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≤ </a:t>
            </a:r>
            <a:r>
              <a:rPr i="1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j </a:t>
            </a:r>
            <a:r>
              <a:rPr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≤ </a:t>
            </a:r>
            <a:r>
              <a:rPr i="1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mid</a:t>
            </a:r>
            <a:r>
              <a:rPr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i="0" sz="2200" u="none" cap="none" strike="noStrike">
              <a:solidFill>
                <a:schemeClr val="accent5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730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Proxima Nova"/>
              <a:buChar char="▪"/>
            </a:pPr>
            <a:r>
              <a:rPr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entirely in </a:t>
            </a:r>
            <a:r>
              <a:rPr i="1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[</a:t>
            </a:r>
            <a:r>
              <a:rPr i="1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mid</a:t>
            </a:r>
            <a:r>
              <a:rPr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+1</a:t>
            </a:r>
            <a:r>
              <a:rPr i="1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..high</a:t>
            </a:r>
            <a:r>
              <a:rPr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] 	(</a:t>
            </a:r>
            <a:r>
              <a:rPr i="1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mid</a:t>
            </a:r>
            <a:r>
              <a:rPr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 &lt; </a:t>
            </a:r>
            <a:r>
              <a:rPr i="1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i </a:t>
            </a:r>
            <a:r>
              <a:rPr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≤ </a:t>
            </a:r>
            <a:r>
              <a:rPr i="1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j </a:t>
            </a:r>
            <a:r>
              <a:rPr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≤ </a:t>
            </a:r>
            <a:r>
              <a:rPr i="1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high</a:t>
            </a:r>
            <a:r>
              <a:rPr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i="0" sz="2200" u="none" cap="none" strike="noStrike">
              <a:solidFill>
                <a:schemeClr val="accent5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-2730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5"/>
              </a:buClr>
              <a:buSzPts val="2200"/>
              <a:buFont typeface="Proxima Nova"/>
              <a:buChar char="▪"/>
            </a:pPr>
            <a:r>
              <a:rPr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crossing the midpoint 		(</a:t>
            </a:r>
            <a:r>
              <a:rPr i="1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low</a:t>
            </a:r>
            <a:r>
              <a:rPr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 ≤ </a:t>
            </a:r>
            <a:r>
              <a:rPr i="1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i </a:t>
            </a:r>
            <a:r>
              <a:rPr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≤ </a:t>
            </a:r>
            <a:r>
              <a:rPr i="1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mid</a:t>
            </a:r>
            <a:r>
              <a:rPr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 &lt; </a:t>
            </a:r>
            <a:r>
              <a:rPr i="1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j </a:t>
            </a:r>
            <a:r>
              <a:rPr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≤ </a:t>
            </a:r>
            <a:r>
              <a:rPr i="1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high</a:t>
            </a:r>
            <a:r>
              <a:rPr i="0" lang="en" sz="2200" u="none" cap="none" strike="noStrike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i="0" sz="2200" u="none" cap="none" strike="noStrike">
              <a:solidFill>
                <a:schemeClr val="accent5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226" name="Google Shape;226;p36"/>
          <p:cNvGraphicFramePr/>
          <p:nvPr/>
        </p:nvGraphicFramePr>
        <p:xfrm>
          <a:off x="1476375" y="3652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{543430AC-E9CC-41CD-A9BB-0F5674EDDEFA}</a:tableStyleId>
              </a:tblPr>
              <a:tblGrid>
                <a:gridCol w="434975"/>
                <a:gridCol w="436575"/>
                <a:gridCol w="434975"/>
                <a:gridCol w="434975"/>
                <a:gridCol w="434975"/>
                <a:gridCol w="436550"/>
                <a:gridCol w="434975"/>
                <a:gridCol w="434975"/>
                <a:gridCol w="436575"/>
                <a:gridCol w="434975"/>
                <a:gridCol w="434975"/>
                <a:gridCol w="434975"/>
                <a:gridCol w="436550"/>
                <a:gridCol w="434975"/>
              </a:tblGrid>
              <a:tr h="27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cxnSp>
        <p:nvCxnSpPr>
          <p:cNvPr id="227" name="Google Shape;227;p36"/>
          <p:cNvCxnSpPr/>
          <p:nvPr/>
        </p:nvCxnSpPr>
        <p:spPr>
          <a:xfrm rot="5400000">
            <a:off x="4366013" y="3787388"/>
            <a:ext cx="269100" cy="0"/>
          </a:xfrm>
          <a:prstGeom prst="straightConnector1">
            <a:avLst/>
          </a:prstGeom>
          <a:noFill/>
          <a:ln cap="flat" cmpd="sng" w="57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8" name="Google Shape;228;p36"/>
          <p:cNvSpPr txBox="1"/>
          <p:nvPr/>
        </p:nvSpPr>
        <p:spPr>
          <a:xfrm>
            <a:off x="1415213" y="3356769"/>
            <a:ext cx="628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i="1" lang="en" sz="16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low                                               mid                                                </a:t>
            </a:r>
            <a:r>
              <a:rPr i="1" lang="en" sz="1600"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i="1" lang="en" sz="16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high</a:t>
            </a:r>
            <a:endParaRPr i="1" sz="16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9" name="Google Shape;229;p36"/>
          <p:cNvSpPr txBox="1"/>
          <p:nvPr/>
        </p:nvSpPr>
        <p:spPr>
          <a:xfrm>
            <a:off x="1763701" y="4246950"/>
            <a:ext cx="244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i="0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entirely in </a:t>
            </a:r>
            <a:r>
              <a:rPr i="1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i="0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[</a:t>
            </a:r>
            <a:r>
              <a:rPr i="1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low</a:t>
            </a:r>
            <a:r>
              <a:rPr i="0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..</a:t>
            </a:r>
            <a:r>
              <a:rPr i="1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mid</a:t>
            </a:r>
            <a:r>
              <a:rPr i="0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]</a:t>
            </a:r>
            <a:endParaRPr i="0" sz="1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30" name="Google Shape;230;p36"/>
          <p:cNvSpPr txBox="1"/>
          <p:nvPr/>
        </p:nvSpPr>
        <p:spPr>
          <a:xfrm>
            <a:off x="4810949" y="4202660"/>
            <a:ext cx="262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i="0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entirely in </a:t>
            </a:r>
            <a:r>
              <a:rPr i="1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i="0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[</a:t>
            </a:r>
            <a:r>
              <a:rPr i="1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mid+1</a:t>
            </a:r>
            <a:r>
              <a:rPr i="0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..</a:t>
            </a:r>
            <a:r>
              <a:rPr i="1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high</a:t>
            </a:r>
            <a:r>
              <a:rPr i="0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]</a:t>
            </a:r>
            <a:endParaRPr i="0" sz="1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31" name="Google Shape;231;p36"/>
          <p:cNvSpPr txBox="1"/>
          <p:nvPr/>
        </p:nvSpPr>
        <p:spPr>
          <a:xfrm>
            <a:off x="2527582" y="2938500"/>
            <a:ext cx="3738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i="1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crossing the midpoint</a:t>
            </a:r>
            <a:endParaRPr i="0" sz="1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32" name="Google Shape;23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4850" y="2490788"/>
            <a:ext cx="85726" cy="161923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6"/>
          <p:cNvSpPr/>
          <p:nvPr/>
        </p:nvSpPr>
        <p:spPr>
          <a:xfrm rot="5400000">
            <a:off x="4355400" y="1924341"/>
            <a:ext cx="215700" cy="2808300"/>
          </a:xfrm>
          <a:prstGeom prst="leftBrace">
            <a:avLst>
              <a:gd fmla="val 8333" name="adj1"/>
              <a:gd fmla="val 49517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6"/>
          <p:cNvSpPr/>
          <p:nvPr/>
        </p:nvSpPr>
        <p:spPr>
          <a:xfrm rot="-5400000">
            <a:off x="2880335" y="2859300"/>
            <a:ext cx="215400" cy="2448000"/>
          </a:xfrm>
          <a:prstGeom prst="leftBrace">
            <a:avLst>
              <a:gd fmla="val 8333" name="adj1"/>
              <a:gd fmla="val 49517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6"/>
          <p:cNvSpPr/>
          <p:nvPr/>
        </p:nvSpPr>
        <p:spPr>
          <a:xfrm rot="-5400000">
            <a:off x="5987092" y="2739100"/>
            <a:ext cx="216600" cy="2712900"/>
          </a:xfrm>
          <a:prstGeom prst="leftBrace">
            <a:avLst>
              <a:gd fmla="val 8333" name="adj1"/>
              <a:gd fmla="val 49517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6"/>
          <p:cNvSpPr txBox="1"/>
          <p:nvPr/>
        </p:nvSpPr>
        <p:spPr>
          <a:xfrm>
            <a:off x="1619250" y="4624388"/>
            <a:ext cx="583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ahoma"/>
              <a:buNone/>
            </a:pPr>
            <a:r>
              <a:rPr i="0" lang="en" sz="18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Possible locations of subarrays of A[low..high]</a:t>
            </a:r>
            <a:endParaRPr i="0" sz="1800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2" name="Google Shape;242;p37"/>
          <p:cNvSpPr txBox="1"/>
          <p:nvPr>
            <p:ph idx="4294967295" type="title"/>
          </p:nvPr>
        </p:nvSpPr>
        <p:spPr>
          <a:xfrm>
            <a:off x="457200" y="171450"/>
            <a:ext cx="82296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Divide-and-Conquer Algorithm</a:t>
            </a:r>
            <a:endParaRPr/>
          </a:p>
        </p:txBody>
      </p:sp>
      <p:sp>
        <p:nvSpPr>
          <p:cNvPr id="243" name="Google Shape;243;p37"/>
          <p:cNvSpPr txBox="1"/>
          <p:nvPr/>
        </p:nvSpPr>
        <p:spPr>
          <a:xfrm>
            <a:off x="128700" y="519150"/>
            <a:ext cx="66939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400"/>
              <a:buFont typeface="Times New Roman"/>
              <a:buNone/>
            </a:pPr>
            <a:r>
              <a:rPr i="0" lang="en" sz="1900" u="none" cap="none" strike="noStrike">
                <a:solidFill>
                  <a:srgbClr val="00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FIND-MAX-CROSSING-SUBARRAY (A</a:t>
            </a:r>
            <a:r>
              <a:rPr i="1" lang="en" sz="1900" u="none" cap="none" strike="noStrike">
                <a:solidFill>
                  <a:srgbClr val="00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,</a:t>
            </a:r>
            <a:r>
              <a:rPr i="0" lang="en" sz="1900" u="none" cap="none" strike="noStrike">
                <a:solidFill>
                  <a:srgbClr val="00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</a:t>
            </a:r>
            <a:r>
              <a:rPr i="1" lang="en" sz="1900" u="none" cap="none" strike="noStrike">
                <a:solidFill>
                  <a:srgbClr val="00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low</a:t>
            </a:r>
            <a:r>
              <a:rPr i="0" lang="en" sz="1900" u="none" cap="none" strike="noStrike">
                <a:solidFill>
                  <a:srgbClr val="00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,</a:t>
            </a:r>
            <a:r>
              <a:rPr i="1" lang="en" sz="1900" u="none" cap="none" strike="noStrike">
                <a:solidFill>
                  <a:srgbClr val="00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mid, high</a:t>
            </a:r>
            <a:r>
              <a:rPr i="0" lang="en" sz="1900" u="none" cap="none" strike="noStrike">
                <a:solidFill>
                  <a:srgbClr val="00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) </a:t>
            </a:r>
            <a:endParaRPr i="0" sz="1900" u="none" cap="none" strike="noStrike">
              <a:solidFill>
                <a:srgbClr val="0000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244" name="Google Shape;244;p37"/>
          <p:cNvSpPr txBox="1"/>
          <p:nvPr/>
        </p:nvSpPr>
        <p:spPr>
          <a:xfrm>
            <a:off x="684325" y="881400"/>
            <a:ext cx="7870200" cy="3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-342900" lvl="0" marL="342900" marR="0" rtl="0" algn="l">
              <a:lnSpc>
                <a:spcPct val="909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left-sum = -</a:t>
            </a:r>
            <a:r>
              <a:rPr b="0" i="0" lang="en" sz="1300" u="none" cap="none" strike="noStrike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∞</a:t>
            </a:r>
            <a:r>
              <a:rPr b="1" i="0" lang="en" sz="1300" u="none" cap="none" strike="noStrike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 	</a:t>
            </a:r>
            <a:r>
              <a:rPr b="0" i="0" lang="en" sz="1300" u="none" cap="none" strike="noStrike">
                <a:solidFill>
                  <a:srgbClr val="783F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Find a maximum subarray of the form A[</a:t>
            </a:r>
            <a:r>
              <a:rPr b="0" i="1" lang="en" sz="1300" u="none" cap="none" strike="noStrike">
                <a:solidFill>
                  <a:srgbClr val="783F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" sz="1300" u="none" cap="none" strike="noStrike">
                <a:solidFill>
                  <a:srgbClr val="783F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..</a:t>
            </a:r>
            <a:r>
              <a:rPr b="0" i="1" lang="en" sz="1300" u="none" cap="none" strike="noStrike">
                <a:solidFill>
                  <a:srgbClr val="783F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</a:t>
            </a:r>
            <a:r>
              <a:rPr b="0" i="0" lang="en" sz="1300" u="none" cap="none" strike="noStrike">
                <a:solidFill>
                  <a:srgbClr val="783F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 </a:t>
            </a:r>
            <a:endParaRPr b="0" i="1" sz="1300" u="none" cap="none" strike="noStrike">
              <a:solidFill>
                <a:srgbClr val="783F0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= 0</a:t>
            </a:r>
            <a:endParaRPr b="0" i="0" sz="700" u="none" cap="none" strike="noStrike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b="1" i="0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</a:t>
            </a:r>
            <a:r>
              <a:rPr b="0" i="0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</a:t>
            </a:r>
            <a:r>
              <a:rPr b="0" i="0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</a:t>
            </a:r>
            <a:r>
              <a:rPr b="1" i="0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downto</a:t>
            </a: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low</a:t>
            </a:r>
            <a:endParaRPr b="0" i="0" sz="700" u="none" cap="none" strike="noStrike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sum = sum + A</a:t>
            </a:r>
            <a:r>
              <a:rPr b="0" i="0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 </a:t>
            </a:r>
            <a:r>
              <a:rPr b="0" i="0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b="0" i="0" sz="700" u="none" cap="none" strike="noStrike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b="0" i="0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b="1" i="0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 </a:t>
            </a: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&gt; left-sum</a:t>
            </a:r>
            <a:endParaRPr b="0" i="0" sz="700" u="none" cap="none" strike="noStrike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left-sum = sum</a:t>
            </a:r>
            <a:endParaRPr b="0" i="0" sz="700" u="none" cap="none" strike="noStrike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max-left = i </a:t>
            </a:r>
            <a:endParaRPr b="0" i="0" sz="700" u="none" cap="none" strike="noStrike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right-sum = -</a:t>
            </a:r>
            <a:r>
              <a:rPr b="0" i="0" lang="en" sz="1300" u="none" cap="none" strike="noStrike">
                <a:solidFill>
                  <a:srgbClr val="990000"/>
                </a:solidFill>
                <a:latin typeface="Tahoma"/>
                <a:ea typeface="Tahoma"/>
                <a:cs typeface="Tahoma"/>
                <a:sym typeface="Tahoma"/>
              </a:rPr>
              <a:t>∞ 	</a:t>
            </a:r>
            <a:r>
              <a:rPr b="0" i="0" lang="en" sz="1300" u="none" cap="none" strike="noStrike">
                <a:solidFill>
                  <a:srgbClr val="783F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Find a maximum subarray of the form A[</a:t>
            </a:r>
            <a:r>
              <a:rPr b="0" i="1" lang="en" sz="1300" u="none" cap="none" strike="noStrike">
                <a:solidFill>
                  <a:srgbClr val="783F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+ 1 .. j </a:t>
            </a:r>
            <a:r>
              <a:rPr b="0" i="0" lang="en" sz="1300" u="none" cap="none" strike="noStrike">
                <a:solidFill>
                  <a:srgbClr val="783F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b="0" i="0" sz="700" u="none" cap="none" strike="noStrike">
              <a:solidFill>
                <a:srgbClr val="783F04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=0</a:t>
            </a:r>
            <a:endParaRPr b="0" i="0" sz="700" u="none" cap="none" strike="noStrike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b="1" i="0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</a:t>
            </a: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0" i="0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+1 </a:t>
            </a:r>
            <a:r>
              <a:rPr b="1" i="0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</a:t>
            </a: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high</a:t>
            </a:r>
            <a:endParaRPr b="0" i="0" sz="700" u="none" cap="none" strike="noStrike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sum = sum + A</a:t>
            </a:r>
            <a:r>
              <a:rPr b="0" i="0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</a:t>
            </a: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</a:t>
            </a:r>
            <a:r>
              <a:rPr b="0" i="0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b="0" i="1" sz="1500" u="none" cap="none" strike="noStrike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b="0" i="0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</a:t>
            </a:r>
            <a:r>
              <a:rPr b="1" i="0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if</a:t>
            </a:r>
            <a:r>
              <a:rPr b="0" i="0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 &gt; right-sum</a:t>
            </a:r>
            <a:endParaRPr b="0" i="0" sz="700" u="none" cap="none" strike="noStrike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right-sum = sum</a:t>
            </a:r>
            <a:endParaRPr b="0" i="0" sz="700" u="none" cap="none" strike="noStrike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max-right = j</a:t>
            </a:r>
            <a:endParaRPr b="0" i="0" sz="700" u="none" cap="none" strike="noStrike">
              <a:solidFill>
                <a:srgbClr val="99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</a:pPr>
            <a:r>
              <a:rPr b="0" i="0" lang="en" sz="1300" u="none" cap="none" strike="noStrike">
                <a:solidFill>
                  <a:srgbClr val="783F0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// Return the indices and the sum of the two subarrays</a:t>
            </a:r>
            <a:endParaRPr b="0" i="0" sz="1300" u="none" cap="none" strike="noStrike">
              <a:solidFill>
                <a:srgbClr val="783F0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lnSpc>
                <a:spcPct val="90909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650"/>
              <a:buFont typeface="Arial"/>
              <a:buNone/>
            </a:pPr>
            <a:r>
              <a:rPr b="1" i="0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return</a:t>
            </a:r>
            <a:r>
              <a:rPr b="0" i="0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b="0" i="1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max-left, max-right, left-sum + right-sum</a:t>
            </a:r>
            <a:r>
              <a:rPr b="0" i="0" lang="en" sz="1500" u="none" cap="none" strike="noStrike">
                <a:solidFill>
                  <a:srgbClr val="99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0" i="0" sz="1500" u="none" cap="none" strike="noStrike">
              <a:solidFill>
                <a:srgbClr val="99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8"/>
          <p:cNvSpPr txBox="1"/>
          <p:nvPr>
            <p:ph idx="4294967295" type="title"/>
          </p:nvPr>
        </p:nvSpPr>
        <p:spPr>
          <a:xfrm>
            <a:off x="457200" y="171450"/>
            <a:ext cx="82296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Divide-and-Conquer Algorithm</a:t>
            </a:r>
            <a:endParaRPr/>
          </a:p>
        </p:txBody>
      </p:sp>
      <p:graphicFrame>
        <p:nvGraphicFramePr>
          <p:cNvPr id="250" name="Google Shape;250;p38"/>
          <p:cNvGraphicFramePr/>
          <p:nvPr/>
        </p:nvGraphicFramePr>
        <p:xfrm>
          <a:off x="1331913" y="170735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{543430AC-E9CC-41CD-A9BB-0F5674EDDEFA}</a:tableStyleId>
              </a:tblPr>
              <a:tblGrid>
                <a:gridCol w="434975"/>
                <a:gridCol w="436550"/>
                <a:gridCol w="434975"/>
                <a:gridCol w="434975"/>
                <a:gridCol w="434975"/>
                <a:gridCol w="436575"/>
                <a:gridCol w="434975"/>
                <a:gridCol w="434975"/>
                <a:gridCol w="436550"/>
                <a:gridCol w="434975"/>
                <a:gridCol w="434975"/>
                <a:gridCol w="434975"/>
                <a:gridCol w="436575"/>
                <a:gridCol w="434975"/>
              </a:tblGrid>
              <a:tr h="27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C66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t/>
                      </a:r>
                      <a:endParaRPr b="1" i="0" sz="140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cxnSp>
        <p:nvCxnSpPr>
          <p:cNvPr id="251" name="Google Shape;251;p38"/>
          <p:cNvCxnSpPr/>
          <p:nvPr/>
        </p:nvCxnSpPr>
        <p:spPr>
          <a:xfrm rot="5400000">
            <a:off x="4249137" y="1841907"/>
            <a:ext cx="269100" cy="0"/>
          </a:xfrm>
          <a:prstGeom prst="straightConnector1">
            <a:avLst/>
          </a:prstGeom>
          <a:noFill/>
          <a:ln cap="flat" cmpd="sng" w="57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2" name="Google Shape;252;p38"/>
          <p:cNvSpPr txBox="1"/>
          <p:nvPr/>
        </p:nvSpPr>
        <p:spPr>
          <a:xfrm>
            <a:off x="1241163" y="1354075"/>
            <a:ext cx="628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i="1" lang="en" sz="16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low                                                mid                                               </a:t>
            </a:r>
            <a:r>
              <a:rPr i="1" lang="en" sz="1600"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i="1" lang="en" sz="16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high</a:t>
            </a:r>
            <a:endParaRPr i="1" sz="16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3" name="Google Shape;253;p38"/>
          <p:cNvSpPr txBox="1"/>
          <p:nvPr/>
        </p:nvSpPr>
        <p:spPr>
          <a:xfrm>
            <a:off x="4155572" y="1976438"/>
            <a:ext cx="1081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None/>
            </a:pPr>
            <a:r>
              <a:rPr i="1" lang="en" sz="16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mid </a:t>
            </a:r>
            <a:r>
              <a:rPr i="0" lang="en" sz="16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+1</a:t>
            </a:r>
            <a:endParaRPr i="0" sz="16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4" name="Google Shape;254;p38"/>
          <p:cNvSpPr txBox="1"/>
          <p:nvPr/>
        </p:nvSpPr>
        <p:spPr>
          <a:xfrm>
            <a:off x="3203848" y="2301479"/>
            <a:ext cx="100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i="1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i="0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[</a:t>
            </a:r>
            <a:r>
              <a:rPr i="1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i="0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..</a:t>
            </a:r>
            <a:r>
              <a:rPr i="1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mid</a:t>
            </a:r>
            <a:r>
              <a:rPr i="0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]</a:t>
            </a:r>
            <a:endParaRPr i="0" sz="1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5" name="Google Shape;255;p38"/>
          <p:cNvSpPr txBox="1"/>
          <p:nvPr/>
        </p:nvSpPr>
        <p:spPr>
          <a:xfrm>
            <a:off x="5795963" y="1958468"/>
            <a:ext cx="24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i="1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j</a:t>
            </a:r>
            <a:endParaRPr i="1" sz="1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6" name="Google Shape;256;p38"/>
          <p:cNvSpPr txBox="1"/>
          <p:nvPr/>
        </p:nvSpPr>
        <p:spPr>
          <a:xfrm>
            <a:off x="4355976" y="907256"/>
            <a:ext cx="1800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i="1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i="0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[</a:t>
            </a:r>
            <a:r>
              <a:rPr i="1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mid+1</a:t>
            </a:r>
            <a:r>
              <a:rPr i="0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..</a:t>
            </a:r>
            <a:r>
              <a:rPr i="1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j</a:t>
            </a:r>
            <a:r>
              <a:rPr i="0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]</a:t>
            </a:r>
            <a:endParaRPr i="0" sz="1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7" name="Google Shape;257;p38"/>
          <p:cNvSpPr/>
          <p:nvPr/>
        </p:nvSpPr>
        <p:spPr>
          <a:xfrm rot="5400000">
            <a:off x="5111025" y="493979"/>
            <a:ext cx="215700" cy="1582800"/>
          </a:xfrm>
          <a:prstGeom prst="leftBrace">
            <a:avLst>
              <a:gd fmla="val 8333" name="adj1"/>
              <a:gd fmla="val 49517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38"/>
          <p:cNvSpPr/>
          <p:nvPr/>
        </p:nvSpPr>
        <p:spPr>
          <a:xfrm rot="-5400000">
            <a:off x="3630485" y="1617478"/>
            <a:ext cx="215400" cy="1152600"/>
          </a:xfrm>
          <a:prstGeom prst="leftBrace">
            <a:avLst>
              <a:gd fmla="val 8333" name="adj1"/>
              <a:gd fmla="val 49517" name="adj2"/>
            </a:avLst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38"/>
          <p:cNvSpPr txBox="1"/>
          <p:nvPr/>
        </p:nvSpPr>
        <p:spPr>
          <a:xfrm>
            <a:off x="3142682" y="1312615"/>
            <a:ext cx="248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i="1" lang="en" sz="18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endParaRPr i="1" sz="18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0" name="Google Shape;260;p38"/>
          <p:cNvSpPr txBox="1"/>
          <p:nvPr/>
        </p:nvSpPr>
        <p:spPr>
          <a:xfrm>
            <a:off x="1116013" y="2680097"/>
            <a:ext cx="7056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Times New Roman"/>
              <a:buNone/>
            </a:pPr>
            <a:r>
              <a:rPr i="1" lang="en" sz="2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i="0" lang="en" sz="2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[</a:t>
            </a:r>
            <a:r>
              <a:rPr i="1" lang="en" sz="2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i="0" lang="en" sz="2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..</a:t>
            </a:r>
            <a:r>
              <a:rPr i="1" lang="en" sz="2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j</a:t>
            </a:r>
            <a:r>
              <a:rPr i="0" lang="en" sz="2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] comprises two subarrays </a:t>
            </a:r>
            <a:r>
              <a:rPr i="1" lang="en" sz="2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i="0" lang="en" sz="2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[</a:t>
            </a:r>
            <a:r>
              <a:rPr i="1" lang="en" sz="2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i="0" lang="en" sz="2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..</a:t>
            </a:r>
            <a:r>
              <a:rPr i="1" lang="en" sz="2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mid</a:t>
            </a:r>
            <a:r>
              <a:rPr i="0" lang="en" sz="2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] and </a:t>
            </a:r>
            <a:r>
              <a:rPr i="1" lang="en" sz="2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i="0" lang="en" sz="2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[</a:t>
            </a:r>
            <a:r>
              <a:rPr i="1" lang="en" sz="2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mid</a:t>
            </a:r>
            <a:r>
              <a:rPr i="0" lang="en" sz="2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+1..</a:t>
            </a:r>
            <a:r>
              <a:rPr i="1" lang="en" sz="2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j</a:t>
            </a:r>
            <a:r>
              <a:rPr i="0" lang="en" sz="24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]</a:t>
            </a:r>
            <a:endParaRPr i="0" sz="2400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1" name="Google Shape;261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7" name="Google Shape;267;p39"/>
          <p:cNvSpPr txBox="1"/>
          <p:nvPr>
            <p:ph idx="4294967295" type="title"/>
          </p:nvPr>
        </p:nvSpPr>
        <p:spPr>
          <a:xfrm>
            <a:off x="457200" y="171450"/>
            <a:ext cx="82296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Divide-and-Conquer Algorithm</a:t>
            </a:r>
            <a:endParaRPr/>
          </a:p>
        </p:txBody>
      </p:sp>
      <p:graphicFrame>
        <p:nvGraphicFramePr>
          <p:cNvPr id="268" name="Google Shape;268;p39"/>
          <p:cNvGraphicFramePr/>
          <p:nvPr/>
        </p:nvGraphicFramePr>
        <p:xfrm>
          <a:off x="1668463" y="963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{543430AC-E9CC-41CD-A9BB-0F5674EDDEFA}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27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0" i="0" lang="en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0" i="0" lang="en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0" i="0" lang="en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0" i="0" lang="en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0" i="0" lang="en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0" i="0" lang="en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0" i="0" lang="en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0" i="0" lang="en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0" i="0" lang="en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0" i="0" lang="en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7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-25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-16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-23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-7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269" name="Google Shape;269;p39"/>
          <p:cNvSpPr txBox="1"/>
          <p:nvPr/>
        </p:nvSpPr>
        <p:spPr>
          <a:xfrm>
            <a:off x="1248197" y="1245554"/>
            <a:ext cx="37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1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p39"/>
          <p:cNvSpPr txBox="1"/>
          <p:nvPr/>
        </p:nvSpPr>
        <p:spPr>
          <a:xfrm>
            <a:off x="741475" y="1556425"/>
            <a:ext cx="51942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S</a:t>
            </a:r>
            <a:r>
              <a:rPr i="0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[5 .. 5] =	   		          </a:t>
            </a:r>
            <a:r>
              <a:rPr lang="en" sz="1600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    		      </a:t>
            </a:r>
            <a:r>
              <a:rPr i="0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-3</a:t>
            </a:r>
            <a:endParaRPr i="0" sz="1600" u="none" cap="none" strike="noStrike">
              <a:solidFill>
                <a:srgbClr val="00269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S</a:t>
            </a:r>
            <a:r>
              <a:rPr i="0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[4 .. 5] =		           		   17 </a:t>
            </a:r>
            <a:r>
              <a:rPr i="0" lang="en" sz="16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⇐ (max-left = 4)</a:t>
            </a:r>
            <a:endParaRPr i="0" sz="1600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S</a:t>
            </a:r>
            <a:r>
              <a:rPr i="0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[3 .. 5] =	          		-8</a:t>
            </a:r>
            <a:endParaRPr i="0" sz="1600" u="none" cap="none" strike="noStrike">
              <a:solidFill>
                <a:srgbClr val="00269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S</a:t>
            </a:r>
            <a:r>
              <a:rPr i="0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[2 .. 5] =		</a:t>
            </a:r>
            <a:r>
              <a:rPr lang="en" sz="1600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     </a:t>
            </a:r>
            <a:r>
              <a:rPr i="0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-11</a:t>
            </a:r>
            <a:endParaRPr i="0" sz="1600" u="none" cap="none" strike="noStrike">
              <a:solidFill>
                <a:srgbClr val="00269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S</a:t>
            </a:r>
            <a:r>
              <a:rPr i="0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[1 .. 5] =  	   2</a:t>
            </a:r>
            <a:endParaRPr i="0" u="none" cap="none" strike="noStrike">
              <a:solidFill>
                <a:srgbClr val="00269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71" name="Google Shape;271;p39"/>
          <p:cNvCxnSpPr/>
          <p:nvPr/>
        </p:nvCxnSpPr>
        <p:spPr>
          <a:xfrm rot="5400000">
            <a:off x="4446163" y="1245582"/>
            <a:ext cx="540600" cy="0"/>
          </a:xfrm>
          <a:prstGeom prst="straightConnector1">
            <a:avLst/>
          </a:prstGeom>
          <a:noFill/>
          <a:ln cap="flat" cmpd="sng" w="57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" name="Google Shape;272;p39"/>
          <p:cNvSpPr txBox="1"/>
          <p:nvPr/>
        </p:nvSpPr>
        <p:spPr>
          <a:xfrm>
            <a:off x="3995738" y="651431"/>
            <a:ext cx="100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Font typeface="Times New Roman"/>
              <a:buNone/>
            </a:pPr>
            <a:r>
              <a:rPr b="0" i="0" lang="en" sz="1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=5</a:t>
            </a:r>
            <a:endParaRPr b="0" i="0" sz="18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73" name="Google Shape;273;p39"/>
          <p:cNvGraphicFramePr/>
          <p:nvPr/>
        </p:nvGraphicFramePr>
        <p:xfrm>
          <a:off x="1811338" y="2854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{543430AC-E9CC-41CD-A9BB-0F5674EDDEFA}</a:tableStyleId>
              </a:tblPr>
              <a:tblGrid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  <a:gridCol w="609600"/>
              </a:tblGrid>
              <a:tr h="27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0" i="0" lang="en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0" i="0" lang="en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0" i="0" lang="en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0" i="0" lang="en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0" i="0" lang="en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0" i="0" lang="en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0" i="0" lang="en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0" i="0" lang="en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0" i="0" lang="en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Times New Roman"/>
                        <a:buNone/>
                      </a:pPr>
                      <a:r>
                        <a:rPr b="0" i="0" lang="en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78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-25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-3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-16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-23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18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Calibri"/>
                        <a:buNone/>
                      </a:pPr>
                      <a:r>
                        <a:rPr b="1" i="0" lang="en" sz="140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-7</a:t>
                      </a:r>
                      <a:endParaRPr b="1" i="0" sz="1400" u="none" cap="none" strike="noStrik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34300" marB="34300" marR="91450" marL="91450">
                    <a:lnL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274" name="Google Shape;274;p39"/>
          <p:cNvSpPr txBox="1"/>
          <p:nvPr/>
        </p:nvSpPr>
        <p:spPr>
          <a:xfrm>
            <a:off x="1403350" y="3136266"/>
            <a:ext cx="371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" sz="2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1" i="0" sz="2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39"/>
          <p:cNvSpPr txBox="1"/>
          <p:nvPr/>
        </p:nvSpPr>
        <p:spPr>
          <a:xfrm>
            <a:off x="3995758" y="3417931"/>
            <a:ext cx="45720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i="1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S</a:t>
            </a:r>
            <a:r>
              <a:rPr i="0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[6 .. 6] =	  -16</a:t>
            </a:r>
            <a:endParaRPr i="0" sz="1600" u="none" cap="none" strike="noStrike">
              <a:solidFill>
                <a:srgbClr val="00269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i="1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S</a:t>
            </a:r>
            <a:r>
              <a:rPr i="0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[6 .. 7] =	             -39</a:t>
            </a:r>
            <a:endParaRPr i="0" sz="1600" u="none" cap="none" strike="noStrike">
              <a:solidFill>
                <a:srgbClr val="00269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i="1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S</a:t>
            </a:r>
            <a:r>
              <a:rPr i="0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[6 .. 8] =	                        -21</a:t>
            </a:r>
            <a:endParaRPr i="0" sz="1600" u="none" cap="none" strike="noStrike">
              <a:solidFill>
                <a:srgbClr val="00269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i="1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S</a:t>
            </a:r>
            <a:r>
              <a:rPr i="0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[6 .. 9] =	      </a:t>
            </a:r>
            <a:r>
              <a:rPr i="0" lang="en" sz="1600" u="none" cap="none" strike="noStrike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 (max-right = 9) ⇒</a:t>
            </a:r>
            <a:r>
              <a:rPr i="0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 - 1</a:t>
            </a:r>
            <a:endParaRPr i="0" sz="1600" u="none" cap="none" strike="noStrike">
              <a:solidFill>
                <a:srgbClr val="00269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rPr i="1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S</a:t>
            </a:r>
            <a:r>
              <a:rPr i="0" lang="en" sz="16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[6..10] =                                                   -8</a:t>
            </a:r>
            <a:endParaRPr i="0" sz="1600" u="none" cap="none" strike="noStrike">
              <a:solidFill>
                <a:srgbClr val="00269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276" name="Google Shape;276;p39"/>
          <p:cNvCxnSpPr/>
          <p:nvPr/>
        </p:nvCxnSpPr>
        <p:spPr>
          <a:xfrm rot="5400000">
            <a:off x="4589038" y="3136294"/>
            <a:ext cx="540600" cy="0"/>
          </a:xfrm>
          <a:prstGeom prst="straightConnector1">
            <a:avLst/>
          </a:prstGeom>
          <a:noFill/>
          <a:ln cap="flat" cmpd="sng" w="571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7" name="Google Shape;277;p39"/>
          <p:cNvSpPr txBox="1"/>
          <p:nvPr/>
        </p:nvSpPr>
        <p:spPr>
          <a:xfrm>
            <a:off x="4140200" y="2542144"/>
            <a:ext cx="846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" sz="1800" u="none" cap="none" strike="noStrike">
                <a:solidFill>
                  <a:srgbClr val="0000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mid =5</a:t>
            </a:r>
            <a:endParaRPr b="0" i="0" sz="1800" u="none" cap="none" strike="noStrike">
              <a:solidFill>
                <a:srgbClr val="0000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39"/>
          <p:cNvSpPr txBox="1"/>
          <p:nvPr/>
        </p:nvSpPr>
        <p:spPr>
          <a:xfrm>
            <a:off x="369218" y="4744822"/>
            <a:ext cx="6723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200"/>
              <a:buFont typeface="Times New Roman"/>
              <a:buNone/>
            </a:pPr>
            <a:r>
              <a:rPr i="0" lang="en" sz="1900" u="none" cap="none" strike="noStrike">
                <a:solidFill>
                  <a:srgbClr val="0000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⇒ maximum subarray crossing </a:t>
            </a:r>
            <a:r>
              <a:rPr i="1" lang="en" sz="1900" u="none" cap="none" strike="noStrike">
                <a:solidFill>
                  <a:srgbClr val="0000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mid</a:t>
            </a:r>
            <a:r>
              <a:rPr i="0" lang="en" sz="1900" u="none" cap="none" strike="noStrike">
                <a:solidFill>
                  <a:srgbClr val="0000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is </a:t>
            </a:r>
            <a:r>
              <a:rPr i="1" lang="en" sz="1900" u="none" cap="none" strike="noStrike">
                <a:solidFill>
                  <a:srgbClr val="0000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</a:t>
            </a:r>
            <a:r>
              <a:rPr i="0" lang="en" sz="1900" u="none" cap="none" strike="noStrike">
                <a:solidFill>
                  <a:srgbClr val="0000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[4..9] = 16</a:t>
            </a:r>
            <a:endParaRPr i="0" sz="1900" u="none" cap="none" strike="noStrike">
              <a:solidFill>
                <a:srgbClr val="0000CC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279" name="Google Shape;279;p39"/>
          <p:cNvSpPr/>
          <p:nvPr/>
        </p:nvSpPr>
        <p:spPr>
          <a:xfrm>
            <a:off x="5383200" y="4204475"/>
            <a:ext cx="1494600" cy="31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80" name="Google Shape;280;p39"/>
          <p:cNvSpPr/>
          <p:nvPr/>
        </p:nvSpPr>
        <p:spPr>
          <a:xfrm>
            <a:off x="3969175" y="1872263"/>
            <a:ext cx="1494600" cy="31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6" name="Google Shape;286;p40"/>
          <p:cNvSpPr txBox="1"/>
          <p:nvPr>
            <p:ph idx="4294967295" type="title"/>
          </p:nvPr>
        </p:nvSpPr>
        <p:spPr>
          <a:xfrm>
            <a:off x="457200" y="171450"/>
            <a:ext cx="82296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Divide-and-Conquer Algorithm</a:t>
            </a:r>
            <a:endParaRPr/>
          </a:p>
        </p:txBody>
      </p:sp>
      <p:sp>
        <p:nvSpPr>
          <p:cNvPr id="287" name="Google Shape;287;p40"/>
          <p:cNvSpPr txBox="1"/>
          <p:nvPr/>
        </p:nvSpPr>
        <p:spPr>
          <a:xfrm>
            <a:off x="457194" y="551383"/>
            <a:ext cx="734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CC"/>
              </a:buClr>
              <a:buSzPts val="2400"/>
              <a:buFont typeface="Times New Roman"/>
              <a:buNone/>
            </a:pPr>
            <a:r>
              <a:rPr i="0" lang="en" sz="2000" u="none" cap="none" strike="noStrike">
                <a:solidFill>
                  <a:srgbClr val="0000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FIND-MAXIMUM-SUBARRAY (</a:t>
            </a:r>
            <a:r>
              <a:rPr i="1" lang="en" sz="2000" u="none" cap="none" strike="noStrike">
                <a:solidFill>
                  <a:srgbClr val="0000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</a:t>
            </a:r>
            <a:r>
              <a:rPr i="0" lang="en" sz="2000" u="none" cap="none" strike="noStrike">
                <a:solidFill>
                  <a:srgbClr val="0000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, </a:t>
            </a:r>
            <a:r>
              <a:rPr i="1" lang="en" sz="2000" u="none" cap="none" strike="noStrike">
                <a:solidFill>
                  <a:srgbClr val="0000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low, high</a:t>
            </a:r>
            <a:r>
              <a:rPr i="0" lang="en" sz="2000" u="none" cap="none" strike="noStrike">
                <a:solidFill>
                  <a:srgbClr val="0000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)</a:t>
            </a:r>
            <a:endParaRPr i="0" sz="2000" u="none" cap="none" strike="noStrike">
              <a:solidFill>
                <a:srgbClr val="0000CC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288" name="Google Shape;288;p40"/>
          <p:cNvSpPr/>
          <p:nvPr/>
        </p:nvSpPr>
        <p:spPr>
          <a:xfrm>
            <a:off x="755576" y="900170"/>
            <a:ext cx="8064600" cy="37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if </a:t>
            </a:r>
            <a:r>
              <a:rPr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high == low</a:t>
            </a:r>
            <a:endParaRPr i="0" sz="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 return </a:t>
            </a:r>
            <a:r>
              <a:rPr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(</a:t>
            </a:r>
            <a:r>
              <a:rPr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low, high, A</a:t>
            </a:r>
            <a:r>
              <a:rPr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[</a:t>
            </a:r>
            <a:r>
              <a:rPr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low</a:t>
            </a:r>
            <a:r>
              <a:rPr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])</a:t>
            </a:r>
            <a:r>
              <a:rPr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// base case: only one element</a:t>
            </a:r>
            <a:endParaRPr i="0" sz="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else </a:t>
            </a:r>
            <a:r>
              <a:rPr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mid =       </a:t>
            </a:r>
            <a:endParaRPr i="0" sz="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</a:t>
            </a:r>
            <a:r>
              <a:rPr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(</a:t>
            </a:r>
            <a:r>
              <a:rPr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left-low, left-high, left-sum</a:t>
            </a:r>
            <a:r>
              <a:rPr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r>
              <a:rPr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= </a:t>
            </a:r>
            <a:endParaRPr i="0" sz="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    FIND-MAXIMUM-SUBARRAY</a:t>
            </a:r>
            <a:r>
              <a:rPr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(</a:t>
            </a:r>
            <a:r>
              <a:rPr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A, low, mid</a:t>
            </a:r>
            <a:r>
              <a:rPr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i="0" sz="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(</a:t>
            </a:r>
            <a:r>
              <a:rPr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right-low, right-high, right-sum</a:t>
            </a:r>
            <a:r>
              <a:rPr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r>
              <a:rPr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b="1"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=  </a:t>
            </a:r>
            <a:endParaRPr i="0" sz="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   FIND-MAXIMUM-SUBARRAY</a:t>
            </a:r>
            <a:r>
              <a:rPr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(</a:t>
            </a:r>
            <a:r>
              <a:rPr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A, mid + 1, high</a:t>
            </a:r>
            <a:r>
              <a:rPr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i="0" sz="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(</a:t>
            </a:r>
            <a:r>
              <a:rPr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cross-low, cross-high, cross-sum</a:t>
            </a:r>
            <a:r>
              <a:rPr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r>
              <a:rPr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= </a:t>
            </a:r>
            <a:endParaRPr i="0" sz="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  FIND-MAX-CROSSING-SUBARRAY</a:t>
            </a:r>
            <a:r>
              <a:rPr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(</a:t>
            </a:r>
            <a:r>
              <a:rPr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A, low, mid, high</a:t>
            </a:r>
            <a:r>
              <a:rPr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i="0" sz="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if </a:t>
            </a:r>
            <a:r>
              <a:rPr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left-sum </a:t>
            </a:r>
            <a:r>
              <a:rPr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≧</a:t>
            </a:r>
            <a:r>
              <a:rPr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right-sum </a:t>
            </a:r>
            <a:r>
              <a:rPr b="1"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and </a:t>
            </a:r>
            <a:r>
              <a:rPr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left-sum </a:t>
            </a:r>
            <a:r>
              <a:rPr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≧</a:t>
            </a:r>
            <a:r>
              <a:rPr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cross-sum</a:t>
            </a:r>
            <a:endParaRPr i="0" sz="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   return </a:t>
            </a:r>
            <a:r>
              <a:rPr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(</a:t>
            </a:r>
            <a:r>
              <a:rPr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left-low, left-high, left-sum</a:t>
            </a:r>
            <a:r>
              <a:rPr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i="0" sz="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elseif </a:t>
            </a:r>
            <a:r>
              <a:rPr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right-sum </a:t>
            </a:r>
            <a:r>
              <a:rPr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≧</a:t>
            </a:r>
            <a:r>
              <a:rPr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left-sum </a:t>
            </a:r>
            <a:r>
              <a:rPr b="1"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and </a:t>
            </a:r>
            <a:r>
              <a:rPr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right-sum </a:t>
            </a:r>
            <a:r>
              <a:rPr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≧ </a:t>
            </a:r>
            <a:r>
              <a:rPr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cross-sum</a:t>
            </a:r>
            <a:endParaRPr i="0" sz="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          return </a:t>
            </a:r>
            <a:r>
              <a:rPr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(</a:t>
            </a:r>
            <a:r>
              <a:rPr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right-low, right-high, right-sum</a:t>
            </a:r>
            <a:r>
              <a:rPr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i="0" sz="9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1"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else return </a:t>
            </a:r>
            <a:r>
              <a:rPr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(</a:t>
            </a:r>
            <a:r>
              <a:rPr i="1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cross-low, cross-high, cross-sum</a:t>
            </a:r>
            <a:r>
              <a:rPr i="0" lang="en" sz="15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i="0" sz="1500" u="none" cap="none" strike="noStrike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89" name="Google Shape;28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3132" y="1535897"/>
            <a:ext cx="1348981" cy="323851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40"/>
          <p:cNvSpPr txBox="1"/>
          <p:nvPr/>
        </p:nvSpPr>
        <p:spPr>
          <a:xfrm>
            <a:off x="-238131" y="4690684"/>
            <a:ext cx="5810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i="1" lang="en" sz="1600" u="none" cap="none" strike="noStrike">
                <a:solidFill>
                  <a:srgbClr val="0000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Initial call: FIND-MAXIMUM-SUBARRAY (A, </a:t>
            </a:r>
            <a:r>
              <a:rPr i="0" lang="en" sz="1600" u="none" cap="none" strike="noStrike">
                <a:solidFill>
                  <a:srgbClr val="0000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1,</a:t>
            </a:r>
            <a:r>
              <a:rPr i="1" lang="en" sz="1600" u="none" cap="none" strike="noStrike">
                <a:solidFill>
                  <a:srgbClr val="0000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 n</a:t>
            </a:r>
            <a:r>
              <a:rPr i="0" lang="en" sz="1600" u="none" cap="none" strike="noStrike">
                <a:solidFill>
                  <a:srgbClr val="0000CC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)</a:t>
            </a:r>
            <a:endParaRPr i="0" sz="1600" u="none" cap="none" strike="noStrike">
              <a:solidFill>
                <a:srgbClr val="0000CC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6" name="Google Shape;296;p41"/>
          <p:cNvSpPr txBox="1"/>
          <p:nvPr/>
        </p:nvSpPr>
        <p:spPr>
          <a:xfrm>
            <a:off x="348050" y="847136"/>
            <a:ext cx="82296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025" lIns="92075" spcFirstLastPara="1" rIns="92075" wrap="square" tIns="460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None/>
            </a:pPr>
            <a:r>
              <a:rPr i="0" lang="en" sz="3200" u="none" cap="none" strike="noStrike">
                <a:solidFill>
                  <a:srgbClr val="002699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Analyzing time complexity</a:t>
            </a:r>
            <a:endParaRPr i="0" sz="3200" u="none" cap="none" strike="noStrike">
              <a:solidFill>
                <a:srgbClr val="002699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297" name="Google Shape;297;p41"/>
          <p:cNvSpPr txBox="1"/>
          <p:nvPr/>
        </p:nvSpPr>
        <p:spPr>
          <a:xfrm>
            <a:off x="457200" y="1545625"/>
            <a:ext cx="8534100" cy="31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025" lIns="92075" spcFirstLastPara="1" rIns="92075" wrap="square" tIns="460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rPr i="0" lang="en" sz="24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FIND-MAX-CROSSING-SUBARRAY </a:t>
            </a:r>
            <a:r>
              <a:rPr i="0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: </a:t>
            </a:r>
            <a:r>
              <a:rPr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Θ(</a:t>
            </a:r>
            <a:r>
              <a:rPr i="1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), </a:t>
            </a:r>
            <a:r>
              <a:rPr i="0" lang="en" sz="2000" u="none" cap="none" strike="noStrike">
                <a:solidFill>
                  <a:srgbClr val="CC0000"/>
                </a:solidFill>
                <a:latin typeface="Proxima Nova"/>
                <a:ea typeface="Proxima Nova"/>
                <a:cs typeface="Proxima Nova"/>
                <a:sym typeface="Proxima Nova"/>
              </a:rPr>
              <a:t>where </a:t>
            </a:r>
            <a:r>
              <a:rPr i="1" lang="en" sz="2000" u="none" cap="none" strike="noStrike">
                <a:solidFill>
                  <a:srgbClr val="CC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i="0" lang="en" sz="2000" u="none" cap="none" strike="noStrike">
                <a:solidFill>
                  <a:srgbClr val="CC0000"/>
                </a:solidFill>
                <a:latin typeface="Proxima Nova"/>
                <a:ea typeface="Proxima Nova"/>
                <a:cs typeface="Proxima Nova"/>
                <a:sym typeface="Proxima Nova"/>
              </a:rPr>
              <a:t> = </a:t>
            </a:r>
            <a:r>
              <a:rPr i="1" lang="en" sz="2000" u="none" cap="none" strike="noStrike">
                <a:solidFill>
                  <a:srgbClr val="CC0000"/>
                </a:solidFill>
                <a:latin typeface="Proxima Nova"/>
                <a:ea typeface="Proxima Nova"/>
                <a:cs typeface="Proxima Nova"/>
                <a:sym typeface="Proxima Nova"/>
              </a:rPr>
              <a:t>high</a:t>
            </a:r>
            <a:r>
              <a:rPr i="0" lang="en" sz="2000" u="none" cap="none" strike="noStrike">
                <a:solidFill>
                  <a:srgbClr val="CC0000"/>
                </a:solidFill>
                <a:latin typeface="Proxima Nova"/>
                <a:ea typeface="Proxima Nova"/>
                <a:cs typeface="Proxima Nova"/>
                <a:sym typeface="Proxima Nova"/>
              </a:rPr>
              <a:t> − </a:t>
            </a:r>
            <a:r>
              <a:rPr i="1" lang="en" sz="2000" u="none" cap="none" strike="noStrike">
                <a:solidFill>
                  <a:srgbClr val="CC0000"/>
                </a:solidFill>
                <a:latin typeface="Proxima Nova"/>
                <a:ea typeface="Proxima Nova"/>
                <a:cs typeface="Proxima Nova"/>
                <a:sym typeface="Proxima Nova"/>
              </a:rPr>
              <a:t>low</a:t>
            </a:r>
            <a:r>
              <a:rPr i="0" lang="en" sz="2000" u="none" cap="none" strike="noStrike">
                <a:solidFill>
                  <a:srgbClr val="CC0000"/>
                </a:solidFill>
                <a:latin typeface="Proxima Nova"/>
                <a:ea typeface="Proxima Nova"/>
                <a:cs typeface="Proxima Nova"/>
                <a:sym typeface="Proxima Nova"/>
              </a:rPr>
              <a:t> + 1</a:t>
            </a:r>
            <a:endParaRPr i="0" sz="1000" u="none" cap="none" strike="noStrike">
              <a:solidFill>
                <a:srgbClr val="CC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rPr i="0" lang="en" sz="2400" u="none" cap="none" strike="noStrike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FIND-MAXIMUM-SUBARRAY</a:t>
            </a:r>
            <a:r>
              <a:rPr i="0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rPr i="0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	</a:t>
            </a:r>
            <a:endParaRPr i="0" sz="24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45720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rPr i="1" lang="en" sz="24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</a:t>
            </a:r>
            <a:r>
              <a:rPr i="1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T</a:t>
            </a:r>
            <a:r>
              <a:rPr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(</a:t>
            </a:r>
            <a:r>
              <a:rPr i="1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  = 2</a:t>
            </a:r>
            <a:r>
              <a:rPr i="1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T</a:t>
            </a:r>
            <a:r>
              <a:rPr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(</a:t>
            </a:r>
            <a:r>
              <a:rPr i="1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/2) + Θ(</a:t>
            </a:r>
            <a:r>
              <a:rPr i="1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	</a:t>
            </a:r>
            <a:endParaRPr sz="2400">
              <a:solidFill>
                <a:srgbClr val="99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rPr lang="en" sz="2400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       </a:t>
            </a:r>
            <a:r>
              <a:rPr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=  Θ(</a:t>
            </a:r>
            <a:r>
              <a:rPr i="1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i="1" lang="en" sz="1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lg</a:t>
            </a:r>
            <a:r>
              <a:rPr i="0" lang="en" sz="12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i="1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i="0" lang="en" sz="2400" u="none" cap="none" strike="noStrike">
                <a:solidFill>
                  <a:srgbClr val="990000"/>
                </a:solidFill>
                <a:latin typeface="Proxima Nova"/>
                <a:ea typeface="Proxima Nova"/>
                <a:cs typeface="Proxima Nova"/>
                <a:sym typeface="Proxima Nova"/>
              </a:rPr>
              <a:t>) </a:t>
            </a:r>
            <a:r>
              <a:rPr i="0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	(</a:t>
            </a:r>
            <a:r>
              <a:rPr i="0" lang="en" sz="2400" u="none" cap="none" strike="noStrike">
                <a:solidFill>
                  <a:srgbClr val="0000CC"/>
                </a:solidFill>
                <a:latin typeface="Proxima Nova"/>
                <a:ea typeface="Proxima Nova"/>
                <a:cs typeface="Proxima Nova"/>
                <a:sym typeface="Proxima Nova"/>
              </a:rPr>
              <a:t>similar to merge-sort</a:t>
            </a:r>
            <a:r>
              <a:rPr i="0" lang="en" sz="2400" u="none" cap="none" strike="noStrike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)</a:t>
            </a:r>
            <a:endParaRPr i="0" sz="24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Arial"/>
              <a:buNone/>
            </a:pPr>
            <a:r>
              <a:t/>
            </a:r>
            <a:endParaRPr i="0" sz="2400" u="none" cap="none" strike="noStrike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98" name="Google Shape;29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0075" y="2730885"/>
            <a:ext cx="3042046" cy="672703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41"/>
          <p:cNvSpPr txBox="1"/>
          <p:nvPr>
            <p:ph idx="4294967295" type="title"/>
          </p:nvPr>
        </p:nvSpPr>
        <p:spPr>
          <a:xfrm>
            <a:off x="457200" y="350050"/>
            <a:ext cx="82296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Divide-and-Conquer Algorithm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Practice</a:t>
            </a:r>
            <a:endParaRPr/>
          </a:p>
        </p:txBody>
      </p:sp>
      <p:graphicFrame>
        <p:nvGraphicFramePr>
          <p:cNvPr id="305" name="Google Shape;305;p42"/>
          <p:cNvGraphicFramePr/>
          <p:nvPr/>
        </p:nvGraphicFramePr>
        <p:xfrm>
          <a:off x="952538" y="238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{7D8A9CF2-247B-4F79-A57F-2B4E094D5BEA}</a:tableStyleId>
              </a:tblPr>
              <a:tblGrid>
                <a:gridCol w="804325"/>
                <a:gridCol w="804325"/>
                <a:gridCol w="804325"/>
                <a:gridCol w="804325"/>
                <a:gridCol w="804325"/>
                <a:gridCol w="804325"/>
                <a:gridCol w="804325"/>
                <a:gridCol w="804325"/>
                <a:gridCol w="8043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2200" u="none" cap="none" strike="noStrike">
                          <a:solidFill>
                            <a:srgbClr val="002699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-2</a:t>
                      </a:r>
                      <a:endParaRPr sz="2200" u="none" cap="none" strike="noStrike">
                        <a:solidFill>
                          <a:srgbClr val="002699"/>
                        </a:solidFill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2200" u="none" cap="none" strike="noStrike">
                          <a:solidFill>
                            <a:srgbClr val="002699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1</a:t>
                      </a:r>
                      <a:endParaRPr sz="2200" u="none" cap="none" strike="noStrike">
                        <a:solidFill>
                          <a:srgbClr val="002699"/>
                        </a:solidFill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2200" u="none" cap="none" strike="noStrike">
                          <a:solidFill>
                            <a:srgbClr val="002699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-3</a:t>
                      </a:r>
                      <a:endParaRPr sz="2200" u="none" cap="none" strike="noStrike">
                        <a:solidFill>
                          <a:srgbClr val="002699"/>
                        </a:solidFill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2200" u="none" cap="none" strike="noStrike">
                          <a:solidFill>
                            <a:srgbClr val="002699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4</a:t>
                      </a:r>
                      <a:endParaRPr sz="2200" u="none" cap="none" strike="noStrike">
                        <a:solidFill>
                          <a:srgbClr val="002699"/>
                        </a:solidFill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2200" u="none" cap="none" strike="noStrike">
                          <a:solidFill>
                            <a:srgbClr val="002699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-1</a:t>
                      </a:r>
                      <a:endParaRPr sz="2200" u="none" cap="none" strike="noStrike">
                        <a:solidFill>
                          <a:srgbClr val="002699"/>
                        </a:solidFill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2200" u="none" cap="none" strike="noStrike">
                          <a:solidFill>
                            <a:srgbClr val="002699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2</a:t>
                      </a:r>
                      <a:endParaRPr sz="2200" u="none" cap="none" strike="noStrike">
                        <a:solidFill>
                          <a:srgbClr val="002699"/>
                        </a:solidFill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2200" u="none" cap="none" strike="noStrike">
                          <a:solidFill>
                            <a:srgbClr val="002699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1</a:t>
                      </a:r>
                      <a:endParaRPr sz="2200" u="none" cap="none" strike="noStrike">
                        <a:solidFill>
                          <a:srgbClr val="002699"/>
                        </a:solidFill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2200" u="none" cap="none" strike="noStrike">
                          <a:solidFill>
                            <a:srgbClr val="002699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-5</a:t>
                      </a:r>
                      <a:endParaRPr sz="2200" u="none" cap="none" strike="noStrike">
                        <a:solidFill>
                          <a:srgbClr val="002699"/>
                        </a:solidFill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2200" u="none" cap="none" strike="noStrike">
                          <a:solidFill>
                            <a:srgbClr val="002699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4</a:t>
                      </a:r>
                      <a:endParaRPr sz="2200" u="none" cap="none" strike="noStrike">
                        <a:solidFill>
                          <a:srgbClr val="002699"/>
                        </a:solidFill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