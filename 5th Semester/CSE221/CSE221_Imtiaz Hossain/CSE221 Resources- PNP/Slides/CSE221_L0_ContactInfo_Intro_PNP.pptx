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Alfa Slab On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5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4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AlfaSlab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ProximaNova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1c45bcca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b1c45bcca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1c45bcca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2b1c45bcca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1c45bcca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b1c45bcca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1596bb6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1596bb6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b1c45bcca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b1c45bcca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b1c45bcca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b1c45bcca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1596bb64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1596bb64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b1c45bcc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b1c45bcc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1c45bcca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1c45bcca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1596bb64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e1596bb64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b1c45bcca4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b1c45bcca4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1596bb64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1596bb64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prantik.paul@bracu.ac.bd" TargetMode="External"/><Relationship Id="rId4" Type="http://schemas.openxmlformats.org/officeDocument/2006/relationships/hyperlink" Target="http://tiny.cc/cse221slackPNP" TargetMode="External"/><Relationship Id="rId5" Type="http://schemas.openxmlformats.org/officeDocument/2006/relationships/hyperlink" Target="http://tiny.cc/cse221PN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0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Introduction &amp; Contact Information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Faculty Name : </a:t>
            </a:r>
            <a:r>
              <a:rPr lang="en"/>
              <a:t>Prantik Paul (PNP)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Email : </a:t>
            </a:r>
            <a:r>
              <a:rPr b="1"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prantik.paul@bracu.ac.bd</a:t>
            </a:r>
            <a:r>
              <a:rPr b="1" lang="en">
                <a:solidFill>
                  <a:schemeClr val="accent5"/>
                </a:solidFill>
              </a:rPr>
              <a:t> 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Desk </a:t>
            </a:r>
            <a:r>
              <a:rPr b="1" lang="en"/>
              <a:t>: </a:t>
            </a:r>
            <a:r>
              <a:rPr lang="en"/>
              <a:t>4M119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Consultation Hours: 	</a:t>
            </a:r>
            <a:r>
              <a:rPr lang="en"/>
              <a:t>Sunday, Tuesday - 12:30PM - 2PM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			                Monday, Wednesday - 11AM - 12:30PM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Slack Channel Link : </a:t>
            </a:r>
            <a:r>
              <a:rPr b="1" lang="en" u="sng">
                <a:solidFill>
                  <a:schemeClr val="hlink"/>
                </a:solidFill>
                <a:hlinkClick r:id="rId4"/>
              </a:rPr>
              <a:t>http://tiny.cc/cse221slackPNP</a:t>
            </a:r>
            <a:endParaRPr b="1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Resources </a:t>
            </a:r>
            <a:r>
              <a:rPr b="1" lang="en"/>
              <a:t>Link : </a:t>
            </a:r>
            <a:r>
              <a:rPr b="1" lang="en" u="sng">
                <a:solidFill>
                  <a:schemeClr val="hlink"/>
                </a:solidFill>
                <a:hlinkClick r:id="rId5"/>
              </a:rPr>
              <a:t>http://tiny.cc/cse221PNP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we will cover</a:t>
            </a:r>
            <a:endParaRPr/>
          </a:p>
        </p:txBody>
      </p:sp>
      <p:pic>
        <p:nvPicPr>
          <p:cNvPr id="114" name="Google Shape;11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50" y="1090225"/>
            <a:ext cx="8153299" cy="397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we will cover</a:t>
            </a:r>
            <a:endParaRPr/>
          </a:p>
        </p:txBody>
      </p:sp>
      <p:sp>
        <p:nvSpPr>
          <p:cNvPr id="120" name="Google Shape;120;p28"/>
          <p:cNvSpPr txBox="1"/>
          <p:nvPr/>
        </p:nvSpPr>
        <p:spPr>
          <a:xfrm>
            <a:off x="751800" y="1189825"/>
            <a:ext cx="7640400" cy="51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Time Complexity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751800" y="1833909"/>
            <a:ext cx="7640400" cy="51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Different Searches and Analysis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28"/>
          <p:cNvSpPr txBox="1"/>
          <p:nvPr/>
        </p:nvSpPr>
        <p:spPr>
          <a:xfrm>
            <a:off x="751800" y="2477993"/>
            <a:ext cx="7640400" cy="51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Different Sorts and Analysis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" name="Google Shape;123;p28"/>
          <p:cNvSpPr txBox="1"/>
          <p:nvPr/>
        </p:nvSpPr>
        <p:spPr>
          <a:xfrm>
            <a:off x="751800" y="3156247"/>
            <a:ext cx="7640400" cy="51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Divide and </a:t>
            </a: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Conquer and Applications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4" name="Google Shape;124;p28"/>
          <p:cNvSpPr txBox="1"/>
          <p:nvPr/>
        </p:nvSpPr>
        <p:spPr>
          <a:xfrm>
            <a:off x="751800" y="3834502"/>
            <a:ext cx="7640400" cy="51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Graph Basics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" name="Google Shape;125;p28"/>
          <p:cNvSpPr txBox="1"/>
          <p:nvPr/>
        </p:nvSpPr>
        <p:spPr>
          <a:xfrm>
            <a:off x="751800" y="4512761"/>
            <a:ext cx="7640400" cy="51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Graph Traversal and Applications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31" name="Google Shape;131;p29"/>
          <p:cNvSpPr txBox="1"/>
          <p:nvPr/>
        </p:nvSpPr>
        <p:spPr>
          <a:xfrm>
            <a:off x="2595150" y="1901600"/>
            <a:ext cx="3953700" cy="145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4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 Term Exam</a:t>
            </a:r>
            <a:endParaRPr b="1" i="0" sz="42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we will cover</a:t>
            </a:r>
            <a:endParaRPr/>
          </a:p>
        </p:txBody>
      </p:sp>
      <p:pic>
        <p:nvPicPr>
          <p:cNvPr id="137" name="Google Shape;1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75" y="1017725"/>
            <a:ext cx="8437436" cy="2299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0"/>
          <p:cNvPicPr preferRelativeResize="0"/>
          <p:nvPr/>
        </p:nvPicPr>
        <p:blipFill rotWithShape="1">
          <a:blip r:embed="rId4">
            <a:alphaModFix/>
          </a:blip>
          <a:srcRect b="0" l="0" r="2381" t="0"/>
          <a:stretch/>
        </p:blipFill>
        <p:spPr>
          <a:xfrm>
            <a:off x="297875" y="3317537"/>
            <a:ext cx="8520598" cy="1825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we will cover</a:t>
            </a:r>
            <a:endParaRPr/>
          </a:p>
        </p:txBody>
      </p:sp>
      <p:sp>
        <p:nvSpPr>
          <p:cNvPr id="144" name="Google Shape;144;p31"/>
          <p:cNvSpPr txBox="1"/>
          <p:nvPr/>
        </p:nvSpPr>
        <p:spPr>
          <a:xfrm>
            <a:off x="886650" y="1319650"/>
            <a:ext cx="7370700" cy="49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DAG and Applications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31"/>
          <p:cNvSpPr txBox="1"/>
          <p:nvPr/>
        </p:nvSpPr>
        <p:spPr>
          <a:xfrm>
            <a:off x="886650" y="1944522"/>
            <a:ext cx="7370700" cy="49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Topological sort and SCC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31"/>
          <p:cNvSpPr txBox="1"/>
          <p:nvPr/>
        </p:nvSpPr>
        <p:spPr>
          <a:xfrm>
            <a:off x="886650" y="2569395"/>
            <a:ext cx="7370700" cy="49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Shortest Path and MST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31"/>
          <p:cNvSpPr txBox="1"/>
          <p:nvPr/>
        </p:nvSpPr>
        <p:spPr>
          <a:xfrm>
            <a:off x="886650" y="3819150"/>
            <a:ext cx="7370700" cy="49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Greedy Algo and Applications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31"/>
          <p:cNvSpPr txBox="1"/>
          <p:nvPr/>
        </p:nvSpPr>
        <p:spPr>
          <a:xfrm>
            <a:off x="886650" y="4444025"/>
            <a:ext cx="7370700" cy="49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Dynamic Programming And Analysis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31"/>
          <p:cNvSpPr txBox="1"/>
          <p:nvPr/>
        </p:nvSpPr>
        <p:spPr>
          <a:xfrm>
            <a:off x="886650" y="3194282"/>
            <a:ext cx="7370700" cy="49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Shortest Path and MST</a:t>
            </a:r>
            <a:endParaRPr b="1" i="0" sz="2700" u="none" cap="none" strike="noStrike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55" name="Google Shape;155;p32"/>
          <p:cNvSpPr txBox="1"/>
          <p:nvPr/>
        </p:nvSpPr>
        <p:spPr>
          <a:xfrm>
            <a:off x="2595150" y="1901600"/>
            <a:ext cx="3953700" cy="145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4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Final Exam</a:t>
            </a:r>
            <a:endParaRPr b="1" i="0" sz="42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61" name="Google Shape;161;p33"/>
          <p:cNvSpPr txBox="1"/>
          <p:nvPr/>
        </p:nvSpPr>
        <p:spPr>
          <a:xfrm>
            <a:off x="2595150" y="1631950"/>
            <a:ext cx="3953700" cy="145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4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Quizzes</a:t>
            </a:r>
            <a:endParaRPr b="1" i="0" sz="42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33"/>
          <p:cNvSpPr txBox="1"/>
          <p:nvPr/>
        </p:nvSpPr>
        <p:spPr>
          <a:xfrm>
            <a:off x="2949150" y="3347100"/>
            <a:ext cx="32457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2700">
                <a:latin typeface="Proxima Nova"/>
                <a:ea typeface="Proxima Nova"/>
                <a:cs typeface="Proxima Nova"/>
                <a:sym typeface="Proxima Nova"/>
              </a:rPr>
              <a:t>out of</a:t>
            </a: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4 </a:t>
            </a:r>
            <a:endParaRPr b="1" i="0" sz="27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68" name="Google Shape;168;p34"/>
          <p:cNvSpPr txBox="1"/>
          <p:nvPr/>
        </p:nvSpPr>
        <p:spPr>
          <a:xfrm>
            <a:off x="2645100" y="1845300"/>
            <a:ext cx="3953700" cy="145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4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Assignments</a:t>
            </a:r>
            <a:endParaRPr b="1" i="0" sz="42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Marks Distribution</a:t>
            </a:r>
            <a:endParaRPr/>
          </a:p>
        </p:txBody>
      </p:sp>
      <p:sp>
        <p:nvSpPr>
          <p:cNvPr id="174" name="Google Shape;174;p35"/>
          <p:cNvSpPr txBox="1"/>
          <p:nvPr/>
        </p:nvSpPr>
        <p:spPr>
          <a:xfrm>
            <a:off x="2372850" y="1599325"/>
            <a:ext cx="4398300" cy="2639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Class Performance</a:t>
            </a: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:        </a:t>
            </a: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5%</a:t>
            </a:r>
            <a:endParaRPr b="1" sz="27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Quizzes:			  		    </a:t>
            </a: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15%</a:t>
            </a:r>
            <a:endParaRPr b="1" sz="27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Assignment:			    </a:t>
            </a:r>
            <a:r>
              <a:rPr b="1" lang="en" sz="27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 5%</a:t>
            </a:r>
            <a:endParaRPr b="1" sz="27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Midterm:		  		   </a:t>
            </a:r>
            <a:r>
              <a:rPr b="1" lang="en" sz="27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20%</a:t>
            </a:r>
            <a:endParaRPr b="1" sz="27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Final:	                  		   </a:t>
            </a:r>
            <a:r>
              <a:rPr b="1" lang="en" sz="27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30%</a:t>
            </a:r>
            <a:endParaRPr b="1" sz="27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Lab:		       	  		   </a:t>
            </a: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25%</a:t>
            </a:r>
            <a:endParaRPr b="1" sz="27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Policy</a:t>
            </a:r>
            <a:endParaRPr/>
          </a:p>
        </p:txBody>
      </p:sp>
      <p:sp>
        <p:nvSpPr>
          <p:cNvPr id="180" name="Google Shape;180;p36"/>
          <p:cNvSpPr txBox="1"/>
          <p:nvPr/>
        </p:nvSpPr>
        <p:spPr>
          <a:xfrm>
            <a:off x="2372850" y="2148625"/>
            <a:ext cx="4398300" cy="144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Theory Attendance</a:t>
            </a: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:     </a:t>
            </a: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70</a:t>
            </a: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%</a:t>
            </a:r>
            <a:endParaRPr b="1" sz="27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Lab Attendance</a:t>
            </a:r>
            <a:r>
              <a:rPr b="1" lang="en" sz="27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:	         </a:t>
            </a: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90</a:t>
            </a:r>
            <a:r>
              <a:rPr b="1" lang="en" sz="27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%</a:t>
            </a:r>
            <a:endParaRPr b="1" sz="27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