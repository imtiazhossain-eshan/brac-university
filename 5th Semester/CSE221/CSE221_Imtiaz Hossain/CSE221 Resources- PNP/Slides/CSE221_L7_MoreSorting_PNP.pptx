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4" r:id="rId5"/>
    <p:sldMasterId id="214748367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y="5143500" cx="9144000"/>
  <p:notesSz cx="6858000" cy="9144000"/>
  <p:embeddedFontLst>
    <p:embeddedFont>
      <p:font typeface="Proxima Nova"/>
      <p:regular r:id="rId30"/>
      <p:bold r:id="rId31"/>
      <p:italic r:id="rId32"/>
      <p:boldItalic r:id="rId33"/>
    </p:embeddedFont>
    <p:embeddedFont>
      <p:font typeface="Proxima Nova Semibold"/>
      <p:regular r:id="rId34"/>
      <p:bold r:id="rId35"/>
      <p:boldItalic r:id="rId36"/>
    </p:embeddedFont>
    <p:embeddedFont>
      <p:font typeface="Alfa Slab One"/>
      <p:regular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7DC249D-5280-4347-9FC4-79306EA6EC34}">
  <a:tblStyle styleId="{E7DC249D-5280-4347-9FC4-79306EA6EC3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CEC91CCB-0666-4AB8-8E39-87365BCA2C22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roximaNova-bold.fntdata"/><Relationship Id="rId30" Type="http://schemas.openxmlformats.org/officeDocument/2006/relationships/font" Target="fonts/ProximaNova-regular.fntdata"/><Relationship Id="rId11" Type="http://schemas.openxmlformats.org/officeDocument/2006/relationships/slide" Target="slides/slide4.xml"/><Relationship Id="rId33" Type="http://schemas.openxmlformats.org/officeDocument/2006/relationships/font" Target="fonts/ProximaNova-boldItalic.fntdata"/><Relationship Id="rId10" Type="http://schemas.openxmlformats.org/officeDocument/2006/relationships/slide" Target="slides/slide3.xml"/><Relationship Id="rId32" Type="http://schemas.openxmlformats.org/officeDocument/2006/relationships/font" Target="fonts/ProximaNova-italic.fntdata"/><Relationship Id="rId13" Type="http://schemas.openxmlformats.org/officeDocument/2006/relationships/slide" Target="slides/slide6.xml"/><Relationship Id="rId35" Type="http://schemas.openxmlformats.org/officeDocument/2006/relationships/font" Target="fonts/ProximaNovaSemibold-bold.fntdata"/><Relationship Id="rId12" Type="http://schemas.openxmlformats.org/officeDocument/2006/relationships/slide" Target="slides/slide5.xml"/><Relationship Id="rId34" Type="http://schemas.openxmlformats.org/officeDocument/2006/relationships/font" Target="fonts/ProximaNovaSemibold-regular.fntdata"/><Relationship Id="rId15" Type="http://schemas.openxmlformats.org/officeDocument/2006/relationships/slide" Target="slides/slide8.xml"/><Relationship Id="rId37" Type="http://schemas.openxmlformats.org/officeDocument/2006/relationships/font" Target="fonts/AlfaSlabOne-regular.fntdata"/><Relationship Id="rId14" Type="http://schemas.openxmlformats.org/officeDocument/2006/relationships/slide" Target="slides/slide7.xml"/><Relationship Id="rId36" Type="http://schemas.openxmlformats.org/officeDocument/2006/relationships/font" Target="fonts/ProximaNovaSemibold-bold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446e2640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2e446e2640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e6f1c32615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" name="Google Shape;131;g2e6f1c32615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21205ef57d5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g21205ef57d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1205ef57d5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21205ef57d5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1205ef57d5_1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g21205ef57d5_1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1205ef57d5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21205ef57d5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1205ef57d5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g21205ef57d5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1205ef57d5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g21205ef57d5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1205ef57d5_1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g21205ef57d5_1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21205ef57d5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g21205ef57d5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1205ef57d5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g21205ef57d5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21205ef57d5_1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g21205ef57d5_1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1205ef57d5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g21205ef57d5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1205ef57d5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g21205ef57d5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1205ef57d5_1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g21205ef57d5_1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1205ef57d5_1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g21205ef57d5_1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21205ef57d5_1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g21205ef57d5_1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1205ef57d5_1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g21205ef57d5_1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21205ef57d5_1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g21205ef57d5_1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21205ef57d5_1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g21205ef57d5_1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21205ef57d5_1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g21205ef57d5_1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21205ef57d5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21205ef57d5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14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14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57" name="Google Shape;57;p14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0" name="Google Shape;7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0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1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3" name="Google Shape;83;p21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21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85" name="Google Shape;85;p21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1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7" name="Google Shape;87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2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90" name="Google Shape;9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3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3" name="Google Shape;93;p23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1" name="Google Shape;101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2" name="Google Shape;102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6" name="Google Shape;106;p2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7" name="Google Shape;107;p2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2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11" name="Google Shape;111;p2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2" name="Google Shape;112;p2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3" name="Google Shape;113;p2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4" name="Google Shape;114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rtl="0" algn="r">
              <a:spcBef>
                <a:spcPts val="0"/>
              </a:spcBef>
              <a:buNone/>
              <a:defRPr/>
            </a:lvl1pPr>
            <a:lvl2pPr indent="0" lvl="1" marL="0" rtl="0" algn="r">
              <a:spcBef>
                <a:spcPts val="0"/>
              </a:spcBef>
              <a:buNone/>
              <a:defRPr/>
            </a:lvl2pPr>
            <a:lvl3pPr indent="0" lvl="2" marL="0" rtl="0" algn="r">
              <a:spcBef>
                <a:spcPts val="0"/>
              </a:spcBef>
              <a:buNone/>
              <a:defRPr/>
            </a:lvl3pPr>
            <a:lvl4pPr indent="0" lvl="3" marL="0" rtl="0" algn="r">
              <a:spcBef>
                <a:spcPts val="0"/>
              </a:spcBef>
              <a:buNone/>
              <a:defRPr/>
            </a:lvl4pPr>
            <a:lvl5pPr indent="0" lvl="4" marL="0" rtl="0" algn="r">
              <a:spcBef>
                <a:spcPts val="0"/>
              </a:spcBef>
              <a:buNone/>
              <a:defRPr/>
            </a:lvl5pPr>
            <a:lvl6pPr indent="0" lvl="5" marL="0" rtl="0" algn="r">
              <a:spcBef>
                <a:spcPts val="0"/>
              </a:spcBef>
              <a:buNone/>
              <a:defRPr/>
            </a:lvl6pPr>
            <a:lvl7pPr indent="0" lvl="6" marL="0" rtl="0" algn="r">
              <a:spcBef>
                <a:spcPts val="0"/>
              </a:spcBef>
              <a:buNone/>
              <a:defRPr/>
            </a:lvl7pPr>
            <a:lvl8pPr indent="0" lvl="7" marL="0" rtl="0" algn="r">
              <a:spcBef>
                <a:spcPts val="0"/>
              </a:spcBef>
              <a:buNone/>
              <a:defRPr/>
            </a:lvl8pPr>
            <a:lvl9pPr indent="0" lvl="8" marL="0" rt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3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 txBox="1"/>
          <p:nvPr>
            <p:ph type="title"/>
          </p:nvPr>
        </p:nvSpPr>
        <p:spPr>
          <a:xfrm>
            <a:off x="623890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8"/>
          <p:cNvSpPr txBox="1"/>
          <p:nvPr>
            <p:ph idx="1" type="body"/>
          </p:nvPr>
        </p:nvSpPr>
        <p:spPr>
          <a:xfrm>
            <a:off x="623890" y="3442099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8" name="Google Shape;118;p28"/>
          <p:cNvSpPr txBox="1"/>
          <p:nvPr>
            <p:ph idx="10" type="dt"/>
          </p:nvPr>
        </p:nvSpPr>
        <p:spPr>
          <a:xfrm>
            <a:off x="6286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19" name="Google Shape;119;p28"/>
          <p:cNvSpPr txBox="1"/>
          <p:nvPr>
            <p:ph idx="11" type="ftr"/>
          </p:nvPr>
        </p:nvSpPr>
        <p:spPr>
          <a:xfrm>
            <a:off x="3028953" y="4767264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20" name="Google Shape;120;p28"/>
          <p:cNvSpPr txBox="1"/>
          <p:nvPr>
            <p:ph idx="12" type="sldNum"/>
          </p:nvPr>
        </p:nvSpPr>
        <p:spPr>
          <a:xfrm>
            <a:off x="6457951" y="4767264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b="0" i="0" sz="3000" u="none" cap="none" strike="noStrike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b="0" i="0" sz="18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 b="0" i="0" sz="14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4.jp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9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"/>
              <a:t>Algorithms</a:t>
            </a:r>
            <a:endParaRPr/>
          </a:p>
        </p:txBody>
      </p:sp>
      <p:sp>
        <p:nvSpPr>
          <p:cNvPr id="126" name="Google Shape;126;p29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5B0F00"/>
                </a:solidFill>
              </a:rPr>
              <a:t>Lecture 7</a:t>
            </a:r>
            <a:endParaRPr b="1">
              <a:solidFill>
                <a:srgbClr val="5B0F00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b="1" lang="en">
                <a:solidFill>
                  <a:srgbClr val="0000FF"/>
                </a:solidFill>
              </a:rPr>
              <a:t>Count Sort &amp; Heap Sort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27" name="Google Shape;127;p29"/>
          <p:cNvSpPr txBox="1"/>
          <p:nvPr/>
        </p:nvSpPr>
        <p:spPr>
          <a:xfrm>
            <a:off x="1978800" y="3899325"/>
            <a:ext cx="51864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Prantik Paul [PNP]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Lecturer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Department of Computer Science and Engineering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A61C00"/>
                </a:solidFill>
                <a:latin typeface="Proxima Nova"/>
                <a:ea typeface="Proxima Nova"/>
                <a:cs typeface="Proxima Nova"/>
                <a:sym typeface="Proxima Nova"/>
              </a:rPr>
              <a:t>BRAC University </a:t>
            </a:r>
            <a:endParaRPr b="1" sz="1700">
              <a:solidFill>
                <a:srgbClr val="A61C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Count Sort</a:t>
            </a:r>
            <a:endParaRPr/>
          </a:p>
        </p:txBody>
      </p:sp>
      <p:sp>
        <p:nvSpPr>
          <p:cNvPr id="134" name="Google Shape;134;p30"/>
          <p:cNvSpPr txBox="1"/>
          <p:nvPr/>
        </p:nvSpPr>
        <p:spPr>
          <a:xfrm>
            <a:off x="459425" y="1148550"/>
            <a:ext cx="7033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</a:t>
            </a:r>
            <a:r>
              <a:rPr lang="en" sz="2000">
                <a:solidFill>
                  <a:srgbClr val="00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ountSort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(</a:t>
            </a:r>
            <a:r>
              <a:rPr lang="en" sz="2000">
                <a:solidFill>
                  <a:srgbClr val="274E1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array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, </a:t>
            </a:r>
            <a:r>
              <a:rPr lang="en" sz="2000">
                <a:solidFill>
                  <a:srgbClr val="274E1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size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)</a:t>
            </a:r>
            <a:endParaRPr sz="2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max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&lt;- find largest element in </a:t>
            </a:r>
            <a:r>
              <a:rPr lang="en" sz="2000">
                <a:solidFill>
                  <a:srgbClr val="274E1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array</a:t>
            </a:r>
            <a:endParaRPr sz="2000">
              <a:solidFill>
                <a:srgbClr val="274E13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initialize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count array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with all zeros</a:t>
            </a:r>
            <a:endParaRPr sz="2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</a:t>
            </a:r>
            <a:r>
              <a:rPr lang="en" sz="2000">
                <a:solidFill>
                  <a:srgbClr val="FF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for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j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&lt;- </a:t>
            </a:r>
            <a:r>
              <a:rPr lang="en" sz="2000">
                <a:solidFill>
                  <a:schemeClr val="accent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0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to </a:t>
            </a:r>
            <a:r>
              <a:rPr lang="en" sz="2000">
                <a:solidFill>
                  <a:srgbClr val="274E1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size</a:t>
            </a:r>
            <a:endParaRPr sz="2000">
              <a:solidFill>
                <a:srgbClr val="274E13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find the total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count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of each unique element and </a:t>
            </a:r>
            <a:endParaRPr sz="2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store the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count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at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jth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index in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count array</a:t>
            </a:r>
            <a:endParaRPr sz="2000">
              <a:solidFill>
                <a:srgbClr val="99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</a:t>
            </a:r>
            <a:r>
              <a:rPr lang="en" sz="2000">
                <a:solidFill>
                  <a:srgbClr val="FF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for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i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&lt;- </a:t>
            </a:r>
            <a:r>
              <a:rPr lang="en" sz="2000">
                <a:solidFill>
                  <a:schemeClr val="accent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to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max</a:t>
            </a:r>
            <a:endParaRPr sz="2000">
              <a:solidFill>
                <a:srgbClr val="9900FF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find the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cumulative sum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and store it in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count array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itself</a:t>
            </a:r>
            <a:endParaRPr sz="2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</a:t>
            </a:r>
            <a:r>
              <a:rPr lang="en" sz="2000">
                <a:solidFill>
                  <a:srgbClr val="FF0000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for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j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&lt;- </a:t>
            </a:r>
            <a:r>
              <a:rPr lang="en" sz="2000">
                <a:solidFill>
                  <a:srgbClr val="274E1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size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down to </a:t>
            </a:r>
            <a:r>
              <a:rPr lang="en" sz="2000">
                <a:solidFill>
                  <a:schemeClr val="accent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2000">
              <a:solidFill>
                <a:schemeClr val="accent3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restore the elements to array</a:t>
            </a:r>
            <a:endParaRPr sz="2000">
              <a:latin typeface="Proxima Nova Semibold"/>
              <a:ea typeface="Proxima Nova Semibold"/>
              <a:cs typeface="Proxima Nova Semibold"/>
              <a:sym typeface="Proxima Nova Semibo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    decrease </a:t>
            </a:r>
            <a:r>
              <a:rPr lang="en" sz="2000">
                <a:solidFill>
                  <a:srgbClr val="9900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count </a:t>
            </a:r>
            <a:r>
              <a:rPr lang="en" sz="2000">
                <a:latin typeface="Proxima Nova Semibold"/>
                <a:ea typeface="Proxima Nova Semibold"/>
                <a:cs typeface="Proxima Nova Semibold"/>
                <a:sym typeface="Proxima Nova Semibold"/>
              </a:rPr>
              <a:t>of each element restored by </a:t>
            </a:r>
            <a:r>
              <a:rPr lang="en" sz="2000">
                <a:solidFill>
                  <a:schemeClr val="accent3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1</a:t>
            </a:r>
            <a:endParaRPr sz="2000">
              <a:solidFill>
                <a:schemeClr val="accent3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0000"/>
              <a:buNone/>
            </a:pPr>
            <a:r>
              <a:rPr lang="en"/>
              <a:t>Count Sort</a:t>
            </a:r>
            <a:endParaRPr/>
          </a:p>
        </p:txBody>
      </p:sp>
      <p:graphicFrame>
        <p:nvGraphicFramePr>
          <p:cNvPr id="140" name="Google Shape;140;p31"/>
          <p:cNvGraphicFramePr/>
          <p:nvPr/>
        </p:nvGraphicFramePr>
        <p:xfrm>
          <a:off x="1756850" y="2381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{E7DC249D-5280-4347-9FC4-79306EA6EC34}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4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2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2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8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3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3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" sz="2200" u="none" cap="none" strike="noStrike">
                          <a:solidFill>
                            <a:srgbClr val="002699"/>
                          </a:solidFill>
                          <a:latin typeface="Proxima Nova Semibold"/>
                          <a:ea typeface="Proxima Nova Semibold"/>
                          <a:cs typeface="Proxima Nova Semibold"/>
                          <a:sym typeface="Proxima Nova Semibold"/>
                        </a:rPr>
                        <a:t>1</a:t>
                      </a:r>
                      <a:endParaRPr sz="2200" u="none" cap="none" strike="noStrike">
                        <a:solidFill>
                          <a:srgbClr val="002699"/>
                        </a:solidFill>
                        <a:latin typeface="Proxima Nova Semibold"/>
                        <a:ea typeface="Proxima Nova Semibold"/>
                        <a:cs typeface="Proxima Nova Semibold"/>
                        <a:sym typeface="Proxima Nova Semi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26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Special Binary Tree</a:t>
            </a:r>
            <a:endParaRPr sz="2700"/>
          </a:p>
        </p:txBody>
      </p:sp>
      <p:pic>
        <p:nvPicPr>
          <p:cNvPr id="146" name="Google Shape;1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0613" y="1170125"/>
            <a:ext cx="6962775" cy="354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82550" y="4122877"/>
            <a:ext cx="311400" cy="330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83250" y="4074750"/>
            <a:ext cx="351000" cy="35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08244" y="4091625"/>
            <a:ext cx="406075" cy="3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Properties</a:t>
            </a:r>
            <a:endParaRPr sz="2700"/>
          </a:p>
        </p:txBody>
      </p:sp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0919" y="1061525"/>
            <a:ext cx="3481375" cy="177164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3"/>
          <p:cNvSpPr txBox="1"/>
          <p:nvPr/>
        </p:nvSpPr>
        <p:spPr>
          <a:xfrm>
            <a:off x="311700" y="1211925"/>
            <a:ext cx="22374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→ Complete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7" name="Google Shape;157;p33"/>
          <p:cNvSpPr txBox="1"/>
          <p:nvPr/>
        </p:nvSpPr>
        <p:spPr>
          <a:xfrm>
            <a:off x="311700" y="2114625"/>
            <a:ext cx="43599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→ Satisfy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Heap Property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8" name="Google Shape;158;p33"/>
          <p:cNvSpPr txBox="1"/>
          <p:nvPr/>
        </p:nvSpPr>
        <p:spPr>
          <a:xfrm>
            <a:off x="311700" y="3195025"/>
            <a:ext cx="85206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→ Value of Parent &gt;= Value of Children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MaxHeap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9" name="Google Shape;159;p33"/>
          <p:cNvSpPr txBox="1"/>
          <p:nvPr/>
        </p:nvSpPr>
        <p:spPr>
          <a:xfrm>
            <a:off x="311700" y="4097725"/>
            <a:ext cx="85206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→ Value of Parent &lt;= Value of Children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MinHeap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60" name="Google Shape;160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05250" y="2547700"/>
            <a:ext cx="141025" cy="149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00412" y="2540338"/>
            <a:ext cx="164188" cy="1641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3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81950" y="2531563"/>
            <a:ext cx="188025" cy="18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Representation</a:t>
            </a:r>
            <a:endParaRPr sz="2700"/>
          </a:p>
        </p:txBody>
      </p:sp>
      <p:pic>
        <p:nvPicPr>
          <p:cNvPr id="168" name="Google Shape;16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3402" y="1189875"/>
            <a:ext cx="4582601" cy="233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874075"/>
            <a:ext cx="8839198" cy="6981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850250" y="4275579"/>
            <a:ext cx="202950" cy="21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88825" y="4281645"/>
            <a:ext cx="202950" cy="202936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34"/>
          <p:cNvSpPr/>
          <p:nvPr/>
        </p:nvSpPr>
        <p:spPr>
          <a:xfrm>
            <a:off x="8199025" y="3749575"/>
            <a:ext cx="754500" cy="822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73" name="Google Shape;173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58630" y="3141825"/>
            <a:ext cx="191470" cy="202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3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44100" y="3141826"/>
            <a:ext cx="215101" cy="21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93536" y="3123650"/>
            <a:ext cx="247539" cy="239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0048" y="4263463"/>
            <a:ext cx="247550" cy="239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Insert</a:t>
            </a:r>
            <a:endParaRPr sz="2700"/>
          </a:p>
        </p:txBody>
      </p:sp>
      <p:pic>
        <p:nvPicPr>
          <p:cNvPr id="182" name="Google Shape;18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" y="1150375"/>
            <a:ext cx="744855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5"/>
          <p:cNvSpPr txBox="1"/>
          <p:nvPr/>
        </p:nvSpPr>
        <p:spPr>
          <a:xfrm>
            <a:off x="311700" y="1211925"/>
            <a:ext cx="15069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700" y="1150375"/>
            <a:ext cx="7020599" cy="3753151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Insert</a:t>
            </a:r>
            <a:endParaRPr sz="2700"/>
          </a:p>
        </p:txBody>
      </p:sp>
      <p:sp>
        <p:nvSpPr>
          <p:cNvPr id="190" name="Google Shape;190;p36"/>
          <p:cNvSpPr txBox="1"/>
          <p:nvPr/>
        </p:nvSpPr>
        <p:spPr>
          <a:xfrm>
            <a:off x="311700" y="1211925"/>
            <a:ext cx="15069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Insert</a:t>
            </a:r>
            <a:endParaRPr sz="2700"/>
          </a:p>
        </p:txBody>
      </p:sp>
      <p:pic>
        <p:nvPicPr>
          <p:cNvPr id="196" name="Google Shape;196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725" y="1150375"/>
            <a:ext cx="7448550" cy="3467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7"/>
          <p:cNvSpPr txBox="1"/>
          <p:nvPr/>
        </p:nvSpPr>
        <p:spPr>
          <a:xfrm>
            <a:off x="311700" y="1211925"/>
            <a:ext cx="19512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102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8450" y="1211925"/>
            <a:ext cx="7167101" cy="36219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Insert</a:t>
            </a:r>
            <a:endParaRPr sz="2700"/>
          </a:p>
        </p:txBody>
      </p:sp>
      <p:sp>
        <p:nvSpPr>
          <p:cNvPr id="204" name="Google Shape;204;p38"/>
          <p:cNvSpPr txBox="1"/>
          <p:nvPr/>
        </p:nvSpPr>
        <p:spPr>
          <a:xfrm>
            <a:off x="311700" y="1211925"/>
            <a:ext cx="19512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102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5" name="Google Shape;205;p38"/>
          <p:cNvSpPr txBox="1"/>
          <p:nvPr/>
        </p:nvSpPr>
        <p:spPr>
          <a:xfrm>
            <a:off x="5273825" y="4031875"/>
            <a:ext cx="3558600" cy="946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Swim() </a:t>
            </a:r>
            <a:endParaRPr b="1" sz="30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HeapIncreaseKey()</a:t>
            </a:r>
            <a:endParaRPr b="1" sz="30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9600" y="1290150"/>
            <a:ext cx="7504800" cy="3343925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Insert</a:t>
            </a:r>
            <a:endParaRPr sz="2700"/>
          </a:p>
        </p:txBody>
      </p:sp>
      <p:sp>
        <p:nvSpPr>
          <p:cNvPr id="212" name="Google Shape;212;p39"/>
          <p:cNvSpPr txBox="1"/>
          <p:nvPr/>
        </p:nvSpPr>
        <p:spPr>
          <a:xfrm>
            <a:off x="311700" y="1211925"/>
            <a:ext cx="19512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Insert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102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Insert (Pseudocode)</a:t>
            </a:r>
            <a:endParaRPr sz="2700"/>
          </a:p>
        </p:txBody>
      </p:sp>
      <p:pic>
        <p:nvPicPr>
          <p:cNvPr id="218" name="Google Shape;218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26100" y="1663750"/>
            <a:ext cx="5091800" cy="25778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Swim (Pseudocode)</a:t>
            </a:r>
            <a:endParaRPr sz="2700"/>
          </a:p>
        </p:txBody>
      </p:sp>
      <p:pic>
        <p:nvPicPr>
          <p:cNvPr id="224" name="Google Shape;22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8275" y="1180000"/>
            <a:ext cx="6027454" cy="3820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Delete</a:t>
            </a:r>
            <a:endParaRPr sz="2700"/>
          </a:p>
        </p:txBody>
      </p:sp>
      <p:pic>
        <p:nvPicPr>
          <p:cNvPr id="230" name="Google Shape;23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1500" y="1140475"/>
            <a:ext cx="3901000" cy="335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2"/>
          <p:cNvSpPr txBox="1"/>
          <p:nvPr/>
        </p:nvSpPr>
        <p:spPr>
          <a:xfrm>
            <a:off x="311700" y="1211925"/>
            <a:ext cx="23097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Root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Delete</a:t>
            </a:r>
            <a:endParaRPr sz="2700"/>
          </a:p>
        </p:txBody>
      </p:sp>
      <p:sp>
        <p:nvSpPr>
          <p:cNvPr id="237" name="Google Shape;237;p43"/>
          <p:cNvSpPr txBox="1"/>
          <p:nvPr/>
        </p:nvSpPr>
        <p:spPr>
          <a:xfrm>
            <a:off x="311700" y="1211925"/>
            <a:ext cx="23097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Root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38" name="Google Shape;23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9425" y="1902225"/>
            <a:ext cx="3285150" cy="286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73675" y="1499775"/>
            <a:ext cx="4065075" cy="243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Delete</a:t>
            </a:r>
            <a:endParaRPr sz="2700"/>
          </a:p>
        </p:txBody>
      </p:sp>
      <p:sp>
        <p:nvSpPr>
          <p:cNvPr id="245" name="Google Shape;245;p44"/>
          <p:cNvSpPr txBox="1"/>
          <p:nvPr/>
        </p:nvSpPr>
        <p:spPr>
          <a:xfrm>
            <a:off x="311700" y="1211925"/>
            <a:ext cx="2309700" cy="6465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chemeClr val="accent5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</a:t>
            </a:r>
            <a:r>
              <a:rPr b="1" lang="en" sz="30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Root</a:t>
            </a:r>
            <a:endParaRPr b="1" i="0" sz="3000" u="none" cap="none" strike="noStrike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6" name="Google Shape;246;p44"/>
          <p:cNvSpPr txBox="1"/>
          <p:nvPr/>
        </p:nvSpPr>
        <p:spPr>
          <a:xfrm>
            <a:off x="6261000" y="3854175"/>
            <a:ext cx="2571300" cy="946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Sink() </a:t>
            </a:r>
            <a:endParaRPr b="1" sz="30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MaxHeapify()</a:t>
            </a:r>
            <a:endParaRPr b="1" sz="30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Delete (Pseudocode)</a:t>
            </a:r>
            <a:endParaRPr sz="2700"/>
          </a:p>
        </p:txBody>
      </p:sp>
      <p:pic>
        <p:nvPicPr>
          <p:cNvPr id="252" name="Google Shape;25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7375" y="1229350"/>
            <a:ext cx="5289250" cy="3078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Sink (Pseudocode)</a:t>
            </a:r>
            <a:endParaRPr sz="2700"/>
          </a:p>
        </p:txBody>
      </p:sp>
      <p:pic>
        <p:nvPicPr>
          <p:cNvPr id="258" name="Google Shape;258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71650" y="1180000"/>
            <a:ext cx="5600700" cy="36099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Build Heap</a:t>
            </a:r>
            <a:endParaRPr sz="2700"/>
          </a:p>
        </p:txBody>
      </p:sp>
      <p:graphicFrame>
        <p:nvGraphicFramePr>
          <p:cNvPr id="264" name="Google Shape;264;p47"/>
          <p:cNvGraphicFramePr/>
          <p:nvPr/>
        </p:nvGraphicFramePr>
        <p:xfrm>
          <a:off x="952500" y="135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{CEC91CCB-0666-4AB8-8E39-87365BCA2C22}</a:tableStyleId>
              </a:tblPr>
              <a:tblGrid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N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8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6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-1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13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-5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1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5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65" name="Google Shape;265;p47"/>
          <p:cNvSpPr txBox="1"/>
          <p:nvPr/>
        </p:nvSpPr>
        <p:spPr>
          <a:xfrm>
            <a:off x="2627825" y="1986775"/>
            <a:ext cx="1131600" cy="47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Tree</a:t>
            </a:r>
            <a:endParaRPr b="1" sz="30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66" name="Google Shape;266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3925" y="1986775"/>
            <a:ext cx="4047675" cy="3053675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267" name="Google Shape;267;p47"/>
          <p:cNvPicPr preferRelativeResize="0"/>
          <p:nvPr/>
        </p:nvPicPr>
        <p:blipFill rotWithShape="1">
          <a:blip r:embed="rId4">
            <a:alphaModFix/>
          </a:blip>
          <a:srcRect b="0" l="0" r="20678" t="0"/>
          <a:stretch/>
        </p:blipFill>
        <p:spPr>
          <a:xfrm>
            <a:off x="4782425" y="3757800"/>
            <a:ext cx="364500" cy="24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Build Heap</a:t>
            </a:r>
            <a:endParaRPr sz="2700"/>
          </a:p>
        </p:txBody>
      </p:sp>
      <p:graphicFrame>
        <p:nvGraphicFramePr>
          <p:cNvPr id="273" name="Google Shape;273;p48"/>
          <p:cNvGraphicFramePr/>
          <p:nvPr/>
        </p:nvGraphicFramePr>
        <p:xfrm>
          <a:off x="952500" y="135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{CEC91CCB-0666-4AB8-8E39-87365BCA2C22}</a:tableStyleId>
              </a:tblPr>
              <a:tblGrid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N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8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6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-1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13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-5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1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5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4" name="Google Shape;274;p48"/>
          <p:cNvSpPr txBox="1"/>
          <p:nvPr/>
        </p:nvSpPr>
        <p:spPr>
          <a:xfrm>
            <a:off x="4087750" y="2466725"/>
            <a:ext cx="1131600" cy="47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Heap</a:t>
            </a:r>
            <a:endParaRPr b="1" sz="30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75" name="Google Shape;275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500" y="1937425"/>
            <a:ext cx="2838515" cy="30536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76" name="Google Shape;276;p48"/>
          <p:cNvSpPr txBox="1"/>
          <p:nvPr/>
        </p:nvSpPr>
        <p:spPr>
          <a:xfrm>
            <a:off x="952500" y="2466725"/>
            <a:ext cx="2995500" cy="810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for 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all nodes </a:t>
            </a:r>
            <a:r>
              <a:rPr b="1" lang="en" sz="2100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= </a:t>
            </a:r>
            <a:r>
              <a:rPr b="1" lang="en" sz="2100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/</a:t>
            </a:r>
            <a:r>
              <a:rPr b="1" lang="en" sz="21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 to </a:t>
            </a:r>
            <a:r>
              <a:rPr b="1" lang="en" sz="21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210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r>
              <a:rPr b="1" lang="en" sz="2100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maxHeapfify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1" lang="en" sz="210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H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b="1" lang="en" sz="210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) </a:t>
            </a:r>
            <a:endParaRPr b="1" sz="2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- Build Heap</a:t>
            </a:r>
            <a:endParaRPr sz="2700"/>
          </a:p>
        </p:txBody>
      </p:sp>
      <p:graphicFrame>
        <p:nvGraphicFramePr>
          <p:cNvPr id="282" name="Google Shape;282;p49"/>
          <p:cNvGraphicFramePr/>
          <p:nvPr/>
        </p:nvGraphicFramePr>
        <p:xfrm>
          <a:off x="952500" y="1354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{CEC91CCB-0666-4AB8-8E39-87365BCA2C22}</a:tableStyleId>
              </a:tblPr>
              <a:tblGrid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N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13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5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8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6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-5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1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-1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49"/>
          <p:cNvSpPr txBox="1"/>
          <p:nvPr/>
        </p:nvSpPr>
        <p:spPr>
          <a:xfrm>
            <a:off x="4087750" y="2466725"/>
            <a:ext cx="1131600" cy="472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Heap</a:t>
            </a:r>
            <a:endParaRPr b="1" sz="30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84" name="Google Shape;28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3500" y="1937425"/>
            <a:ext cx="2838515" cy="3053674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85" name="Google Shape;285;p49"/>
          <p:cNvSpPr txBox="1"/>
          <p:nvPr/>
        </p:nvSpPr>
        <p:spPr>
          <a:xfrm>
            <a:off x="952500" y="2466725"/>
            <a:ext cx="2995500" cy="810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for 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all nodes </a:t>
            </a:r>
            <a:r>
              <a:rPr b="1" lang="en" sz="2100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i 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= </a:t>
            </a:r>
            <a:r>
              <a:rPr b="1" lang="en" sz="2100">
                <a:solidFill>
                  <a:srgbClr val="CC0000"/>
                </a:solidFill>
                <a:latin typeface="Proxima Nova"/>
                <a:ea typeface="Proxima Nova"/>
                <a:cs typeface="Proxima Nova"/>
                <a:sym typeface="Proxima Nova"/>
              </a:rPr>
              <a:t>n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/</a:t>
            </a:r>
            <a:r>
              <a:rPr b="1" lang="en" sz="21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 to </a:t>
            </a:r>
            <a:r>
              <a:rPr b="1" lang="en" sz="2100">
                <a:solidFill>
                  <a:srgbClr val="9900FF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2100">
              <a:solidFill>
                <a:srgbClr val="9900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	</a:t>
            </a:r>
            <a:r>
              <a:rPr b="1" lang="en" sz="2100">
                <a:solidFill>
                  <a:srgbClr val="002699"/>
                </a:solidFill>
                <a:latin typeface="Proxima Nova"/>
                <a:ea typeface="Proxima Nova"/>
                <a:cs typeface="Proxima Nova"/>
                <a:sym typeface="Proxima Nova"/>
              </a:rPr>
              <a:t>maxHeapfify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(</a:t>
            </a:r>
            <a:r>
              <a:rPr b="1" lang="en" sz="210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H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, </a:t>
            </a:r>
            <a:r>
              <a:rPr b="1" lang="en" sz="2100">
                <a:solidFill>
                  <a:srgbClr val="38761D"/>
                </a:solidFill>
                <a:latin typeface="Proxima Nova"/>
                <a:ea typeface="Proxima Nova"/>
                <a:cs typeface="Proxima Nova"/>
                <a:sym typeface="Proxima Nova"/>
              </a:rPr>
              <a:t>i</a:t>
            </a:r>
            <a:r>
              <a:rPr b="1" lang="en" sz="2100">
                <a:latin typeface="Proxima Nova"/>
                <a:ea typeface="Proxima Nova"/>
                <a:cs typeface="Proxima Nova"/>
                <a:sym typeface="Proxima Nova"/>
              </a:rPr>
              <a:t>) </a:t>
            </a:r>
            <a:endParaRPr b="1" sz="21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700"/>
              <a:t>Heap Sort</a:t>
            </a:r>
            <a:endParaRPr sz="2700"/>
          </a:p>
        </p:txBody>
      </p:sp>
      <p:pic>
        <p:nvPicPr>
          <p:cNvPr id="291" name="Google Shape;29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1500" y="1077650"/>
            <a:ext cx="3948025" cy="3120802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92" name="Google Shape;292;p50"/>
          <p:cNvSpPr txBox="1"/>
          <p:nvPr/>
        </p:nvSpPr>
        <p:spPr>
          <a:xfrm>
            <a:off x="4875850" y="1077650"/>
            <a:ext cx="3135900" cy="9462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Delete All Nodes</a:t>
            </a:r>
            <a:b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</a:br>
            <a:r>
              <a:rPr b="1" lang="en" sz="3000">
                <a:solidFill>
                  <a:srgbClr val="1C3AA9"/>
                </a:solidFill>
                <a:latin typeface="Proxima Nova"/>
                <a:ea typeface="Proxima Nova"/>
                <a:cs typeface="Proxima Nova"/>
                <a:sym typeface="Proxima Nova"/>
              </a:rPr>
              <a:t>One by one</a:t>
            </a:r>
            <a:endParaRPr b="1" sz="3000">
              <a:solidFill>
                <a:srgbClr val="1C3AA9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93" name="Google Shape;293;p50"/>
          <p:cNvGraphicFramePr/>
          <p:nvPr/>
        </p:nvGraphicFramePr>
        <p:xfrm>
          <a:off x="411500" y="444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{CEC91CCB-0666-4AB8-8E39-87365BCA2C22}</a:tableStyleId>
              </a:tblPr>
              <a:tblGrid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  <a:gridCol w="6581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N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13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5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8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6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-5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2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1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rgbClr val="1C3AA9"/>
                          </a:solidFill>
                          <a:latin typeface="Alfa Slab One"/>
                          <a:ea typeface="Alfa Slab One"/>
                          <a:cs typeface="Alfa Slab One"/>
                          <a:sym typeface="Alfa Slab One"/>
                        </a:rPr>
                        <a:t>-1</a:t>
                      </a:r>
                      <a:endParaRPr sz="1600">
                        <a:solidFill>
                          <a:srgbClr val="1C3AA9"/>
                        </a:solidFill>
                        <a:latin typeface="Alfa Slab One"/>
                        <a:ea typeface="Alfa Slab One"/>
                        <a:cs typeface="Alfa Slab One"/>
                        <a:sym typeface="Alfa Slab One"/>
                      </a:endParaRPr>
                    </a:p>
                  </a:txBody>
                  <a:tcPr marT="91425" marB="91425" marR="91425" marL="91425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