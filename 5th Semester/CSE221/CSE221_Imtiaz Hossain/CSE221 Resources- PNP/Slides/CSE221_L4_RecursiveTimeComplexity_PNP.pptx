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Proxima Nova"/>
      <p:regular r:id="rId37"/>
      <p:bold r:id="rId38"/>
      <p:italic r:id="rId39"/>
      <p:boldItalic r:id="rId40"/>
    </p:embeddedFont>
    <p:embeddedFont>
      <p:font typeface="Proxima Nova Semibold"/>
      <p:regular r:id="rId41"/>
      <p:bold r:id="rId42"/>
      <p:boldItalic r:id="rId43"/>
    </p:embeddedFont>
    <p:embeddedFont>
      <p:font typeface="Alfa Slab One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boldItalic.fntdata"/><Relationship Id="rId20" Type="http://schemas.openxmlformats.org/officeDocument/2006/relationships/slide" Target="slides/slide14.xml"/><Relationship Id="rId42" Type="http://schemas.openxmlformats.org/officeDocument/2006/relationships/font" Target="fonts/ProximaNovaSemibold-bold.fntdata"/><Relationship Id="rId41" Type="http://schemas.openxmlformats.org/officeDocument/2006/relationships/font" Target="fonts/ProximaNovaSemibold-regular.fntdata"/><Relationship Id="rId22" Type="http://schemas.openxmlformats.org/officeDocument/2006/relationships/slide" Target="slides/slide16.xml"/><Relationship Id="rId44" Type="http://schemas.openxmlformats.org/officeDocument/2006/relationships/font" Target="fonts/AlfaSlabOne-regular.fntdata"/><Relationship Id="rId21" Type="http://schemas.openxmlformats.org/officeDocument/2006/relationships/slide" Target="slides/slide15.xml"/><Relationship Id="rId43" Type="http://schemas.openxmlformats.org/officeDocument/2006/relationships/font" Target="fonts/ProximaNovaSemibold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roximaNova-italic.fntdata"/><Relationship Id="rId16" Type="http://schemas.openxmlformats.org/officeDocument/2006/relationships/slide" Target="slides/slide10.xml"/><Relationship Id="rId38" Type="http://schemas.openxmlformats.org/officeDocument/2006/relationships/font" Target="fonts/ProximaNov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446e264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e446e264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355980a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7355980a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355980a4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27355980a4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355980a4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7355980a4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355980a4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7355980a4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55980a4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27355980a4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7355980a4e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27355980a4e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7355980a4e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7355980a4e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355980a4e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27355980a4e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355980a4e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27355980a4e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355980a4e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27355980a4e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7355980a4e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27355980a4e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355980a4e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27355980a4e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7355980a4e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27355980a4e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355980a4e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27355980a4e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355980a4e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27355980a4e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355980a4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27355980a4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355980a4e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27355980a4e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355980a4e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27355980a4e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355980a4e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27355980a4e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7355980a4e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27355980a4e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7355980a4e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27355980a4e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7355980a4e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27355980a4e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7355980a4e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27355980a4e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7355980a4e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27355980a4e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7355980a4e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27355980a4e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7355980a4e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27355980a4e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7355980a4e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27355980a4e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7355980a4e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27355980a4e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7355980a4e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27355980a4e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rive.google.com/file/d/1Oqm4gTyCxanSVN8cSpWfSivqOReKO4vt/view?usp=drive_link" TargetMode="External"/><Relationship Id="rId4" Type="http://schemas.openxmlformats.org/officeDocument/2006/relationships/hyperlink" Target="https://drive.google.com/file/d/1Oqm4gTyCxanSVN8cSpWfSivqOReKO4vt/view?usp=drive_link" TargetMode="External"/><Relationship Id="rId5" Type="http://schemas.openxmlformats.org/officeDocument/2006/relationships/hyperlink" Target="https://drive.google.com/file/d/1Oqm4gTyCxanSVN8cSpWfSivqOReKO4vt/view?usp=drive_link" TargetMode="External"/><Relationship Id="rId6" Type="http://schemas.openxmlformats.org/officeDocument/2006/relationships/hyperlink" Target="https://drive.google.com/file/d/1nx9h6mdgIhCaTAi0OUNChvpCDpeXLWZN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126" name="Google Shape;126;p29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4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Recursive Time Complexity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[PNP]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Solving Recurrences- Methods</a:t>
            </a:r>
            <a:endParaRPr/>
          </a:p>
        </p:txBody>
      </p:sp>
      <p:sp>
        <p:nvSpPr>
          <p:cNvPr id="134" name="Google Shape;13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Iteration Method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Recursion Tree Method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Master Theorem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35" name="Google Shape;13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 (Algorithm)</a:t>
            </a:r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0525"/>
            <a:ext cx="7639749" cy="255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(Algorithm)</a:t>
            </a:r>
            <a:endParaRPr/>
          </a:p>
        </p:txBody>
      </p:sp>
      <p:pic>
        <p:nvPicPr>
          <p:cNvPr id="148" name="Google Shape;1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75" y="1160150"/>
            <a:ext cx="74101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Sort: Running Time</a:t>
            </a:r>
            <a:endParaRPr/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750" y="1518775"/>
            <a:ext cx="7141000" cy="25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Sort: Running Time</a:t>
            </a:r>
            <a:endParaRPr/>
          </a:p>
        </p:txBody>
      </p:sp>
      <p:pic>
        <p:nvPicPr>
          <p:cNvPr id="162" name="Google Shape;1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300" y="1147225"/>
            <a:ext cx="5761556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Iterative Approach</a:t>
            </a:r>
            <a:endParaRPr/>
          </a:p>
        </p:txBody>
      </p:sp>
      <p:sp>
        <p:nvSpPr>
          <p:cNvPr id="169" name="Google Shape;169;p35"/>
          <p:cNvSpPr txBox="1"/>
          <p:nvPr/>
        </p:nvSpPr>
        <p:spPr>
          <a:xfrm>
            <a:off x="476675" y="1182400"/>
            <a:ext cx="3130800" cy="66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→ T(n) = T(n-1) + 1</a:t>
            </a:r>
            <a:endParaRPr sz="3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0" name="Google Shape;170;p35"/>
          <p:cNvSpPr txBox="1"/>
          <p:nvPr/>
        </p:nvSpPr>
        <p:spPr>
          <a:xfrm>
            <a:off x="476675" y="2008875"/>
            <a:ext cx="5917200" cy="661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</a:t>
            </a:r>
            <a:r>
              <a:rPr lang="en" sz="3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= (T(n-2) + 1) + 1</a:t>
            </a:r>
            <a:endParaRPr sz="3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1" name="Google Shape;171;p35"/>
          <p:cNvSpPr txBox="1"/>
          <p:nvPr/>
        </p:nvSpPr>
        <p:spPr>
          <a:xfrm>
            <a:off x="476675" y="2910325"/>
            <a:ext cx="5917200" cy="661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       = ((T(n-3) + 1) +1) + 1</a:t>
            </a:r>
            <a:endParaRPr sz="31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2" name="Google Shape;17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Merge Sort: Running Time</a:t>
            </a:r>
            <a:endParaRPr/>
          </a:p>
        </p:txBody>
      </p:sp>
      <p:pic>
        <p:nvPicPr>
          <p:cNvPr id="178" name="Google Shape;1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96750"/>
            <a:ext cx="4988931" cy="369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6"/>
          <p:cNvSpPr txBox="1"/>
          <p:nvPr/>
        </p:nvSpPr>
        <p:spPr>
          <a:xfrm>
            <a:off x="4925750" y="1196750"/>
            <a:ext cx="1594800" cy="44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Refer to notes</a:t>
            </a:r>
            <a:endParaRPr sz="17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Iteration Method</a:t>
            </a:r>
            <a:endParaRPr/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434343"/>
                </a:solidFill>
              </a:rPr>
              <a:t>Try: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T(n) = 4T(n/2) + bn</a:t>
            </a:r>
            <a:endParaRPr sz="2200">
              <a:solidFill>
                <a:srgbClr val="434343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AutoNum type="arabicPeriod"/>
            </a:pPr>
            <a:r>
              <a:rPr lang="en" sz="2200">
                <a:solidFill>
                  <a:srgbClr val="434343"/>
                </a:solidFill>
              </a:rPr>
              <a:t>T(n) = 3T(n/2) + bn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Recursion Tree Method</a:t>
            </a:r>
            <a:endParaRPr/>
          </a:p>
        </p:txBody>
      </p:sp>
      <p:pic>
        <p:nvPicPr>
          <p:cNvPr id="193" name="Google Shape;1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042450"/>
            <a:ext cx="6202343" cy="36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 (Algorithm)</a:t>
            </a:r>
            <a:endParaRPr/>
          </a:p>
        </p:txBody>
      </p:sp>
      <p:pic>
        <p:nvPicPr>
          <p:cNvPr id="200" name="Google Shape;2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300" y="1180125"/>
            <a:ext cx="7439407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9"/>
          <p:cNvSpPr/>
          <p:nvPr/>
        </p:nvSpPr>
        <p:spPr>
          <a:xfrm>
            <a:off x="721100" y="3859125"/>
            <a:ext cx="7760100" cy="106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Partitioning (Algorithm)</a:t>
            </a:r>
            <a:endParaRPr/>
          </a:p>
        </p:txBody>
      </p:sp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75" y="1120200"/>
            <a:ext cx="808863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</a:t>
            </a:r>
            <a:r>
              <a:rPr lang="en"/>
              <a:t>Sort: Running Time</a:t>
            </a:r>
            <a:endParaRPr/>
          </a:p>
        </p:txBody>
      </p:sp>
      <p:pic>
        <p:nvPicPr>
          <p:cNvPr id="215" name="Google Shape;21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" y="1240025"/>
            <a:ext cx="86106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1"/>
          <p:cNvSpPr/>
          <p:nvPr/>
        </p:nvSpPr>
        <p:spPr>
          <a:xfrm>
            <a:off x="3177975" y="3559500"/>
            <a:ext cx="1338300" cy="649200"/>
          </a:xfrm>
          <a:prstGeom prst="rect">
            <a:avLst/>
          </a:prstGeom>
          <a:solidFill>
            <a:srgbClr val="E9E9F3"/>
          </a:solidFill>
          <a:ln cap="flat" cmpd="sng" w="9525">
            <a:solidFill>
              <a:srgbClr val="E9E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7" name="Google Shape;217;p41"/>
          <p:cNvSpPr/>
          <p:nvPr/>
        </p:nvSpPr>
        <p:spPr>
          <a:xfrm>
            <a:off x="444025" y="1844250"/>
            <a:ext cx="7597800" cy="466800"/>
          </a:xfrm>
          <a:prstGeom prst="rect">
            <a:avLst/>
          </a:prstGeom>
          <a:solidFill>
            <a:srgbClr val="E9E9F3"/>
          </a:solidFill>
          <a:ln cap="flat" cmpd="sng" w="9525">
            <a:solidFill>
              <a:srgbClr val="E9E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8" name="Google Shape;218;p41"/>
          <p:cNvSpPr/>
          <p:nvPr/>
        </p:nvSpPr>
        <p:spPr>
          <a:xfrm>
            <a:off x="773100" y="2338350"/>
            <a:ext cx="7597800" cy="1221300"/>
          </a:xfrm>
          <a:prstGeom prst="rect">
            <a:avLst/>
          </a:prstGeom>
          <a:solidFill>
            <a:srgbClr val="E9E9F3"/>
          </a:solidFill>
          <a:ln cap="flat" cmpd="sng" w="9525">
            <a:solidFill>
              <a:srgbClr val="E9E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9" name="Google Shape;21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25" name="Google Shape;22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5050" y="1170950"/>
            <a:ext cx="4428676" cy="95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32" name="Google Shape;23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714" y="1164900"/>
            <a:ext cx="4570576" cy="168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39" name="Google Shape;23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7084" y="1180928"/>
            <a:ext cx="4409851" cy="231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46" name="Google Shape;24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2934" y="1081078"/>
            <a:ext cx="4858150" cy="3887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53" name="Google Shape;25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2926" y="1160975"/>
            <a:ext cx="4878124" cy="38534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Recursion Tree Worst Case</a:t>
            </a:r>
            <a:endParaRPr/>
          </a:p>
        </p:txBody>
      </p:sp>
      <p:pic>
        <p:nvPicPr>
          <p:cNvPr id="260" name="Google Shape;26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8963" y="1133975"/>
            <a:ext cx="4326075" cy="400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Quick Sort: Running Time (Best Case)</a:t>
            </a:r>
            <a:endParaRPr/>
          </a:p>
        </p:txBody>
      </p:sp>
      <p:sp>
        <p:nvSpPr>
          <p:cNvPr id="267" name="Google Shape;26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8" name="Google Shape;2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63" y="1790700"/>
            <a:ext cx="79914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8"/>
          <p:cNvSpPr/>
          <p:nvPr/>
        </p:nvSpPr>
        <p:spPr>
          <a:xfrm>
            <a:off x="5714775" y="2740525"/>
            <a:ext cx="1597800" cy="50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0" name="Google Shape;270;p48"/>
          <p:cNvSpPr/>
          <p:nvPr/>
        </p:nvSpPr>
        <p:spPr>
          <a:xfrm>
            <a:off x="2401550" y="2783050"/>
            <a:ext cx="3373200" cy="50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7499"/>
              <a:buNone/>
            </a:pPr>
            <a:r>
              <a:rPr lang="en"/>
              <a:t>Quick Sort: Running Time </a:t>
            </a:r>
            <a:r>
              <a:rPr lang="en" sz="2666"/>
              <a:t>(Almost Worst Case)</a:t>
            </a:r>
            <a:endParaRPr sz="2666"/>
          </a:p>
        </p:txBody>
      </p:sp>
      <p:sp>
        <p:nvSpPr>
          <p:cNvPr id="276" name="Google Shape;27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7" name="Google Shape;277;p49"/>
          <p:cNvPicPr preferRelativeResize="0"/>
          <p:nvPr/>
        </p:nvPicPr>
        <p:blipFill rotWithShape="1">
          <a:blip r:embed="rId3">
            <a:alphaModFix/>
          </a:blip>
          <a:srcRect b="0" l="2629" r="0" t="0"/>
          <a:stretch/>
        </p:blipFill>
        <p:spPr>
          <a:xfrm>
            <a:off x="631200" y="1322525"/>
            <a:ext cx="8100402" cy="33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9"/>
          <p:cNvSpPr/>
          <p:nvPr/>
        </p:nvSpPr>
        <p:spPr>
          <a:xfrm>
            <a:off x="2211800" y="2062350"/>
            <a:ext cx="44619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9" name="Google Shape;279;p49"/>
          <p:cNvSpPr/>
          <p:nvPr/>
        </p:nvSpPr>
        <p:spPr>
          <a:xfrm>
            <a:off x="1735000" y="2520750"/>
            <a:ext cx="30708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0" name="Google Shape;280;p49"/>
          <p:cNvSpPr/>
          <p:nvPr/>
        </p:nvSpPr>
        <p:spPr>
          <a:xfrm>
            <a:off x="631200" y="3236050"/>
            <a:ext cx="8019900" cy="138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1" name="Google Shape;281;p49"/>
          <p:cNvSpPr/>
          <p:nvPr/>
        </p:nvSpPr>
        <p:spPr>
          <a:xfrm>
            <a:off x="4666200" y="2520750"/>
            <a:ext cx="4166100" cy="45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2" name="Google Shape;282;p49"/>
          <p:cNvSpPr txBox="1"/>
          <p:nvPr/>
        </p:nvSpPr>
        <p:spPr>
          <a:xfrm>
            <a:off x="6408775" y="1443925"/>
            <a:ext cx="1594800" cy="44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5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Refer to book</a:t>
            </a:r>
            <a:endParaRPr sz="1700">
              <a:solidFill>
                <a:schemeClr val="accent5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pic>
        <p:nvPicPr>
          <p:cNvPr id="288" name="Google Shape;28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75" y="1104175"/>
            <a:ext cx="7951913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pic>
        <p:nvPicPr>
          <p:cNvPr id="295" name="Google Shape;29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92225"/>
            <a:ext cx="8839199" cy="256544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pic>
        <p:nvPicPr>
          <p:cNvPr id="302" name="Google Shape;30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208277"/>
            <a:ext cx="8839200" cy="169261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4" name="Google Shape;30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99700"/>
            <a:ext cx="836129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 -  Case 1 Example</a:t>
            </a:r>
            <a:endParaRPr/>
          </a:p>
        </p:txBody>
      </p:sp>
      <p:pic>
        <p:nvPicPr>
          <p:cNvPr id="310" name="Google Shape;31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700" y="1381925"/>
            <a:ext cx="35147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347000"/>
            <a:ext cx="8839199" cy="10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 -  Case 2 Example</a:t>
            </a:r>
            <a:endParaRPr/>
          </a:p>
        </p:txBody>
      </p:sp>
      <p:pic>
        <p:nvPicPr>
          <p:cNvPr id="318" name="Google Shape;31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77375"/>
            <a:ext cx="8839201" cy="157399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 - Case 3 Example</a:t>
            </a:r>
            <a:endParaRPr/>
          </a:p>
        </p:txBody>
      </p:sp>
      <p:pic>
        <p:nvPicPr>
          <p:cNvPr id="325" name="Google Shape;32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39100"/>
            <a:ext cx="8839199" cy="215803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pic>
        <p:nvPicPr>
          <p:cNvPr id="332" name="Google Shape;33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99625"/>
            <a:ext cx="8839200" cy="1852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1150" y="2861950"/>
            <a:ext cx="8477251" cy="7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6"/>
          <p:cNvSpPr/>
          <p:nvPr/>
        </p:nvSpPr>
        <p:spPr>
          <a:xfrm>
            <a:off x="2870075" y="3312425"/>
            <a:ext cx="5359500" cy="25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Master Theorem</a:t>
            </a:r>
            <a:endParaRPr/>
          </a:p>
        </p:txBody>
      </p:sp>
      <p:pic>
        <p:nvPicPr>
          <p:cNvPr id="341" name="Google Shape;34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58475"/>
            <a:ext cx="8839203" cy="344413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48" name="Google Shape;348;p58"/>
          <p:cNvSpPr txBox="1"/>
          <p:nvPr/>
        </p:nvSpPr>
        <p:spPr>
          <a:xfrm>
            <a:off x="493775" y="1378450"/>
            <a:ext cx="7931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</a:pPr>
            <a:r>
              <a:rPr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CLRS </a:t>
            </a:r>
            <a:r>
              <a:rPr lang="en" sz="22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B</a:t>
            </a:r>
            <a:r>
              <a:rPr i="0" lang="en" sz="2200" u="sng" cap="none" strike="noStrike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ook</a:t>
            </a:r>
            <a:r>
              <a:rPr i="0" lang="en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Char char="○"/>
            </a:pPr>
            <a:r>
              <a:rPr lang="en" sz="2200">
                <a:latin typeface="Proxima Nova"/>
                <a:ea typeface="Proxima Nova"/>
                <a:cs typeface="Proxima Nova"/>
                <a:sym typeface="Proxima Nova"/>
              </a:rPr>
              <a:t>Chapter 2.3.2 - Merge Sort Analysis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Char char="○"/>
            </a:pPr>
            <a:r>
              <a:rPr lang="en" sz="2200">
                <a:latin typeface="Proxima Nova"/>
                <a:ea typeface="Proxima Nova"/>
                <a:cs typeface="Proxima Nova"/>
                <a:sym typeface="Proxima Nova"/>
              </a:rPr>
              <a:t>Chapter 4.4 - Recursion Tree Method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Char char="○"/>
            </a:pPr>
            <a:r>
              <a:rPr lang="en" sz="2200">
                <a:latin typeface="Proxima Nova"/>
                <a:ea typeface="Proxima Nova"/>
                <a:cs typeface="Proxima Nova"/>
                <a:sym typeface="Proxima Nova"/>
              </a:rPr>
              <a:t>Chapter 4.5 - Master Method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Char char="○"/>
            </a:pPr>
            <a:r>
              <a:rPr lang="en" sz="2200">
                <a:latin typeface="Proxima Nova"/>
                <a:ea typeface="Proxima Nova"/>
                <a:cs typeface="Proxima Nova"/>
                <a:sym typeface="Proxima Nova"/>
              </a:rPr>
              <a:t>Chapter 7.4 - Quicksort Analysis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roxima Nova"/>
              <a:buChar char="●"/>
            </a:pPr>
            <a:r>
              <a:rPr lang="en" sz="22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Recursive Time Complexity Notes</a:t>
            </a:r>
            <a:endParaRPr sz="2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