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5143500" cx="9144000"/>
  <p:notesSz cx="6858000" cy="9144000"/>
  <p:embeddedFontLst>
    <p:embeddedFont>
      <p:font typeface="Proxima Nova"/>
      <p:regular r:id="rId60"/>
      <p:bold r:id="rId61"/>
      <p:italic r:id="rId62"/>
      <p:boldItalic r:id="rId63"/>
    </p:embeddedFont>
    <p:embeddedFont>
      <p:font typeface="Proxima Nova Semibold"/>
      <p:regular r:id="rId64"/>
      <p:bold r:id="rId65"/>
      <p:boldItalic r:id="rId66"/>
    </p:embeddedFont>
    <p:embeddedFont>
      <p:font typeface="Alfa Slab One"/>
      <p:regular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ProximaNova-italic.fntdata"/><Relationship Id="rId61" Type="http://schemas.openxmlformats.org/officeDocument/2006/relationships/font" Target="fonts/ProximaNova-bold.fntdata"/><Relationship Id="rId20" Type="http://schemas.openxmlformats.org/officeDocument/2006/relationships/slide" Target="slides/slide14.xml"/><Relationship Id="rId64" Type="http://schemas.openxmlformats.org/officeDocument/2006/relationships/font" Target="fonts/ProximaNovaSemibold-regular.fntdata"/><Relationship Id="rId63" Type="http://schemas.openxmlformats.org/officeDocument/2006/relationships/font" Target="fonts/ProximaNova-boldItalic.fntdata"/><Relationship Id="rId22" Type="http://schemas.openxmlformats.org/officeDocument/2006/relationships/slide" Target="slides/slide16.xml"/><Relationship Id="rId66" Type="http://schemas.openxmlformats.org/officeDocument/2006/relationships/font" Target="fonts/ProximaNovaSemibold-boldItalic.fntdata"/><Relationship Id="rId21" Type="http://schemas.openxmlformats.org/officeDocument/2006/relationships/slide" Target="slides/slide15.xml"/><Relationship Id="rId65" Type="http://schemas.openxmlformats.org/officeDocument/2006/relationships/font" Target="fonts/ProximaNovaSemibold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schemas.openxmlformats.org/officeDocument/2006/relationships/font" Target="fonts/AlfaSlabOne-regular.fntdata"/><Relationship Id="rId60" Type="http://schemas.openxmlformats.org/officeDocument/2006/relationships/font" Target="fonts/ProximaNova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446e264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2e446e264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e448aa85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2e448aa85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448aa85e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2e448aa85e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e448aa85e6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2e448aa85e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448aa85e6_0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2e448aa85e6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e448aa85e6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2e448aa85e6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448aa85e6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2e448aa85e6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e448aa85e6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2e448aa85e6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448aa85e6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2e448aa85e6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e448aa85e6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2e448aa85e6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448aa85e6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2e448aa85e6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e448aa85e6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2e448aa85e6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e448aa85e6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2e448aa85e6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e448aa85e6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2e448aa85e6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e448aa85e6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2e448aa85e6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e448aa85e6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2e448aa85e6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448aa85e6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e448aa85e6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e448aa85e6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2e448aa85e6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e448aa85e6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2e448aa85e6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e448aa85e6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2e448aa85e6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e448aa85e6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2e448aa85e6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e448aa85e6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2e448aa85e6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73559612d9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273559612d9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73559612d9_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273559612d9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448aa85e6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2e448aa85e6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e448aa85e6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2e448aa85e6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e448aa85e6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2e448aa85e6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e46b7edc9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2e46b7edc9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e46b7edc96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2e46b7edc96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e46b7edc96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2e46b7edc96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e46b7edc96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2e46b7edc96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e46b7edc96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2e46b7edc96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e46b7edc96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2e46b7edc96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e46b7edc96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2e46b7edc96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e46b7edc96_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2e46b7edc96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e46b7edc96_3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2e46b7edc96_3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e46b7edc96_3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2e46b7edc96_3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e46b7edc96_3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2e46b7edc96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e46b7edc96_3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2e46b7edc96_3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e46b7edc96_3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2e46b7edc96_3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e46b7edc96_3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2e46b7edc96_3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e46b7edc96_3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2e46b7edc96_3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e46b7edc96_3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g2e46b7edc96_3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e46b7edc96_3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2e46b7edc96_3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e46b7edc96_3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2e46b7edc96_3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e46b7edc96_3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g2e46b7edc96_3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e46b7edc96_3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2e46b7edc96_3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e46b7edc96_3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2e46b7edc96_3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e46b7edc96_3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g2e46b7edc96_3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e46b7edc96_3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g2e46b7edc96_3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e46b7edc96_3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2e46b7edc96_3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e46b7edc96_3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2e46b7edc96_3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e46b7edc96_3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g2e46b7edc96_3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1" name="Google Shape;101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2" name="Google Shape;102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7" name="Google Shape;107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3" name="Google Shape;113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3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623890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623890" y="3442099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28"/>
          <p:cNvSpPr txBox="1"/>
          <p:nvPr>
            <p:ph idx="10" type="dt"/>
          </p:nvPr>
        </p:nvSpPr>
        <p:spPr>
          <a:xfrm>
            <a:off x="6286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9" name="Google Shape;119;p28"/>
          <p:cNvSpPr txBox="1"/>
          <p:nvPr>
            <p:ph idx="11" type="ftr"/>
          </p:nvPr>
        </p:nvSpPr>
        <p:spPr>
          <a:xfrm>
            <a:off x="3028953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20" name="Google Shape;120;p2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126" name="Google Shape;126;p29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5B0F00"/>
                </a:solidFill>
              </a:rPr>
              <a:t>Lecture 3</a:t>
            </a:r>
            <a:endParaRPr b="1">
              <a:solidFill>
                <a:srgbClr val="5B0F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0000FF"/>
                </a:solidFill>
              </a:rPr>
              <a:t>Sorting with Divide and Conquer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27" name="Google Shape;127;p29"/>
          <p:cNvSpPr txBox="1"/>
          <p:nvPr/>
        </p:nvSpPr>
        <p:spPr>
          <a:xfrm>
            <a:off x="1978800" y="3899325"/>
            <a:ext cx="518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Prantik Paul [PNP]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Lecturer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Department of Computer Science and Engineering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BRAC University 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Bubble Sort</a:t>
            </a:r>
            <a:endParaRPr/>
          </a:p>
        </p:txBody>
      </p:sp>
      <p:sp>
        <p:nvSpPr>
          <p:cNvPr id="134" name="Google Shape;13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7A3E9D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def 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bubble_sort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50">
                <a:solidFill>
                  <a:srgbClr val="7A3E9D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arr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n = 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len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(arr)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</a:t>
            </a:r>
            <a:r>
              <a:rPr lang="en" sz="205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for 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 </a:t>
            </a:r>
            <a:r>
              <a:rPr lang="en" sz="205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in 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range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(n-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</a:t>
            </a:r>
            <a:r>
              <a:rPr lang="en" sz="205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for 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j </a:t>
            </a:r>
            <a:r>
              <a:rPr lang="en" sz="205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in 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range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(n-i-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</a:t>
            </a:r>
            <a:r>
              <a:rPr lang="en" sz="205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if 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arr[j] &gt; arr[j+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]: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temp = arr[j]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arr[j] = arr[j+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arr[j+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 = temp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35" name="Google Shape;135;p30"/>
          <p:cNvSpPr txBox="1"/>
          <p:nvPr/>
        </p:nvSpPr>
        <p:spPr>
          <a:xfrm>
            <a:off x="5647800" y="1152475"/>
            <a:ext cx="3184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Worst Case Complexity?</a:t>
            </a:r>
            <a:br>
              <a:rPr lang="en" sz="2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</a:br>
            <a:r>
              <a:rPr lang="en" sz="2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Best Case Complexity?</a:t>
            </a:r>
            <a:endParaRPr sz="2100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Space Complexity?</a:t>
            </a:r>
            <a:endParaRPr sz="2100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Optimization?</a:t>
            </a:r>
            <a:endParaRPr sz="2100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36" name="Google Shape;13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Selection Sort</a:t>
            </a:r>
            <a:endParaRPr/>
          </a:p>
        </p:txBody>
      </p:sp>
      <p:sp>
        <p:nvSpPr>
          <p:cNvPr id="142" name="Google Shape;142;p31"/>
          <p:cNvSpPr txBox="1"/>
          <p:nvPr>
            <p:ph idx="1" type="body"/>
          </p:nvPr>
        </p:nvSpPr>
        <p:spPr>
          <a:xfrm>
            <a:off x="311700" y="1152475"/>
            <a:ext cx="4983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7A3E9D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def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selection_sort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00">
                <a:solidFill>
                  <a:srgbClr val="7A3E9D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n 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=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len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for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i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in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range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n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min_idx 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=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i</a:t>
            </a:r>
            <a:endParaRPr sz="2000">
              <a:solidFill>
                <a:srgbClr val="33333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for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j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in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range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+</a:t>
            </a:r>
            <a:r>
              <a:rPr lang="en" sz="2000">
                <a:solidFill>
                  <a:srgbClr val="9C5D2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,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n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if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[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j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&lt;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[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min_idx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]: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    min_idx 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=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j</a:t>
            </a:r>
            <a:endParaRPr sz="2000">
              <a:solidFill>
                <a:srgbClr val="33333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[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],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[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min_idx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=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[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min_idx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],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[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</a:t>
            </a:r>
            <a:endParaRPr sz="2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43" name="Google Shape;143;p31"/>
          <p:cNvSpPr txBox="1"/>
          <p:nvPr/>
        </p:nvSpPr>
        <p:spPr>
          <a:xfrm>
            <a:off x="5647800" y="1152475"/>
            <a:ext cx="3184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Worst Case Complexity?</a:t>
            </a:r>
            <a:br>
              <a:rPr lang="en" sz="2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</a:br>
            <a:r>
              <a:rPr lang="en" sz="2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Best Case Complexity?</a:t>
            </a:r>
            <a:endParaRPr sz="2100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Space Complexity?</a:t>
            </a:r>
            <a:endParaRPr sz="2100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Optimization?</a:t>
            </a:r>
            <a:endParaRPr sz="2100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44" name="Google Shape;14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Insertion </a:t>
            </a:r>
            <a:r>
              <a:rPr lang="en"/>
              <a:t>Sort</a:t>
            </a:r>
            <a:endParaRPr/>
          </a:p>
        </p:txBody>
      </p:sp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1152475"/>
            <a:ext cx="4983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7A3E9D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def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insertion_sort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00">
                <a:solidFill>
                  <a:srgbClr val="7A3E9D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n 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=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len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for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i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in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range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, 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n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key = arr[i]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j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=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i -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sz="2000">
              <a:solidFill>
                <a:srgbClr val="AA3731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w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hile 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j &gt;=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0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and 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key &lt; arr[j]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: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rr [j+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 = arr[j]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 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j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= j -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sz="2000">
              <a:solidFill>
                <a:srgbClr val="AA3731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[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j+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 = 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key </a:t>
            </a:r>
            <a:endParaRPr sz="2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51" name="Google Shape;151;p32"/>
          <p:cNvSpPr txBox="1"/>
          <p:nvPr/>
        </p:nvSpPr>
        <p:spPr>
          <a:xfrm>
            <a:off x="5647800" y="1152475"/>
            <a:ext cx="3184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Worst Case Complexity?</a:t>
            </a:r>
            <a:br>
              <a:rPr lang="en" sz="2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</a:br>
            <a:r>
              <a:rPr lang="en" sz="2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Best Case Complexity?</a:t>
            </a:r>
            <a:endParaRPr sz="2100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Space Complexity?</a:t>
            </a:r>
            <a:endParaRPr sz="2100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Optimization?</a:t>
            </a:r>
            <a:endParaRPr sz="2100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52" name="Google Shape;15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>
            <p:ph type="title"/>
          </p:nvPr>
        </p:nvSpPr>
        <p:spPr>
          <a:xfrm>
            <a:off x="623888" y="429905"/>
            <a:ext cx="78867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3300"/>
              <a:t>Divide and Conquer Strategy</a:t>
            </a:r>
            <a:endParaRPr sz="3300"/>
          </a:p>
        </p:txBody>
      </p:sp>
      <p:sp>
        <p:nvSpPr>
          <p:cNvPr id="158" name="Google Shape;158;p33"/>
          <p:cNvSpPr txBox="1"/>
          <p:nvPr/>
        </p:nvSpPr>
        <p:spPr>
          <a:xfrm>
            <a:off x="623900" y="1354550"/>
            <a:ext cx="13629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Divide</a:t>
            </a:r>
            <a:endParaRPr sz="2200">
              <a:solidFill>
                <a:srgbClr val="00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59" name="Google Shape;159;p33"/>
          <p:cNvSpPr txBox="1"/>
          <p:nvPr/>
        </p:nvSpPr>
        <p:spPr>
          <a:xfrm>
            <a:off x="623900" y="2369725"/>
            <a:ext cx="13629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Conquer</a:t>
            </a:r>
            <a:endParaRPr sz="2200">
              <a:solidFill>
                <a:srgbClr val="00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23900" y="3384900"/>
            <a:ext cx="13629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Combine</a:t>
            </a:r>
            <a:endParaRPr sz="2200">
              <a:solidFill>
                <a:srgbClr val="00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1" name="Google Shape;161;p33"/>
          <p:cNvSpPr txBox="1"/>
          <p:nvPr/>
        </p:nvSpPr>
        <p:spPr>
          <a:xfrm>
            <a:off x="2284400" y="1362200"/>
            <a:ext cx="53481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the problem (instance) into subproblems.</a:t>
            </a:r>
            <a:endParaRPr sz="2200">
              <a:solidFill>
                <a:srgbClr val="99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2" name="Google Shape;162;p33"/>
          <p:cNvSpPr txBox="1"/>
          <p:nvPr/>
        </p:nvSpPr>
        <p:spPr>
          <a:xfrm>
            <a:off x="2289150" y="2204200"/>
            <a:ext cx="6226200" cy="86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the subproblems by solving these recursively (or iteratively). </a:t>
            </a:r>
            <a:endParaRPr sz="2200">
              <a:solidFill>
                <a:srgbClr val="99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3" name="Google Shape;163;p33"/>
          <p:cNvSpPr txBox="1"/>
          <p:nvPr/>
        </p:nvSpPr>
        <p:spPr>
          <a:xfrm>
            <a:off x="2284400" y="3424000"/>
            <a:ext cx="53481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the solutions to the subproblems.</a:t>
            </a:r>
            <a:endParaRPr sz="2200">
              <a:solidFill>
                <a:srgbClr val="99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4" name="Google Shape;164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</a:t>
            </a:r>
            <a:r>
              <a:rPr lang="en"/>
              <a:t>Sort</a:t>
            </a:r>
            <a:endParaRPr/>
          </a:p>
        </p:txBody>
      </p:sp>
      <p:pic>
        <p:nvPicPr>
          <p:cNvPr id="170" name="Google Shape;17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63" y="1328725"/>
            <a:ext cx="8524875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(Simulation)</a:t>
            </a:r>
            <a:endParaRPr/>
          </a:p>
        </p:txBody>
      </p:sp>
      <p:pic>
        <p:nvPicPr>
          <p:cNvPr id="177" name="Google Shape;177;p35"/>
          <p:cNvPicPr preferRelativeResize="0"/>
          <p:nvPr/>
        </p:nvPicPr>
        <p:blipFill rotWithShape="1">
          <a:blip r:embed="rId3">
            <a:alphaModFix/>
          </a:blip>
          <a:srcRect b="0" l="3993" r="2913" t="0"/>
          <a:stretch/>
        </p:blipFill>
        <p:spPr>
          <a:xfrm>
            <a:off x="1635713" y="1120175"/>
            <a:ext cx="5872573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5"/>
          <p:cNvSpPr/>
          <p:nvPr/>
        </p:nvSpPr>
        <p:spPr>
          <a:xfrm>
            <a:off x="1330325" y="2140950"/>
            <a:ext cx="6851400" cy="28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9" name="Google Shape;17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(Simulation)</a:t>
            </a:r>
            <a:endParaRPr/>
          </a:p>
        </p:txBody>
      </p:sp>
      <p:pic>
        <p:nvPicPr>
          <p:cNvPr id="185" name="Google Shape;185;p36"/>
          <p:cNvPicPr preferRelativeResize="0"/>
          <p:nvPr/>
        </p:nvPicPr>
        <p:blipFill rotWithShape="1">
          <a:blip r:embed="rId3">
            <a:alphaModFix/>
          </a:blip>
          <a:srcRect b="0" l="3993" r="2913" t="0"/>
          <a:stretch/>
        </p:blipFill>
        <p:spPr>
          <a:xfrm>
            <a:off x="1635713" y="1120175"/>
            <a:ext cx="5872573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6"/>
          <p:cNvSpPr/>
          <p:nvPr/>
        </p:nvSpPr>
        <p:spPr>
          <a:xfrm>
            <a:off x="1330325" y="3040150"/>
            <a:ext cx="6851400" cy="190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7" name="Google Shape;18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(Simulation)</a:t>
            </a:r>
            <a:endParaRPr/>
          </a:p>
        </p:txBody>
      </p:sp>
      <p:pic>
        <p:nvPicPr>
          <p:cNvPr id="193" name="Google Shape;193;p37"/>
          <p:cNvPicPr preferRelativeResize="0"/>
          <p:nvPr/>
        </p:nvPicPr>
        <p:blipFill rotWithShape="1">
          <a:blip r:embed="rId3">
            <a:alphaModFix/>
          </a:blip>
          <a:srcRect b="0" l="3993" r="2913" t="0"/>
          <a:stretch/>
        </p:blipFill>
        <p:spPr>
          <a:xfrm>
            <a:off x="1635713" y="1120175"/>
            <a:ext cx="5872573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7"/>
          <p:cNvSpPr/>
          <p:nvPr/>
        </p:nvSpPr>
        <p:spPr>
          <a:xfrm>
            <a:off x="1380250" y="3939025"/>
            <a:ext cx="6851400" cy="100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5" name="Google Shape;19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(Simulation)</a:t>
            </a:r>
            <a:endParaRPr/>
          </a:p>
        </p:txBody>
      </p:sp>
      <p:pic>
        <p:nvPicPr>
          <p:cNvPr id="201" name="Google Shape;201;p38"/>
          <p:cNvPicPr preferRelativeResize="0"/>
          <p:nvPr/>
        </p:nvPicPr>
        <p:blipFill rotWithShape="1">
          <a:blip r:embed="rId3">
            <a:alphaModFix/>
          </a:blip>
          <a:srcRect b="0" l="3993" r="2913" t="0"/>
          <a:stretch/>
        </p:blipFill>
        <p:spPr>
          <a:xfrm>
            <a:off x="1635713" y="1120175"/>
            <a:ext cx="5872573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(Simulation)</a:t>
            </a:r>
            <a:endParaRPr/>
          </a:p>
        </p:txBody>
      </p:sp>
      <p:pic>
        <p:nvPicPr>
          <p:cNvPr id="208" name="Google Shape;2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775" y="1230025"/>
            <a:ext cx="6244550" cy="372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(Simulation)</a:t>
            </a:r>
            <a:endParaRPr/>
          </a:p>
        </p:txBody>
      </p:sp>
      <p:pic>
        <p:nvPicPr>
          <p:cNvPr id="215" name="Google Shape;215;p40"/>
          <p:cNvPicPr preferRelativeResize="0"/>
          <p:nvPr/>
        </p:nvPicPr>
        <p:blipFill rotWithShape="1">
          <a:blip r:embed="rId3">
            <a:alphaModFix/>
          </a:blip>
          <a:srcRect b="0" l="5267" r="0" t="0"/>
          <a:stretch/>
        </p:blipFill>
        <p:spPr>
          <a:xfrm>
            <a:off x="1626400" y="1289975"/>
            <a:ext cx="5891200" cy="369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(Simulation)</a:t>
            </a:r>
            <a:endParaRPr/>
          </a:p>
        </p:txBody>
      </p:sp>
      <p:pic>
        <p:nvPicPr>
          <p:cNvPr id="222" name="Google Shape;222;p41"/>
          <p:cNvPicPr preferRelativeResize="0"/>
          <p:nvPr/>
        </p:nvPicPr>
        <p:blipFill rotWithShape="1">
          <a:blip r:embed="rId3">
            <a:alphaModFix/>
          </a:blip>
          <a:srcRect b="0" l="3808" r="3063" t="0"/>
          <a:stretch/>
        </p:blipFill>
        <p:spPr>
          <a:xfrm>
            <a:off x="1685650" y="1170125"/>
            <a:ext cx="5852599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29" name="Google Shape;22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9900"/>
            <a:ext cx="8839200" cy="280948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36" name="Google Shape;236;p43"/>
          <p:cNvPicPr preferRelativeResize="0"/>
          <p:nvPr/>
        </p:nvPicPr>
        <p:blipFill rotWithShape="1">
          <a:blip r:embed="rId3">
            <a:alphaModFix/>
          </a:blip>
          <a:srcRect b="7527" l="5416" r="5210" t="0"/>
          <a:stretch/>
        </p:blipFill>
        <p:spPr>
          <a:xfrm>
            <a:off x="466200" y="1319925"/>
            <a:ext cx="8211601" cy="315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43" name="Google Shape;24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0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50" name="Google Shape;25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34226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57" name="Google Shape;25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25071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64" name="Google Shape;26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36814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71" name="Google Shape;27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44944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78" name="Google Shape;27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409287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85" name="Google Shape;28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11971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sp>
        <p:nvSpPr>
          <p:cNvPr id="292" name="Google Shape;29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3" name="Google Shape;29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08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sp>
        <p:nvSpPr>
          <p:cNvPr id="299" name="Google Shape;29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0" name="Google Shape;30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25" y="1220050"/>
            <a:ext cx="8758352" cy="30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(Algorithm)</a:t>
            </a:r>
            <a:endParaRPr/>
          </a:p>
        </p:txBody>
      </p:sp>
      <p:pic>
        <p:nvPicPr>
          <p:cNvPr id="306" name="Google Shape;30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075" y="1160150"/>
            <a:ext cx="741017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(Algorithm)</a:t>
            </a:r>
            <a:endParaRPr/>
          </a:p>
        </p:txBody>
      </p:sp>
      <p:sp>
        <p:nvSpPr>
          <p:cNvPr id="313" name="Google Shape;313;p54"/>
          <p:cNvSpPr txBox="1"/>
          <p:nvPr/>
        </p:nvSpPr>
        <p:spPr>
          <a:xfrm>
            <a:off x="5460375" y="1102525"/>
            <a:ext cx="31707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Out-of-Place Algorithm</a:t>
            </a:r>
            <a:endParaRPr sz="2200">
              <a:solidFill>
                <a:schemeClr val="accent4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314" name="Google Shape;31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10525"/>
            <a:ext cx="7639749" cy="25561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</a:t>
            </a:r>
            <a:r>
              <a:rPr lang="en"/>
              <a:t>Sort</a:t>
            </a:r>
            <a:endParaRPr/>
          </a:p>
        </p:txBody>
      </p:sp>
      <p:pic>
        <p:nvPicPr>
          <p:cNvPr id="321" name="Google Shape;32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00" y="1090225"/>
            <a:ext cx="8582192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pic>
        <p:nvPicPr>
          <p:cNvPr id="328" name="Google Shape;32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8622" y="1194052"/>
            <a:ext cx="4066750" cy="90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8621" y="1194050"/>
            <a:ext cx="4066750" cy="90727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</a:t>
            </a:r>
            <a:r>
              <a:rPr lang="en"/>
              <a:t> (Simulation)</a:t>
            </a:r>
            <a:endParaRPr/>
          </a:p>
        </p:txBody>
      </p:sp>
      <p:sp>
        <p:nvSpPr>
          <p:cNvPr id="336" name="Google Shape;336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</a:t>
            </a:r>
            <a:r>
              <a:rPr lang="en"/>
              <a:t> (Simulation)</a:t>
            </a:r>
            <a:endParaRPr/>
          </a:p>
        </p:txBody>
      </p:sp>
      <p:pic>
        <p:nvPicPr>
          <p:cNvPr id="342" name="Google Shape;34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5313" y="1112800"/>
            <a:ext cx="4373374" cy="181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</a:t>
            </a:r>
            <a:r>
              <a:rPr lang="en"/>
              <a:t> (Simulation)</a:t>
            </a:r>
            <a:endParaRPr/>
          </a:p>
        </p:txBody>
      </p:sp>
      <p:pic>
        <p:nvPicPr>
          <p:cNvPr id="349" name="Google Shape;34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725" y="1017725"/>
            <a:ext cx="4580551" cy="272562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</a:t>
            </a:r>
            <a:r>
              <a:rPr lang="en"/>
              <a:t> (Simulation)</a:t>
            </a:r>
            <a:endParaRPr/>
          </a:p>
        </p:txBody>
      </p:sp>
      <p:pic>
        <p:nvPicPr>
          <p:cNvPr id="356" name="Google Shape;35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1790" y="1122750"/>
            <a:ext cx="4680424" cy="3559701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pic>
        <p:nvPicPr>
          <p:cNvPr id="363" name="Google Shape;36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6725" y="1017725"/>
            <a:ext cx="4450562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pic>
        <p:nvPicPr>
          <p:cNvPr id="370" name="Google Shape;37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640" y="1017725"/>
            <a:ext cx="4440725" cy="4116674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pic>
        <p:nvPicPr>
          <p:cNvPr id="377" name="Google Shape;37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6665" y="980525"/>
            <a:ext cx="4490674" cy="4162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pic>
        <p:nvPicPr>
          <p:cNvPr id="384" name="Google Shape;38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6725" y="1017725"/>
            <a:ext cx="4450556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pic>
        <p:nvPicPr>
          <p:cNvPr id="391" name="Google Shape;39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6725" y="1017725"/>
            <a:ext cx="4450547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</a:t>
            </a:r>
            <a:r>
              <a:rPr lang="en"/>
              <a:t> (Algorithm)</a:t>
            </a:r>
            <a:endParaRPr/>
          </a:p>
        </p:txBody>
      </p:sp>
      <p:pic>
        <p:nvPicPr>
          <p:cNvPr id="398" name="Google Shape;39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675" y="1120200"/>
            <a:ext cx="808863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05" name="Google Shape;40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2612" y="1214050"/>
            <a:ext cx="4438775" cy="115667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12" name="Google Shape;41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6725" y="1224050"/>
            <a:ext cx="4430549" cy="115452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19" name="Google Shape;419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2563" y="1194075"/>
            <a:ext cx="4478875" cy="11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26" name="Google Shape;426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4700" y="1154125"/>
            <a:ext cx="4534600" cy="171692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33" name="Google Shape;433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0437" y="1214075"/>
            <a:ext cx="4563126" cy="17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40" name="Google Shape;440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8300" y="1234025"/>
            <a:ext cx="4587401" cy="178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47" name="Google Shape;44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5075" y="1234025"/>
            <a:ext cx="4613849" cy="24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54" name="Google Shape;45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0638" y="1229250"/>
            <a:ext cx="4662725" cy="2491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61" name="Google Shape;46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275" y="1164100"/>
            <a:ext cx="4703451" cy="32080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68" name="Google Shape;468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12" y="1224025"/>
            <a:ext cx="4724375" cy="3265951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75" name="Google Shape;475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8700" y="1234000"/>
            <a:ext cx="4846600" cy="326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82" name="Google Shape;48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8412" y="1216625"/>
            <a:ext cx="4687174" cy="37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</a:t>
            </a:r>
            <a:r>
              <a:rPr lang="en"/>
              <a:t>(Algorithm)</a:t>
            </a:r>
            <a:endParaRPr/>
          </a:p>
        </p:txBody>
      </p:sp>
      <p:pic>
        <p:nvPicPr>
          <p:cNvPr id="489" name="Google Shape;48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300" y="1180125"/>
            <a:ext cx="7439407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79"/>
          <p:cNvSpPr/>
          <p:nvPr/>
        </p:nvSpPr>
        <p:spPr>
          <a:xfrm>
            <a:off x="721100" y="3859125"/>
            <a:ext cx="7760100" cy="10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1" name="Google Shape;491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(Soft Analysis - Worst Case)</a:t>
            </a:r>
            <a:endParaRPr/>
          </a:p>
        </p:txBody>
      </p:sp>
      <p:pic>
        <p:nvPicPr>
          <p:cNvPr id="497" name="Google Shape;49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975" y="1627300"/>
            <a:ext cx="8520599" cy="1888896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80"/>
          <p:cNvSpPr/>
          <p:nvPr/>
        </p:nvSpPr>
        <p:spPr>
          <a:xfrm>
            <a:off x="531325" y="2510850"/>
            <a:ext cx="7760100" cy="4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9" name="Google Shape;499;p80"/>
          <p:cNvSpPr/>
          <p:nvPr/>
        </p:nvSpPr>
        <p:spPr>
          <a:xfrm>
            <a:off x="633775" y="3010350"/>
            <a:ext cx="1195800" cy="4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0" name="Google Shape;500;p80"/>
          <p:cNvSpPr/>
          <p:nvPr/>
        </p:nvSpPr>
        <p:spPr>
          <a:xfrm>
            <a:off x="1909575" y="2935500"/>
            <a:ext cx="7146300" cy="4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1" name="Google Shape;501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(Soft Analysis - Best Case)</a:t>
            </a:r>
            <a:endParaRPr/>
          </a:p>
        </p:txBody>
      </p:sp>
      <p:pic>
        <p:nvPicPr>
          <p:cNvPr id="507" name="Google Shape;50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29425"/>
            <a:ext cx="8839201" cy="1000863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