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  <p:embeddedFont>
      <p:font typeface="Nunito"/>
      <p:regular r:id="rId23"/>
      <p:bold r:id="rId24"/>
      <p:italic r:id="rId25"/>
      <p:boldItalic r:id="rId26"/>
    </p:embeddedFont>
    <p:embeddedFont>
      <p:font typeface="Proxima Nova Semibold"/>
      <p:regular r:id="rId27"/>
      <p:bold r:id="rId28"/>
      <p:boldItalic r:id="rId29"/>
    </p:embeddedFont>
    <p:embeddedFont>
      <p:font typeface="Alfa Slab One"/>
      <p:regular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22" Type="http://schemas.openxmlformats.org/officeDocument/2006/relationships/font" Target="fonts/ProximaNova-boldItalic.fntdata"/><Relationship Id="rId21" Type="http://schemas.openxmlformats.org/officeDocument/2006/relationships/font" Target="fonts/ProximaNova-italic.fntdata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ProximaNovaSemibold-bold.fntdata"/><Relationship Id="rId27" Type="http://schemas.openxmlformats.org/officeDocument/2006/relationships/font" Target="fonts/ProximaNova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AlfaSlabOne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roximaNova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446e264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2e446e264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e6f1c32615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2e6f1c32615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6f1c3261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2e6f1c3261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e6f1c32615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e6f1c3261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6f1c32615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e6f1c32615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6f1c32615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2e6f1c32615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6f1c32615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2e6f1c32615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6f1c32615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2e6f1c32615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6f1c32615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2e6f1c32615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e6f1c32615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2e6f1c32615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6f1c32615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2e6f1c32615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e6f1c32615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2e6f1c32615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1" name="Google Shape;101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2" name="Google Shape;102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7" name="Google Shape;107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3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623890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623890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28"/>
          <p:cNvSpPr txBox="1"/>
          <p:nvPr>
            <p:ph idx="10" type="dt"/>
          </p:nvPr>
        </p:nvSpPr>
        <p:spPr>
          <a:xfrm>
            <a:off x="6286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9" name="Google Shape;119;p28"/>
          <p:cNvSpPr txBox="1"/>
          <p:nvPr>
            <p:ph idx="11" type="ftr"/>
          </p:nvPr>
        </p:nvSpPr>
        <p:spPr>
          <a:xfrm>
            <a:off x="3028953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126" name="Google Shape;126;p29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5B0F00"/>
                </a:solidFill>
              </a:rPr>
              <a:t>Lecture 6</a:t>
            </a:r>
            <a:endParaRPr b="1">
              <a:solidFill>
                <a:srgbClr val="5B0F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0000FF"/>
                </a:solidFill>
              </a:rPr>
              <a:t>Karatsuba for Multiplication (Divide and Conquer)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7" name="Google Shape;127;p29"/>
          <p:cNvSpPr txBox="1"/>
          <p:nvPr/>
        </p:nvSpPr>
        <p:spPr>
          <a:xfrm>
            <a:off x="1978800" y="3899325"/>
            <a:ext cx="51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Prantik Paul [PNP]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Lecturer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Department of Computer Science and Engineering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BRAC University 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idx="4294967295" type="body"/>
          </p:nvPr>
        </p:nvSpPr>
        <p:spPr>
          <a:xfrm>
            <a:off x="1357025" y="1533750"/>
            <a:ext cx="15900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x	34</a:t>
            </a:r>
            <a:endParaRPr/>
          </a:p>
        </p:txBody>
      </p:sp>
      <p:sp>
        <p:nvSpPr>
          <p:cNvPr id="134" name="Google Shape;134;p30"/>
          <p:cNvSpPr txBox="1"/>
          <p:nvPr/>
        </p:nvSpPr>
        <p:spPr>
          <a:xfrm>
            <a:off x="5049650" y="1533750"/>
            <a:ext cx="3183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2699"/>
                </a:solidFill>
                <a:latin typeface="Open Sans"/>
                <a:ea typeface="Open Sans"/>
                <a:cs typeface="Open Sans"/>
                <a:sym typeface="Open Sans"/>
              </a:rPr>
              <a:t>2*4=8</a:t>
            </a:r>
            <a:endParaRPr b="0" i="0" sz="2300" u="none" cap="none" strike="noStrike">
              <a:solidFill>
                <a:srgbClr val="0026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2699"/>
                </a:solidFill>
                <a:latin typeface="Open Sans"/>
                <a:ea typeface="Open Sans"/>
                <a:cs typeface="Open Sans"/>
                <a:sym typeface="Open Sans"/>
              </a:rPr>
              <a:t>1*4=4</a:t>
            </a:r>
            <a:endParaRPr b="0" i="0" sz="2300" u="none" cap="none" strike="noStrike">
              <a:solidFill>
                <a:srgbClr val="0026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2699"/>
                </a:solidFill>
                <a:latin typeface="Open Sans"/>
                <a:ea typeface="Open Sans"/>
                <a:cs typeface="Open Sans"/>
                <a:sym typeface="Open Sans"/>
              </a:rPr>
              <a:t>2*3=6</a:t>
            </a:r>
            <a:endParaRPr b="0" i="0" sz="1600" u="none" cap="none" strike="noStrike">
              <a:solidFill>
                <a:srgbClr val="0026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300" u="none" cap="none" strike="noStrike">
                <a:solidFill>
                  <a:srgbClr val="002699"/>
                </a:solidFill>
                <a:latin typeface="Open Sans"/>
                <a:ea typeface="Open Sans"/>
                <a:cs typeface="Open Sans"/>
                <a:sym typeface="Open Sans"/>
              </a:rPr>
              <a:t>1*3=3</a:t>
            </a:r>
            <a:endParaRPr b="0" i="0" sz="2300" u="none" cap="none" strike="noStrike">
              <a:solidFill>
                <a:srgbClr val="0026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30"/>
          <p:cNvSpPr txBox="1"/>
          <p:nvPr/>
        </p:nvSpPr>
        <p:spPr>
          <a:xfrm>
            <a:off x="1357025" y="2473350"/>
            <a:ext cx="168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	48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36</a:t>
            </a:r>
            <a:r>
              <a:rPr b="0" i="0" lang="en" sz="1800" u="none" cap="none" strike="noStrike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b="0" i="0" sz="1800" u="none" cap="none" strike="noStrike">
              <a:solidFill>
                <a:srgbClr val="99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6" name="Google Shape;136;p30"/>
          <p:cNvCxnSpPr/>
          <p:nvPr/>
        </p:nvCxnSpPr>
        <p:spPr>
          <a:xfrm flipH="1" rot="10800000">
            <a:off x="1357025" y="2473350"/>
            <a:ext cx="1103100" cy="1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30"/>
          <p:cNvSpPr txBox="1"/>
          <p:nvPr/>
        </p:nvSpPr>
        <p:spPr>
          <a:xfrm>
            <a:off x="4443800" y="3435425"/>
            <a:ext cx="358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 multiplications required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Naive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Naive Algorithm</a:t>
            </a:r>
            <a:endParaRPr/>
          </a:p>
        </p:txBody>
      </p:sp>
      <p:sp>
        <p:nvSpPr>
          <p:cNvPr id="144" name="Google Shape;144;p31"/>
          <p:cNvSpPr txBox="1"/>
          <p:nvPr/>
        </p:nvSpPr>
        <p:spPr>
          <a:xfrm>
            <a:off x="357500" y="1332875"/>
            <a:ext cx="86241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= 1234 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 = 5678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1234 x 5678  (many many steps)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(1200 + 34)(5600 +78)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(1200 x 5600) + 1200 x 78 + 5600 x 34 + 34 x 78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(12 x 56) x 10</a:t>
            </a:r>
            <a:r>
              <a:rPr b="1" baseline="30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(12 x 78 + 56 x 34) x 10</a:t>
            </a:r>
            <a:r>
              <a:rPr b="1" baseline="30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+ 34 x 78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5" name="Google Shape;145;p31"/>
          <p:cNvSpPr/>
          <p:nvPr/>
        </p:nvSpPr>
        <p:spPr>
          <a:xfrm>
            <a:off x="920825" y="3639400"/>
            <a:ext cx="1238450" cy="29962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31"/>
          <p:cNvSpPr/>
          <p:nvPr/>
        </p:nvSpPr>
        <p:spPr>
          <a:xfrm>
            <a:off x="3270450" y="3639400"/>
            <a:ext cx="1238450" cy="29962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4781125" y="3639400"/>
            <a:ext cx="1238450" cy="29962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6960975" y="3639400"/>
            <a:ext cx="1238450" cy="29962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54" name="Google Shape;154;p32"/>
          <p:cNvSpPr txBox="1"/>
          <p:nvPr/>
        </p:nvSpPr>
        <p:spPr>
          <a:xfrm>
            <a:off x="357500" y="1332875"/>
            <a:ext cx="86241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= 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  [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contain leftmost and rightmost n/2 bits of X]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 = 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 [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contain leftmost and rightmost n/2 bits of Y]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XY = (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)(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= 1234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 = 5678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12,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34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56, 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78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60" name="Google Shape;160;p33"/>
          <p:cNvSpPr txBox="1"/>
          <p:nvPr/>
        </p:nvSpPr>
        <p:spPr>
          <a:xfrm>
            <a:off x="357500" y="1332875"/>
            <a:ext cx="8624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= 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  [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contain leftmost and rightmost n/2 bits of X]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 = 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 [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contain leftmost and rightmost n/2 bits of Y]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XY = (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)(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33"/>
          <p:cNvSpPr/>
          <p:nvPr/>
        </p:nvSpPr>
        <p:spPr>
          <a:xfrm>
            <a:off x="1454750" y="3079525"/>
            <a:ext cx="617700" cy="34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33"/>
          <p:cNvSpPr/>
          <p:nvPr/>
        </p:nvSpPr>
        <p:spPr>
          <a:xfrm>
            <a:off x="2908175" y="3079525"/>
            <a:ext cx="617700" cy="34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33"/>
          <p:cNvSpPr/>
          <p:nvPr/>
        </p:nvSpPr>
        <p:spPr>
          <a:xfrm>
            <a:off x="3755850" y="3079525"/>
            <a:ext cx="691500" cy="34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33"/>
          <p:cNvSpPr/>
          <p:nvPr/>
        </p:nvSpPr>
        <p:spPr>
          <a:xfrm>
            <a:off x="4784550" y="3079525"/>
            <a:ext cx="566400" cy="34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5" name="Google Shape;165;p33"/>
          <p:cNvSpPr txBox="1"/>
          <p:nvPr/>
        </p:nvSpPr>
        <p:spPr>
          <a:xfrm>
            <a:off x="1122150" y="3639600"/>
            <a:ext cx="6165000" cy="4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We have divided the entire problem to 4 subproblems</a:t>
            </a:r>
            <a:endParaRPr i="0" sz="1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6" name="Google Shape;166;p33"/>
          <p:cNvSpPr txBox="1"/>
          <p:nvPr/>
        </p:nvSpPr>
        <p:spPr>
          <a:xfrm>
            <a:off x="1122150" y="4330475"/>
            <a:ext cx="6165000" cy="4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Still same 4 multiplications required, not an</a:t>
            </a:r>
            <a:r>
              <a:rPr lang="en" sz="19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optimization</a:t>
            </a:r>
            <a:endParaRPr i="0" sz="1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72" name="Google Shape;172;p34"/>
          <p:cNvSpPr txBox="1"/>
          <p:nvPr/>
        </p:nvSpPr>
        <p:spPr>
          <a:xfrm>
            <a:off x="357500" y="1332875"/>
            <a:ext cx="8624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X =  X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   [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contain leftmost and rightmost n/2 bits of X]</a:t>
            </a:r>
            <a:endParaRPr b="1" i="0" sz="1800" u="none" cap="none" strike="noStrike">
              <a:solidFill>
                <a:srgbClr val="6D9E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Y =  Y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  [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contain leftmost and rightmost n/2 bits of Y]</a:t>
            </a:r>
            <a:endParaRPr b="1" i="0" sz="1800" u="none" cap="none" strike="noStrike">
              <a:solidFill>
                <a:srgbClr val="6D9E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6D9E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XY = (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baseline="30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)(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800" u="none" cap="none" strike="noStrike">
              <a:solidFill>
                <a:srgbClr val="6D9E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= 10</a:t>
            </a:r>
            <a:r>
              <a:rPr b="1" baseline="30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i="0" lang="en" sz="15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sz="1800">
              <a:solidFill>
                <a:srgbClr val="6D9EE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3" name="Google Shape;173;p34"/>
          <p:cNvSpPr/>
          <p:nvPr/>
        </p:nvSpPr>
        <p:spPr>
          <a:xfrm>
            <a:off x="2878350" y="3090625"/>
            <a:ext cx="1578000" cy="366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4"/>
          <p:cNvSpPr txBox="1"/>
          <p:nvPr/>
        </p:nvSpPr>
        <p:spPr>
          <a:xfrm>
            <a:off x="1074550" y="3577675"/>
            <a:ext cx="6165000" cy="507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21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Change this term to something better</a:t>
            </a:r>
            <a:endParaRPr i="0" sz="21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80" name="Google Shape;180;p35"/>
          <p:cNvSpPr txBox="1"/>
          <p:nvPr/>
        </p:nvSpPr>
        <p:spPr>
          <a:xfrm>
            <a:off x="311700" y="1310050"/>
            <a:ext cx="86241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Tricky expression for middle two terms:</a:t>
            </a:r>
            <a:endParaRPr b="1" i="0" sz="16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6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)(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-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86" name="Google Shape;186;p36"/>
          <p:cNvSpPr txBox="1"/>
          <p:nvPr/>
        </p:nvSpPr>
        <p:spPr>
          <a:xfrm>
            <a:off x="311700" y="1310050"/>
            <a:ext cx="86241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Tricky expression for middle two terms: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6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)(Y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-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-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" name="Google Shape;187;p36"/>
          <p:cNvSpPr/>
          <p:nvPr/>
        </p:nvSpPr>
        <p:spPr>
          <a:xfrm>
            <a:off x="4815300" y="2168200"/>
            <a:ext cx="706200" cy="352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5689575" y="2168200"/>
            <a:ext cx="706200" cy="352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36"/>
          <p:cNvCxnSpPr>
            <a:endCxn id="187" idx="2"/>
          </p:cNvCxnSpPr>
          <p:nvPr/>
        </p:nvCxnSpPr>
        <p:spPr>
          <a:xfrm rot="10800000">
            <a:off x="5168400" y="2520700"/>
            <a:ext cx="309300" cy="65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" name="Google Shape;190;p36"/>
          <p:cNvCxnSpPr>
            <a:endCxn id="188" idx="2"/>
          </p:cNvCxnSpPr>
          <p:nvPr/>
        </p:nvCxnSpPr>
        <p:spPr>
          <a:xfrm flipH="1" rot="10800000">
            <a:off x="5980275" y="2520700"/>
            <a:ext cx="62400" cy="65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p36"/>
          <p:cNvSpPr txBox="1"/>
          <p:nvPr/>
        </p:nvSpPr>
        <p:spPr>
          <a:xfrm>
            <a:off x="3587475" y="3097900"/>
            <a:ext cx="4134900" cy="7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We already calculated these two,</a:t>
            </a:r>
            <a:endParaRPr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No extra multiplication needed for them</a:t>
            </a:r>
            <a:endParaRPr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/>
        </p:nvSpPr>
        <p:spPr>
          <a:xfrm>
            <a:off x="259950" y="1274650"/>
            <a:ext cx="86241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Tricky expression for middle two terms: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6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)x(Y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-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-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" name="Google Shape;19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98" name="Google Shape;198;p37"/>
          <p:cNvSpPr/>
          <p:nvPr/>
        </p:nvSpPr>
        <p:spPr>
          <a:xfrm>
            <a:off x="824050" y="2168200"/>
            <a:ext cx="181800" cy="273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2037451" y="2168200"/>
            <a:ext cx="181800" cy="273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37"/>
          <p:cNvCxnSpPr>
            <a:endCxn id="198" idx="2"/>
          </p:cNvCxnSpPr>
          <p:nvPr/>
        </p:nvCxnSpPr>
        <p:spPr>
          <a:xfrm rot="10800000">
            <a:off x="914950" y="2441500"/>
            <a:ext cx="309300" cy="65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" name="Google Shape;201;p37"/>
          <p:cNvCxnSpPr>
            <a:endCxn id="199" idx="2"/>
          </p:cNvCxnSpPr>
          <p:nvPr/>
        </p:nvCxnSpPr>
        <p:spPr>
          <a:xfrm flipH="1" rot="10800000">
            <a:off x="2065951" y="2441500"/>
            <a:ext cx="62400" cy="65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2" name="Google Shape;202;p37"/>
          <p:cNvSpPr txBox="1"/>
          <p:nvPr/>
        </p:nvSpPr>
        <p:spPr>
          <a:xfrm>
            <a:off x="372525" y="3097900"/>
            <a:ext cx="30057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Instead of these two multiplications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37"/>
          <p:cNvSpPr/>
          <p:nvPr/>
        </p:nvSpPr>
        <p:spPr>
          <a:xfrm flipH="1">
            <a:off x="4035550" y="2168200"/>
            <a:ext cx="135300" cy="273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7"/>
          <p:cNvSpPr txBox="1"/>
          <p:nvPr/>
        </p:nvSpPr>
        <p:spPr>
          <a:xfrm>
            <a:off x="4276300" y="2898550"/>
            <a:ext cx="30057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Only one new multiplication needed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5" name="Google Shape;205;p37"/>
          <p:cNvCxnSpPr>
            <a:stCxn id="204" idx="0"/>
            <a:endCxn id="203" idx="2"/>
          </p:cNvCxnSpPr>
          <p:nvPr/>
        </p:nvCxnSpPr>
        <p:spPr>
          <a:xfrm rot="10800000">
            <a:off x="4103350" y="2441350"/>
            <a:ext cx="16758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211" name="Google Shape;211;p38"/>
          <p:cNvSpPr txBox="1"/>
          <p:nvPr/>
        </p:nvSpPr>
        <p:spPr>
          <a:xfrm>
            <a:off x="501150" y="1280750"/>
            <a:ext cx="82062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 the final value of XY becomes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XY = 10</a:t>
            </a:r>
            <a:r>
              <a:rPr b="1" baseline="30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lang="en" sz="15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((X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)(Y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-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-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+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5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38"/>
          <p:cNvSpPr txBox="1"/>
          <p:nvPr/>
        </p:nvSpPr>
        <p:spPr>
          <a:xfrm>
            <a:off x="1945075" y="2632275"/>
            <a:ext cx="5876400" cy="4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900" u="none" cap="none" strike="noStrike">
                <a:solidFill>
                  <a:srgbClr val="99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 multiplications required instead of 4</a:t>
            </a:r>
            <a:endParaRPr i="0" sz="1900" u="none" cap="none" strike="noStrike">
              <a:solidFill>
                <a:srgbClr val="99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13" name="Google Shape;213;p38"/>
          <p:cNvSpPr txBox="1"/>
          <p:nvPr/>
        </p:nvSpPr>
        <p:spPr>
          <a:xfrm>
            <a:off x="609225" y="3325800"/>
            <a:ext cx="82062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12 x 56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 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(12 x 56) x 10</a:t>
            </a:r>
            <a:r>
              <a:rPr b="1" baseline="30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+ ((12 + 34) x (56 + 78) - 12 x 56 - 34 x 78) x 10</a:t>
            </a:r>
            <a:r>
              <a:rPr b="1" baseline="30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baseline="30000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+  34 x 78</a:t>
            </a:r>
            <a:endParaRPr b="1" sz="1800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" name="Google Shape;214;p38"/>
          <p:cNvSpPr/>
          <p:nvPr/>
        </p:nvSpPr>
        <p:spPr>
          <a:xfrm>
            <a:off x="1822800" y="2035129"/>
            <a:ext cx="526200" cy="380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8"/>
          <p:cNvSpPr/>
          <p:nvPr/>
        </p:nvSpPr>
        <p:spPr>
          <a:xfrm>
            <a:off x="7821475" y="2035054"/>
            <a:ext cx="526200" cy="380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8"/>
          <p:cNvSpPr/>
          <p:nvPr/>
        </p:nvSpPr>
        <p:spPr>
          <a:xfrm>
            <a:off x="3386000" y="2035050"/>
            <a:ext cx="2208900" cy="380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222" name="Google Shape;222;p39"/>
          <p:cNvSpPr txBox="1"/>
          <p:nvPr/>
        </p:nvSpPr>
        <p:spPr>
          <a:xfrm>
            <a:off x="521125" y="1610325"/>
            <a:ext cx="82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XY = 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baseline="30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lang="en" sz="15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+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39"/>
          <p:cNvSpPr txBox="1"/>
          <p:nvPr/>
        </p:nvSpPr>
        <p:spPr>
          <a:xfrm>
            <a:off x="457200" y="1101486"/>
            <a:ext cx="8229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Times New Roman"/>
              <a:buNone/>
            </a:pPr>
            <a:r>
              <a:rPr i="0" lang="en" sz="2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Analyzing time complexity</a:t>
            </a:r>
            <a:endParaRPr i="0" sz="28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24" name="Google Shape;224;p39"/>
          <p:cNvSpPr txBox="1"/>
          <p:nvPr/>
        </p:nvSpPr>
        <p:spPr>
          <a:xfrm>
            <a:off x="579250" y="2347050"/>
            <a:ext cx="4326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 = 4</a:t>
            </a: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/2) + Θ(</a:t>
            </a: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	</a:t>
            </a:r>
            <a:endParaRPr sz="2400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=  Θ(</a:t>
            </a: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aseline="30000"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 (master th</a:t>
            </a:r>
            <a:r>
              <a:rPr baseline="30000" lang="en" sz="30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m)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230" name="Google Shape;230;p40"/>
          <p:cNvSpPr txBox="1"/>
          <p:nvPr/>
        </p:nvSpPr>
        <p:spPr>
          <a:xfrm>
            <a:off x="521125" y="1610325"/>
            <a:ext cx="82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XY = 10</a:t>
            </a:r>
            <a:r>
              <a:rPr b="1" baseline="30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lang="en" sz="15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((X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)(Y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-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-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+ X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lang="en" sz="1800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40"/>
          <p:cNvSpPr txBox="1"/>
          <p:nvPr/>
        </p:nvSpPr>
        <p:spPr>
          <a:xfrm>
            <a:off x="457200" y="1101486"/>
            <a:ext cx="8229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Times New Roman"/>
              <a:buNone/>
            </a:pPr>
            <a:r>
              <a:rPr i="0" lang="en" sz="2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Analyzing time complexity</a:t>
            </a:r>
            <a:endParaRPr i="0" sz="28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32" name="Google Shape;232;p40"/>
          <p:cNvSpPr txBox="1"/>
          <p:nvPr/>
        </p:nvSpPr>
        <p:spPr>
          <a:xfrm>
            <a:off x="579250" y="2347050"/>
            <a:ext cx="54750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 = 4</a:t>
            </a: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/2) + Θ(</a:t>
            </a: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	</a:t>
            </a:r>
            <a:endParaRPr sz="2400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=  Θ(</a:t>
            </a: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n^(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log</a:t>
            </a:r>
            <a:r>
              <a:rPr baseline="-25000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3)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 (master th</a:t>
            </a:r>
            <a:r>
              <a:rPr baseline="30000" lang="en" sz="30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m)</a:t>
            </a:r>
            <a:endParaRPr sz="2400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= Θ(n</a:t>
            </a:r>
            <a:r>
              <a:rPr baseline="30000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1.59</a:t>
            </a: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</a:t>
            </a:r>
            <a:r>
              <a:rPr lang="en" sz="16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which is less than </a:t>
            </a:r>
            <a:r>
              <a:rPr lang="en" sz="18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Θ(</a:t>
            </a:r>
            <a:r>
              <a:rPr i="1" lang="en" sz="18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aseline="30000" i="1" lang="en" sz="18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000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