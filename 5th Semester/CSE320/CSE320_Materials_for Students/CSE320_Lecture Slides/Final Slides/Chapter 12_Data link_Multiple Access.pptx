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6858000" cx="9144000"/>
  <p:notesSz cx="6858000" cy="9144000"/>
  <p:embeddedFontLst>
    <p:embeddedFont>
      <p:font typeface="Tahoma"/>
      <p:regular r:id="rId47"/>
      <p:bold r:id="rId48"/>
    </p:embeddedFont>
    <p:embeddedFont>
      <p:font typeface="Noto Sans Symbols"/>
      <p:regular r:id="rId49"/>
      <p:bold r:id="rId50"/>
    </p:embeddedFont>
    <p:embeddedFont>
      <p:font typeface="Gill Sans"/>
      <p:regular r:id="rId51"/>
      <p:bold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3" roundtripDataSignature="AMtx7mgZqaj+QyF1PdQfGQ6bAcwCN8sM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Tahoma-bold.fntdata"/><Relationship Id="rId47" Type="http://schemas.openxmlformats.org/officeDocument/2006/relationships/font" Target="fonts/Tahoma-regular.fntdata"/><Relationship Id="rId49" Type="http://schemas.openxmlformats.org/officeDocument/2006/relationships/font" Target="fonts/NotoSansSymbol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GillSans-regular.fntdata"/><Relationship Id="rId50" Type="http://schemas.openxmlformats.org/officeDocument/2006/relationships/font" Target="fonts/NotoSansSymbols-bold.fntdata"/><Relationship Id="rId53" Type="http://customschemas.google.com/relationships/presentationmetadata" Target="metadata"/><Relationship Id="rId52" Type="http://schemas.openxmlformats.org/officeDocument/2006/relationships/font" Target="fonts/Gill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" name="Google Shape;223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4" name="Google Shape;234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5" name="Google Shape;255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6" name="Google Shape;266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" name="Google Shape;26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7" name="Google Shape;27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7" name="Google Shape;287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8" name="Google Shape;298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9" name="Google Shape;309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0" name="Google Shape;320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6" name="Google Shape;336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7" name="Google Shape;33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7" name="Google Shape;347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8" name="Google Shape;34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8" name="Google Shape;358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8" name="Google Shape;368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9" name="Google Shape;36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9" name="Google Shape;379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8" name="Google Shape;398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9" name="Google Shape;39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7" name="Google Shape;417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8" name="Google Shape;41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8" name="Google Shape;428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8" name="Google Shape;438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9" name="Google Shape;43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0" name="Google Shape;480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7" name="Google Shape;507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8" name="Google Shape;50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6" name="Google Shape;556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7" name="Google Shape;557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0" name="Google Shape;580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1" name="Google Shape;58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 type="objOnly">
  <p:cSld name="OBJECT_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3"/>
          <p:cNvSpPr txBox="1"/>
          <p:nvPr>
            <p:ph idx="1" type="body"/>
          </p:nvPr>
        </p:nvSpPr>
        <p:spPr>
          <a:xfrm>
            <a:off x="628650" y="365125"/>
            <a:ext cx="7886700" cy="5811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3" name="Google Shape;13;p43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4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6" name="Google Shape;16;p4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7" name="Google Shape;17;p44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5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6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2" name="Google Shape;22;p46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880"/>
              <a:buFont typeface="Noto Sans Symbols"/>
              <a:buNone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3" name="Google Shape;23;p46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47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6" name="Google Shape;26;p47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7" name="Google Shape;27;p47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baseline="-25000" i="1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8" name="Google Shape;28;p47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>
                <a:gsLst>
                  <a:gs pos="0">
                    <a:schemeClr val="folHlink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baseline="-25000" i="1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9" name="Google Shape;29;p47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30" name="Google Shape;30;p47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baseline="-25000" i="1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" name="Google Shape;31;p47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baseline="-25000" i="1" sz="2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32" name="Google Shape;32;p47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hlink"/>
                </a:gs>
              </a:gsLst>
              <a:lin ang="189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baseline="-25000" i="1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" name="Google Shape;33;p47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baseline="-25000" i="1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" name="Google Shape;34;p47"/>
            <p:cNvSpPr/>
            <p:nvPr/>
          </p:nvSpPr>
          <p:spPr>
            <a:xfrm flipH="1" rot="10800000">
              <a:off x="199" y="2054"/>
              <a:ext cx="5476" cy="3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baseline="-25000" i="1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5" name="Google Shape;35;p47"/>
          <p:cNvSpPr txBox="1"/>
          <p:nvPr>
            <p:ph type="ctrTitle"/>
          </p:nvPr>
        </p:nvSpPr>
        <p:spPr>
          <a:xfrm>
            <a:off x="990600" y="1676400"/>
            <a:ext cx="7772400" cy="14620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6" name="Google Shape;36;p4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7" name="Google Shape;37;p47"/>
          <p:cNvSpPr txBox="1"/>
          <p:nvPr>
            <p:ph idx="10" type="dt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8" name="Google Shape;38;p47"/>
          <p:cNvSpPr txBox="1"/>
          <p:nvPr>
            <p:ph idx="11" type="ftr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baseline="-25000" i="1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9" name="Google Shape;39;p47"/>
          <p:cNvSpPr txBox="1"/>
          <p:nvPr>
            <p:ph idx="12" type="sldNum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47"/>
          <p:cNvSpPr txBox="1"/>
          <p:nvPr/>
        </p:nvSpPr>
        <p:spPr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McGraw-Hill</a:t>
            </a:r>
            <a:endParaRPr b="0" i="0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" name="Google Shape;41;p47"/>
          <p:cNvSpPr txBox="1"/>
          <p:nvPr/>
        </p:nvSpPr>
        <p:spPr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8890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©"/>
            </a:pPr>
            <a:r>
              <a:rPr b="0" i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McGraw-Hill Companies, Inc., 2000</a:t>
            </a:r>
            <a:endParaRPr b="0" i="0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8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4" name="Google Shape;44;p48"/>
          <p:cNvSpPr txBox="1"/>
          <p:nvPr>
            <p:ph idx="1" type="body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5" name="Google Shape;45;p48"/>
          <p:cNvSpPr txBox="1"/>
          <p:nvPr>
            <p:ph idx="2" type="body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6" name="Google Shape;46;p48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9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9" name="Google Shape;49;p49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  <a:defRPr b="1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None/>
              <a:defRPr b="1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None/>
              <a:defRPr b="1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88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0" name="Google Shape;50;p49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1" name="Google Shape;51;p49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  <a:defRPr b="1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None/>
              <a:defRPr b="1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None/>
              <a:defRPr b="1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88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2" name="Google Shape;52;p49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3" name="Google Shape;53;p49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0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6" name="Google Shape;56;p50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1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9" name="Google Shape;59;p51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60" name="Google Shape;60;p51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None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280"/>
              </a:spcBef>
              <a:spcAft>
                <a:spcPts val="0"/>
              </a:spcAft>
              <a:buClr>
                <a:schemeClr val="hlink"/>
              </a:buClr>
              <a:buSzPts val="77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spcBef>
                <a:spcPts val="240"/>
              </a:spcBef>
              <a:spcAft>
                <a:spcPts val="0"/>
              </a:spcAft>
              <a:buClr>
                <a:schemeClr val="folHlink"/>
              </a:buClr>
              <a:buSzPts val="6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550"/>
              <a:buFont typeface="Noto Sans Symbols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61" name="Google Shape;61;p51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2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64" name="Google Shape;64;p52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52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None/>
              <a:defRPr b="0" i="0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spcBef>
                <a:spcPts val="280"/>
              </a:spcBef>
              <a:spcAft>
                <a:spcPts val="0"/>
              </a:spcAft>
              <a:buClr>
                <a:schemeClr val="hlink"/>
              </a:buClr>
              <a:buSzPts val="77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228600" lvl="2" marL="1371600" marR="0" rtl="0" algn="l">
              <a:spcBef>
                <a:spcPts val="240"/>
              </a:spcBef>
              <a:spcAft>
                <a:spcPts val="0"/>
              </a:spcAft>
              <a:buClr>
                <a:schemeClr val="folHlink"/>
              </a:buClr>
              <a:buSzPts val="6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286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550"/>
              <a:buFont typeface="Noto Sans Symbols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286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500"/>
              <a:buFont typeface="Noto Sans Symbols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66" name="Google Shape;66;p52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3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69" name="Google Shape;69;p5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70" name="Google Shape;70;p53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73" name="Google Shape;73;p54"/>
          <p:cNvSpPr txBox="1"/>
          <p:nvPr>
            <p:ph idx="1" type="body"/>
          </p:nvPr>
        </p:nvSpPr>
        <p:spPr>
          <a:xfrm rot="5400000">
            <a:off x="604044" y="389731"/>
            <a:ext cx="5811838" cy="5762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74" name="Google Shape;74;p54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spcAft>
                <a:spcPts val="0"/>
              </a:spcAft>
              <a:buNone/>
              <a:defRPr b="1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1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1" name="Google Shape;81;p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109696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"/>
          <p:cNvSpPr/>
          <p:nvPr/>
        </p:nvSpPr>
        <p:spPr>
          <a:xfrm>
            <a:off x="1143000" y="2514600"/>
            <a:ext cx="6858000" cy="173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Chapter 12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 Access</a:t>
            </a:r>
            <a:endParaRPr/>
          </a:p>
        </p:txBody>
      </p:sp>
      <p:sp>
        <p:nvSpPr>
          <p:cNvPr id="83" name="Google Shape;83;p1"/>
          <p:cNvSpPr txBox="1"/>
          <p:nvPr/>
        </p:nvSpPr>
        <p:spPr>
          <a:xfrm>
            <a:off x="0" y="6507163"/>
            <a:ext cx="91440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© The McGraw-Hill Companies, Inc. Permission required for reproduction or display.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 Terminology</a:t>
            </a:r>
            <a:endParaRPr/>
          </a:p>
        </p:txBody>
      </p:sp>
      <p:sp>
        <p:nvSpPr>
          <p:cNvPr id="90" name="Google Shape;90;p2"/>
          <p:cNvSpPr txBox="1"/>
          <p:nvPr/>
        </p:nvSpPr>
        <p:spPr>
          <a:xfrm>
            <a:off x="1058021" y="1690688"/>
            <a:ext cx="4123579" cy="3871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20"/>
              <a:buFont typeface="Arial"/>
              <a:buChar char="•"/>
            </a:pPr>
            <a:r>
              <a:rPr b="1" baseline="-25000" i="1" lang="en-US" sz="32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Nodes : </a:t>
            </a:r>
            <a:r>
              <a:rPr b="1" baseline="-25000" i="1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hosts and routers</a:t>
            </a:r>
            <a:endParaRPr b="1" baseline="-25000" i="1" sz="3200" u="none" cap="none" strike="noStrike">
              <a:solidFill>
                <a:srgbClr val="CC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marR="0" rtl="0" algn="l">
              <a:spcBef>
                <a:spcPts val="1240"/>
              </a:spcBef>
              <a:spcAft>
                <a:spcPts val="0"/>
              </a:spcAft>
              <a:buClr>
                <a:schemeClr val="dk2"/>
              </a:buClr>
              <a:buSzPts val="3520"/>
              <a:buFont typeface="Arial"/>
              <a:buChar char="•"/>
            </a:pPr>
            <a:r>
              <a:rPr b="1" baseline="-25000" i="1" lang="en-US" sz="32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Links:</a:t>
            </a:r>
            <a:endParaRPr/>
          </a:p>
          <a:p>
            <a:pPr indent="-285750" lvl="1" marL="742950" marR="0" rtl="0" algn="l">
              <a:spcBef>
                <a:spcPts val="1240"/>
              </a:spcBef>
              <a:spcAft>
                <a:spcPts val="0"/>
              </a:spcAft>
              <a:buClr>
                <a:schemeClr val="dk2"/>
              </a:buClr>
              <a:buSzPts val="3520"/>
              <a:buFont typeface="Arial"/>
              <a:buChar char="•"/>
            </a:pPr>
            <a:r>
              <a:rPr b="1" baseline="-25000" i="1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wired links</a:t>
            </a:r>
            <a:endParaRPr/>
          </a:p>
          <a:p>
            <a:pPr indent="-285750" lvl="1" marL="742950" marR="0" rtl="0" algn="l">
              <a:spcBef>
                <a:spcPts val="1240"/>
              </a:spcBef>
              <a:spcAft>
                <a:spcPts val="0"/>
              </a:spcAft>
              <a:buClr>
                <a:schemeClr val="dk2"/>
              </a:buClr>
              <a:buSzPts val="3520"/>
              <a:buFont typeface="Arial"/>
              <a:buChar char="•"/>
            </a:pPr>
            <a:r>
              <a:rPr b="1" baseline="-25000" i="1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wireless links</a:t>
            </a:r>
            <a:endParaRPr b="1" baseline="-25000" i="1" sz="3200" u="none" cap="none" strike="noStrike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marR="0" rtl="0" algn="l">
              <a:spcBef>
                <a:spcPts val="1240"/>
              </a:spcBef>
              <a:spcAft>
                <a:spcPts val="0"/>
              </a:spcAft>
              <a:buClr>
                <a:schemeClr val="dk2"/>
              </a:buClr>
              <a:buSzPts val="3520"/>
              <a:buFont typeface="Arial"/>
              <a:buChar char="•"/>
            </a:pPr>
            <a:r>
              <a:rPr b="1" baseline="-25000" i="1" lang="en-US" sz="32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Frame : </a:t>
            </a:r>
            <a:r>
              <a:rPr b="1" baseline="-25000" i="1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layer-2 packet</a:t>
            </a:r>
            <a:endParaRPr/>
          </a:p>
          <a:p>
            <a:pPr indent="-285750" lvl="0" marL="285750" marR="0" rtl="0" algn="l">
              <a:spcBef>
                <a:spcPts val="1020"/>
              </a:spcBef>
              <a:spcAft>
                <a:spcPts val="0"/>
              </a:spcAft>
              <a:buClr>
                <a:srgbClr val="00AB7E"/>
              </a:buClr>
              <a:buSzPts val="3045"/>
              <a:buFont typeface="Noto Sans Symbols"/>
              <a:buNone/>
            </a:pPr>
            <a:r>
              <a:t/>
            </a:r>
            <a:endParaRPr b="1" baseline="-25000" i="1" sz="21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20015" lvl="0" marL="285750" marR="0" rtl="0" algn="l">
              <a:spcBef>
                <a:spcPts val="960"/>
              </a:spcBef>
              <a:spcAft>
                <a:spcPts val="0"/>
              </a:spcAft>
              <a:buClr>
                <a:srgbClr val="00AB7E"/>
              </a:buClr>
              <a:buSzPts val="2610"/>
              <a:buFont typeface="Arial"/>
              <a:buNone/>
            </a:pPr>
            <a:r>
              <a:t/>
            </a:r>
            <a:endParaRPr b="1" baseline="-25000" i="1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185653" y="5124018"/>
            <a:ext cx="4686899" cy="877163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i="1" lang="en-US" sz="30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data-link layer</a:t>
            </a:r>
            <a:r>
              <a:rPr b="1" baseline="-25000" i="0" lang="en-US" sz="3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has the responsibility of transferring datagram from one node to </a:t>
            </a:r>
            <a:r>
              <a:rPr b="1" baseline="-25000" i="1" lang="en-US" sz="30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physically adjacent</a:t>
            </a:r>
            <a:r>
              <a:rPr b="1" baseline="-25000" i="0" lang="en-US" sz="3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node over a link</a:t>
            </a:r>
            <a:endParaRPr/>
          </a:p>
        </p:txBody>
      </p:sp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9414" y="1447800"/>
            <a:ext cx="3622131" cy="473027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baseline="-2500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baseline="-2500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628650" y="681037"/>
            <a:ext cx="7886700" cy="1009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 and LANs</a:t>
            </a:r>
            <a:endParaRPr/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628650" y="15970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560"/>
              <a:buChar char="■"/>
            </a:pPr>
            <a:r>
              <a:rPr lang="en-US" sz="2600">
                <a:latin typeface="Gill Sans"/>
                <a:ea typeface="Gill Sans"/>
                <a:cs typeface="Gill Sans"/>
                <a:sym typeface="Gill Sans"/>
              </a:rPr>
              <a:t>Link layer services:</a:t>
            </a:r>
            <a:endParaRPr/>
          </a:p>
          <a:p>
            <a:pPr indent="-285750" lvl="1" marL="742950" rtl="0" algn="l">
              <a:spcBef>
                <a:spcPts val="420"/>
              </a:spcBef>
              <a:spcAft>
                <a:spcPts val="0"/>
              </a:spcAft>
              <a:buSzPts val="1155"/>
              <a:buChar char="■"/>
            </a:pPr>
            <a:r>
              <a:rPr lang="en-US" sz="2100">
                <a:latin typeface="Gill Sans"/>
                <a:ea typeface="Gill Sans"/>
                <a:cs typeface="Gill Sans"/>
                <a:sym typeface="Gill Sans"/>
              </a:rPr>
              <a:t>Error detection </a:t>
            </a:r>
            <a:endParaRPr/>
          </a:p>
          <a:p>
            <a:pPr indent="-228600" lvl="2" marL="1143000" rtl="0" algn="l">
              <a:spcBef>
                <a:spcPts val="360"/>
              </a:spcBef>
              <a:spcAft>
                <a:spcPts val="0"/>
              </a:spcAft>
              <a:buSzPts val="900"/>
              <a:buChar char="■"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errors caused by signal attenuation, noise. </a:t>
            </a:r>
            <a:endParaRPr/>
          </a:p>
          <a:p>
            <a:pPr indent="-228600" lvl="2" marL="1143000" rtl="0" algn="l">
              <a:spcBef>
                <a:spcPts val="360"/>
              </a:spcBef>
              <a:spcAft>
                <a:spcPts val="0"/>
              </a:spcAft>
              <a:buSzPts val="900"/>
              <a:buChar char="■"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receiver detects presence of errors    signals sender for retransmission or drops frame </a:t>
            </a:r>
            <a:endParaRPr/>
          </a:p>
          <a:p>
            <a:pPr indent="-285750" lvl="1" marL="742950" rtl="0" algn="l">
              <a:spcBef>
                <a:spcPts val="420"/>
              </a:spcBef>
              <a:spcAft>
                <a:spcPts val="0"/>
              </a:spcAft>
              <a:buSzPts val="1155"/>
              <a:buChar char="■"/>
            </a:pPr>
            <a:r>
              <a:rPr lang="en-US" sz="2100">
                <a:latin typeface="Gill Sans"/>
                <a:ea typeface="Gill Sans"/>
                <a:cs typeface="Gill Sans"/>
                <a:sym typeface="Gill Sans"/>
              </a:rPr>
              <a:t>Error correction</a:t>
            </a:r>
            <a:endParaRPr/>
          </a:p>
          <a:p>
            <a:pPr indent="-228600" lvl="2" marL="1143000" rtl="0" algn="l">
              <a:spcBef>
                <a:spcPts val="360"/>
              </a:spcBef>
              <a:spcAft>
                <a:spcPts val="0"/>
              </a:spcAft>
              <a:buSzPts val="900"/>
              <a:buChar char="■"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receiver identifies </a:t>
            </a:r>
            <a:r>
              <a:rPr i="1" lang="en-US" sz="1800">
                <a:solidFill>
                  <a:srgbClr val="A03A3A"/>
                </a:solidFill>
                <a:latin typeface="Gill Sans"/>
                <a:ea typeface="Gill Sans"/>
                <a:cs typeface="Gill Sans"/>
                <a:sym typeface="Gill Sans"/>
              </a:rPr>
              <a:t>and corrects</a:t>
            </a:r>
            <a:r>
              <a:rPr lang="en-US" sz="1800">
                <a:solidFill>
                  <a:srgbClr val="A03A3A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bit error(s) without resorting to retransmission</a:t>
            </a: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rtl="0" algn="l">
              <a:spcBef>
                <a:spcPts val="420"/>
              </a:spcBef>
              <a:spcAft>
                <a:spcPts val="0"/>
              </a:spcAft>
              <a:buSzPts val="1155"/>
              <a:buChar char="■"/>
            </a:pPr>
            <a:r>
              <a:rPr lang="en-US" sz="2100">
                <a:latin typeface="Gill Sans"/>
                <a:ea typeface="Gill Sans"/>
                <a:cs typeface="Gill Sans"/>
                <a:sym typeface="Gill Sans"/>
              </a:rPr>
              <a:t>Flow control</a:t>
            </a:r>
            <a:endParaRPr/>
          </a:p>
          <a:p>
            <a:pPr indent="-228600" lvl="2" marL="1143000" rtl="0" algn="l">
              <a:spcBef>
                <a:spcPts val="360"/>
              </a:spcBef>
              <a:spcAft>
                <a:spcPts val="0"/>
              </a:spcAft>
              <a:buSzPts val="900"/>
              <a:buChar char="■"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pacing between adjacent sending and receiving nodes</a:t>
            </a: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rtl="0" algn="l">
              <a:spcBef>
                <a:spcPts val="420"/>
              </a:spcBef>
              <a:spcAft>
                <a:spcPts val="0"/>
              </a:spcAft>
              <a:buSzPts val="1155"/>
              <a:buChar char="■"/>
            </a:pPr>
            <a:r>
              <a:rPr lang="en-US" sz="2100">
                <a:latin typeface="Gill Sans"/>
                <a:ea typeface="Gill Sans"/>
                <a:cs typeface="Gill Sans"/>
                <a:sym typeface="Gill Sans"/>
              </a:rPr>
              <a:t>Framing - link layer addressing</a:t>
            </a:r>
            <a:endParaRPr sz="2100">
              <a:solidFill>
                <a:srgbClr val="0070C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rtl="0" algn="l">
              <a:spcBef>
                <a:spcPts val="420"/>
              </a:spcBef>
              <a:spcAft>
                <a:spcPts val="0"/>
              </a:spcAft>
              <a:buSzPts val="1155"/>
              <a:buChar char="■"/>
            </a:pPr>
            <a:r>
              <a:rPr lang="en-US" sz="2100">
                <a:latin typeface="Gill Sans"/>
                <a:ea typeface="Gill Sans"/>
                <a:cs typeface="Gill Sans"/>
                <a:sym typeface="Gill Sans"/>
              </a:rPr>
              <a:t>Sharing a </a:t>
            </a:r>
            <a:r>
              <a:rPr b="1" lang="en-US" sz="2100">
                <a:latin typeface="Gill Sans"/>
                <a:ea typeface="Gill Sans"/>
                <a:cs typeface="Gill Sans"/>
                <a:sym typeface="Gill Sans"/>
              </a:rPr>
              <a:t>broadcast/multipoint</a:t>
            </a:r>
            <a:r>
              <a:rPr lang="en-US" sz="2100">
                <a:latin typeface="Gill Sans"/>
                <a:ea typeface="Gill Sans"/>
                <a:cs typeface="Gill Sans"/>
                <a:sym typeface="Gill Sans"/>
              </a:rPr>
              <a:t> link : </a:t>
            </a:r>
            <a:r>
              <a:rPr b="1" lang="en-US" sz="2100">
                <a:solidFill>
                  <a:srgbClr val="A03A3A"/>
                </a:solidFill>
                <a:latin typeface="Gill Sans"/>
                <a:ea typeface="Gill Sans"/>
                <a:cs typeface="Gill Sans"/>
                <a:sym typeface="Gill Sans"/>
              </a:rPr>
              <a:t>Multiple access</a:t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 flipH="1" rot="10800000">
            <a:off x="5181600" y="2926080"/>
            <a:ext cx="165847" cy="76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1" baseline="-25000" i="1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8" name="Google Shape;108;p4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4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" name="Google Shape;110;p4"/>
          <p:cNvSpPr txBox="1"/>
          <p:nvPr/>
        </p:nvSpPr>
        <p:spPr>
          <a:xfrm>
            <a:off x="304800" y="381000"/>
            <a:ext cx="84756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12.1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link layer divided into two functionality-oriented sublayers</a:t>
            </a:r>
            <a:endParaRPr/>
          </a:p>
        </p:txBody>
      </p:sp>
      <p:cxnSp>
        <p:nvCxnSpPr>
          <p:cNvPr id="111" name="Google Shape;111;p4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2" name="Google Shape;11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5125" y="2038350"/>
            <a:ext cx="5375275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9" name="Google Shape;119;p5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5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" name="Google Shape;121;p5"/>
          <p:cNvSpPr txBox="1"/>
          <p:nvPr/>
        </p:nvSpPr>
        <p:spPr>
          <a:xfrm>
            <a:off x="304800" y="381000"/>
            <a:ext cx="85042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12.2  </a:t>
            </a: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Taxonomy of multiple-access protocols discussed in this chapter</a:t>
            </a:r>
            <a:endParaRPr/>
          </a:p>
        </p:txBody>
      </p:sp>
      <p:cxnSp>
        <p:nvCxnSpPr>
          <p:cNvPr id="122" name="Google Shape;122;p5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3" name="Google Shape;12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897063"/>
            <a:ext cx="6554788" cy="3284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33C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228600" y="228600"/>
            <a:ext cx="4813300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12-1   RANDOM ACCESS</a:t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304800" y="1143000"/>
            <a:ext cx="82296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</a:t>
            </a:r>
            <a:r>
              <a:rPr b="1" i="1" lang="en-US" sz="28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access</a:t>
            </a: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b="1" i="1" lang="en-US" sz="28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contention</a:t>
            </a: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methods, no station is superior to another station and none is assigned the control over another. No station permits, or does not permit, another station to send. At each instance, a station that has data to send uses a procedure defined by the protocol to make a decision on whether or not to send. </a:t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304800" y="4743450"/>
            <a:ext cx="7924800" cy="1552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8"/>
              <a:buFont typeface="Noto Sans Symbols"/>
              <a:buNone/>
            </a:pPr>
            <a:r>
              <a:rPr b="1" i="0" lang="en-US" sz="24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ALOHA</a:t>
            </a:r>
            <a:br>
              <a:rPr b="1" i="0" lang="en-US" sz="24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4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Carrier Sense Multiple Access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8"/>
              <a:buFont typeface="Noto Sans Symbols"/>
              <a:buNone/>
            </a:pPr>
            <a:r>
              <a:rPr b="1" i="0" lang="en-US" sz="24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Carrier Sense Multiple Access with Collision Detection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8"/>
              <a:buFont typeface="Noto Sans Symbols"/>
              <a:buNone/>
            </a:pPr>
            <a:r>
              <a:rPr b="1" i="0" lang="en-US" sz="24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Carrier Sense Multiple Access with Collision Avoidance</a:t>
            </a:r>
            <a:endParaRPr/>
          </a:p>
        </p:txBody>
      </p:sp>
      <p:sp>
        <p:nvSpPr>
          <p:cNvPr id="135" name="Google Shape;135;p6"/>
          <p:cNvSpPr txBox="1"/>
          <p:nvPr/>
        </p:nvSpPr>
        <p:spPr>
          <a:xfrm>
            <a:off x="317500" y="4267200"/>
            <a:ext cx="4862513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 discussed in this section: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53DEA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228600" y="228600"/>
            <a:ext cx="306827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12-1-1   ALOHA</a:t>
            </a:r>
            <a:endParaRPr/>
          </a:p>
        </p:txBody>
      </p:sp>
      <p:sp>
        <p:nvSpPr>
          <p:cNvPr id="144" name="Google Shape;144;p7"/>
          <p:cNvSpPr txBox="1"/>
          <p:nvPr/>
        </p:nvSpPr>
        <p:spPr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457200" y="1676400"/>
            <a:ext cx="8032750" cy="2795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earliest random access method</a:t>
            </a:r>
            <a:endParaRPr b="0" i="0" sz="2400" u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Was developed at the </a:t>
            </a:r>
            <a:r>
              <a:rPr b="1" i="0" lang="en-US" sz="24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of Hawaii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two variants:</a:t>
            </a:r>
            <a:endParaRPr/>
          </a:p>
          <a:p>
            <a:pPr indent="-457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03A3A"/>
              </a:buClr>
              <a:buSzPts val="2400"/>
              <a:buFont typeface="Noto Sans Symbols"/>
              <a:buChar char="▪"/>
            </a:pPr>
            <a:r>
              <a:rPr b="1" i="0" lang="en-US" sz="2400" u="none" cap="none" strike="noStrike">
                <a:solidFill>
                  <a:srgbClr val="A0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Pure ALOHA</a:t>
            </a:r>
            <a:endParaRPr/>
          </a:p>
          <a:p>
            <a:pPr indent="-457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03A3A"/>
              </a:buClr>
              <a:buSzPts val="2400"/>
              <a:buFont typeface="Noto Sans Symbols"/>
              <a:buChar char="▪"/>
            </a:pPr>
            <a:r>
              <a:rPr b="1" i="0" lang="en-US" sz="2400" u="none" cap="none" strike="noStrike">
                <a:solidFill>
                  <a:srgbClr val="A0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Slotted ALOHA</a:t>
            </a:r>
            <a:endParaRPr b="1" i="0" sz="2400" u="none" cap="none" strike="noStrike">
              <a:solidFill>
                <a:srgbClr val="A03A3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FFE98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228600" y="228600"/>
            <a:ext cx="288713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PURE ALOHA</a:t>
            </a:r>
            <a:endParaRPr/>
          </a:p>
        </p:txBody>
      </p:sp>
      <p:sp>
        <p:nvSpPr>
          <p:cNvPr id="154" name="Google Shape;154;p8"/>
          <p:cNvSpPr txBox="1"/>
          <p:nvPr/>
        </p:nvSpPr>
        <p:spPr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304800" y="2290465"/>
            <a:ext cx="8229600" cy="2185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original ALOHA protocol</a:t>
            </a:r>
            <a:endParaRPr/>
          </a:p>
          <a:p>
            <a:pPr indent="-457200" lvl="0" marL="457200" marR="0" rtl="0" algn="just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station sends a frame whenever it has a frame to send </a:t>
            </a:r>
            <a:endParaRPr/>
          </a:p>
          <a:p>
            <a:pPr indent="-457200" lvl="0" marL="457200" marR="0" rtl="0" algn="just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there is only one channel to share, there is the possibility of </a:t>
            </a:r>
            <a:r>
              <a:rPr b="1" i="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collision</a:t>
            </a:r>
            <a:r>
              <a:rPr b="0" i="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between frames from different stations</a:t>
            </a:r>
            <a:endParaRPr b="0" i="0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2" name="Google Shape;162;p9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9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" name="Google Shape;164;p9"/>
          <p:cNvSpPr txBox="1"/>
          <p:nvPr/>
        </p:nvSpPr>
        <p:spPr>
          <a:xfrm>
            <a:off x="304800" y="381000"/>
            <a:ext cx="54689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12.3  </a:t>
            </a: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Frames in a pure ALOHA network</a:t>
            </a:r>
            <a:endParaRPr/>
          </a:p>
        </p:txBody>
      </p:sp>
      <p:cxnSp>
        <p:nvCxnSpPr>
          <p:cNvPr id="165" name="Google Shape;165;p9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6" name="Google Shape;16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075" y="1600200"/>
            <a:ext cx="8620125" cy="406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3" name="Google Shape;173;p10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10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10"/>
          <p:cNvSpPr txBox="1"/>
          <p:nvPr/>
        </p:nvSpPr>
        <p:spPr>
          <a:xfrm>
            <a:off x="304800" y="381000"/>
            <a:ext cx="56721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12.4  </a:t>
            </a: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Procedure for pure ALOHA protocol</a:t>
            </a:r>
            <a:endParaRPr b="1"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6" name="Google Shape;176;p10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7" name="Google Shape;17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0938" y="1206500"/>
            <a:ext cx="6088064" cy="473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4" name="Google Shape;184;p11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11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" name="Google Shape;186;p11"/>
          <p:cNvSpPr txBox="1"/>
          <p:nvPr/>
        </p:nvSpPr>
        <p:spPr>
          <a:xfrm>
            <a:off x="304800" y="381000"/>
            <a:ext cx="62690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12.5  </a:t>
            </a: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Vulnerable time for pure ALOHA protocol</a:t>
            </a:r>
            <a:endParaRPr/>
          </a:p>
        </p:txBody>
      </p:sp>
      <p:cxnSp>
        <p:nvCxnSpPr>
          <p:cNvPr id="187" name="Google Shape;187;p11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8" name="Google Shape;18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1376363"/>
            <a:ext cx="6992937" cy="4491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95" name="Google Shape;195;p12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12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12"/>
          <p:cNvSpPr txBox="1"/>
          <p:nvPr/>
        </p:nvSpPr>
        <p:spPr>
          <a:xfrm>
            <a:off x="304800" y="381000"/>
            <a:ext cx="543353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 : Vulnerable time for pure ALOHA protocol</a:t>
            </a:r>
            <a:endParaRPr/>
          </a:p>
        </p:txBody>
      </p:sp>
      <p:cxnSp>
        <p:nvCxnSpPr>
          <p:cNvPr id="198" name="Google Shape;198;p12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12"/>
          <p:cNvSpPr txBox="1"/>
          <p:nvPr/>
        </p:nvSpPr>
        <p:spPr>
          <a:xfrm>
            <a:off x="152400" y="1323426"/>
            <a:ext cx="8763000" cy="4239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strike="noStrike">
                <a:solidFill>
                  <a:srgbClr val="A03A3A"/>
                </a:solidFill>
                <a:latin typeface="Times"/>
                <a:ea typeface="Times"/>
                <a:cs typeface="Times"/>
                <a:sym typeface="Times"/>
              </a:rPr>
              <a:t>Example 12.2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 pure ALOHA network transmits 200-bit frames on a shared channel of 200 kbps. What is the requirement to make this frame collision-free?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400" u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Solution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Average frame transmission time </a:t>
            </a: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baseline="-25000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  </a:t>
            </a:r>
            <a:r>
              <a:rPr b="0" i="0" lang="en-US" sz="2400" u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is 200 bits</a:t>
            </a:r>
            <a:r>
              <a:rPr b="0" i="0" lang="en-US" sz="24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/</a:t>
            </a:r>
            <a:r>
              <a:rPr b="0" i="0" lang="en-US" sz="2400" u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200 kbps or 1 ms. The vulnerable time is 2 </a:t>
            </a:r>
            <a:r>
              <a:rPr b="0" i="0" lang="en-US" sz="24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⋅ </a:t>
            </a:r>
            <a:r>
              <a:rPr b="0" i="0" lang="en-US" sz="2400" u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 ms </a:t>
            </a:r>
            <a:r>
              <a:rPr b="0" i="0" lang="en-US" sz="24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 </a:t>
            </a:r>
            <a:r>
              <a:rPr b="0" i="0" lang="en-US" sz="2400" u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 ms. This means no station should send later than 1 ms before this station starts transmission 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no station should start sending during the period (1 ms) that this station is sending.</a:t>
            </a:r>
            <a:endParaRPr b="1" baseline="-25000"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6" name="Google Shape;206;p13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FFE98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13"/>
          <p:cNvSpPr txBox="1"/>
          <p:nvPr/>
        </p:nvSpPr>
        <p:spPr>
          <a:xfrm>
            <a:off x="228600" y="228600"/>
            <a:ext cx="370947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SLOTTED ALOHA</a:t>
            </a:r>
            <a:endParaRPr/>
          </a:p>
        </p:txBody>
      </p:sp>
      <p:sp>
        <p:nvSpPr>
          <p:cNvPr id="208" name="Google Shape;208;p13"/>
          <p:cNvSpPr txBox="1"/>
          <p:nvPr/>
        </p:nvSpPr>
        <p:spPr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13"/>
          <p:cNvSpPr/>
          <p:nvPr/>
        </p:nvSpPr>
        <p:spPr>
          <a:xfrm>
            <a:off x="304800" y="2290465"/>
            <a:ext cx="8229600" cy="2185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slotted ALOHA the time is divided into slots of </a:t>
            </a: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baseline="-25000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</a:t>
            </a:r>
            <a:r>
              <a:rPr b="0" i="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seconds </a:t>
            </a:r>
            <a:endParaRPr/>
          </a:p>
          <a:p>
            <a:pPr indent="-457200" lvl="0" marL="457200" marR="0" rtl="0" algn="just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Stations can send frames </a:t>
            </a:r>
            <a:r>
              <a:rPr b="1" i="0" lang="en-US" sz="2400">
                <a:solidFill>
                  <a:srgbClr val="A0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at the beginning of the time slot</a:t>
            </a:r>
            <a:endParaRPr/>
          </a:p>
          <a:p>
            <a:pPr indent="-457200" lvl="0" marL="457200" marR="0" rtl="0" algn="just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the efficiency of pure ALOHA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16" name="Google Shape;216;p14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14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" name="Google Shape;218;p14"/>
          <p:cNvSpPr txBox="1"/>
          <p:nvPr/>
        </p:nvSpPr>
        <p:spPr>
          <a:xfrm>
            <a:off x="304800" y="381000"/>
            <a:ext cx="566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12.6  </a:t>
            </a: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Frames in a slotted ALOHA network</a:t>
            </a:r>
            <a:endParaRPr/>
          </a:p>
        </p:txBody>
      </p:sp>
      <p:cxnSp>
        <p:nvCxnSpPr>
          <p:cNvPr id="219" name="Google Shape;219;p14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20" name="Google Shape;22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938" y="1433513"/>
            <a:ext cx="8501062" cy="3976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27" name="Google Shape;227;p15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15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" name="Google Shape;229;p15"/>
          <p:cNvSpPr txBox="1"/>
          <p:nvPr/>
        </p:nvSpPr>
        <p:spPr>
          <a:xfrm>
            <a:off x="304800" y="381000"/>
            <a:ext cx="646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12.7  </a:t>
            </a: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Vulnerable time for slotted ALOHA protocol</a:t>
            </a:r>
            <a:endParaRPr/>
          </a:p>
        </p:txBody>
      </p:sp>
      <p:cxnSp>
        <p:nvCxnSpPr>
          <p:cNvPr id="230" name="Google Shape;230;p15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31" name="Google Shape;23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700" y="1430338"/>
            <a:ext cx="7632700" cy="4360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16"/>
          <p:cNvSpPr/>
          <p:nvPr/>
        </p:nvSpPr>
        <p:spPr>
          <a:xfrm>
            <a:off x="0" y="-76200"/>
            <a:ext cx="9144000" cy="990600"/>
          </a:xfrm>
          <a:prstGeom prst="rect">
            <a:avLst/>
          </a:prstGeom>
          <a:solidFill>
            <a:srgbClr val="53DEA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16"/>
          <p:cNvSpPr txBox="1"/>
          <p:nvPr/>
        </p:nvSpPr>
        <p:spPr>
          <a:xfrm>
            <a:off x="228600" y="228600"/>
            <a:ext cx="279435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12-1-2   CSMA</a:t>
            </a:r>
            <a:endParaRPr/>
          </a:p>
        </p:txBody>
      </p:sp>
      <p:sp>
        <p:nvSpPr>
          <p:cNvPr id="240" name="Google Shape;240;p16"/>
          <p:cNvSpPr txBox="1"/>
          <p:nvPr/>
        </p:nvSpPr>
        <p:spPr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16"/>
          <p:cNvSpPr txBox="1"/>
          <p:nvPr/>
        </p:nvSpPr>
        <p:spPr>
          <a:xfrm>
            <a:off x="390525" y="2336393"/>
            <a:ext cx="8032750" cy="2185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i="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Carrier Sense Multiple Access</a:t>
            </a:r>
            <a:r>
              <a:rPr b="0" i="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457200" lvl="0" marL="457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Senses the medium before sending frame</a:t>
            </a:r>
            <a:endParaRPr/>
          </a:p>
          <a:p>
            <a:pPr indent="-457200" lvl="0" marL="457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the possibility of collision, but it cannot eliminate it due to </a:t>
            </a:r>
            <a:r>
              <a:rPr b="1" i="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propagation delay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7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8" name="Google Shape;248;p17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17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17"/>
          <p:cNvSpPr txBox="1"/>
          <p:nvPr/>
        </p:nvSpPr>
        <p:spPr>
          <a:xfrm>
            <a:off x="304800" y="381000"/>
            <a:ext cx="61566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12.8  </a:t>
            </a: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Space/time model of a collision in CSMA</a:t>
            </a:r>
            <a:endParaRPr b="1"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1" name="Google Shape;251;p17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2" name="Google Shape;2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689674"/>
            <a:ext cx="7171804" cy="347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8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9" name="Google Shape;259;p18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18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Google Shape;261;p18"/>
          <p:cNvSpPr txBox="1"/>
          <p:nvPr/>
        </p:nvSpPr>
        <p:spPr>
          <a:xfrm>
            <a:off x="304800" y="381000"/>
            <a:ext cx="45354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12.9  </a:t>
            </a: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Vulnerable time in CSMA</a:t>
            </a:r>
            <a:endParaRPr/>
          </a:p>
        </p:txBody>
      </p:sp>
      <p:cxnSp>
        <p:nvCxnSpPr>
          <p:cNvPr id="262" name="Google Shape;262;p18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63" name="Google Shape;2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057400"/>
            <a:ext cx="8839200" cy="329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9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0" name="Google Shape;270;p19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19"/>
          <p:cNvCxnSpPr/>
          <p:nvPr/>
        </p:nvCxnSpPr>
        <p:spPr>
          <a:xfrm>
            <a:off x="152400" y="8382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2" name="Google Shape;272;p19"/>
          <p:cNvSpPr txBox="1"/>
          <p:nvPr/>
        </p:nvSpPr>
        <p:spPr>
          <a:xfrm>
            <a:off x="304800" y="228599"/>
            <a:ext cx="705276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12.10  </a:t>
            </a: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Behavior of three persistence methods of CSMA</a:t>
            </a:r>
            <a:endParaRPr/>
          </a:p>
        </p:txBody>
      </p:sp>
      <p:cxnSp>
        <p:nvCxnSpPr>
          <p:cNvPr id="273" name="Google Shape;273;p19"/>
          <p:cNvCxnSpPr/>
          <p:nvPr/>
        </p:nvCxnSpPr>
        <p:spPr>
          <a:xfrm>
            <a:off x="152400" y="64008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74" name="Google Shape;2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396" y="1710627"/>
            <a:ext cx="7647208" cy="3436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0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1" name="Google Shape;281;p20"/>
          <p:cNvSpPr/>
          <p:nvPr/>
        </p:nvSpPr>
        <p:spPr>
          <a:xfrm>
            <a:off x="0" y="-76200"/>
            <a:ext cx="9144000" cy="990600"/>
          </a:xfrm>
          <a:prstGeom prst="rect">
            <a:avLst/>
          </a:prstGeom>
          <a:solidFill>
            <a:srgbClr val="53DEA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228600" y="228600"/>
            <a:ext cx="350128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12-1-3   CSMA/CD</a:t>
            </a:r>
            <a:endParaRPr/>
          </a:p>
        </p:txBody>
      </p:sp>
      <p:sp>
        <p:nvSpPr>
          <p:cNvPr id="283" name="Google Shape;283;p20"/>
          <p:cNvSpPr txBox="1"/>
          <p:nvPr/>
        </p:nvSpPr>
        <p:spPr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390525" y="1295400"/>
            <a:ext cx="8032750" cy="45858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i="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Carrier Sense Multiple Access with Collision Detection </a:t>
            </a:r>
            <a:endParaRPr/>
          </a:p>
          <a:p>
            <a:pPr indent="-457200" lvl="0" marL="457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CSMA method does not specify the procedure following a collision</a:t>
            </a:r>
            <a:endParaRPr/>
          </a:p>
          <a:p>
            <a:pPr indent="-457200" lvl="0" marL="457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CSMA/CD augments the algorithm to handle the collision</a:t>
            </a:r>
            <a:endParaRPr/>
          </a:p>
          <a:p>
            <a:pPr indent="-457200" lvl="0" marL="457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medium is monitored continuously by each station</a:t>
            </a:r>
            <a:endParaRPr/>
          </a:p>
          <a:p>
            <a:pPr indent="-457200" lvl="0" marL="457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there is a collision,</a:t>
            </a:r>
            <a:endParaRPr/>
          </a:p>
          <a:p>
            <a:pPr indent="-457200" lvl="1" marL="9144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Immediately aborts transmission</a:t>
            </a:r>
            <a:endParaRPr/>
          </a:p>
          <a:p>
            <a:pPr indent="-457200" lvl="1" marL="9144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frame is sent again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1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91" name="Google Shape;291;p21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21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" name="Google Shape;293;p21"/>
          <p:cNvSpPr txBox="1"/>
          <p:nvPr/>
        </p:nvSpPr>
        <p:spPr>
          <a:xfrm>
            <a:off x="304800" y="381000"/>
            <a:ext cx="5848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12.12  </a:t>
            </a: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Collision of the first bit in CSMA/CD</a:t>
            </a:r>
            <a:endParaRPr/>
          </a:p>
        </p:txBody>
      </p:sp>
      <p:cxnSp>
        <p:nvCxnSpPr>
          <p:cNvPr id="294" name="Google Shape;294;p21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5" name="Google Shape;29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2033588"/>
            <a:ext cx="9058275" cy="2614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2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02" name="Google Shape;302;p22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22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4" name="Google Shape;304;p22"/>
          <p:cNvSpPr txBox="1"/>
          <p:nvPr/>
        </p:nvSpPr>
        <p:spPr>
          <a:xfrm>
            <a:off x="304800" y="381000"/>
            <a:ext cx="5705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12.13 </a:t>
            </a: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Collision and abortion in CSMA/CD</a:t>
            </a:r>
            <a:endParaRPr b="0" baseline="-25000" i="0"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5" name="Google Shape;305;p22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06" name="Google Shape;30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25" y="2081213"/>
            <a:ext cx="8994775" cy="2947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3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13" name="Google Shape;313;p23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" name="Google Shape;314;p23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5" name="Google Shape;315;p23"/>
          <p:cNvSpPr txBox="1"/>
          <p:nvPr/>
        </p:nvSpPr>
        <p:spPr>
          <a:xfrm>
            <a:off x="304800" y="381000"/>
            <a:ext cx="3054041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 Frame Size</a:t>
            </a:r>
            <a:endParaRPr b="1" baseline="-25000" i="0"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6" name="Google Shape;316;p23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7" name="Google Shape;317;p23"/>
          <p:cNvSpPr/>
          <p:nvPr/>
        </p:nvSpPr>
        <p:spPr>
          <a:xfrm>
            <a:off x="304800" y="2605687"/>
            <a:ext cx="8458200" cy="1173653"/>
          </a:xfrm>
          <a:prstGeom prst="rect">
            <a:avLst/>
          </a:prstGeom>
          <a:solidFill>
            <a:srgbClr val="D0D0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frame transmission time </a:t>
            </a:r>
            <a:r>
              <a:rPr b="1" i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baseline="-25000" i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</a:t>
            </a:r>
            <a:r>
              <a:rPr b="1" i="1" lang="en-US" sz="30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300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be at least two times the maximum propagation time </a:t>
            </a:r>
            <a:r>
              <a:rPr b="1" i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baseline="-25000" i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 b="1" baseline="-25000" i="1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4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4" name="Google Shape;324;p24"/>
          <p:cNvSpPr/>
          <p:nvPr/>
        </p:nvSpPr>
        <p:spPr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749300" y="107950"/>
            <a:ext cx="328613" cy="474663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6" name="Google Shape;326;p24"/>
          <p:cNvSpPr/>
          <p:nvPr/>
        </p:nvSpPr>
        <p:spPr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7" name="Google Shape;327;p24"/>
          <p:cNvSpPr/>
          <p:nvPr/>
        </p:nvSpPr>
        <p:spPr>
          <a:xfrm>
            <a:off x="860425" y="530225"/>
            <a:ext cx="368300" cy="474663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76200" y="457200"/>
            <a:ext cx="560388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9" name="Google Shape;329;p24"/>
          <p:cNvSpPr/>
          <p:nvPr/>
        </p:nvSpPr>
        <p:spPr>
          <a:xfrm>
            <a:off x="711200" y="0"/>
            <a:ext cx="31750" cy="105251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0" name="Google Shape;330;p24"/>
          <p:cNvSpPr/>
          <p:nvPr/>
        </p:nvSpPr>
        <p:spPr>
          <a:xfrm>
            <a:off x="442913" y="533400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1" name="Google Shape;331;p24"/>
          <p:cNvSpPr/>
          <p:nvPr/>
        </p:nvSpPr>
        <p:spPr>
          <a:xfrm>
            <a:off x="228600" y="973138"/>
            <a:ext cx="8686800" cy="2227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network using CSMA/CD has a bandwidth of 10 Mbps. If the maximum propagation time (including the delays in the devices and ignoring the time needed to send a jamming signal, as we see later) is 25.6 μs, what is the minimum size of the frame?</a:t>
            </a:r>
            <a:endParaRPr/>
          </a:p>
        </p:txBody>
      </p:sp>
      <p:sp>
        <p:nvSpPr>
          <p:cNvPr id="332" name="Google Shape;332;p24"/>
          <p:cNvSpPr txBox="1"/>
          <p:nvPr/>
        </p:nvSpPr>
        <p:spPr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12.5</a:t>
            </a:r>
            <a:endParaRPr/>
          </a:p>
        </p:txBody>
      </p:sp>
      <p:sp>
        <p:nvSpPr>
          <p:cNvPr id="333" name="Google Shape;333;p24"/>
          <p:cNvSpPr/>
          <p:nvPr/>
        </p:nvSpPr>
        <p:spPr>
          <a:xfrm>
            <a:off x="152400" y="3276600"/>
            <a:ext cx="8686800" cy="30813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frame transmission time is T</a:t>
            </a:r>
            <a:r>
              <a:rPr b="1" baseline="-25000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</a:t>
            </a: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 × T</a:t>
            </a:r>
            <a:r>
              <a:rPr b="1" baseline="-25000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51.2 μs. This means, in the worst case, a station needs to transmit for a period of 51.2 μs to detect the collision. The minimum size of the frame is 10 Mbps × 51.2 μs = 512 bits or 64 bytes. This is actually the minimum size of the frame for Standard Ethernet.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5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40" name="Google Shape;340;p25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" name="Google Shape;341;p25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" name="Google Shape;342;p25"/>
          <p:cNvSpPr txBox="1"/>
          <p:nvPr/>
        </p:nvSpPr>
        <p:spPr>
          <a:xfrm>
            <a:off x="304800" y="381000"/>
            <a:ext cx="5387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12.14  </a:t>
            </a: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 diagram for the CSMA/CD</a:t>
            </a:r>
            <a:endParaRPr/>
          </a:p>
        </p:txBody>
      </p:sp>
      <p:cxnSp>
        <p:nvCxnSpPr>
          <p:cNvPr id="343" name="Google Shape;343;p25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44" name="Google Shape;34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6813" y="1012825"/>
            <a:ext cx="6297612" cy="508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6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51" name="Google Shape;351;p26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p26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3" name="Google Shape;353;p26"/>
          <p:cNvSpPr txBox="1"/>
          <p:nvPr/>
        </p:nvSpPr>
        <p:spPr>
          <a:xfrm>
            <a:off x="304800" y="381000"/>
            <a:ext cx="76914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12.15  </a:t>
            </a: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Energy level during transmission, idleness, or collision</a:t>
            </a:r>
            <a:endParaRPr/>
          </a:p>
        </p:txBody>
      </p:sp>
      <p:cxnSp>
        <p:nvCxnSpPr>
          <p:cNvPr id="354" name="Google Shape;354;p26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55" name="Google Shape;35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388" y="2378075"/>
            <a:ext cx="7212012" cy="227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7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2" name="Google Shape;362;p27"/>
          <p:cNvSpPr/>
          <p:nvPr/>
        </p:nvSpPr>
        <p:spPr>
          <a:xfrm>
            <a:off x="0" y="-76200"/>
            <a:ext cx="9144000" cy="990600"/>
          </a:xfrm>
          <a:prstGeom prst="rect">
            <a:avLst/>
          </a:prstGeom>
          <a:solidFill>
            <a:srgbClr val="53DEA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3" name="Google Shape;363;p27"/>
          <p:cNvSpPr txBox="1"/>
          <p:nvPr/>
        </p:nvSpPr>
        <p:spPr>
          <a:xfrm>
            <a:off x="228600" y="228600"/>
            <a:ext cx="350128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12-1-4   CSMA/CA</a:t>
            </a:r>
            <a:endParaRPr/>
          </a:p>
        </p:txBody>
      </p:sp>
      <p:sp>
        <p:nvSpPr>
          <p:cNvPr id="364" name="Google Shape;364;p27"/>
          <p:cNvSpPr txBox="1"/>
          <p:nvPr/>
        </p:nvSpPr>
        <p:spPr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" name="Google Shape;365;p27"/>
          <p:cNvSpPr txBox="1"/>
          <p:nvPr/>
        </p:nvSpPr>
        <p:spPr>
          <a:xfrm>
            <a:off x="361950" y="2209800"/>
            <a:ext cx="8032750" cy="2708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i="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Carrier Sense Multiple Access with Collision Avoidance </a:t>
            </a:r>
            <a:endParaRPr/>
          </a:p>
          <a:p>
            <a:pPr indent="-457200" lvl="0" marL="4572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Collisions are avoided using three strategies: </a:t>
            </a:r>
            <a:endParaRPr/>
          </a:p>
          <a:p>
            <a:pPr indent="-457200" lvl="1" marL="9144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interframe space (IFS)</a:t>
            </a:r>
            <a:endParaRPr/>
          </a:p>
          <a:p>
            <a:pPr indent="-457200" lvl="1" marL="9144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contention window</a:t>
            </a:r>
            <a:endParaRPr/>
          </a:p>
          <a:p>
            <a:pPr indent="-457200" lvl="1" marL="9144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Acknowledgment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8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72" name="Google Shape;372;p28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28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4" name="Google Shape;374;p28"/>
          <p:cNvSpPr txBox="1"/>
          <p:nvPr/>
        </p:nvSpPr>
        <p:spPr>
          <a:xfrm>
            <a:off x="304800" y="381000"/>
            <a:ext cx="4175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12.16  </a:t>
            </a: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Timing in CSMA/CA</a:t>
            </a:r>
            <a:endParaRPr/>
          </a:p>
        </p:txBody>
      </p:sp>
      <p:cxnSp>
        <p:nvCxnSpPr>
          <p:cNvPr id="375" name="Google Shape;375;p28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76" name="Google Shape;37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413" y="2438400"/>
            <a:ext cx="8510587" cy="1944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9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3" name="Google Shape;383;p29"/>
          <p:cNvSpPr/>
          <p:nvPr/>
        </p:nvSpPr>
        <p:spPr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4" name="Google Shape;384;p29"/>
          <p:cNvSpPr/>
          <p:nvPr/>
        </p:nvSpPr>
        <p:spPr>
          <a:xfrm>
            <a:off x="749300" y="107950"/>
            <a:ext cx="328613" cy="474663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5" name="Google Shape;385;p29"/>
          <p:cNvSpPr/>
          <p:nvPr/>
        </p:nvSpPr>
        <p:spPr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6" name="Google Shape;386;p29"/>
          <p:cNvSpPr/>
          <p:nvPr/>
        </p:nvSpPr>
        <p:spPr>
          <a:xfrm>
            <a:off x="860425" y="530225"/>
            <a:ext cx="368300" cy="474663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7" name="Google Shape;387;p29"/>
          <p:cNvSpPr/>
          <p:nvPr/>
        </p:nvSpPr>
        <p:spPr>
          <a:xfrm>
            <a:off x="76200" y="457200"/>
            <a:ext cx="560388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8" name="Google Shape;388;p29"/>
          <p:cNvSpPr/>
          <p:nvPr/>
        </p:nvSpPr>
        <p:spPr>
          <a:xfrm>
            <a:off x="711200" y="0"/>
            <a:ext cx="31750" cy="105251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9" name="Google Shape;389;p29"/>
          <p:cNvSpPr/>
          <p:nvPr/>
        </p:nvSpPr>
        <p:spPr>
          <a:xfrm>
            <a:off x="442913" y="533400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390" name="Google Shape;390;p29"/>
          <p:cNvCxnSpPr/>
          <p:nvPr/>
        </p:nvCxnSpPr>
        <p:spPr>
          <a:xfrm>
            <a:off x="457200" y="2667000"/>
            <a:ext cx="8153400" cy="0"/>
          </a:xfrm>
          <a:prstGeom prst="straightConnector1">
            <a:avLst/>
          </a:prstGeom>
          <a:noFill/>
          <a:ln cap="flat" cmpd="sng" w="76200">
            <a:solidFill>
              <a:srgbClr val="0099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" name="Google Shape;391;p29"/>
          <p:cNvCxnSpPr/>
          <p:nvPr/>
        </p:nvCxnSpPr>
        <p:spPr>
          <a:xfrm>
            <a:off x="458788" y="3886200"/>
            <a:ext cx="8153400" cy="0"/>
          </a:xfrm>
          <a:prstGeom prst="straightConnector1">
            <a:avLst/>
          </a:prstGeom>
          <a:noFill/>
          <a:ln cap="flat" cmpd="sng" w="76200">
            <a:solidFill>
              <a:srgbClr val="00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2" name="Google Shape;392;p29"/>
          <p:cNvSpPr/>
          <p:nvPr/>
        </p:nvSpPr>
        <p:spPr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CSMA/CA, the IFS can also be used to define the priority of a station or a frame.</a:t>
            </a:r>
            <a:endParaRPr/>
          </a:p>
        </p:txBody>
      </p:sp>
      <p:grpSp>
        <p:nvGrpSpPr>
          <p:cNvPr id="393" name="Google Shape;393;p29"/>
          <p:cNvGrpSpPr/>
          <p:nvPr/>
        </p:nvGrpSpPr>
        <p:grpSpPr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394" name="Google Shape;394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29"/>
            <p:cNvSpPr txBox="1"/>
            <p:nvPr/>
          </p:nvSpPr>
          <p:spPr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800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Note</a:t>
              </a:r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0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2" name="Google Shape;402;p30"/>
          <p:cNvSpPr/>
          <p:nvPr/>
        </p:nvSpPr>
        <p:spPr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3" name="Google Shape;403;p30"/>
          <p:cNvSpPr/>
          <p:nvPr/>
        </p:nvSpPr>
        <p:spPr>
          <a:xfrm>
            <a:off x="749300" y="107950"/>
            <a:ext cx="328613" cy="474663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4" name="Google Shape;404;p30"/>
          <p:cNvSpPr/>
          <p:nvPr/>
        </p:nvSpPr>
        <p:spPr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5" name="Google Shape;405;p30"/>
          <p:cNvSpPr/>
          <p:nvPr/>
        </p:nvSpPr>
        <p:spPr>
          <a:xfrm>
            <a:off x="860425" y="530225"/>
            <a:ext cx="368300" cy="474663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6" name="Google Shape;406;p30"/>
          <p:cNvSpPr/>
          <p:nvPr/>
        </p:nvSpPr>
        <p:spPr>
          <a:xfrm>
            <a:off x="76200" y="457200"/>
            <a:ext cx="560388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7" name="Google Shape;407;p30"/>
          <p:cNvSpPr/>
          <p:nvPr/>
        </p:nvSpPr>
        <p:spPr>
          <a:xfrm>
            <a:off x="711200" y="0"/>
            <a:ext cx="31750" cy="105251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8" name="Google Shape;408;p30"/>
          <p:cNvSpPr/>
          <p:nvPr/>
        </p:nvSpPr>
        <p:spPr>
          <a:xfrm>
            <a:off x="442913" y="533400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409" name="Google Shape;409;p30"/>
          <p:cNvCxnSpPr/>
          <p:nvPr/>
        </p:nvCxnSpPr>
        <p:spPr>
          <a:xfrm>
            <a:off x="457200" y="2667000"/>
            <a:ext cx="8153400" cy="0"/>
          </a:xfrm>
          <a:prstGeom prst="straightConnector1">
            <a:avLst/>
          </a:prstGeom>
          <a:noFill/>
          <a:ln cap="flat" cmpd="sng" w="76200">
            <a:solidFill>
              <a:srgbClr val="0099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30"/>
          <p:cNvCxnSpPr/>
          <p:nvPr/>
        </p:nvCxnSpPr>
        <p:spPr>
          <a:xfrm>
            <a:off x="458788" y="5410200"/>
            <a:ext cx="8153400" cy="0"/>
          </a:xfrm>
          <a:prstGeom prst="straightConnector1">
            <a:avLst/>
          </a:prstGeom>
          <a:noFill/>
          <a:ln cap="flat" cmpd="sng" w="76200">
            <a:solidFill>
              <a:srgbClr val="00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" name="Google Shape;411;p30"/>
          <p:cNvSpPr/>
          <p:nvPr/>
        </p:nvSpPr>
        <p:spPr>
          <a:xfrm>
            <a:off x="495300" y="2759075"/>
            <a:ext cx="8077200" cy="2528888"/>
          </a:xfrm>
          <a:prstGeom prst="rect">
            <a:avLst/>
          </a:prstGeom>
          <a:solidFill>
            <a:srgbClr val="99FF3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CSMA/CA, if the station finds the channel busy, it does not restart the timer of the contention window;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stops the timer and restarts it when the channel becomes idle.</a:t>
            </a:r>
            <a:endParaRPr/>
          </a:p>
        </p:txBody>
      </p:sp>
      <p:grpSp>
        <p:nvGrpSpPr>
          <p:cNvPr id="412" name="Google Shape;412;p30"/>
          <p:cNvGrpSpPr/>
          <p:nvPr/>
        </p:nvGrpSpPr>
        <p:grpSpPr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413" name="Google Shape;413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0"/>
            <p:cNvSpPr txBox="1"/>
            <p:nvPr/>
          </p:nvSpPr>
          <p:spPr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800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Note</a:t>
              </a: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1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21" name="Google Shape;421;p31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31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3" name="Google Shape;423;p31"/>
          <p:cNvSpPr txBox="1"/>
          <p:nvPr/>
        </p:nvSpPr>
        <p:spPr>
          <a:xfrm>
            <a:off x="304800" y="381000"/>
            <a:ext cx="49863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12.17  </a:t>
            </a: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 diagram for CSMA/CA</a:t>
            </a:r>
            <a:endParaRPr/>
          </a:p>
        </p:txBody>
      </p:sp>
      <p:cxnSp>
        <p:nvCxnSpPr>
          <p:cNvPr id="424" name="Google Shape;424;p31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25" name="Google Shape;42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0" y="1092200"/>
            <a:ext cx="3025775" cy="485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2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2" name="Google Shape;432;p32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33C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3" name="Google Shape;433;p32"/>
          <p:cNvSpPr txBox="1"/>
          <p:nvPr/>
        </p:nvSpPr>
        <p:spPr>
          <a:xfrm>
            <a:off x="228600" y="228600"/>
            <a:ext cx="586391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12-2   CONTROLLED ACCESS</a:t>
            </a:r>
            <a:endParaRPr/>
          </a:p>
        </p:txBody>
      </p:sp>
      <p:sp>
        <p:nvSpPr>
          <p:cNvPr id="434" name="Google Shape;434;p32"/>
          <p:cNvSpPr txBox="1"/>
          <p:nvPr/>
        </p:nvSpPr>
        <p:spPr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5" name="Google Shape;435;p32"/>
          <p:cNvSpPr/>
          <p:nvPr/>
        </p:nvSpPr>
        <p:spPr>
          <a:xfrm>
            <a:off x="457200" y="2438400"/>
            <a:ext cx="8229600" cy="1815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</a:t>
            </a:r>
            <a:r>
              <a:rPr b="1" i="1" lang="en-US" sz="28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controlled access</a:t>
            </a: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methods, the stations consult one another to find which station has the right to send. A station cannot send unless it has been authorized by other stations.</a:t>
            </a:r>
            <a:endParaRPr b="1" i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3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2" name="Google Shape;442;p33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53DEA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3" name="Google Shape;443;p33"/>
          <p:cNvSpPr txBox="1"/>
          <p:nvPr/>
        </p:nvSpPr>
        <p:spPr>
          <a:xfrm>
            <a:off x="228600" y="228600"/>
            <a:ext cx="700525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CONTROLLED ACCESS METHODS</a:t>
            </a:r>
            <a:endParaRPr/>
          </a:p>
        </p:txBody>
      </p:sp>
      <p:sp>
        <p:nvSpPr>
          <p:cNvPr id="444" name="Google Shape;444;p33"/>
          <p:cNvSpPr txBox="1"/>
          <p:nvPr/>
        </p:nvSpPr>
        <p:spPr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5" name="Google Shape;445;p33"/>
          <p:cNvSpPr txBox="1"/>
          <p:nvPr/>
        </p:nvSpPr>
        <p:spPr>
          <a:xfrm>
            <a:off x="288925" y="1219200"/>
            <a:ext cx="8032750" cy="55505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b="1" i="0" lang="en-US" sz="2200" u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Reservation: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is divided into intervals 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station needs to make a reservation before sending data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b="1" i="0" lang="en-US" sz="2200" u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Polling: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device is designated as a primary station (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master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and the other devices are secondary stations (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slave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Master node “invites” slave nodes to transmit in turn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Typically used with “dumb” slave devices</a:t>
            </a:r>
            <a:endParaRPr/>
          </a:p>
          <a:p>
            <a:pPr indent="-457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Concerns:</a:t>
            </a:r>
            <a:endParaRPr/>
          </a:p>
          <a:p>
            <a:pPr indent="-4572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polling overhead </a:t>
            </a:r>
            <a:endParaRPr/>
          </a:p>
          <a:p>
            <a:pPr indent="-4572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latency</a:t>
            </a:r>
            <a:endParaRPr/>
          </a:p>
          <a:p>
            <a:pPr indent="-4572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point of failure (master)</a:t>
            </a:r>
            <a:endParaRPr/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A03A3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A03A3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46" name="Google Shape;446;p33"/>
          <p:cNvGrpSpPr/>
          <p:nvPr/>
        </p:nvGrpSpPr>
        <p:grpSpPr>
          <a:xfrm>
            <a:off x="6235303" y="5170882"/>
            <a:ext cx="585788" cy="510778"/>
            <a:chOff x="-44" y="1473"/>
            <a:chExt cx="981" cy="1105"/>
          </a:xfrm>
        </p:grpSpPr>
        <p:pic>
          <p:nvPicPr>
            <p:cNvPr descr="desktop_computer_stylized_medium" id="447" name="Google Shape;447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baseline="-25000" i="1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49" name="Google Shape;449;p33"/>
          <p:cNvGrpSpPr/>
          <p:nvPr/>
        </p:nvGrpSpPr>
        <p:grpSpPr>
          <a:xfrm>
            <a:off x="6454378" y="4717252"/>
            <a:ext cx="585788" cy="510779"/>
            <a:chOff x="-44" y="1473"/>
            <a:chExt cx="981" cy="1105"/>
          </a:xfrm>
        </p:grpSpPr>
        <p:pic>
          <p:nvPicPr>
            <p:cNvPr descr="desktop_computer_stylized_medium" id="450" name="Google Shape;450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baseline="-25000" i="1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52" name="Google Shape;452;p33"/>
          <p:cNvGrpSpPr/>
          <p:nvPr/>
        </p:nvGrpSpPr>
        <p:grpSpPr>
          <a:xfrm>
            <a:off x="6665118" y="4256482"/>
            <a:ext cx="585788" cy="510778"/>
            <a:chOff x="-44" y="1473"/>
            <a:chExt cx="981" cy="1105"/>
          </a:xfrm>
        </p:grpSpPr>
        <p:pic>
          <p:nvPicPr>
            <p:cNvPr descr="desktop_computer_stylized_medium" id="453" name="Google Shape;453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4" name="Google Shape;454;p3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baseline="-25000" i="1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55" name="Google Shape;455;p33"/>
          <p:cNvGrpSpPr/>
          <p:nvPr/>
        </p:nvGrpSpPr>
        <p:grpSpPr>
          <a:xfrm>
            <a:off x="6891337" y="3820713"/>
            <a:ext cx="585788" cy="510778"/>
            <a:chOff x="-44" y="1473"/>
            <a:chExt cx="981" cy="1105"/>
          </a:xfrm>
        </p:grpSpPr>
        <p:pic>
          <p:nvPicPr>
            <p:cNvPr descr="desktop_computer_stylized_medium" id="456" name="Google Shape;456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7" name="Google Shape;457;p3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baseline="-25000" i="1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58" name="Google Shape;458;p33"/>
          <p:cNvGrpSpPr/>
          <p:nvPr/>
        </p:nvGrpSpPr>
        <p:grpSpPr>
          <a:xfrm flipH="1">
            <a:off x="8043862" y="4005259"/>
            <a:ext cx="585788" cy="510779"/>
            <a:chOff x="-44" y="1473"/>
            <a:chExt cx="981" cy="1105"/>
          </a:xfrm>
        </p:grpSpPr>
        <p:pic>
          <p:nvPicPr>
            <p:cNvPr descr="desktop_computer_stylized_medium" id="459" name="Google Shape;459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0" name="Google Shape;460;p3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baseline="-25000" i="1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461" name="Google Shape;461;p33"/>
          <p:cNvCxnSpPr/>
          <p:nvPr/>
        </p:nvCxnSpPr>
        <p:spPr>
          <a:xfrm flipH="1">
            <a:off x="6900862" y="4093365"/>
            <a:ext cx="695325" cy="132992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" name="Google Shape;462;p33"/>
          <p:cNvCxnSpPr/>
          <p:nvPr/>
        </p:nvCxnSpPr>
        <p:spPr>
          <a:xfrm>
            <a:off x="7381875" y="4131465"/>
            <a:ext cx="190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" name="Google Shape;463;p33"/>
          <p:cNvCxnSpPr/>
          <p:nvPr/>
        </p:nvCxnSpPr>
        <p:spPr>
          <a:xfrm>
            <a:off x="7493793" y="4292200"/>
            <a:ext cx="644129" cy="9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" name="Google Shape;464;p33"/>
          <p:cNvCxnSpPr/>
          <p:nvPr/>
        </p:nvCxnSpPr>
        <p:spPr>
          <a:xfrm>
            <a:off x="7178278" y="4527944"/>
            <a:ext cx="190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" name="Google Shape;465;p33"/>
          <p:cNvCxnSpPr/>
          <p:nvPr/>
        </p:nvCxnSpPr>
        <p:spPr>
          <a:xfrm>
            <a:off x="6974681" y="4924421"/>
            <a:ext cx="190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" name="Google Shape;466;p33"/>
          <p:cNvCxnSpPr/>
          <p:nvPr/>
        </p:nvCxnSpPr>
        <p:spPr>
          <a:xfrm>
            <a:off x="6771085" y="5320900"/>
            <a:ext cx="190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7" name="Google Shape;467;p33"/>
          <p:cNvSpPr txBox="1"/>
          <p:nvPr/>
        </p:nvSpPr>
        <p:spPr>
          <a:xfrm>
            <a:off x="7915275" y="4471985"/>
            <a:ext cx="60305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i="0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master</a:t>
            </a:r>
            <a:endParaRPr/>
          </a:p>
        </p:txBody>
      </p:sp>
      <p:sp>
        <p:nvSpPr>
          <p:cNvPr id="468" name="Google Shape;468;p33"/>
          <p:cNvSpPr txBox="1"/>
          <p:nvPr/>
        </p:nvSpPr>
        <p:spPr>
          <a:xfrm>
            <a:off x="6284120" y="5661420"/>
            <a:ext cx="57259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i="0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slaves</a:t>
            </a:r>
            <a:endParaRPr/>
          </a:p>
        </p:txBody>
      </p:sp>
      <p:grpSp>
        <p:nvGrpSpPr>
          <p:cNvPr id="469" name="Google Shape;469;p33"/>
          <p:cNvGrpSpPr/>
          <p:nvPr/>
        </p:nvGrpSpPr>
        <p:grpSpPr>
          <a:xfrm>
            <a:off x="8053387" y="4032649"/>
            <a:ext cx="420291" cy="225029"/>
            <a:chOff x="4212" y="2864"/>
            <a:chExt cx="353" cy="189"/>
          </a:xfrm>
        </p:grpSpPr>
        <p:sp>
          <p:nvSpPr>
            <p:cNvPr id="470" name="Google Shape;470;p33"/>
            <p:cNvSpPr/>
            <p:nvPr/>
          </p:nvSpPr>
          <p:spPr>
            <a:xfrm>
              <a:off x="4212" y="2916"/>
              <a:ext cx="353" cy="137"/>
            </a:xfrm>
            <a:prstGeom prst="rect">
              <a:avLst/>
            </a:prstGeom>
            <a:solidFill>
              <a:srgbClr val="00CC0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baseline="-25000" i="1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1" name="Google Shape;471;p33"/>
            <p:cNvSpPr txBox="1"/>
            <p:nvPr/>
          </p:nvSpPr>
          <p:spPr>
            <a:xfrm>
              <a:off x="4227" y="2864"/>
              <a:ext cx="309" cy="1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baseline="-25000" i="0"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poll</a:t>
              </a:r>
              <a:endParaRPr/>
            </a:p>
          </p:txBody>
        </p:sp>
      </p:grpSp>
      <p:grpSp>
        <p:nvGrpSpPr>
          <p:cNvPr id="472" name="Google Shape;472;p33"/>
          <p:cNvGrpSpPr/>
          <p:nvPr/>
        </p:nvGrpSpPr>
        <p:grpSpPr>
          <a:xfrm>
            <a:off x="6590110" y="4724400"/>
            <a:ext cx="446484" cy="215504"/>
            <a:chOff x="4415" y="2364"/>
            <a:chExt cx="375" cy="181"/>
          </a:xfrm>
        </p:grpSpPr>
        <p:sp>
          <p:nvSpPr>
            <p:cNvPr id="473" name="Google Shape;473;p33"/>
            <p:cNvSpPr/>
            <p:nvPr/>
          </p:nvSpPr>
          <p:spPr>
            <a:xfrm>
              <a:off x="4437" y="2400"/>
              <a:ext cx="353" cy="137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baseline="-25000" i="1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4" name="Google Shape;474;p33"/>
            <p:cNvSpPr txBox="1"/>
            <p:nvPr/>
          </p:nvSpPr>
          <p:spPr>
            <a:xfrm>
              <a:off x="4415" y="2364"/>
              <a:ext cx="333" cy="1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baseline="-25000" i="0"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</p:txBody>
        </p:sp>
      </p:grpSp>
      <p:grpSp>
        <p:nvGrpSpPr>
          <p:cNvPr id="475" name="Google Shape;475;p33"/>
          <p:cNvGrpSpPr/>
          <p:nvPr/>
        </p:nvGrpSpPr>
        <p:grpSpPr>
          <a:xfrm>
            <a:off x="6969920" y="3886200"/>
            <a:ext cx="446485" cy="215504"/>
            <a:chOff x="4415" y="2364"/>
            <a:chExt cx="375" cy="181"/>
          </a:xfrm>
        </p:grpSpPr>
        <p:sp>
          <p:nvSpPr>
            <p:cNvPr id="476" name="Google Shape;476;p33"/>
            <p:cNvSpPr/>
            <p:nvPr/>
          </p:nvSpPr>
          <p:spPr>
            <a:xfrm>
              <a:off x="4437" y="2400"/>
              <a:ext cx="353" cy="137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baseline="-25000" i="1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7" name="Google Shape;477;p33"/>
            <p:cNvSpPr txBox="1"/>
            <p:nvPr/>
          </p:nvSpPr>
          <p:spPr>
            <a:xfrm>
              <a:off x="4415" y="2364"/>
              <a:ext cx="333" cy="1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baseline="-25000" i="0"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4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4" name="Google Shape;484;p34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53DEA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5" name="Google Shape;485;p34"/>
          <p:cNvSpPr txBox="1"/>
          <p:nvPr/>
        </p:nvSpPr>
        <p:spPr>
          <a:xfrm>
            <a:off x="228600" y="228600"/>
            <a:ext cx="700525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CONTROLLED ACCESS METHODS</a:t>
            </a:r>
            <a:endParaRPr/>
          </a:p>
        </p:txBody>
      </p:sp>
      <p:sp>
        <p:nvSpPr>
          <p:cNvPr id="486" name="Google Shape;486;p34"/>
          <p:cNvSpPr txBox="1"/>
          <p:nvPr/>
        </p:nvSpPr>
        <p:spPr>
          <a:xfrm>
            <a:off x="8169275" y="6297323"/>
            <a:ext cx="184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7" name="Google Shape;487;p34"/>
          <p:cNvSpPr txBox="1"/>
          <p:nvPr/>
        </p:nvSpPr>
        <p:spPr>
          <a:xfrm>
            <a:off x="228600" y="892361"/>
            <a:ext cx="8032750" cy="48888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b="1" i="0" lang="en-US" sz="2200" u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Token Passing: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Token message (a special packet)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stations in a network are organized in a logical ring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token passed from one node to next sequentially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possession of the token gives the station the right to access the channel and send its data</a:t>
            </a:r>
            <a:endParaRPr/>
          </a:p>
          <a:p>
            <a:pPr indent="-457200" lvl="1" marL="9144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Concerns:</a:t>
            </a:r>
            <a:endParaRPr/>
          </a:p>
          <a:p>
            <a:pPr indent="-4572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token overhead </a:t>
            </a:r>
            <a:endParaRPr/>
          </a:p>
          <a:p>
            <a:pPr indent="-4572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latency</a:t>
            </a:r>
            <a:endParaRPr/>
          </a:p>
          <a:p>
            <a:pPr indent="-4572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point of failure (token)</a:t>
            </a:r>
            <a:endParaRPr/>
          </a:p>
          <a:p>
            <a:pPr indent="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A03A3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A03A3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88" name="Google Shape;488;p34"/>
          <p:cNvGrpSpPr/>
          <p:nvPr/>
        </p:nvGrpSpPr>
        <p:grpSpPr>
          <a:xfrm>
            <a:off x="7968456" y="4510194"/>
            <a:ext cx="585788" cy="510779"/>
            <a:chOff x="-44" y="1473"/>
            <a:chExt cx="981" cy="1105"/>
          </a:xfrm>
        </p:grpSpPr>
        <p:pic>
          <p:nvPicPr>
            <p:cNvPr descr="desktop_computer_stylized_medium" id="489" name="Google Shape;489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0" name="Google Shape;490;p3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baseline="-25000" i="1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91" name="Google Shape;491;p34"/>
          <p:cNvGrpSpPr/>
          <p:nvPr/>
        </p:nvGrpSpPr>
        <p:grpSpPr>
          <a:xfrm>
            <a:off x="5932487" y="4478048"/>
            <a:ext cx="585788" cy="510778"/>
            <a:chOff x="-44" y="1473"/>
            <a:chExt cx="981" cy="1105"/>
          </a:xfrm>
        </p:grpSpPr>
        <p:pic>
          <p:nvPicPr>
            <p:cNvPr descr="desktop_computer_stylized_medium" id="492" name="Google Shape;492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3" name="Google Shape;493;p3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baseline="-25000" i="1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94" name="Google Shape;494;p34"/>
          <p:cNvGrpSpPr/>
          <p:nvPr/>
        </p:nvGrpSpPr>
        <p:grpSpPr>
          <a:xfrm>
            <a:off x="6920706" y="3230273"/>
            <a:ext cx="585788" cy="510778"/>
            <a:chOff x="-44" y="1473"/>
            <a:chExt cx="981" cy="1105"/>
          </a:xfrm>
        </p:grpSpPr>
        <p:pic>
          <p:nvPicPr>
            <p:cNvPr descr="desktop_computer_stylized_medium" id="495" name="Google Shape;495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6" name="Google Shape;496;p3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baseline="-25000" i="1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97" name="Google Shape;497;p34"/>
          <p:cNvGrpSpPr/>
          <p:nvPr/>
        </p:nvGrpSpPr>
        <p:grpSpPr>
          <a:xfrm>
            <a:off x="6961187" y="5816311"/>
            <a:ext cx="585788" cy="510778"/>
            <a:chOff x="-44" y="1473"/>
            <a:chExt cx="981" cy="1105"/>
          </a:xfrm>
        </p:grpSpPr>
        <p:pic>
          <p:nvPicPr>
            <p:cNvPr descr="desktop_computer_stylized_medium" id="498" name="Google Shape;49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9" name="Google Shape;499;p3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baseline="-25000" i="1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500" name="Google Shape;500;p34"/>
          <p:cNvSpPr/>
          <p:nvPr/>
        </p:nvSpPr>
        <p:spPr>
          <a:xfrm>
            <a:off x="6567092" y="3723192"/>
            <a:ext cx="1534715" cy="2083594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-25000" i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1" name="Google Shape;501;p34"/>
          <p:cNvSpPr/>
          <p:nvPr/>
        </p:nvSpPr>
        <p:spPr>
          <a:xfrm>
            <a:off x="7200505" y="3054061"/>
            <a:ext cx="205978" cy="240506"/>
          </a:xfrm>
          <a:prstGeom prst="rect">
            <a:avLst/>
          </a:prstGeom>
          <a:solidFill>
            <a:srgbClr val="00CC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i="1" lang="en-US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  <p:sp>
        <p:nvSpPr>
          <p:cNvPr id="502" name="Google Shape;502;p34"/>
          <p:cNvSpPr/>
          <p:nvPr/>
        </p:nvSpPr>
        <p:spPr>
          <a:xfrm>
            <a:off x="7008814" y="6266367"/>
            <a:ext cx="608410" cy="240506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i="1" lang="en-US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503" name="Google Shape;503;p34"/>
          <p:cNvSpPr txBox="1"/>
          <p:nvPr/>
        </p:nvSpPr>
        <p:spPr>
          <a:xfrm>
            <a:off x="5802710" y="4069663"/>
            <a:ext cx="89800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i="0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(nothing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i="0"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send)</a:t>
            </a:r>
            <a:endParaRPr/>
          </a:p>
        </p:txBody>
      </p:sp>
      <p:sp>
        <p:nvSpPr>
          <p:cNvPr id="504" name="Google Shape;504;p34"/>
          <p:cNvSpPr/>
          <p:nvPr/>
        </p:nvSpPr>
        <p:spPr>
          <a:xfrm>
            <a:off x="6175375" y="4567345"/>
            <a:ext cx="205979" cy="240506"/>
          </a:xfrm>
          <a:prstGeom prst="rect">
            <a:avLst/>
          </a:prstGeom>
          <a:solidFill>
            <a:srgbClr val="00CC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i="1" lang="en-US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5"/>
          <p:cNvSpPr txBox="1"/>
          <p:nvPr>
            <p:ph idx="12" type="sldNum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12.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1" name="Google Shape;511;p35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33C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2" name="Google Shape;512;p35"/>
          <p:cNvSpPr txBox="1"/>
          <p:nvPr/>
        </p:nvSpPr>
        <p:spPr>
          <a:xfrm>
            <a:off x="228600" y="228600"/>
            <a:ext cx="504817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12-3   CHANNELIZATION</a:t>
            </a:r>
            <a:endParaRPr/>
          </a:p>
        </p:txBody>
      </p:sp>
      <p:sp>
        <p:nvSpPr>
          <p:cNvPr id="513" name="Google Shape;513;p35"/>
          <p:cNvSpPr txBox="1"/>
          <p:nvPr/>
        </p:nvSpPr>
        <p:spPr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4" name="Google Shape;514;p35"/>
          <p:cNvSpPr/>
          <p:nvPr/>
        </p:nvSpPr>
        <p:spPr>
          <a:xfrm>
            <a:off x="304800" y="1485900"/>
            <a:ext cx="8229600" cy="2246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Channelization</a:t>
            </a:r>
            <a:r>
              <a:rPr b="1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(or channel partition, as it is sometimes called) is a multiple-access method in which the available bandwidth of a link is shared in time, frequency, or through code, among different stations.</a:t>
            </a:r>
            <a:endParaRPr b="1" i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5" name="Google Shape;515;p35"/>
          <p:cNvSpPr/>
          <p:nvPr/>
        </p:nvSpPr>
        <p:spPr>
          <a:xfrm>
            <a:off x="304800" y="4819650"/>
            <a:ext cx="79248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8"/>
              <a:buFont typeface="Noto Sans Symbols"/>
              <a:buNone/>
            </a:pPr>
            <a:r>
              <a:rPr b="1" i="0" lang="en-US" sz="24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TDMA (Time Division Multiple Access)</a:t>
            </a:r>
            <a:br>
              <a:rPr b="1" i="0" lang="en-US" sz="24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4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FDMA (Frequency Division Multiple Access)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8"/>
              <a:buFont typeface="Noto Sans Symbols"/>
              <a:buNone/>
            </a:pPr>
            <a:r>
              <a:rPr b="1" i="0" lang="en-US" sz="2400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CDMA (Code Division Multiple Access)</a:t>
            </a:r>
            <a:endParaRPr/>
          </a:p>
        </p:txBody>
      </p:sp>
      <p:sp>
        <p:nvSpPr>
          <p:cNvPr id="516" name="Google Shape;516;p35"/>
          <p:cNvSpPr txBox="1"/>
          <p:nvPr/>
        </p:nvSpPr>
        <p:spPr>
          <a:xfrm>
            <a:off x="317500" y="4343400"/>
            <a:ext cx="4862513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 discussed in this section: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6"/>
          <p:cNvSpPr txBox="1"/>
          <p:nvPr>
            <p:ph idx="1" type="body"/>
          </p:nvPr>
        </p:nvSpPr>
        <p:spPr>
          <a:xfrm>
            <a:off x="1103434" y="1883299"/>
            <a:ext cx="7514035" cy="1431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60000"/>
              <a:buChar char="■"/>
            </a:pPr>
            <a:r>
              <a:rPr lang="en-US"/>
              <a:t>TDMA divides divides the time frames into time slots.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SzPct val="60000"/>
              <a:buChar char="■"/>
            </a:pPr>
            <a:r>
              <a:rPr lang="en-US"/>
              <a:t>Each slot is assigned to one of the nodes.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SzPct val="60000"/>
              <a:buChar char="■"/>
            </a:pPr>
            <a:r>
              <a:rPr lang="en-US"/>
              <a:t>Slots sizes are usually the same as the packet (frame) size of node.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SzPct val="60000"/>
              <a:buNone/>
            </a:pPr>
            <a:r>
              <a:t/>
            </a:r>
            <a:endParaRPr/>
          </a:p>
        </p:txBody>
      </p:sp>
      <p:sp>
        <p:nvSpPr>
          <p:cNvPr id="522" name="Google Shape;522;p36"/>
          <p:cNvSpPr txBox="1"/>
          <p:nvPr/>
        </p:nvSpPr>
        <p:spPr>
          <a:xfrm>
            <a:off x="1103434" y="3886200"/>
            <a:ext cx="3974850" cy="270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-29464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AB7E"/>
              </a:buClr>
              <a:buSzPts val="4640"/>
              <a:buFont typeface="Arial"/>
              <a:buChar char="•"/>
            </a:pPr>
            <a:r>
              <a:rPr b="1" baseline="-25000" i="1" lang="en-US" sz="3200" cap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Advantages</a:t>
            </a:r>
            <a:endParaRPr/>
          </a:p>
          <a:p>
            <a:pPr indent="-285750" lvl="1" marL="742950" marR="0" rtl="0" algn="l">
              <a:spcBef>
                <a:spcPts val="1160"/>
              </a:spcBef>
              <a:spcAft>
                <a:spcPts val="0"/>
              </a:spcAft>
              <a:buClr>
                <a:srgbClr val="FF9300"/>
              </a:buClr>
              <a:buSzPts val="4060"/>
              <a:buFont typeface="Arial"/>
              <a:buChar char="•"/>
            </a:pPr>
            <a:r>
              <a:rPr b="1" baseline="-25000" i="1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Eliminates collision</a:t>
            </a:r>
            <a:endParaRPr/>
          </a:p>
          <a:p>
            <a:pPr indent="-285750" lvl="1" marL="742950" marR="0" rtl="0" algn="l">
              <a:spcBef>
                <a:spcPts val="1160"/>
              </a:spcBef>
              <a:spcAft>
                <a:spcPts val="0"/>
              </a:spcAft>
              <a:buClr>
                <a:srgbClr val="FF9300"/>
              </a:buClr>
              <a:buSzPts val="4060"/>
              <a:buFont typeface="Arial"/>
              <a:buChar char="•"/>
            </a:pPr>
            <a:r>
              <a:rPr b="1" baseline="-25000" i="1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node gets dedicated R/N bps during frame time.</a:t>
            </a:r>
            <a:endParaRPr/>
          </a:p>
          <a:p>
            <a:pPr indent="0" lvl="0" marL="0" marR="0" rtl="0" algn="l">
              <a:spcBef>
                <a:spcPts val="1020"/>
              </a:spcBef>
              <a:spcAft>
                <a:spcPts val="0"/>
              </a:spcAft>
              <a:buClr>
                <a:srgbClr val="00AB7E"/>
              </a:buClr>
              <a:buSzPts val="3045"/>
              <a:buFont typeface="Arial"/>
              <a:buNone/>
            </a:pPr>
            <a:r>
              <a:t/>
            </a:r>
            <a:endParaRPr b="1" baseline="-25000" i="1" sz="2100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3" name="Google Shape;523;p36"/>
          <p:cNvSpPr txBox="1"/>
          <p:nvPr/>
        </p:nvSpPr>
        <p:spPr>
          <a:xfrm>
            <a:off x="1335881" y="911479"/>
            <a:ext cx="6472238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b="1" baseline="-25000" i="1" lang="en-US" sz="44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TDMA: Time Division Multiple Access</a:t>
            </a:r>
            <a:endParaRPr b="1" baseline="-25000" i="1" sz="4800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24" name="Google Shape;524;p36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baseline="-25000" i="0"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baseline="-25000" i="0" sz="1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25" name="Google Shape;52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6726" y="3381289"/>
            <a:ext cx="4427234" cy="1173791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6"/>
          <p:cNvSpPr txBox="1"/>
          <p:nvPr/>
        </p:nvSpPr>
        <p:spPr>
          <a:xfrm rot="-5400000">
            <a:off x="3684204" y="3542580"/>
            <a:ext cx="147551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i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Frequency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7"/>
          <p:cNvSpPr txBox="1"/>
          <p:nvPr/>
        </p:nvSpPr>
        <p:spPr>
          <a:xfrm>
            <a:off x="1466850" y="1739470"/>
            <a:ext cx="6167438" cy="123593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AB7E"/>
              </a:buClr>
              <a:buSzPts val="3200"/>
              <a:buFont typeface="Arial"/>
              <a:buChar char="•"/>
            </a:pPr>
            <a:r>
              <a:rPr b="1" baseline="-25000" i="1" lang="en-US" sz="320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channel spectrum divided into frequency bands</a:t>
            </a:r>
            <a:endParaRPr/>
          </a:p>
          <a:p>
            <a:pPr indent="-285750" lvl="0" marL="285750" marR="0" rtl="0" algn="l">
              <a:spcBef>
                <a:spcPts val="1240"/>
              </a:spcBef>
              <a:spcAft>
                <a:spcPts val="0"/>
              </a:spcAft>
              <a:buClr>
                <a:srgbClr val="00AB7E"/>
              </a:buClr>
              <a:buSzPts val="3200"/>
              <a:buFont typeface="Arial"/>
              <a:buChar char="•"/>
            </a:pPr>
            <a:r>
              <a:rPr b="1" baseline="-25000" i="1" lang="en-US" sz="320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station assigned fixed frequency band</a:t>
            </a:r>
            <a:endParaRPr/>
          </a:p>
        </p:txBody>
      </p:sp>
      <p:sp>
        <p:nvSpPr>
          <p:cNvPr id="532" name="Google Shape;532;p37"/>
          <p:cNvSpPr/>
          <p:nvPr/>
        </p:nvSpPr>
        <p:spPr>
          <a:xfrm>
            <a:off x="875211" y="3105149"/>
            <a:ext cx="3878865" cy="3164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i="1" lang="en-US" sz="36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Disadvantage</a:t>
            </a:r>
            <a:endParaRPr/>
          </a:p>
          <a:p>
            <a:pPr indent="-257175" lvl="0" marL="257175" marR="0" rtl="0" algn="l">
              <a:spcBef>
                <a:spcPts val="1800"/>
              </a:spcBef>
              <a:spcAft>
                <a:spcPts val="0"/>
              </a:spcAft>
              <a:buClr>
                <a:srgbClr val="FF0000"/>
              </a:buClr>
              <a:buSzPts val="2520"/>
              <a:buFont typeface="Noto Sans Symbols"/>
              <a:buChar char="▪"/>
            </a:pPr>
            <a:r>
              <a:rPr b="1" baseline="-25000" i="1"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unused transmission time in frequency bands go idle </a:t>
            </a:r>
            <a:endParaRPr/>
          </a:p>
          <a:p>
            <a:pPr indent="-257175" lvl="1" marL="600075" marR="0" rtl="0" algn="l">
              <a:spcBef>
                <a:spcPts val="1800"/>
              </a:spcBef>
              <a:spcAft>
                <a:spcPts val="0"/>
              </a:spcAft>
              <a:buClr>
                <a:srgbClr val="00B050"/>
              </a:buClr>
              <a:buSzPts val="2520"/>
              <a:buFont typeface="Noto Sans Symbols"/>
              <a:buChar char="▪"/>
            </a:pPr>
            <a:r>
              <a:rPr b="1" baseline="-25000" i="1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example: only band 1 have packet to send, frequency bands 2 &amp; 3 remains idle </a:t>
            </a:r>
            <a:endParaRPr/>
          </a:p>
          <a:p>
            <a:pPr indent="-257175" lvl="0" marL="257175" marR="0" rtl="0" algn="l">
              <a:spcBef>
                <a:spcPts val="1800"/>
              </a:spcBef>
              <a:spcAft>
                <a:spcPts val="0"/>
              </a:spcAft>
              <a:buClr>
                <a:srgbClr val="FF0000"/>
              </a:buClr>
              <a:buSzPts val="2520"/>
              <a:buFont typeface="Noto Sans Symbols"/>
              <a:buChar char="▪"/>
            </a:pPr>
            <a:r>
              <a:rPr b="1" baseline="-25000" i="1"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Limited bandwidth of R/N for each node</a:t>
            </a:r>
            <a:endParaRPr/>
          </a:p>
        </p:txBody>
      </p:sp>
      <p:sp>
        <p:nvSpPr>
          <p:cNvPr id="533" name="Google Shape;533;p37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baseline="-25000" i="0"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baseline="-25000" i="0" sz="1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534" name="Google Shape;534;p37"/>
          <p:cNvCxnSpPr/>
          <p:nvPr/>
        </p:nvCxnSpPr>
        <p:spPr>
          <a:xfrm flipH="1" rot="10800000">
            <a:off x="5313218" y="4945068"/>
            <a:ext cx="3599198" cy="8799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535" name="Google Shape;535;p37"/>
          <p:cNvCxnSpPr/>
          <p:nvPr/>
        </p:nvCxnSpPr>
        <p:spPr>
          <a:xfrm rot="10800000">
            <a:off x="5313218" y="3658419"/>
            <a:ext cx="0" cy="128665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536" name="Google Shape;536;p37"/>
          <p:cNvSpPr/>
          <p:nvPr/>
        </p:nvSpPr>
        <p:spPr>
          <a:xfrm>
            <a:off x="5334000" y="4592008"/>
            <a:ext cx="3283527" cy="326663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00A67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-25000" i="1"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7" name="Google Shape;537;p37"/>
          <p:cNvSpPr/>
          <p:nvPr/>
        </p:nvSpPr>
        <p:spPr>
          <a:xfrm>
            <a:off x="5334000" y="4287488"/>
            <a:ext cx="3283527" cy="326663"/>
          </a:xfrm>
          <a:prstGeom prst="rect">
            <a:avLst/>
          </a:prstGeom>
          <a:solidFill>
            <a:srgbClr val="FFFF00"/>
          </a:solidFill>
          <a:ln cap="flat" cmpd="sng" w="12700">
            <a:solidFill>
              <a:srgbClr val="00A67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-25000" i="1"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8" name="Google Shape;538;p37"/>
          <p:cNvSpPr/>
          <p:nvPr/>
        </p:nvSpPr>
        <p:spPr>
          <a:xfrm>
            <a:off x="5334000" y="3946895"/>
            <a:ext cx="3283527" cy="326663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00A67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-25000" i="1"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9" name="Google Shape;539;p37"/>
          <p:cNvSpPr txBox="1"/>
          <p:nvPr/>
        </p:nvSpPr>
        <p:spPr>
          <a:xfrm>
            <a:off x="6560127" y="3946895"/>
            <a:ext cx="41563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i="1" lang="en-US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f3</a:t>
            </a:r>
            <a:endParaRPr/>
          </a:p>
        </p:txBody>
      </p:sp>
      <p:sp>
        <p:nvSpPr>
          <p:cNvPr id="540" name="Google Shape;540;p37"/>
          <p:cNvSpPr txBox="1"/>
          <p:nvPr/>
        </p:nvSpPr>
        <p:spPr>
          <a:xfrm>
            <a:off x="6580906" y="4310578"/>
            <a:ext cx="41563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i="1" lang="en-US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f2</a:t>
            </a:r>
            <a:endParaRPr/>
          </a:p>
        </p:txBody>
      </p:sp>
      <p:sp>
        <p:nvSpPr>
          <p:cNvPr id="541" name="Google Shape;541;p37"/>
          <p:cNvSpPr txBox="1"/>
          <p:nvPr/>
        </p:nvSpPr>
        <p:spPr>
          <a:xfrm>
            <a:off x="6580905" y="4633002"/>
            <a:ext cx="41563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i="1" lang="en-US" sz="1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f1</a:t>
            </a:r>
            <a:endParaRPr/>
          </a:p>
        </p:txBody>
      </p:sp>
      <p:sp>
        <p:nvSpPr>
          <p:cNvPr id="542" name="Google Shape;542;p37"/>
          <p:cNvSpPr txBox="1"/>
          <p:nvPr/>
        </p:nvSpPr>
        <p:spPr>
          <a:xfrm rot="-5400000">
            <a:off x="4279278" y="4072219"/>
            <a:ext cx="147551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i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Frequency</a:t>
            </a:r>
            <a:endParaRPr/>
          </a:p>
        </p:txBody>
      </p:sp>
      <p:sp>
        <p:nvSpPr>
          <p:cNvPr id="543" name="Google Shape;543;p37"/>
          <p:cNvSpPr txBox="1"/>
          <p:nvPr/>
        </p:nvSpPr>
        <p:spPr>
          <a:xfrm>
            <a:off x="6375062" y="4976333"/>
            <a:ext cx="147551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i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</a:t>
            </a:r>
            <a:endParaRPr/>
          </a:p>
        </p:txBody>
      </p:sp>
      <p:sp>
        <p:nvSpPr>
          <p:cNvPr id="544" name="Google Shape;544;p37"/>
          <p:cNvSpPr txBox="1"/>
          <p:nvPr/>
        </p:nvSpPr>
        <p:spPr>
          <a:xfrm>
            <a:off x="1335880" y="911479"/>
            <a:ext cx="6665119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None/>
            </a:pPr>
            <a:r>
              <a:rPr b="1" baseline="-25000" i="1" lang="en-US" sz="44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FDMA: Frequency Division Multiple Access</a:t>
            </a:r>
            <a:endParaRPr b="1" baseline="-25000" i="1" sz="4800" cap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8"/>
          <p:cNvSpPr txBox="1"/>
          <p:nvPr>
            <p:ph idx="1" type="body"/>
          </p:nvPr>
        </p:nvSpPr>
        <p:spPr>
          <a:xfrm>
            <a:off x="1113231" y="1842251"/>
            <a:ext cx="7514035" cy="12291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Assigns a different code to each node.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Each node then uses its unique code to encode the data bits it sends. </a:t>
            </a:r>
            <a:endParaRPr/>
          </a:p>
          <a:p>
            <a:pPr indent="-251459" lvl="0" marL="342900" rtl="0" algn="l"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2400"/>
          </a:p>
        </p:txBody>
      </p:sp>
      <p:sp>
        <p:nvSpPr>
          <p:cNvPr id="550" name="Google Shape;550;p38"/>
          <p:cNvSpPr txBox="1"/>
          <p:nvPr/>
        </p:nvSpPr>
        <p:spPr>
          <a:xfrm>
            <a:off x="1219200" y="763476"/>
            <a:ext cx="6472238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rPr b="1" baseline="-25000" i="1" lang="en-US" sz="4400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CDMA: Code Division Multiple Access</a:t>
            </a:r>
            <a:endParaRPr/>
          </a:p>
        </p:txBody>
      </p:sp>
      <p:sp>
        <p:nvSpPr>
          <p:cNvPr id="551" name="Google Shape;551;p38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baseline="-25000" i="0" lang="en-US" sz="1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baseline="-25000" i="0" sz="1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52" name="Google Shape;55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0" y="4600575"/>
            <a:ext cx="5343525" cy="14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38"/>
          <p:cNvSpPr/>
          <p:nvPr/>
        </p:nvSpPr>
        <p:spPr>
          <a:xfrm>
            <a:off x="1113231" y="3292930"/>
            <a:ext cx="4752975" cy="759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i="1" lang="en-US" sz="2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Disadvantage</a:t>
            </a:r>
            <a:endParaRPr/>
          </a:p>
          <a:p>
            <a:pPr indent="-257175" lvl="0" marL="25717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Noto Sans Symbols"/>
              <a:buChar char="▪"/>
            </a:pPr>
            <a:r>
              <a:rPr b="1" baseline="-25000" i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frequency band is used inefficiently.</a:t>
            </a:r>
            <a:endParaRPr b="1" baseline="-25000" i="1"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9"/>
          <p:cNvSpPr txBox="1"/>
          <p:nvPr>
            <p:ph type="title"/>
          </p:nvPr>
        </p:nvSpPr>
        <p:spPr>
          <a:xfrm>
            <a:off x="1143000" y="604511"/>
            <a:ext cx="607576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MAC protocols</a:t>
            </a:r>
            <a:endParaRPr/>
          </a:p>
        </p:txBody>
      </p:sp>
      <p:grpSp>
        <p:nvGrpSpPr>
          <p:cNvPr id="560" name="Google Shape;560;p39"/>
          <p:cNvGrpSpPr/>
          <p:nvPr/>
        </p:nvGrpSpPr>
        <p:grpSpPr>
          <a:xfrm>
            <a:off x="1380938" y="1728072"/>
            <a:ext cx="3638675" cy="3879848"/>
            <a:chOff x="1020845" y="-1"/>
            <a:chExt cx="3638675" cy="3879848"/>
          </a:xfrm>
        </p:grpSpPr>
        <p:sp>
          <p:nvSpPr>
            <p:cNvPr id="561" name="Google Shape;561;p39"/>
            <p:cNvSpPr/>
            <p:nvPr/>
          </p:nvSpPr>
          <p:spPr>
            <a:xfrm>
              <a:off x="1758014" y="1939924"/>
              <a:ext cx="483584" cy="921463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0"/>
                  </a:lnTo>
                  <a:lnTo>
                    <a:pt x="6000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rgbClr val="00B48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39"/>
            <p:cNvSpPr txBox="1"/>
            <p:nvPr/>
          </p:nvSpPr>
          <p:spPr>
            <a:xfrm>
              <a:off x="1973790" y="2374639"/>
              <a:ext cx="52032" cy="52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Times New Roman"/>
                <a:buNone/>
              </a:pPr>
              <a:r>
                <a:t/>
              </a:r>
              <a:endParaRPr b="1" baseline="-25000" i="1" sz="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3" name="Google Shape;563;p39"/>
            <p:cNvSpPr/>
            <p:nvPr/>
          </p:nvSpPr>
          <p:spPr>
            <a:xfrm>
              <a:off x="1758014" y="1894204"/>
              <a:ext cx="483584" cy="9144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12700">
              <a:solidFill>
                <a:srgbClr val="00B48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9"/>
            <p:cNvSpPr txBox="1"/>
            <p:nvPr/>
          </p:nvSpPr>
          <p:spPr>
            <a:xfrm>
              <a:off x="1987717" y="1927834"/>
              <a:ext cx="24179" cy="241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Times New Roman"/>
                <a:buNone/>
              </a:pPr>
              <a:r>
                <a:t/>
              </a:r>
              <a:endParaRPr b="1" baseline="-25000" i="1" sz="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5" name="Google Shape;565;p39"/>
            <p:cNvSpPr/>
            <p:nvPr/>
          </p:nvSpPr>
          <p:spPr>
            <a:xfrm>
              <a:off x="1758014" y="1018460"/>
              <a:ext cx="483584" cy="921463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120000"/>
                  </a:lnTo>
                  <a:lnTo>
                    <a:pt x="60000" y="0"/>
                  </a:lnTo>
                  <a:lnTo>
                    <a:pt x="120000" y="0"/>
                  </a:lnTo>
                </a:path>
              </a:pathLst>
            </a:custGeom>
            <a:noFill/>
            <a:ln cap="flat" cmpd="sng" w="12700">
              <a:solidFill>
                <a:srgbClr val="00B48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9"/>
            <p:cNvSpPr txBox="1"/>
            <p:nvPr/>
          </p:nvSpPr>
          <p:spPr>
            <a:xfrm>
              <a:off x="1973790" y="1453175"/>
              <a:ext cx="52032" cy="52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Times New Roman"/>
                <a:buNone/>
              </a:pPr>
              <a:r>
                <a:t/>
              </a:r>
              <a:endParaRPr b="1" baseline="-25000" i="1" sz="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7" name="Google Shape;567;p39"/>
            <p:cNvSpPr/>
            <p:nvPr/>
          </p:nvSpPr>
          <p:spPr>
            <a:xfrm rot="-5400000">
              <a:off x="-550494" y="1571338"/>
              <a:ext cx="3879848" cy="737171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9"/>
            <p:cNvSpPr txBox="1"/>
            <p:nvPr/>
          </p:nvSpPr>
          <p:spPr>
            <a:xfrm rot="-5400000">
              <a:off x="-550494" y="1571338"/>
              <a:ext cx="3879848" cy="7371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9825" lIns="29825" spcFirstLastPara="1" rIns="29825" wrap="square" tIns="298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700"/>
                <a:buFont typeface="Times New Roman"/>
                <a:buNone/>
              </a:pPr>
              <a:r>
                <a:rPr b="1" baseline="-25000" i="1" lang="en-US" sz="47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MAC Protocols</a:t>
              </a:r>
              <a:endParaRPr/>
            </a:p>
          </p:txBody>
        </p:sp>
        <p:sp>
          <p:nvSpPr>
            <p:cNvPr id="569" name="Google Shape;569;p39"/>
            <p:cNvSpPr/>
            <p:nvPr/>
          </p:nvSpPr>
          <p:spPr>
            <a:xfrm>
              <a:off x="2241599" y="649874"/>
              <a:ext cx="2417921" cy="737171"/>
            </a:xfrm>
            <a:prstGeom prst="rect">
              <a:avLst/>
            </a:prstGeom>
            <a:solidFill>
              <a:srgbClr val="92D05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39"/>
            <p:cNvSpPr txBox="1"/>
            <p:nvPr/>
          </p:nvSpPr>
          <p:spPr>
            <a:xfrm>
              <a:off x="2241599" y="649874"/>
              <a:ext cx="2417921" cy="7371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875" lIns="15875" spcFirstLastPara="1" rIns="15875" wrap="square" tIns="15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Times New Roman"/>
                <a:buNone/>
              </a:pPr>
              <a:r>
                <a:rPr b="1" baseline="-25000" i="1" lang="en-US" sz="25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Channel Partitioning</a:t>
              </a:r>
              <a:endParaRPr/>
            </a:p>
          </p:txBody>
        </p:sp>
        <p:sp>
          <p:nvSpPr>
            <p:cNvPr id="571" name="Google Shape;571;p39"/>
            <p:cNvSpPr/>
            <p:nvPr/>
          </p:nvSpPr>
          <p:spPr>
            <a:xfrm>
              <a:off x="2241599" y="1571338"/>
              <a:ext cx="2417921" cy="737171"/>
            </a:xfrm>
            <a:prstGeom prst="rect">
              <a:avLst/>
            </a:prstGeom>
            <a:solidFill>
              <a:srgbClr val="BFBFBF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9"/>
            <p:cNvSpPr txBox="1"/>
            <p:nvPr/>
          </p:nvSpPr>
          <p:spPr>
            <a:xfrm>
              <a:off x="2241599" y="1571338"/>
              <a:ext cx="2417921" cy="7371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875" lIns="15875" spcFirstLastPara="1" rIns="15875" wrap="square" tIns="15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Times New Roman"/>
                <a:buNone/>
              </a:pPr>
              <a:r>
                <a:rPr b="1" baseline="-25000" i="1" lang="en-US" sz="25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Random Access</a:t>
              </a:r>
              <a:endParaRPr/>
            </a:p>
          </p:txBody>
        </p:sp>
        <p:sp>
          <p:nvSpPr>
            <p:cNvPr id="573" name="Google Shape;573;p39"/>
            <p:cNvSpPr/>
            <p:nvPr/>
          </p:nvSpPr>
          <p:spPr>
            <a:xfrm>
              <a:off x="2241599" y="2492802"/>
              <a:ext cx="2417921" cy="737171"/>
            </a:xfrm>
            <a:prstGeom prst="rect">
              <a:avLst/>
            </a:prstGeom>
            <a:solidFill>
              <a:srgbClr val="AD8C0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9"/>
            <p:cNvSpPr txBox="1"/>
            <p:nvPr/>
          </p:nvSpPr>
          <p:spPr>
            <a:xfrm>
              <a:off x="2241599" y="2492802"/>
              <a:ext cx="2417921" cy="7371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875" lIns="15875" spcFirstLastPara="1" rIns="15875" wrap="square" tIns="15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Times New Roman"/>
                <a:buNone/>
              </a:pPr>
              <a:r>
                <a:rPr b="1" baseline="-25000" i="1" lang="en-US" sz="25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Taking Turns </a:t>
              </a:r>
              <a:endParaRPr/>
            </a:p>
          </p:txBody>
        </p:sp>
      </p:grpSp>
      <p:sp>
        <p:nvSpPr>
          <p:cNvPr id="575" name="Google Shape;575;p39"/>
          <p:cNvSpPr/>
          <p:nvPr/>
        </p:nvSpPr>
        <p:spPr>
          <a:xfrm>
            <a:off x="5299363" y="2463863"/>
            <a:ext cx="3484544" cy="584775"/>
          </a:xfrm>
          <a:prstGeom prst="rect">
            <a:avLst/>
          </a:prstGeom>
          <a:solidFill>
            <a:srgbClr val="FFE16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baseline="-25000" i="1"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Efficient and fair at </a:t>
            </a:r>
            <a:r>
              <a:rPr b="1" baseline="-25000" i="1" lang="en-US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High load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baseline="-25000" i="1"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Inefficient at low load</a:t>
            </a:r>
            <a:endParaRPr/>
          </a:p>
        </p:txBody>
      </p:sp>
      <p:sp>
        <p:nvSpPr>
          <p:cNvPr id="576" name="Google Shape;576;p39"/>
          <p:cNvSpPr/>
          <p:nvPr/>
        </p:nvSpPr>
        <p:spPr>
          <a:xfrm>
            <a:off x="5299363" y="3375609"/>
            <a:ext cx="3072443" cy="584775"/>
          </a:xfrm>
          <a:prstGeom prst="rect">
            <a:avLst/>
          </a:prstGeom>
          <a:solidFill>
            <a:srgbClr val="FFDF5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14313" lvl="0" marL="2143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baseline="-25000" i="1"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Efficient at </a:t>
            </a:r>
            <a:r>
              <a:rPr b="1" baseline="-25000" i="1" lang="en-US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Low Load</a:t>
            </a:r>
            <a:endParaRPr/>
          </a:p>
          <a:p>
            <a:pPr indent="-214313" lvl="0" marL="2143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baseline="-25000" i="1"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Inefficient at high load</a:t>
            </a:r>
            <a:endParaRPr b="1" baseline="-25000" i="1" sz="2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77" name="Google Shape;577;p39"/>
          <p:cNvSpPr/>
          <p:nvPr/>
        </p:nvSpPr>
        <p:spPr>
          <a:xfrm>
            <a:off x="5299364" y="4357621"/>
            <a:ext cx="2857500" cy="338554"/>
          </a:xfrm>
          <a:prstGeom prst="rect">
            <a:avLst/>
          </a:prstGeom>
          <a:solidFill>
            <a:srgbClr val="FFDF5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14313" lvl="0" marL="2143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baseline="-25000" i="1"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Best of both worlds?</a:t>
            </a:r>
            <a:endParaRPr b="1" baseline="-25000"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0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Summary of MAC protocols</a:t>
            </a:r>
            <a:endParaRPr/>
          </a:p>
        </p:txBody>
      </p:sp>
      <p:sp>
        <p:nvSpPr>
          <p:cNvPr id="584" name="Google Shape;584;p40"/>
          <p:cNvSpPr txBox="1"/>
          <p:nvPr>
            <p:ph idx="1" type="body"/>
          </p:nvPr>
        </p:nvSpPr>
        <p:spPr>
          <a:xfrm>
            <a:off x="1543050" y="2057401"/>
            <a:ext cx="5829300" cy="36802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173831" lvl="0" marL="173831" rtl="0" algn="l">
              <a:spcBef>
                <a:spcPts val="0"/>
              </a:spcBef>
              <a:spcAft>
                <a:spcPts val="0"/>
              </a:spcAft>
              <a:buSzPct val="60000"/>
              <a:buChar char="■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channel partitioning,</a:t>
            </a:r>
            <a:r>
              <a:rPr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by time, frequency or code</a:t>
            </a:r>
            <a:endParaRPr/>
          </a:p>
          <a:p>
            <a:pPr indent="-175022" lvl="1" marL="517922" rtl="0" algn="l">
              <a:spcBef>
                <a:spcPts val="392"/>
              </a:spcBef>
              <a:spcAft>
                <a:spcPts val="0"/>
              </a:spcAft>
              <a:buSzPct val="55000"/>
              <a:buChar char="■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Time Division, Frequency Division</a:t>
            </a:r>
            <a:endParaRPr/>
          </a:p>
          <a:p>
            <a:pPr indent="-173831" lvl="0" marL="173831" rtl="0" algn="l">
              <a:spcBef>
                <a:spcPts val="448"/>
              </a:spcBef>
              <a:spcAft>
                <a:spcPts val="0"/>
              </a:spcAft>
              <a:buSzPct val="60000"/>
              <a:buChar char="■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random access 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(dynamic), </a:t>
            </a:r>
            <a:endParaRPr/>
          </a:p>
          <a:p>
            <a:pPr indent="-175022" lvl="1" marL="517922" rtl="0" algn="l">
              <a:spcBef>
                <a:spcPts val="392"/>
              </a:spcBef>
              <a:spcAft>
                <a:spcPts val="0"/>
              </a:spcAft>
              <a:buSzPct val="55000"/>
              <a:buChar char="■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ALOHA, S-ALOHA, CSMA, CSMA/CD</a:t>
            </a:r>
            <a:endParaRPr/>
          </a:p>
          <a:p>
            <a:pPr indent="-175022" lvl="1" marL="517922" rtl="0" algn="l">
              <a:spcBef>
                <a:spcPts val="392"/>
              </a:spcBef>
              <a:spcAft>
                <a:spcPts val="0"/>
              </a:spcAft>
              <a:buSzPct val="55000"/>
              <a:buChar char="■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carrier sensing: easy in some technologies (wire), hard in others (wireless)</a:t>
            </a:r>
            <a:endParaRPr/>
          </a:p>
          <a:p>
            <a:pPr indent="-175022" lvl="1" marL="517922" rtl="0" algn="l">
              <a:spcBef>
                <a:spcPts val="392"/>
              </a:spcBef>
              <a:spcAft>
                <a:spcPts val="0"/>
              </a:spcAft>
              <a:buSzPct val="55000"/>
              <a:buChar char="■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CSMA/CD used in Ethernet</a:t>
            </a:r>
            <a:endParaRPr/>
          </a:p>
          <a:p>
            <a:pPr indent="-175022" lvl="1" marL="517922" rtl="0" algn="l">
              <a:spcBef>
                <a:spcPts val="392"/>
              </a:spcBef>
              <a:spcAft>
                <a:spcPts val="0"/>
              </a:spcAft>
              <a:buSzPct val="55000"/>
              <a:buChar char="■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CSMA/CA used in 802.11</a:t>
            </a:r>
            <a:endParaRPr/>
          </a:p>
          <a:p>
            <a:pPr indent="-173831" lvl="0" marL="173831" rtl="0" algn="l">
              <a:spcBef>
                <a:spcPts val="448"/>
              </a:spcBef>
              <a:spcAft>
                <a:spcPts val="0"/>
              </a:spcAft>
              <a:buSzPct val="60000"/>
              <a:buChar char="■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taking turns</a:t>
            </a:r>
            <a:endParaRPr/>
          </a:p>
          <a:p>
            <a:pPr indent="-175022" lvl="1" marL="517922" rtl="0" algn="l">
              <a:spcBef>
                <a:spcPts val="392"/>
              </a:spcBef>
              <a:spcAft>
                <a:spcPts val="0"/>
              </a:spcAft>
              <a:buSzPct val="55000"/>
              <a:buChar char="■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polling from central site, token passing</a:t>
            </a:r>
            <a:endParaRPr/>
          </a:p>
          <a:p>
            <a:pPr indent="-175022" lvl="1" marL="517922" rtl="0" algn="l">
              <a:spcBef>
                <a:spcPts val="392"/>
              </a:spcBef>
              <a:spcAft>
                <a:spcPts val="0"/>
              </a:spcAft>
              <a:buSzPct val="55000"/>
              <a:buChar char="■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Bluetooth, FDDI,  token ring 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1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END!</a:t>
            </a:r>
            <a:endParaRPr/>
          </a:p>
        </p:txBody>
      </p:sp>
      <p:sp>
        <p:nvSpPr>
          <p:cNvPr id="590" name="Google Shape;590;p41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2000-01-15T04:50:39Z</dcterms:created>
  <dc:creator>Valued Gateway Client</dc:creator>
</cp:coreProperties>
</file>