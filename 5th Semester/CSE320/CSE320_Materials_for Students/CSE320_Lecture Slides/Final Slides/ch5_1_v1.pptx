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embeddedFontLst>
    <p:embeddedFont>
      <p:font typeface="Tahoma"/>
      <p:regular r:id="rId32"/>
      <p:bold r:id="rId33"/>
    </p:embeddedFont>
    <p:embeddedFont>
      <p:font typeface="Noto Sans Symbol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33YJeyGJi1UdJ1pzbh2iZU8iY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ahoma-bold.fntdata"/><Relationship Id="rId10" Type="http://schemas.openxmlformats.org/officeDocument/2006/relationships/slide" Target="slides/slide5.xml"/><Relationship Id="rId32" Type="http://schemas.openxmlformats.org/officeDocument/2006/relationships/font" Target="fonts/Tahoma-regular.fntdata"/><Relationship Id="rId13" Type="http://schemas.openxmlformats.org/officeDocument/2006/relationships/slide" Target="slides/slide8.xml"/><Relationship Id="rId35" Type="http://schemas.openxmlformats.org/officeDocument/2006/relationships/font" Target="fonts/NotoSansSymbols-bold.fntdata"/><Relationship Id="rId12" Type="http://schemas.openxmlformats.org/officeDocument/2006/relationships/slide" Target="slides/slide7.xml"/><Relationship Id="rId34" Type="http://schemas.openxmlformats.org/officeDocument/2006/relationships/font" Target="fonts/NotoSansSymbol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9" name="Google Shape;1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9" name="Google Shape;2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  only" type="objOnly">
  <p:cSld name="OBJECT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30" name="Google Shape;30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0969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 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0" y="6507162"/>
            <a:ext cx="9144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The McGraw-Hill Companies, Inc. Permission required for reproduction or display.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43825" y="1593375"/>
            <a:ext cx="9144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CSE320: Data Communication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39" name="Google Shape;39;p2"/>
          <p:cNvCxnSpPr/>
          <p:nvPr/>
        </p:nvCxnSpPr>
        <p:spPr>
          <a:xfrm>
            <a:off x="152400" y="228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" name="Google Shape;40;p2"/>
          <p:cNvCxnSpPr/>
          <p:nvPr/>
        </p:nvCxnSpPr>
        <p:spPr>
          <a:xfrm>
            <a:off x="152400" y="10668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2"/>
          <p:cNvSpPr txBox="1"/>
          <p:nvPr/>
        </p:nvSpPr>
        <p:spPr>
          <a:xfrm>
            <a:off x="304800" y="457200"/>
            <a:ext cx="4670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Digital-to-analog conversion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127250"/>
            <a:ext cx="8885237" cy="25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228600" y="406400"/>
            <a:ext cx="828992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5-1   DIGITAL-TO-ANALOG CONVERSION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52400" y="1600200"/>
            <a:ext cx="8229600" cy="1373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Digital-to-analog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conversion is the process of changing one of the characteristics of an analog signal based on the information in digital data.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152400" y="4286250"/>
            <a:ext cx="67056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830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Aspects of Digital-to-Analog Conversion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30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Amplitude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30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Frequency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30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Phase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8308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Quadrature Amplitude Modulation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163512" y="3810000"/>
            <a:ext cx="486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" name="Google Shape;60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Digital to Analog Conversion</a:t>
            </a:r>
            <a:endParaRPr/>
          </a:p>
        </p:txBody>
      </p:sp>
      <p:sp>
        <p:nvSpPr>
          <p:cNvPr id="61" name="Google Shape;61;p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Digital data needs to be carried on an analog signal.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carrier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signal (frequency 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performs the function of transporting the digital data in an analog waveform.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analog carrier signal is manipulated to uniquely identify the digital data being carried.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67" name="Google Shape;67;p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" name="Google Shape;68;p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5"/>
          <p:cNvSpPr txBox="1"/>
          <p:nvPr/>
        </p:nvSpPr>
        <p:spPr>
          <a:xfrm>
            <a:off x="304800" y="381000"/>
            <a:ext cx="5557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5.2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digital-to-analog conversion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" y="1905000"/>
            <a:ext cx="8401050" cy="288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" name="Google Shape;77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Amplitude Shift Keying (ASK)</a:t>
            </a:r>
            <a:endParaRPr/>
          </a:p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85800" y="17526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ASK is implemented by changing the amplitude of a carrier signal to reflect amplitude levels in the digital signal.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example: a digital “1” could not affect the signal, whereas a digital “0” would, by making it zero.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line encoding will determine the values of the analog waveform to reflect the digital data being carried.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84" name="Google Shape;84;p7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7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7"/>
          <p:cNvSpPr txBox="1"/>
          <p:nvPr/>
        </p:nvSpPr>
        <p:spPr>
          <a:xfrm>
            <a:off x="304800" y="762000"/>
            <a:ext cx="68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5.3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amplitude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7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31350" t="0"/>
          <a:stretch/>
        </p:blipFill>
        <p:spPr>
          <a:xfrm>
            <a:off x="1609950" y="2754300"/>
            <a:ext cx="5924101" cy="23510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/>
          <p:nvPr/>
        </p:nvSpPr>
        <p:spPr>
          <a:xfrm>
            <a:off x="152400" y="5314650"/>
            <a:ext cx="86580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known as On Off Keying (OOK)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95" name="Google Shape;95;p8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8"/>
          <p:cNvSpPr txBox="1"/>
          <p:nvPr/>
        </p:nvSpPr>
        <p:spPr>
          <a:xfrm>
            <a:off x="304800" y="762000"/>
            <a:ext cx="48752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5.4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binary 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00" y="2713037"/>
            <a:ext cx="8255000" cy="239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5" name="Google Shape;105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Multi level </a:t>
            </a:r>
            <a:r>
              <a:rPr lang="en-US"/>
              <a:t>ASK</a:t>
            </a:r>
            <a:endParaRPr/>
          </a:p>
        </p:txBody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ASK can use multiple bits per signal element.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688" y="3428988"/>
            <a:ext cx="397192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Frequency Shift Keying</a:t>
            </a:r>
            <a:endParaRPr/>
          </a:p>
        </p:txBody>
      </p:sp>
      <p:sp>
        <p:nvSpPr>
          <p:cNvPr id="114" name="Google Shape;114;p1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digital data stream changes the frequency of the carrier signal, 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a “1” could be represented by 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+</a:t>
            </a:r>
            <a:r>
              <a:rPr b="0" i="0" lang="en-US" sz="32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f, and a “0” could be represented by 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=f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0" i="0" lang="en-US" sz="32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11"/>
          <p:cNvSpPr txBox="1"/>
          <p:nvPr/>
        </p:nvSpPr>
        <p:spPr>
          <a:xfrm>
            <a:off x="304800" y="7620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5.6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frequency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1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4" name="Google Shape;124;p11"/>
          <p:cNvPicPr preferRelativeResize="0"/>
          <p:nvPr/>
        </p:nvPicPr>
        <p:blipFill rotWithShape="1">
          <a:blip r:embed="rId3">
            <a:alphaModFix/>
          </a:blip>
          <a:srcRect b="0" l="0" r="34253" t="0"/>
          <a:stretch/>
        </p:blipFill>
        <p:spPr>
          <a:xfrm>
            <a:off x="1732617" y="2274650"/>
            <a:ext cx="5678776" cy="266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0" name="Google Shape;130;p1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Coherent and Non Coherent</a:t>
            </a:r>
            <a:endParaRPr/>
          </a:p>
        </p:txBody>
      </p:sp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non-coherent FSK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scheme, when we change from one frequency to the other, we do not adhere to the current phase of the signal. 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</a:t>
            </a:r>
            <a:r>
              <a:rPr b="0" i="0" lang="en-US" sz="35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coherent FSK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switch from one frequency signal to the other only occurs at the same phase in the signal.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37" name="Google Shape;137;p13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13"/>
          <p:cNvSpPr txBox="1"/>
          <p:nvPr/>
        </p:nvSpPr>
        <p:spPr>
          <a:xfrm>
            <a:off x="304800" y="762000"/>
            <a:ext cx="6035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5.7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 of MFSK used in Example 5.6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75" y="2506662"/>
            <a:ext cx="8226425" cy="244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" name="Google Shape;147;p1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Multi level </a:t>
            </a:r>
            <a:r>
              <a:rPr lang="en-US"/>
              <a:t>FSK</a:t>
            </a:r>
            <a:endParaRPr/>
          </a:p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lang="en-US"/>
              <a:t>Like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ASK, FSK can use multiple bits per signal element.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500" y="3133925"/>
            <a:ext cx="6487725" cy="361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Phase Shift </a:t>
            </a:r>
            <a:r>
              <a:rPr lang="en-US"/>
              <a:t>Keying</a:t>
            </a:r>
            <a:endParaRPr/>
          </a:p>
        </p:txBody>
      </p:sp>
      <p:sp>
        <p:nvSpPr>
          <p:cNvPr id="156" name="Google Shape;156;p1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vary the phase shift of the carrier signal to represent digital data.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PSK is much more robust than ASK as it is not that vulnerable to noise, which changes amplitude of the signal.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62" name="Google Shape;162;p16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16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16"/>
          <p:cNvSpPr txBox="1"/>
          <p:nvPr/>
        </p:nvSpPr>
        <p:spPr>
          <a:xfrm>
            <a:off x="304800" y="762000"/>
            <a:ext cx="432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5.9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6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025" y="1987825"/>
            <a:ext cx="6017750" cy="334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72" name="Google Shape;172;p17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7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17"/>
          <p:cNvSpPr txBox="1"/>
          <p:nvPr/>
        </p:nvSpPr>
        <p:spPr>
          <a:xfrm>
            <a:off x="304800" y="762000"/>
            <a:ext cx="432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5.9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phase shift keying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7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34322" t="0"/>
          <a:stretch/>
        </p:blipFill>
        <p:spPr>
          <a:xfrm>
            <a:off x="1699963" y="2650325"/>
            <a:ext cx="5667877" cy="23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82" name="Google Shape;182;p18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p18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18"/>
          <p:cNvSpPr txBox="1"/>
          <p:nvPr/>
        </p:nvSpPr>
        <p:spPr>
          <a:xfrm>
            <a:off x="304800" y="762000"/>
            <a:ext cx="445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5.10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B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1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2463800"/>
            <a:ext cx="8080375" cy="25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Quadrature PSK</a:t>
            </a:r>
            <a:endParaRPr/>
          </a:p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increase the bit rate, we can code 2 or more bits onto one signal element.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QPSK, we parallelize the bit stream so that every two incoming bits are split up and PSK a carrier frequency. One carrier frequency is phase shifted 90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the other - in quadrature.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two PSKed signals are then added to produce one of 4 signal elements. L = 4 here.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99" name="Google Shape;199;p20"/>
          <p:cNvCxnSpPr/>
          <p:nvPr/>
        </p:nvCxnSpPr>
        <p:spPr>
          <a:xfrm>
            <a:off x="152400" y="762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152400" y="9144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20"/>
          <p:cNvSpPr txBox="1"/>
          <p:nvPr/>
        </p:nvSpPr>
        <p:spPr>
          <a:xfrm>
            <a:off x="304800" y="304800"/>
            <a:ext cx="491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QPSK and its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152400" y="6324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725" y="1143000"/>
            <a:ext cx="7258050" cy="491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9" name="Google Shape;209;p2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Constellation Diagrams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constellation diagram helps us to define the amplitude and phase of a signal when we are using two carriers, one in quadrature of the other.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X-axis represents the in-phase carrier and the Y-axis represents quadrature carrier.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216" name="Google Shape;216;p22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p22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22"/>
          <p:cNvSpPr txBox="1"/>
          <p:nvPr/>
        </p:nvSpPr>
        <p:spPr>
          <a:xfrm>
            <a:off x="304800" y="762000"/>
            <a:ext cx="699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5.12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a constellation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25" y="1989137"/>
            <a:ext cx="5603876" cy="36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66712" y="1079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749300" y="107950"/>
            <a:ext cx="328612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490537" y="5302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860425" y="530225"/>
            <a:ext cx="368300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6200" y="457200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11200" y="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42912" y="533400"/>
            <a:ext cx="8226425" cy="3175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203325" y="0"/>
            <a:ext cx="369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Example 5.8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28600" y="1447800"/>
            <a:ext cx="82296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the constellation diagrams for an ASK (OOK), BPSK, and QPSK signals.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228600" y="2482850"/>
            <a:ext cx="8686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Figure 5.13 shows the three constellation diagrams.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32686" t="0"/>
          <a:stretch/>
        </p:blipFill>
        <p:spPr>
          <a:xfrm>
            <a:off x="1425379" y="3920975"/>
            <a:ext cx="5476449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242" name="Google Shape;242;p24"/>
          <p:cNvCxnSpPr/>
          <p:nvPr/>
        </p:nvCxnSpPr>
        <p:spPr>
          <a:xfrm>
            <a:off x="152400" y="762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24"/>
          <p:cNvCxnSpPr/>
          <p:nvPr/>
        </p:nvCxnSpPr>
        <p:spPr>
          <a:xfrm>
            <a:off x="152400" y="9144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24"/>
          <p:cNvSpPr txBox="1"/>
          <p:nvPr/>
        </p:nvSpPr>
        <p:spPr>
          <a:xfrm>
            <a:off x="304800" y="304800"/>
            <a:ext cx="49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QPSK and its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24"/>
          <p:cNvCxnSpPr/>
          <p:nvPr/>
        </p:nvCxnSpPr>
        <p:spPr>
          <a:xfrm>
            <a:off x="152400" y="6324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725" y="1143000"/>
            <a:ext cx="7258049" cy="491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3911925" y="1091575"/>
            <a:ext cx="4914900" cy="513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67311" r="0" t="0"/>
          <a:stretch/>
        </p:blipFill>
        <p:spPr>
          <a:xfrm>
            <a:off x="3911925" y="1848863"/>
            <a:ext cx="4663999" cy="3541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366712" y="1079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749300" y="107950"/>
            <a:ext cx="328612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490537" y="5302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860425" y="530225"/>
            <a:ext cx="368300" cy="47466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76200" y="457200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711200" y="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42912" y="533400"/>
            <a:ext cx="8226425" cy="3175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" name="Google Shape;261;p25"/>
          <p:cNvCxnSpPr/>
          <p:nvPr/>
        </p:nvCxnSpPr>
        <p:spPr>
          <a:xfrm>
            <a:off x="457200" y="29718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" name="Google Shape;262;p25"/>
          <p:cNvCxnSpPr/>
          <p:nvPr/>
        </p:nvCxnSpPr>
        <p:spPr>
          <a:xfrm>
            <a:off x="458787" y="41910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p25"/>
          <p:cNvSpPr txBox="1"/>
          <p:nvPr/>
        </p:nvSpPr>
        <p:spPr>
          <a:xfrm>
            <a:off x="495300" y="30638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Quadrature amplitude modulation is a combination of ASK and PSK.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25"/>
          <p:cNvGrpSpPr/>
          <p:nvPr/>
        </p:nvGrpSpPr>
        <p:grpSpPr>
          <a:xfrm>
            <a:off x="457200" y="2362200"/>
            <a:ext cx="1143000" cy="566737"/>
            <a:chOff x="1200" y="1248"/>
            <a:chExt cx="720" cy="357"/>
          </a:xfrm>
        </p:grpSpPr>
        <p:pic>
          <p:nvPicPr>
            <p:cNvPr id="265" name="Google Shape;26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5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idx="12" type="sldNum"/>
          </p:nvPr>
        </p:nvSpPr>
        <p:spPr>
          <a:xfrm>
            <a:off x="8129700" y="6400800"/>
            <a:ext cx="1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272" name="Google Shape;272;p26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" name="Google Shape;273;p26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26"/>
          <p:cNvSpPr txBox="1"/>
          <p:nvPr/>
        </p:nvSpPr>
        <p:spPr>
          <a:xfrm>
            <a:off x="304800" y="762000"/>
            <a:ext cx="75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5.14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Constellation diagrams for some QAMs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26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714625"/>
            <a:ext cx="8610600" cy="183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E4A8"/>
      </a:accent4>
      <a:accent5>
        <a:srgbClr val="FFCF01"/>
      </a:accent5>
      <a:accent6>
        <a:srgbClr val="FFFFFF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