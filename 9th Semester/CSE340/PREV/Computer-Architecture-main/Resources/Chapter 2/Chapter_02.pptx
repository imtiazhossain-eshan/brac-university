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y="6858000" cx="9144000"/>
  <p:notesSz cx="7099300" cy="10234600"/>
  <p:embeddedFontLst>
    <p:embeddedFont>
      <p:font typeface="Corbel"/>
      <p:regular r:id="rId91"/>
      <p:bold r:id="rId92"/>
      <p:italic r:id="rId93"/>
      <p:boldItalic r:id="rId94"/>
    </p:embeddedFont>
    <p:embeddedFont>
      <p:font typeface="Tahoma"/>
      <p:regular r:id="rId95"/>
      <p:bold r:id="rId96"/>
    </p:embeddedFont>
    <p:embeddedFont>
      <p:font typeface="Arial Black"/>
      <p:regular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8" roundtripDataSignature="AMtx7mhoHawcyRIKJmh7wE74iFOl/Fyj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E91ED-E7B9-44A4-AFF3-EAC92480F7D8}">
  <a:tblStyle styleId="{D51E91ED-E7B9-44A4-AFF3-EAC92480F7D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Tahoma-regular.fntdata"/><Relationship Id="rId94" Type="http://schemas.openxmlformats.org/officeDocument/2006/relationships/font" Target="fonts/Corbel-boldItalic.fntdata"/><Relationship Id="rId97" Type="http://schemas.openxmlformats.org/officeDocument/2006/relationships/font" Target="fonts/ArialBlack-regular.fntdata"/><Relationship Id="rId96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98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Corbel-regular.fntdata"/><Relationship Id="rId90" Type="http://schemas.openxmlformats.org/officeDocument/2006/relationships/slide" Target="slides/slide83.xml"/><Relationship Id="rId93" Type="http://schemas.openxmlformats.org/officeDocument/2006/relationships/font" Target="fonts/Corbel-italic.fntdata"/><Relationship Id="rId92" Type="http://schemas.openxmlformats.org/officeDocument/2006/relationships/font" Target="fonts/Corbel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26" name="Google Shape;126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27" name="Google Shape;127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28" name="Google Shape;128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37" name="Google Shape;137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38" name="Google Shape;138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39" name="Google Shape;139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56" name="Google Shape;156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57" name="Google Shape;157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58" name="Google Shape;158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67" name="Google Shape;167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68" name="Google Shape;168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69" name="Google Shape;169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78" name="Google Shape;178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79" name="Google Shape;179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80" name="Google Shape;180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89" name="Google Shape;189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90" name="Google Shape;190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91" name="Google Shape;191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00" name="Google Shape;200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01" name="Google Shape;201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02" name="Google Shape;202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11" name="Google Shape;211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12" name="Google Shape;212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13" name="Google Shape;213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25" name="Google Shape;225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26" name="Google Shape;226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27" name="Google Shape;227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38" name="Google Shape;238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39" name="Google Shape;239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40" name="Google Shape;240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49" name="Google Shape;249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50" name="Google Shape;250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51" name="Google Shape;251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62" name="Google Shape;262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63" name="Google Shape;263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64" name="Google Shape;264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73" name="Google Shape;273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74" name="Google Shape;274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75" name="Google Shape;275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85" name="Google Shape;285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86" name="Google Shape;286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87" name="Google Shape;287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98" name="Google Shape;298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99" name="Google Shape;299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00" name="Google Shape;300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22" name="Google Shape;32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23" name="Google Shape;32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24" name="Google Shape;32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59" name="Google Shape;359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60" name="Google Shape;360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61" name="Google Shape;361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81" name="Google Shape;381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82" name="Google Shape;382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83" name="Google Shape;383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4" name="Google Shape;384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07" name="Google Shape;40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08" name="Google Shape;40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09" name="Google Shape;40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20" name="Google Shape;420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21" name="Google Shape;421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22" name="Google Shape;422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34" name="Google Shape;434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35" name="Google Shape;435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36" name="Google Shape;436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7" name="Google Shape;437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57" name="Google Shape;457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58" name="Google Shape;458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59" name="Google Shape;459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75" name="Google Shape;475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76" name="Google Shape;476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77" name="Google Shape;477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8" name="Google Shape;478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93" name="Google Shape;493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94" name="Google Shape;494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95" name="Google Shape;495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6" name="Google Shape;496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11" name="Google Shape;511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12" name="Google Shape;512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13" name="Google Shape;513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4" name="Google Shape;514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23" name="Google Shape;523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24" name="Google Shape;524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25" name="Google Shape;525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6" name="Google Shape;526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36" name="Google Shape;536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37" name="Google Shape;537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38" name="Google Shape;538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9" name="Google Shape;539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47" name="Google Shape;547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48" name="Google Shape;548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49" name="Google Shape;549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0" name="Google Shape;550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76" name="Google Shape;576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77" name="Google Shape;577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78" name="Google Shape;578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9" name="Google Shape;579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87" name="Google Shape;587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88" name="Google Shape;588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89" name="Google Shape;589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0" name="Google Shape;590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98" name="Google Shape;598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99" name="Google Shape;599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00" name="Google Shape;600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1" name="Google Shape;601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10" name="Google Shape;610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11" name="Google Shape;611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12" name="Google Shape;612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3" name="Google Shape;613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21" name="Google Shape;621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22" name="Google Shape;622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23" name="Google Shape;623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24" name="Google Shape;624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32" name="Google Shape;632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33" name="Google Shape;633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34" name="Google Shape;634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35" name="Google Shape;635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57" name="Google Shape;657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58" name="Google Shape;658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59" name="Google Shape;659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0" name="Google Shape;660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1" name="Google Shape;661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68" name="Google Shape;668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69" name="Google Shape;669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70" name="Google Shape;670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1" name="Google Shape;671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90" name="Google Shape;690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91" name="Google Shape;691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92" name="Google Shape;692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3" name="Google Shape;693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4" name="Google Shape;694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16" name="Google Shape;716;p5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17" name="Google Shape;717;p5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18" name="Google Shape;718;p5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9" name="Google Shape;719;p5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p5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56" name="Google Shape;756;p5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57" name="Google Shape;757;p5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58" name="Google Shape;758;p5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9" name="Google Shape;759;p5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p5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68" name="Google Shape;768;p5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69" name="Google Shape;769;p5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70" name="Google Shape;770;p5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1" name="Google Shape;771;p5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2" name="Google Shape;772;p5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86" name="Google Shape;786;p5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87" name="Google Shape;787;p5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88" name="Google Shape;788;p5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9" name="Google Shape;789;p5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0" name="Google Shape;790;p5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02" name="Google Shape;802;p6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03" name="Google Shape;803;p6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04" name="Google Shape;804;p6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5" name="Google Shape;805;p6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p6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13" name="Google Shape;813;p6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14" name="Google Shape;814;p6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15" name="Google Shape;815;p6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6" name="Google Shape;816;p6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7" name="Google Shape;817;p6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24" name="Google Shape;824;p6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25" name="Google Shape;825;p6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26" name="Google Shape;826;p6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7" name="Google Shape;827;p6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8" name="Google Shape;828;p6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35" name="Google Shape;835;p6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36" name="Google Shape;836;p6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37" name="Google Shape;837;p6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8" name="Google Shape;838;p6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6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46" name="Google Shape;846;p6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47" name="Google Shape;847;p6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48" name="Google Shape;848;p6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9" name="Google Shape;849;p6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6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61" name="Google Shape;861;p6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62" name="Google Shape;862;p6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63" name="Google Shape;863;p6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4" name="Google Shape;864;p6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5" name="Google Shape;865;p6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75" name="Google Shape;875;p6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76" name="Google Shape;876;p6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77" name="Google Shape;877;p6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8" name="Google Shape;878;p6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p6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87" name="Google Shape;887;p6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88" name="Google Shape;888;p6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89" name="Google Shape;889;p6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0" name="Google Shape;890;p6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1" name="Google Shape;891;p6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98" name="Google Shape;898;p6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99" name="Google Shape;899;p6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00" name="Google Shape;900;p6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01" name="Google Shape;901;p6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" name="Google Shape;902;p6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09" name="Google Shape;909;p6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10" name="Google Shape;910;p6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11" name="Google Shape;911;p6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12" name="Google Shape;912;p6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3" name="Google Shape;913;p6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20" name="Google Shape;920;p7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21" name="Google Shape;921;p7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22" name="Google Shape;922;p7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23" name="Google Shape;923;p7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4" name="Google Shape;924;p7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31" name="Google Shape;931;p7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32" name="Google Shape;932;p7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33" name="Google Shape;933;p7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34" name="Google Shape;934;p7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7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42" name="Google Shape;942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43" name="Google Shape;943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44" name="Google Shape;944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5" name="Google Shape;945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6" name="Google Shape;946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57" name="Google Shape;957;p7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58" name="Google Shape;958;p7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59" name="Google Shape;959;p7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0" name="Google Shape;960;p7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1" name="Google Shape;961;p7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70" name="Google Shape;970;p7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71" name="Google Shape;971;p7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72" name="Google Shape;972;p7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3" name="Google Shape;973;p7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p7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81" name="Google Shape;981;p7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82" name="Google Shape;982;p7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83" name="Google Shape;983;p7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4" name="Google Shape;984;p7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5" name="Google Shape;985;p7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93" name="Google Shape;993;p7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94" name="Google Shape;994;p7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95" name="Google Shape;995;p7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96" name="Google Shape;996;p7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7" name="Google Shape;997;p7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04" name="Google Shape;1004;p7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05" name="Google Shape;1005;p7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06" name="Google Shape;1006;p7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07" name="Google Shape;1007;p7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8" name="Google Shape;1008;p7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15" name="Google Shape;1015;p7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16" name="Google Shape;1016;p7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17" name="Google Shape;1017;p7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18" name="Google Shape;1018;p7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9" name="Google Shape;1019;p7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27" name="Google Shape;1027;p7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28" name="Google Shape;1028;p7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29" name="Google Shape;1029;p7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30" name="Google Shape;1030;p7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1" name="Google Shape;1031;p7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38" name="Google Shape;1038;p8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39" name="Google Shape;1039;p8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40" name="Google Shape;1040;p8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1" name="Google Shape;1041;p8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2" name="Google Shape;1042;p8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50" name="Google Shape;1050;p8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51" name="Google Shape;1051;p8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52" name="Google Shape;1052;p8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53" name="Google Shape;1053;p8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4" name="Google Shape;1054;p8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61" name="Google Shape;1061;p8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62" name="Google Shape;1062;p8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63" name="Google Shape;1063;p8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4" name="Google Shape;1064;p8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5" name="Google Shape;1065;p8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72" name="Google Shape;1072;p8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73" name="Google Shape;1073;p8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74" name="Google Shape;1074;p8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5" name="Google Shape;1075;p8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6" name="Google Shape;1076;p8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83" name="Google Shape;1083;p8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84" name="Google Shape;1084;p8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85" name="Google Shape;1085;p8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86" name="Google Shape;1086;p8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7" name="Google Shape;1087;p8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96" name="Google Shape;1096;p8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97" name="Google Shape;1097;p8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98" name="Google Shape;1098;p8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99" name="Google Shape;1099;p8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0" name="Google Shape;1100;p8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08" name="Google Shape;1108;p8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09" name="Google Shape;1109;p8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10" name="Google Shape;1110;p8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11" name="Google Shape;1111;p8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2" name="Google Shape;1112;p8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34" name="Google Shape;1134;p8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35" name="Google Shape;1135;p8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36" name="Google Shape;1136;p8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37" name="Google Shape;1137;p8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8" name="Google Shape;1138;p8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46" name="Google Shape;1146;p9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47" name="Google Shape;1147;p9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48" name="Google Shape;1148;p9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49" name="Google Shape;1149;p9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0" name="Google Shape;1150;p9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9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59" name="Google Shape;1159;p9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60" name="Google Shape;1160;p9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61" name="Google Shape;1161;p9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62" name="Google Shape;1162;p9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3" name="Google Shape;1163;p9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70" name="Google Shape;1170;p9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71" name="Google Shape;1171;p9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72" name="Google Shape;1172;p9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3" name="Google Shape;1173;p9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4" name="Google Shape;1174;p9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4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9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8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8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9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9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9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10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10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10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0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0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0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0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4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04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0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0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3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3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3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3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3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9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93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93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/>
            </a:p>
          </p:txBody>
        </p:sp>
        <p:sp>
          <p:nvSpPr>
            <p:cNvPr id="19" name="Google Shape;19;p93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/>
            </a:p>
          </p:txBody>
        </p:sp>
      </p:grpSp>
      <p:grpSp>
        <p:nvGrpSpPr>
          <p:cNvPr id="20" name="Google Shape;20;p93"/>
          <p:cNvGrpSpPr/>
          <p:nvPr/>
        </p:nvGrpSpPr>
        <p:grpSpPr>
          <a:xfrm>
            <a:off x="7999412" y="82550"/>
            <a:ext cx="936625" cy="935037"/>
            <a:chOff x="7999413" y="82550"/>
            <a:chExt cx="936625" cy="935038"/>
          </a:xfrm>
        </p:grpSpPr>
        <p:sp>
          <p:nvSpPr>
            <p:cNvPr id="21" name="Google Shape;21;p93"/>
            <p:cNvSpPr/>
            <p:nvPr/>
          </p:nvSpPr>
          <p:spPr>
            <a:xfrm>
              <a:off x="7999413" y="82550"/>
              <a:ext cx="936625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93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93"/>
            <p:cNvSpPr txBox="1"/>
            <p:nvPr/>
          </p:nvSpPr>
          <p:spPr>
            <a:xfrm>
              <a:off x="8107363" y="482600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/>
            </a:p>
          </p:txBody>
        </p:sp>
      </p:grpSp>
      <p:sp>
        <p:nvSpPr>
          <p:cNvPr id="24" name="Google Shape;24;p9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9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5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9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9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95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9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png"/><Relationship Id="rId15" Type="http://schemas.openxmlformats.org/officeDocument/2006/relationships/image" Target="../media/image13.png"/><Relationship Id="rId14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6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7.bin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10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Chapter 2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2409825" y="2924175"/>
            <a:ext cx="583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Instructions: Language of the Computer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repertoire of instructions of a computer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computers have different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many aspects in common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computers had very simple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implementation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modern computers also have simple instruction sets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 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RISC-V Instruction Set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as the example throughout the book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at UC Berkeley as open ISA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managed by the RISC-V Foundation (</a:t>
            </a:r>
            <a:r>
              <a:rPr b="0" i="0" lang="en-US" sz="280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riscv.org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of many modern ISAs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RISC-V Reference Data tear-out card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ISAs have a large share of embedded core market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in consumer electronics, network/storage equipment, cameras, printers,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and subtract, three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sources and one destination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a, b, c  // a gets b + 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arithmetic operations have this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1: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Simplicity favors regularity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 makes implementation simpler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Simplicity enables higher performance at lower cost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 rot="5400000">
            <a:off x="6677818" y="2099468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 Operations of the Computer Hardware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Example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t0, g, h   // temp t0 = g + h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t1, i, j   // temp t1 = i + j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f, t0, t1  // f = t0 - t1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Operands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instructions use register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has a 32 × 64-bit register file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frequently accessed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data is called a “doubleword”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x 64-bit general purpose registers x0 to x31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data is called a “word”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2: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main memory: millions of locations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 rot="5400000">
            <a:off x="6734968" y="2042318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§2.3 Operands of the Computer Hardware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Registers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x0: the constant value 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x1: return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x2: stack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x3: global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x4: thread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temporaries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x8: frame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x9, x18 – x27: saved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 – x11: function arguments/results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 – x17: function arguments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 Example</a:t>
            </a:r>
            <a:endParaRPr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…, j in x19, x20, …, x23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x5,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x6, x22, x23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sub x19, x5, x6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Operands</a:t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used for composite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Arrays, structures, dynamic data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apply arithmetic operations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values from memory into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result from register to memory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is byte addressed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address identifies an 8-bit byte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 Little Endian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Least-significant byte at least address of a word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Big Endian: most-significant byte at least address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does not require words to be aligned 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some other ISAs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 Example</a:t>
            </a:r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A[12] = h + A[8];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in x21, base address of A in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8 requires offset of 64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bytes per doubleword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		x9, 64(x22)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		x9, x21, x9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sd		x9, 96(x22)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Registers vs. Memory</a:t>
            </a:r>
            <a:endParaRPr/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faster to access than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on memory data requires loads and stores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instructions to be executed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must use registers for variables as much as possible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spill to memory for less frequently used variables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optimization is important!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Immediate Operands</a:t>
            </a:r>
            <a:endParaRPr/>
          </a:p>
        </p:txBody>
      </p:sp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data specified in an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x22, x22, 4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constants are common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operand avoids a load instruction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1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Unsigned Binary Integers</a:t>
            </a:r>
            <a:endParaRPr/>
          </a:p>
        </p:txBody>
      </p:sp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an n-bit number</a:t>
            </a:r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44675"/>
            <a:ext cx="6010275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 txBox="1"/>
          <p:nvPr/>
        </p:nvSpPr>
        <p:spPr>
          <a:xfrm>
            <a:off x="684212" y="2565400"/>
            <a:ext cx="8280400" cy="352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Range: 0 to +2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… 0000 1011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+ …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+ … + 8 + 0 + 2 + 1 = 11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64 bits: 0 to +18,446,774,073,709,551,615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 rot="5400000">
            <a:off x="7027068" y="1750218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§2.4 Signed and Unsigned Numbers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2s-Complement Signed Integers</a:t>
            </a:r>
            <a:endParaRPr/>
          </a:p>
        </p:txBody>
      </p:sp>
      <p:sp>
        <p:nvSpPr>
          <p:cNvPr id="233" name="Google Shape;233;p14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an n-bit number</a:t>
            </a:r>
            <a:endParaRPr/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512" y="1844675"/>
            <a:ext cx="6223000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684212" y="2565400"/>
            <a:ext cx="8270875" cy="345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Range: –2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 1111 … 1111 1100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–1×2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…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–2,147,483,648 + 2,147,483,644 = –4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64 bits: −9,223,372,036,854,775,808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to 9,223,372,036,854,775,807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5" name="Google Shape;245;p15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2s-Complement Signed Integers</a:t>
            </a:r>
            <a:endParaRPr/>
          </a:p>
        </p:txBody>
      </p:sp>
      <p:sp>
        <p:nvSpPr>
          <p:cNvPr id="246" name="Google Shape;246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 63 is sign 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for negative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for non-negative numbers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–(–2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can’t be represented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Non-negative numbers have the same unsigned and 2s-complement representation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specific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0:	0000 0000 … 0000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–1:	1111 1111 … 1111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Most-negative:	1000 0000 … 0000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Most-positive:	0111 1111 … 1111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Negation</a:t>
            </a:r>
            <a:endParaRPr/>
          </a:p>
        </p:txBody>
      </p:sp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684212" y="1125537"/>
            <a:ext cx="82708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and add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means 1 → 0, 0 → 1</a:t>
            </a:r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262" y="2536825"/>
            <a:ext cx="35147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 txBox="1"/>
          <p:nvPr/>
        </p:nvSpPr>
        <p:spPr>
          <a:xfrm>
            <a:off x="684212" y="3933825"/>
            <a:ext cx="827087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negate +2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 = 0000 0000 … 0010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 = 1111 1111 … 1101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= 1111 1111 … 1110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9" name="Google Shape;269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 Extension</a:t>
            </a:r>
            <a:endParaRPr/>
          </a:p>
        </p:txBody>
      </p:sp>
      <p:sp>
        <p:nvSpPr>
          <p:cNvPr id="270" name="Google Shape;270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Representing a number using more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the numeric value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Replicate the sign bit to the left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unsigned values: extend with 0s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8-bit to 16-bit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0000 0000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1111 1111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instruction 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sign-extend loaded byte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zero-extend loaded byte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0" name="Google Shape;280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Instructions</a:t>
            </a:r>
            <a:endParaRPr/>
          </a:p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machine code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Encoded as 32-bit instruction words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number of formats encoding operation code (opcode), register numbers,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Regularity!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 rot="5400000">
            <a:off x="6474618" y="2302668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§2.5 Representing Instructions in the Computer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2" name="Google Shape;292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endParaRPr/>
          </a:p>
        </p:txBody>
      </p:sp>
      <p:sp>
        <p:nvSpPr>
          <p:cNvPr id="293" name="Google Shape;293;p19"/>
          <p:cNvSpPr txBox="1"/>
          <p:nvPr>
            <p:ph idx="1" type="body"/>
          </p:nvPr>
        </p:nvSpPr>
        <p:spPr>
          <a:xfrm>
            <a:off x="684212" y="1125537"/>
            <a:ext cx="8270875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16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Compact representation of bit strings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bits per hex digit</a:t>
            </a:r>
            <a:endParaRPr/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1116012" y="2852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{D51E91ED-E7B9-44A4-AFF3-EAC92480F7D8}</a:tableStyleId>
              </a:tblPr>
              <a:tblGrid>
                <a:gridCol w="647700"/>
                <a:gridCol w="1135050"/>
                <a:gridCol w="665150"/>
                <a:gridCol w="1116000"/>
                <a:gridCol w="684200"/>
                <a:gridCol w="1098550"/>
                <a:gridCol w="630225"/>
                <a:gridCol w="1150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19"/>
          <p:cNvSpPr txBox="1"/>
          <p:nvPr/>
        </p:nvSpPr>
        <p:spPr>
          <a:xfrm>
            <a:off x="611187" y="4940300"/>
            <a:ext cx="827087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eca8 6420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1110 1100 1010 1000 0110 0100 0010 0000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5" name="Google Shape;305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R-format Instructions</a:t>
            </a:r>
            <a:endParaRPr/>
          </a:p>
        </p:txBody>
      </p:sp>
      <p:sp>
        <p:nvSpPr>
          <p:cNvPr id="306" name="Google Shape;306;p20"/>
          <p:cNvSpPr txBox="1"/>
          <p:nvPr>
            <p:ph idx="1" type="body"/>
          </p:nvPr>
        </p:nvSpPr>
        <p:spPr>
          <a:xfrm>
            <a:off x="684212" y="2276475"/>
            <a:ext cx="8270875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fields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opcode: operation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rd: destination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funct3: 3-bit function code (additional opcode)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the first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the second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funct7: 7-bit function code (additional opcode)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p20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08" name="Google Shape;308;p20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14" name="Google Shape;314;p20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8" name="Google Shape;318;p20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9" name="Google Shape;329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Example</a:t>
            </a:r>
            <a:endParaRPr/>
          </a:p>
        </p:txBody>
      </p:sp>
      <p:sp>
        <p:nvSpPr>
          <p:cNvPr id="330" name="Google Shape;330;p21"/>
          <p:cNvSpPr txBox="1"/>
          <p:nvPr>
            <p:ph idx="1" type="body"/>
          </p:nvPr>
        </p:nvSpPr>
        <p:spPr>
          <a:xfrm>
            <a:off x="684212" y="2492375"/>
            <a:ext cx="8270875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x9,x20,x21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696912" y="4583112"/>
            <a:ext cx="7259637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0000 0001 0101 1010 0000 0100 1011 0011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015A04B3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grpSp>
        <p:nvGrpSpPr>
          <p:cNvPr id="332" name="Google Shape;332;p21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33" name="Google Shape;333;p21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345" name="Google Shape;345;p21"/>
          <p:cNvSpPr txBox="1"/>
          <p:nvPr/>
        </p:nvSpPr>
        <p:spPr>
          <a:xfrm>
            <a:off x="1331912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26289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37084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57277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4789487" y="322421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6807200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1331912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26289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10101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37084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10100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57277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01001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4789487" y="388778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6807200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0110011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6" name="Google Shape;366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I-format Instructions</a:t>
            </a:r>
            <a:endParaRPr/>
          </a:p>
        </p:txBody>
      </p:sp>
      <p:sp>
        <p:nvSpPr>
          <p:cNvPr id="367" name="Google Shape;367;p22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arithmetic and load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source or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constant operand, or offset added to base address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2s-complement, sign extended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3: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Good design demands good compromises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formats complicate decoding, but allow 32-bit instructions uniformly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formats as similar as possible</a:t>
            </a:r>
            <a:endParaRPr/>
          </a:p>
        </p:txBody>
      </p:sp>
      <p:grpSp>
        <p:nvGrpSpPr>
          <p:cNvPr id="368" name="Google Shape;368;p22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69" name="Google Shape;369;p22"/>
            <p:cNvSpPr txBox="1"/>
            <p:nvPr/>
          </p:nvSpPr>
          <p:spPr>
            <a:xfrm>
              <a:off x="1331640" y="1391533"/>
              <a:ext cx="2374899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immediate</a:t>
              </a:r>
              <a:endParaRPr/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71" name="Google Shape;371;p22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72" name="Google Shape;372;p22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 bits</a:t>
              </a:r>
              <a:endParaRPr/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76" name="Google Shape;376;p22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8" name="Google Shape;38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S-format Instructions</a:t>
            </a:r>
            <a:endParaRPr/>
          </a:p>
        </p:txBody>
      </p:sp>
      <p:sp>
        <p:nvSpPr>
          <p:cNvPr id="389" name="Google Shape;389;p23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immediate format for store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source operand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offset added to base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so that rs1 and rs2 fields always in the same place</a:t>
            </a:r>
            <a:endParaRPr/>
          </a:p>
        </p:txBody>
      </p:sp>
      <p:grpSp>
        <p:nvGrpSpPr>
          <p:cNvPr id="390" name="Google Shape;390;p23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91" name="Google Shape;391;p23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93" name="Google Shape;393;p23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94" name="Google Shape;394;p23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95" name="Google Shape;395;p23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96" name="Google Shape;396;p23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97" name="Google Shape;397;p23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98" name="Google Shape;398;p23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99" name="Google Shape;399;p23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0" name="Google Shape;400;p23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2" name="Google Shape;402;p23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403" name="Google Shape;403;p23"/>
          <p:cNvSpPr txBox="1"/>
          <p:nvPr/>
        </p:nvSpPr>
        <p:spPr>
          <a:xfrm>
            <a:off x="1389062" y="1414462"/>
            <a:ext cx="11811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imm[11:5]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5735637" y="1414462"/>
            <a:ext cx="1069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imm[4:0]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4" name="Google Shape;414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Program Computers</a:t>
            </a:r>
            <a:endParaRPr/>
          </a:p>
        </p:txBody>
      </p:sp>
      <p:sp>
        <p:nvSpPr>
          <p:cNvPr id="415" name="Google Shape;415;p24"/>
          <p:cNvSpPr txBox="1"/>
          <p:nvPr>
            <p:ph idx="1" type="body"/>
          </p:nvPr>
        </p:nvSpPr>
        <p:spPr>
          <a:xfrm>
            <a:off x="3708400" y="1125537"/>
            <a:ext cx="52466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represented in binary, just like data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and data stored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can operate on programs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compilers, linkers,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compatibility allows compiled programs to work on different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ISAs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/>
          </a:p>
        </p:txBody>
      </p:sp>
      <p:pic>
        <p:nvPicPr>
          <p:cNvPr descr="f02-07-P374493"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060575"/>
            <a:ext cx="2908300" cy="384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7" name="Google Shape;427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Operations</a:t>
            </a:r>
            <a:endParaRPr/>
          </a:p>
        </p:txBody>
      </p:sp>
      <p:sp>
        <p:nvSpPr>
          <p:cNvPr id="428" name="Google Shape;428;p25"/>
          <p:cNvSpPr txBox="1"/>
          <p:nvPr>
            <p:ph idx="1" type="body"/>
          </p:nvPr>
        </p:nvSpPr>
        <p:spPr>
          <a:xfrm>
            <a:off x="684212" y="1125537"/>
            <a:ext cx="827087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for bitwise manipulation</a:t>
            </a:r>
            <a:endParaRPr/>
          </a:p>
        </p:txBody>
      </p:sp>
      <p:graphicFrame>
        <p:nvGraphicFramePr>
          <p:cNvPr id="429" name="Google Shape;429;p25"/>
          <p:cNvGraphicFramePr/>
          <p:nvPr/>
        </p:nvGraphicFramePr>
        <p:xfrm>
          <a:off x="1042987" y="177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{D51E91ED-E7B9-44A4-AFF3-EAC92480F7D8}</a:tableStyleId>
              </a:tblPr>
              <a:tblGrid>
                <a:gridCol w="2233600"/>
                <a:gridCol w="1366825"/>
                <a:gridCol w="1512875"/>
                <a:gridCol w="208755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RISC-V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left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slli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right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srli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AND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and, andi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or, 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XOR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xor, xori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NOT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sp>
        <p:nvSpPr>
          <p:cNvPr id="430" name="Google Shape;430;p25"/>
          <p:cNvSpPr txBox="1"/>
          <p:nvPr/>
        </p:nvSpPr>
        <p:spPr>
          <a:xfrm>
            <a:off x="684212" y="5157787"/>
            <a:ext cx="77724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extracting and inserting groups of bits in a word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 rot="5400000">
            <a:off x="7662068" y="1115218"/>
            <a:ext cx="259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§2.6 Logical Operations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1" name="Google Shape;441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Shift Operations</a:t>
            </a:r>
            <a:endParaRPr/>
          </a:p>
        </p:txBody>
      </p:sp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immed: how many positions to shift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slli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multiplies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srli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divides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(unsigned only)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37084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57277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4789487" y="138906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6807200" y="138906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1665287" y="1828800"/>
            <a:ext cx="6762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7094537" y="1830387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3927475" y="182880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5946775" y="1830387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4860925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1400175" y="1389062"/>
            <a:ext cx="11541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funct6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2554287" y="1389062"/>
            <a:ext cx="11525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2833687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7235825" y="3362325"/>
            <a:ext cx="431800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Operations</a:t>
            </a:r>
            <a:endParaRPr/>
          </a:p>
        </p:txBody>
      </p:sp>
      <p:sp>
        <p:nvSpPr>
          <p:cNvPr id="466" name="Google Shape;466;p27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mask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some bits, clear others to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and x9,x10,x11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69" name="Google Shape;469;p27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00000000 00000000 00000000 00000000 00000000 00000000 00001100 00000000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7235825" y="3362325"/>
            <a:ext cx="936625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Operations</a:t>
            </a:r>
            <a:endParaRPr/>
          </a:p>
        </p:txBody>
      </p:sp>
      <p:sp>
        <p:nvSpPr>
          <p:cNvPr id="484" name="Google Shape;484;p28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include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or x9,x10,x11</a:t>
            </a:r>
            <a:endParaRPr/>
          </a:p>
        </p:txBody>
      </p:sp>
      <p:sp>
        <p:nvSpPr>
          <p:cNvPr id="485" name="Google Shape;485;p28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00000000 00000000 00000000 00000000 00000000 00000000 00111101 11000000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7451725" y="3362325"/>
            <a:ext cx="792162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XOR Operations</a:t>
            </a:r>
            <a:endParaRPr/>
          </a:p>
        </p:txBody>
      </p:sp>
      <p:sp>
        <p:nvSpPr>
          <p:cNvPr id="502" name="Google Shape;502;p29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Differencing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xor x9,x10,x12  // NOT operation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1181100" y="34036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00000000 00000000 00000000 00000000 00000000 00000000 00001101  11000000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539750" y="3963987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1181100" y="39878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11111111    11111111  11111111   11111111   11111111   11111111   11111111   11111111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1181100" y="4568825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11111111    11111111  11111111   11111111   11111111   11111111   11110010  00111111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8" name="Google Shape;518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Conditional Operations</a:t>
            </a:r>
            <a:endParaRPr/>
          </a:p>
        </p:txBody>
      </p:sp>
      <p:sp>
        <p:nvSpPr>
          <p:cNvPr id="519" name="Google Shape;519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to a labeled instruction if a condition is true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continue sequentially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beq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== rs2) branch to instruction labeled L1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bne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!= rs2) branch to instruction labeled L1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 rot="5400000">
            <a:off x="6938168" y="1839118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§2.7 Instructions for Making Decisions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0" name="Google Shape;530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If Statements</a:t>
            </a:r>
            <a:endParaRPr/>
          </a:p>
        </p:txBody>
      </p:sp>
      <p:sp>
        <p:nvSpPr>
          <p:cNvPr id="531" name="Google Shape;531;p31"/>
          <p:cNvSpPr txBox="1"/>
          <p:nvPr>
            <p:ph idx="1" type="body"/>
          </p:nvPr>
        </p:nvSpPr>
        <p:spPr>
          <a:xfrm>
            <a:off x="684212" y="1125537"/>
            <a:ext cx="84597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if (i==j) f = g+h;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 f = g-h;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g, … in x19, x20,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bne x22, x23, Else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x0,x0,Exit // unconditional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Else: sub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  <p:sp>
        <p:nvSpPr>
          <p:cNvPr id="532" name="Google Shape;532;p31"/>
          <p:cNvSpPr/>
          <p:nvPr/>
        </p:nvSpPr>
        <p:spPr>
          <a:xfrm>
            <a:off x="3563937" y="5972175"/>
            <a:ext cx="3529012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8879" y="-6180"/>
                </a:moveTo>
                <a:lnTo>
                  <a:pt x="7348" y="-55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calculates addresses</a:t>
            </a:r>
            <a:endParaRPr/>
          </a:p>
        </p:txBody>
      </p:sp>
      <p:pic>
        <p:nvPicPr>
          <p:cNvPr descr="f02-09-P374493" id="533" name="Google Shape;5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484312"/>
            <a:ext cx="3468687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3" name="Google Shape;54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Loop Statements</a:t>
            </a:r>
            <a:endParaRPr/>
          </a:p>
        </p:txBody>
      </p:sp>
      <p:sp>
        <p:nvSpPr>
          <p:cNvPr id="544" name="Google Shape;54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while (save[i] == k) i += 1;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 x22, k in x24, address of save in x25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Loop: slli x10, x22, 3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 x10, x10, x25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x9, 0(x10)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bne  x9, x24, Exit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  addi x22, x22, 1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 x0, x0, Loop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4" name="Google Shape;55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Blocks</a:t>
            </a:r>
            <a:endParaRPr/>
          </a:p>
        </p:txBody>
      </p:sp>
      <p:sp>
        <p:nvSpPr>
          <p:cNvPr id="555" name="Google Shape;555;p3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block is a sequence of instructions with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embedded branches (except at end)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branch targets (except at beginning)</a:t>
            </a:r>
            <a:endParaRPr/>
          </a:p>
        </p:txBody>
      </p:sp>
      <p:grpSp>
        <p:nvGrpSpPr>
          <p:cNvPr id="556" name="Google Shape;556;p33"/>
          <p:cNvGrpSpPr/>
          <p:nvPr/>
        </p:nvGrpSpPr>
        <p:grpSpPr>
          <a:xfrm>
            <a:off x="755650" y="3573462"/>
            <a:ext cx="3311525" cy="2592387"/>
            <a:chOff x="1429" y="2296"/>
            <a:chExt cx="2086" cy="1633"/>
          </a:xfrm>
        </p:grpSpPr>
        <p:sp>
          <p:nvSpPr>
            <p:cNvPr id="557" name="Google Shape;557;p33"/>
            <p:cNvSpPr txBox="1"/>
            <p:nvPr/>
          </p:nvSpPr>
          <p:spPr>
            <a:xfrm>
              <a:off x="1791" y="261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3"/>
            <p:cNvSpPr txBox="1"/>
            <p:nvPr/>
          </p:nvSpPr>
          <p:spPr>
            <a:xfrm>
              <a:off x="1791" y="275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3"/>
            <p:cNvSpPr txBox="1"/>
            <p:nvPr/>
          </p:nvSpPr>
          <p:spPr>
            <a:xfrm>
              <a:off x="1791" y="2886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3"/>
            <p:cNvSpPr txBox="1"/>
            <p:nvPr/>
          </p:nvSpPr>
          <p:spPr>
            <a:xfrm>
              <a:off x="1791" y="3022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3"/>
            <p:cNvSpPr txBox="1"/>
            <p:nvPr/>
          </p:nvSpPr>
          <p:spPr>
            <a:xfrm>
              <a:off x="1791" y="3158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3"/>
            <p:cNvSpPr txBox="1"/>
            <p:nvPr/>
          </p:nvSpPr>
          <p:spPr>
            <a:xfrm>
              <a:off x="1791" y="329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3"/>
            <p:cNvSpPr txBox="1"/>
            <p:nvPr/>
          </p:nvSpPr>
          <p:spPr>
            <a:xfrm>
              <a:off x="1791" y="343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" name="Google Shape;564;p33"/>
            <p:cNvCxnSpPr/>
            <p:nvPr/>
          </p:nvCxnSpPr>
          <p:spPr>
            <a:xfrm>
              <a:off x="2426" y="2296"/>
              <a:ext cx="0" cy="31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5" name="Google Shape;565;p33"/>
            <p:cNvCxnSpPr/>
            <p:nvPr/>
          </p:nvCxnSpPr>
          <p:spPr>
            <a:xfrm>
              <a:off x="2426" y="2614"/>
              <a:ext cx="0" cy="9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6" name="Google Shape;566;p33"/>
            <p:cNvCxnSpPr/>
            <p:nvPr/>
          </p:nvCxnSpPr>
          <p:spPr>
            <a:xfrm>
              <a:off x="2426" y="3521"/>
              <a:ext cx="0" cy="40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7" name="Google Shape;567;p33"/>
            <p:cNvCxnSpPr/>
            <p:nvPr/>
          </p:nvCxnSpPr>
          <p:spPr>
            <a:xfrm>
              <a:off x="2426" y="3521"/>
              <a:ext cx="108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8" name="Google Shape;568;p33"/>
            <p:cNvCxnSpPr/>
            <p:nvPr/>
          </p:nvCxnSpPr>
          <p:spPr>
            <a:xfrm>
              <a:off x="1429" y="2659"/>
              <a:ext cx="363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69" name="Google Shape;569;p33"/>
            <p:cNvSpPr txBox="1"/>
            <p:nvPr/>
          </p:nvSpPr>
          <p:spPr>
            <a:xfrm>
              <a:off x="1791" y="2478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3"/>
            <p:cNvSpPr txBox="1"/>
            <p:nvPr/>
          </p:nvSpPr>
          <p:spPr>
            <a:xfrm>
              <a:off x="1791" y="2341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3"/>
            <p:cNvSpPr txBox="1"/>
            <p:nvPr/>
          </p:nvSpPr>
          <p:spPr>
            <a:xfrm>
              <a:off x="1791" y="3566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3"/>
            <p:cNvSpPr txBox="1"/>
            <p:nvPr/>
          </p:nvSpPr>
          <p:spPr>
            <a:xfrm>
              <a:off x="1791" y="3702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33"/>
          <p:cNvSpPr txBox="1"/>
          <p:nvPr/>
        </p:nvSpPr>
        <p:spPr>
          <a:xfrm>
            <a:off x="4211637" y="3716337"/>
            <a:ext cx="4670425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compiler identifies basic blocks for optimization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advanced processor can accelerate execution of basic blocks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3" name="Google Shape;583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Conditional Operations</a:t>
            </a:r>
            <a:endParaRPr/>
          </a:p>
        </p:txBody>
      </p:sp>
      <p:sp>
        <p:nvSpPr>
          <p:cNvPr id="584" name="Google Shape;584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blt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&lt; rs2) branch to instruction labeled L1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bge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&gt;= rs2) branch to instruction labeled L1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(a &gt; b) a +=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 x22, b in x23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bge  x23, x22, Exit       // branch if b &gt;= 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addi x22, x22,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4" name="Google Shape;594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vs. Unsigned</a:t>
            </a:r>
            <a:endParaRPr/>
          </a:p>
        </p:txBody>
      </p:sp>
      <p:sp>
        <p:nvSpPr>
          <p:cNvPr id="595" name="Google Shape;595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comparison: blt, bge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Unsigned comparison: bltu, bgeu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x22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1111 1111 1111 1111 1111 1111 1111 1111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x23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0000 0000 0000 0000 0000 0000 0000 0001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&lt; x23 // 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 &lt; +1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&gt; x23 //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+4,294,967,295 &gt; +1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5" name="Google Shape;605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Calling</a:t>
            </a:r>
            <a:endParaRPr/>
          </a:p>
        </p:txBody>
      </p:sp>
      <p:sp>
        <p:nvSpPr>
          <p:cNvPr id="606" name="Google Shape;606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required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parameters in registers x10 to x17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control to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 storage for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procedure’s operations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result in register for caller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to place of call (address in x1)</a:t>
            </a:r>
            <a:endParaRPr/>
          </a:p>
        </p:txBody>
      </p:sp>
      <p:sp>
        <p:nvSpPr>
          <p:cNvPr id="607" name="Google Shape;607;p36"/>
          <p:cNvSpPr txBox="1"/>
          <p:nvPr/>
        </p:nvSpPr>
        <p:spPr>
          <a:xfrm rot="5400000">
            <a:off x="6265068" y="2512218"/>
            <a:ext cx="5391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§2.8 Supporting Procedures in Computer Hardware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7" name="Google Shape;617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 Instructions</a:t>
            </a:r>
            <a:endParaRPr/>
          </a:p>
        </p:txBody>
      </p:sp>
      <p:sp>
        <p:nvSpPr>
          <p:cNvPr id="618" name="Google Shape;618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call: jump and link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 x1, ProcedureLabel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of following instruction put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Jumps to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return: jump and link register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 0(x1)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jal, but jumps to 0 + address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x0 as rd (x0 cannot be changed)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also be used for computed jumps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for case/switch statements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leaf_example (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g, long long int h,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i, long long int j) {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long long int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f = (g + h) - (i + j);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return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 g, …, j in x10, …, x13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in x20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temporaries x5, x6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save x5, x6, x20 on stack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9"/>
          <p:cNvSpPr txBox="1"/>
          <p:nvPr>
            <p:ph idx="1" type="body"/>
          </p:nvPr>
        </p:nvSpPr>
        <p:spPr>
          <a:xfrm>
            <a:off x="684212" y="1054100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leaf_example: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sp,sp,-24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x20,0(sp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x5,x10,x11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x6,x12,x1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sub  x20,x5,x6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x10,x20,0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x20,0(sp)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x0,0(x1)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39" name="Google Shape;639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0" name="Google Shape;640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641" name="Google Shape;641;p39"/>
          <p:cNvSpPr txBox="1"/>
          <p:nvPr/>
        </p:nvSpPr>
        <p:spPr>
          <a:xfrm>
            <a:off x="4932362" y="1884362"/>
            <a:ext cx="2794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Save x5, x6, x20 on stack</a:t>
            </a:r>
            <a:endParaRPr/>
          </a:p>
        </p:txBody>
      </p:sp>
      <p:sp>
        <p:nvSpPr>
          <p:cNvPr id="642" name="Google Shape;642;p39"/>
          <p:cNvSpPr txBox="1"/>
          <p:nvPr/>
        </p:nvSpPr>
        <p:spPr>
          <a:xfrm>
            <a:off x="4897437" y="3243262"/>
            <a:ext cx="1327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x5 = g + h</a:t>
            </a:r>
            <a:endParaRPr/>
          </a:p>
        </p:txBody>
      </p:sp>
      <p:sp>
        <p:nvSpPr>
          <p:cNvPr id="643" name="Google Shape;643;p39"/>
          <p:cNvSpPr txBox="1"/>
          <p:nvPr/>
        </p:nvSpPr>
        <p:spPr>
          <a:xfrm>
            <a:off x="4876800" y="3597275"/>
            <a:ext cx="1168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x6 = i + j</a:t>
            </a:r>
            <a:endParaRPr/>
          </a:p>
        </p:txBody>
      </p:sp>
      <p:sp>
        <p:nvSpPr>
          <p:cNvPr id="644" name="Google Shape;644;p39"/>
          <p:cNvSpPr txBox="1"/>
          <p:nvPr/>
        </p:nvSpPr>
        <p:spPr>
          <a:xfrm>
            <a:off x="4897437" y="3927475"/>
            <a:ext cx="1322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= x5 – x6</a:t>
            </a:r>
            <a:endParaRPr/>
          </a:p>
        </p:txBody>
      </p:sp>
      <p:sp>
        <p:nvSpPr>
          <p:cNvPr id="645" name="Google Shape;645;p39"/>
          <p:cNvSpPr txBox="1"/>
          <p:nvPr/>
        </p:nvSpPr>
        <p:spPr>
          <a:xfrm>
            <a:off x="4886325" y="4186237"/>
            <a:ext cx="2613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copy f to return register</a:t>
            </a:r>
            <a:endParaRPr/>
          </a:p>
        </p:txBody>
      </p:sp>
      <p:sp>
        <p:nvSpPr>
          <p:cNvPr id="646" name="Google Shape;646;p39"/>
          <p:cNvSpPr txBox="1"/>
          <p:nvPr/>
        </p:nvSpPr>
        <p:spPr>
          <a:xfrm>
            <a:off x="4878387" y="4537075"/>
            <a:ext cx="3222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Resore x5, x6, x20 from stack</a:t>
            </a:r>
            <a:endParaRPr/>
          </a:p>
        </p:txBody>
      </p:sp>
      <p:sp>
        <p:nvSpPr>
          <p:cNvPr id="647" name="Google Shape;647;p39"/>
          <p:cNvSpPr txBox="1"/>
          <p:nvPr/>
        </p:nvSpPr>
        <p:spPr>
          <a:xfrm>
            <a:off x="4932362" y="5867400"/>
            <a:ext cx="1746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to caller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Usage</a:t>
            </a:r>
            <a:endParaRPr/>
          </a:p>
        </p:txBody>
      </p:sp>
      <p:sp>
        <p:nvSpPr>
          <p:cNvPr id="653" name="Google Shape;653;p4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 temporary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preserved by the callee</a:t>
            </a:r>
            <a:endParaRPr/>
          </a:p>
          <a:p>
            <a: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 – x9, x18 – x27:  saved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used, the callee saves and restores them</a:t>
            </a:r>
            <a:endParaRPr/>
          </a:p>
        </p:txBody>
      </p:sp>
      <p:sp>
        <p:nvSpPr>
          <p:cNvPr id="654" name="Google Shape;654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4" name="Google Shape;664;p48"/>
          <p:cNvSpPr txBox="1"/>
          <p:nvPr>
            <p:ph type="title"/>
          </p:nvPr>
        </p:nvSpPr>
        <p:spPr>
          <a:xfrm>
            <a:off x="684212" y="200025"/>
            <a:ext cx="8259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Byte/Halfword/Word Operations</a:t>
            </a:r>
            <a:endParaRPr/>
          </a:p>
        </p:txBody>
      </p:sp>
      <p:sp>
        <p:nvSpPr>
          <p:cNvPr id="665" name="Google Shape;665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byte/halfword/word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byte/halfword/word: Sign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 unsigned: Zero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lwu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byte/halfword/word: Store rightmost 8/16/32 bits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sb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sh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sw rs2, offset(rs1)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"/>
          <p:cNvSpPr txBox="1"/>
          <p:nvPr>
            <p:ph idx="1" type="body"/>
          </p:nvPr>
        </p:nvSpPr>
        <p:spPr>
          <a:xfrm>
            <a:off x="684212" y="1125537"/>
            <a:ext cx="8270875" cy="29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constants are small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12-bit immediate is sufficient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occasional 32-bit constant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rd, constant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Copies 20-bit constant to bits [31:12] of 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 bit 31 to bits [63:32]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Clears bits [11:0] of rd to 0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6" name="Google Shape;676;p51"/>
          <p:cNvSpPr txBox="1"/>
          <p:nvPr/>
        </p:nvSpPr>
        <p:spPr>
          <a:xfrm>
            <a:off x="4400550" y="4881562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77" name="Google Shape;677;p51"/>
          <p:cNvSpPr txBox="1"/>
          <p:nvPr/>
        </p:nvSpPr>
        <p:spPr>
          <a:xfrm>
            <a:off x="46037" y="4881562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78" name="Google Shape;678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32-bit Constants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2627312" y="4491037"/>
            <a:ext cx="426243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x19, 976  // 0x003D0</a:t>
            </a:r>
            <a:endParaRPr/>
          </a:p>
        </p:txBody>
      </p:sp>
      <p:sp>
        <p:nvSpPr>
          <p:cNvPr id="680" name="Google Shape;680;p51"/>
          <p:cNvSpPr txBox="1"/>
          <p:nvPr/>
        </p:nvSpPr>
        <p:spPr>
          <a:xfrm rot="5400000">
            <a:off x="6040437" y="2768600"/>
            <a:ext cx="5875337" cy="338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§2.10 RISC-V Addressing for Wide Immediates and Addresses</a:t>
            </a:r>
            <a:endParaRPr/>
          </a:p>
        </p:txBody>
      </p:sp>
      <p:sp>
        <p:nvSpPr>
          <p:cNvPr id="681" name="Google Shape;681;p51"/>
          <p:cNvSpPr txBox="1"/>
          <p:nvPr/>
        </p:nvSpPr>
        <p:spPr>
          <a:xfrm>
            <a:off x="2627312" y="5311775"/>
            <a:ext cx="4772025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addi x19,x19,1280  // 0x500</a:t>
            </a:r>
            <a:endParaRPr/>
          </a:p>
        </p:txBody>
      </p:sp>
      <p:sp>
        <p:nvSpPr>
          <p:cNvPr id="682" name="Google Shape;682;p51"/>
          <p:cNvSpPr txBox="1"/>
          <p:nvPr/>
        </p:nvSpPr>
        <p:spPr>
          <a:xfrm>
            <a:off x="2222500" y="4881562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3" name="Google Shape;683;p51"/>
          <p:cNvSpPr txBox="1"/>
          <p:nvPr/>
        </p:nvSpPr>
        <p:spPr>
          <a:xfrm>
            <a:off x="7010400" y="4881562"/>
            <a:ext cx="166528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</a:t>
            </a:r>
            <a:endParaRPr/>
          </a:p>
        </p:txBody>
      </p:sp>
      <p:sp>
        <p:nvSpPr>
          <p:cNvPr id="684" name="Google Shape;684;p51"/>
          <p:cNvSpPr txBox="1"/>
          <p:nvPr/>
        </p:nvSpPr>
        <p:spPr>
          <a:xfrm>
            <a:off x="4400550" y="5730875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85" name="Google Shape;685;p51"/>
          <p:cNvSpPr txBox="1"/>
          <p:nvPr/>
        </p:nvSpPr>
        <p:spPr>
          <a:xfrm>
            <a:off x="46037" y="5730875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6" name="Google Shape;686;p51"/>
          <p:cNvSpPr txBox="1"/>
          <p:nvPr/>
        </p:nvSpPr>
        <p:spPr>
          <a:xfrm>
            <a:off x="2222500" y="5730875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7010400" y="5730875"/>
            <a:ext cx="1665287" cy="338137"/>
          </a:xfrm>
          <a:prstGeom prst="rect">
            <a:avLst/>
          </a:prstGeom>
          <a:solidFill>
            <a:srgbClr val="ECEAA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0101 0000 0000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7" name="Google Shape;69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Addressing</a:t>
            </a:r>
            <a:endParaRPr/>
          </a:p>
        </p:txBody>
      </p:sp>
      <p:sp>
        <p:nvSpPr>
          <p:cNvPr id="698" name="Google Shape;698;p52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instructions specify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Opcode, two registers,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branch targets are near branch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or backward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SB format:</a:t>
            </a:r>
            <a:endParaRPr/>
          </a:p>
        </p:txBody>
      </p:sp>
      <p:sp>
        <p:nvSpPr>
          <p:cNvPr id="699" name="Google Shape;699;p52"/>
          <p:cNvSpPr txBox="1"/>
          <p:nvPr/>
        </p:nvSpPr>
        <p:spPr>
          <a:xfrm>
            <a:off x="771525" y="4941887"/>
            <a:ext cx="8183562" cy="136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PC-relative addressing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address = PC + immediate × 2</a:t>
            </a:r>
            <a:endParaRPr/>
          </a:p>
        </p:txBody>
      </p:sp>
      <p:sp>
        <p:nvSpPr>
          <p:cNvPr id="700" name="Google Shape;700;p52"/>
          <p:cNvSpPr txBox="1"/>
          <p:nvPr/>
        </p:nvSpPr>
        <p:spPr>
          <a:xfrm>
            <a:off x="1331912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1" name="Google Shape;701;p52"/>
          <p:cNvSpPr txBox="1"/>
          <p:nvPr/>
        </p:nvSpPr>
        <p:spPr>
          <a:xfrm>
            <a:off x="26289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</a:t>
            </a:r>
            <a:endParaRPr/>
          </a:p>
        </p:txBody>
      </p:sp>
      <p:sp>
        <p:nvSpPr>
          <p:cNvPr id="702" name="Google Shape;702;p52"/>
          <p:cNvSpPr txBox="1"/>
          <p:nvPr/>
        </p:nvSpPr>
        <p:spPr>
          <a:xfrm>
            <a:off x="37084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703" name="Google Shape;703;p52"/>
          <p:cNvSpPr txBox="1"/>
          <p:nvPr/>
        </p:nvSpPr>
        <p:spPr>
          <a:xfrm>
            <a:off x="5727700" y="3957637"/>
            <a:ext cx="788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4" name="Google Shape;704;p52"/>
          <p:cNvSpPr txBox="1"/>
          <p:nvPr/>
        </p:nvSpPr>
        <p:spPr>
          <a:xfrm>
            <a:off x="4789487" y="395763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705" name="Google Shape;705;p52"/>
          <p:cNvSpPr txBox="1"/>
          <p:nvPr/>
        </p:nvSpPr>
        <p:spPr>
          <a:xfrm>
            <a:off x="6807200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706" name="Google Shape;706;p52"/>
          <p:cNvSpPr txBox="1"/>
          <p:nvPr/>
        </p:nvSpPr>
        <p:spPr>
          <a:xfrm>
            <a:off x="1652587" y="3894137"/>
            <a:ext cx="6334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[10:5]</a:t>
            </a:r>
            <a:endParaRPr/>
          </a:p>
        </p:txBody>
      </p:sp>
      <p:sp>
        <p:nvSpPr>
          <p:cNvPr id="707" name="Google Shape;707;p52"/>
          <p:cNvSpPr txBox="1"/>
          <p:nvPr/>
        </p:nvSpPr>
        <p:spPr>
          <a:xfrm>
            <a:off x="5867400" y="3894137"/>
            <a:ext cx="5318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[4:1]</a:t>
            </a:r>
            <a:endParaRPr/>
          </a:p>
        </p:txBody>
      </p:sp>
      <p:sp>
        <p:nvSpPr>
          <p:cNvPr id="708" name="Google Shape;708;p52"/>
          <p:cNvSpPr txBox="1"/>
          <p:nvPr/>
        </p:nvSpPr>
        <p:spPr>
          <a:xfrm>
            <a:off x="6516687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9" name="Google Shape;709;p52"/>
          <p:cNvSpPr txBox="1"/>
          <p:nvPr/>
        </p:nvSpPr>
        <p:spPr>
          <a:xfrm>
            <a:off x="1041400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10" name="Google Shape;710;p52"/>
          <p:cNvSpPr txBox="1"/>
          <p:nvPr/>
        </p:nvSpPr>
        <p:spPr>
          <a:xfrm>
            <a:off x="771525" y="4572000"/>
            <a:ext cx="822325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imm[12]</a:t>
            </a:r>
            <a:endParaRPr/>
          </a:p>
        </p:txBody>
      </p:sp>
      <p:cxnSp>
        <p:nvCxnSpPr>
          <p:cNvPr id="711" name="Google Shape;711;p52"/>
          <p:cNvCxnSpPr/>
          <p:nvPr/>
        </p:nvCxnSpPr>
        <p:spPr>
          <a:xfrm rot="10800000">
            <a:off x="1182687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2" name="Google Shape;712;p52"/>
          <p:cNvSpPr txBox="1"/>
          <p:nvPr/>
        </p:nvSpPr>
        <p:spPr>
          <a:xfrm>
            <a:off x="6257925" y="4572000"/>
            <a:ext cx="808037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713" name="Google Shape;713;p52"/>
          <p:cNvCxnSpPr/>
          <p:nvPr/>
        </p:nvCxnSpPr>
        <p:spPr>
          <a:xfrm rot="10800000">
            <a:off x="6661150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23" name="Google Shape;723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Jump Addressing</a:t>
            </a:r>
            <a:endParaRPr/>
          </a:p>
        </p:txBody>
      </p:sp>
      <p:sp>
        <p:nvSpPr>
          <p:cNvPr id="724" name="Google Shape;724;p53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and link (</a:t>
            </a: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target uses 20-bit immediate for larger range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UJ format:</a:t>
            </a:r>
            <a:endParaRPr/>
          </a:p>
        </p:txBody>
      </p:sp>
      <p:sp>
        <p:nvSpPr>
          <p:cNvPr id="725" name="Google Shape;725;p53"/>
          <p:cNvSpPr txBox="1"/>
          <p:nvPr/>
        </p:nvSpPr>
        <p:spPr>
          <a:xfrm>
            <a:off x="684212" y="3933825"/>
            <a:ext cx="777240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long jumps, eg, to 32-bit absolute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lui: load address[31:12] to temp register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jalr: add address[11:0] and jump to target</a:t>
            </a:r>
            <a:endParaRPr/>
          </a:p>
        </p:txBody>
      </p:sp>
      <p:sp>
        <p:nvSpPr>
          <p:cNvPr id="726" name="Google Shape;726;p53"/>
          <p:cNvSpPr txBox="1"/>
          <p:nvPr/>
        </p:nvSpPr>
        <p:spPr>
          <a:xfrm>
            <a:off x="5727700" y="2863850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727" name="Google Shape;727;p53"/>
          <p:cNvSpPr txBox="1"/>
          <p:nvPr/>
        </p:nvSpPr>
        <p:spPr>
          <a:xfrm>
            <a:off x="6807200" y="2863850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7094537" y="3306762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729" name="Google Shape;729;p53"/>
          <p:cNvSpPr txBox="1"/>
          <p:nvPr/>
        </p:nvSpPr>
        <p:spPr>
          <a:xfrm>
            <a:off x="5946775" y="3306762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730" name="Google Shape;730;p53"/>
          <p:cNvSpPr txBox="1"/>
          <p:nvPr/>
        </p:nvSpPr>
        <p:spPr>
          <a:xfrm>
            <a:off x="3944937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31" name="Google Shape;731;p53"/>
          <p:cNvSpPr txBox="1"/>
          <p:nvPr/>
        </p:nvSpPr>
        <p:spPr>
          <a:xfrm>
            <a:off x="3686175" y="3478212"/>
            <a:ext cx="808037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732" name="Google Shape;732;p53"/>
          <p:cNvCxnSpPr/>
          <p:nvPr/>
        </p:nvCxnSpPr>
        <p:spPr>
          <a:xfrm rot="10800000">
            <a:off x="4090987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3" name="Google Shape;733;p53"/>
          <p:cNvSpPr txBox="1"/>
          <p:nvPr/>
        </p:nvSpPr>
        <p:spPr>
          <a:xfrm>
            <a:off x="1108075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34" name="Google Shape;734;p53"/>
          <p:cNvSpPr txBox="1"/>
          <p:nvPr/>
        </p:nvSpPr>
        <p:spPr>
          <a:xfrm>
            <a:off x="838200" y="3478212"/>
            <a:ext cx="82232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imm[20]</a:t>
            </a:r>
            <a:endParaRPr/>
          </a:p>
        </p:txBody>
      </p:sp>
      <p:cxnSp>
        <p:nvCxnSpPr>
          <p:cNvPr id="735" name="Google Shape;735;p53"/>
          <p:cNvCxnSpPr/>
          <p:nvPr/>
        </p:nvCxnSpPr>
        <p:spPr>
          <a:xfrm rot="10800000">
            <a:off x="1249362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6" name="Google Shape;736;p53"/>
          <p:cNvSpPr txBox="1"/>
          <p:nvPr/>
        </p:nvSpPr>
        <p:spPr>
          <a:xfrm>
            <a:off x="4235450" y="2863850"/>
            <a:ext cx="149225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3"/>
          <p:cNvSpPr txBox="1"/>
          <p:nvPr/>
        </p:nvSpPr>
        <p:spPr>
          <a:xfrm>
            <a:off x="1398587" y="2863850"/>
            <a:ext cx="254317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3"/>
          <p:cNvSpPr txBox="1"/>
          <p:nvPr/>
        </p:nvSpPr>
        <p:spPr>
          <a:xfrm>
            <a:off x="2008187" y="2968625"/>
            <a:ext cx="1198562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imm[10:1]</a:t>
            </a:r>
            <a:endParaRPr/>
          </a:p>
        </p:txBody>
      </p:sp>
      <p:sp>
        <p:nvSpPr>
          <p:cNvPr id="739" name="Google Shape;739;p53"/>
          <p:cNvSpPr txBox="1"/>
          <p:nvPr/>
        </p:nvSpPr>
        <p:spPr>
          <a:xfrm>
            <a:off x="4284662" y="2968625"/>
            <a:ext cx="1327150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imm[19:12]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Addressing Summary</a:t>
            </a:r>
            <a:endParaRPr/>
          </a:p>
        </p:txBody>
      </p:sp>
      <p:sp>
        <p:nvSpPr>
          <p:cNvPr id="745" name="Google Shape;745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46" name="Google Shape;7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268412"/>
            <a:ext cx="75596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Encoding Summary</a:t>
            </a:r>
            <a:endParaRPr/>
          </a:p>
        </p:txBody>
      </p:sp>
      <p:sp>
        <p:nvSpPr>
          <p:cNvPr id="752" name="Google Shape;752;p5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53" name="Google Shape;7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844675"/>
            <a:ext cx="8123237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3" name="Google Shape;763;p5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</a:t>
            </a:r>
            <a:endParaRPr/>
          </a:p>
        </p:txBody>
      </p:sp>
      <p:sp>
        <p:nvSpPr>
          <p:cNvPr id="764" name="Google Shape;764;p5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processors sharing an area of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 writes, then P2 reads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race if P1 and P2 don’t synchronize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depends of order of 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support required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 read/write memory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other access to the location allowed between the read and 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a single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atomic swap of register ↔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an atomic pair of instructions</a:t>
            </a:r>
            <a:endParaRPr/>
          </a:p>
        </p:txBody>
      </p:sp>
      <p:sp>
        <p:nvSpPr>
          <p:cNvPr id="765" name="Google Shape;765;p56"/>
          <p:cNvSpPr txBox="1"/>
          <p:nvPr/>
        </p:nvSpPr>
        <p:spPr>
          <a:xfrm rot="5400000">
            <a:off x="6277768" y="2499518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§2.11 Parallelism and Instructions: Synchronization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5" name="Google Shape;775;p5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 in RISC-V</a:t>
            </a:r>
            <a:endParaRPr/>
          </a:p>
        </p:txBody>
      </p:sp>
      <p:sp>
        <p:nvSpPr>
          <p:cNvPr id="776" name="Google Shape;776;p5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reserved: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 rd,(rs1)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from address in rs1 to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reservation on memory address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conditional: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sc.d rd,(rs1),rs2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from rs2 to address in rs1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Succeeds if location not changed since the 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0 in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Fails if location is changed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non-zero value in rd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 in RISC-V</a:t>
            </a:r>
            <a:endParaRPr/>
          </a:p>
        </p:txBody>
      </p:sp>
      <p:sp>
        <p:nvSpPr>
          <p:cNvPr id="782" name="Google Shape;782;p5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1: atomic swap (to test/set lock variable)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again:	lr.d x10,(x20)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sc.d x11,(x20),x23 // X11 = status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x11,x0,again  // branch if store failed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x23,x10,0     // X23 = loaded value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2:  lock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121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addi x12,x0,1 		// copy locked value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again:	lr.d x10,(x20) 		// read lock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x10,x0,again 	// check if it is 0 yet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sc.d x11,(x20),x12 	// attempt to store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x11,x0,again	// branch if fails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Unlock: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121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sd   x0,0(x20)		// free lock</a:t>
            </a:r>
            <a:endParaRPr/>
          </a:p>
          <a:p>
            <a:pPr indent="-2667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83" name="Google Shape;783;p5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Translation and Startup</a:t>
            </a:r>
            <a:endParaRPr/>
          </a:p>
        </p:txBody>
      </p:sp>
      <p:sp>
        <p:nvSpPr>
          <p:cNvPr id="794" name="Google Shape;794;p59"/>
          <p:cNvSpPr txBox="1"/>
          <p:nvPr/>
        </p:nvSpPr>
        <p:spPr>
          <a:xfrm>
            <a:off x="3563937" y="1989137"/>
            <a:ext cx="2736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compilers produce object modules directly</a:t>
            </a:r>
            <a:endParaRPr/>
          </a:p>
        </p:txBody>
      </p:sp>
      <p:sp>
        <p:nvSpPr>
          <p:cNvPr id="795" name="Google Shape;795;p59"/>
          <p:cNvSpPr/>
          <p:nvPr/>
        </p:nvSpPr>
        <p:spPr>
          <a:xfrm rot="-2580000">
            <a:off x="3276600" y="1557337"/>
            <a:ext cx="215900" cy="180022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9"/>
          <p:cNvSpPr txBox="1"/>
          <p:nvPr/>
        </p:nvSpPr>
        <p:spPr>
          <a:xfrm>
            <a:off x="7164387" y="4149725"/>
            <a:ext cx="15541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linking</a:t>
            </a:r>
            <a:endParaRPr/>
          </a:p>
        </p:txBody>
      </p:sp>
      <p:sp>
        <p:nvSpPr>
          <p:cNvPr id="797" name="Google Shape;797;p59"/>
          <p:cNvSpPr/>
          <p:nvPr/>
        </p:nvSpPr>
        <p:spPr>
          <a:xfrm>
            <a:off x="6948487" y="3573462"/>
            <a:ext cx="215900" cy="1511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9"/>
          <p:cNvSpPr txBox="1"/>
          <p:nvPr/>
        </p:nvSpPr>
        <p:spPr>
          <a:xfrm rot="5400000">
            <a:off x="6773068" y="2004218"/>
            <a:ext cx="4375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§2.12 Translating and Starting a Program</a:t>
            </a:r>
            <a:endParaRPr/>
          </a:p>
        </p:txBody>
      </p:sp>
      <p:pic>
        <p:nvPicPr>
          <p:cNvPr id="799" name="Google Shape;79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1703387"/>
            <a:ext cx="5597525" cy="41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09" name="Google Shape;809;p6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Producing an Object Module</a:t>
            </a:r>
            <a:endParaRPr/>
          </a:p>
        </p:txBody>
      </p:sp>
      <p:sp>
        <p:nvSpPr>
          <p:cNvPr id="810" name="Google Shape;810;p6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(or compiler) translates program into machine instructions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information for building a complete program from the pieces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Header: described contents of object module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segment: translated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 segment: data allocated for the life of the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Relocation info: for contents that depend on absolute location of loaded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 table: global definitions and external refs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 info: for associating with source code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0" name="Google Shape;820;p6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Linking Object Modules</a:t>
            </a:r>
            <a:endParaRPr/>
          </a:p>
        </p:txBody>
      </p:sp>
      <p:sp>
        <p:nvSpPr>
          <p:cNvPr id="821" name="Google Shape;821;p6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Produces an executable image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Merges segments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Resolve labels (determine their addresses)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Patch location-dependent and external refs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leave location dependencies for fixing by a relocating loader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virtual memory, no need to do this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can be loaded into absolute location in virtual memory space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31" name="Google Shape;831;p6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a Program</a:t>
            </a:r>
            <a:endParaRPr/>
          </a:p>
        </p:txBody>
      </p:sp>
      <p:sp>
        <p:nvSpPr>
          <p:cNvPr id="832" name="Google Shape;832;p6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from image file on disk into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Read header to determine segment sizes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Create virtual address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Copy text and initialized data into memory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set page table entries so they can be faulted 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Set up arguments on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Initialize registers (including sp, fp, gp)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Jump to startup routine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Copies arguments to x10, … and calls main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main returns, do exit syscall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42" name="Google Shape;842;p6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Dynamic Linking</a:t>
            </a:r>
            <a:endParaRPr/>
          </a:p>
        </p:txBody>
      </p:sp>
      <p:sp>
        <p:nvSpPr>
          <p:cNvPr id="843" name="Google Shape;843;p6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link/load library procedure when it is called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procedure code to be relocatable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image bloat caused by static linking of all (transitively) referenced libraries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picks up new library versions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53" name="Google Shape;853;p6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Lazy Linkage</a:t>
            </a:r>
            <a:endParaRPr/>
          </a:p>
        </p:txBody>
      </p:sp>
      <p:sp>
        <p:nvSpPr>
          <p:cNvPr id="854" name="Google Shape;854;p64"/>
          <p:cNvSpPr txBox="1"/>
          <p:nvPr/>
        </p:nvSpPr>
        <p:spPr>
          <a:xfrm>
            <a:off x="1042987" y="2497137"/>
            <a:ext cx="1797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Indirection table</a:t>
            </a:r>
            <a:endParaRPr/>
          </a:p>
        </p:txBody>
      </p:sp>
      <p:sp>
        <p:nvSpPr>
          <p:cNvPr id="855" name="Google Shape;855;p64"/>
          <p:cNvSpPr txBox="1"/>
          <p:nvPr/>
        </p:nvSpPr>
        <p:spPr>
          <a:xfrm>
            <a:off x="1042987" y="3305175"/>
            <a:ext cx="25209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Stub: Loads routine ID,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to linker/loader</a:t>
            </a:r>
            <a:endParaRPr/>
          </a:p>
        </p:txBody>
      </p:sp>
      <p:sp>
        <p:nvSpPr>
          <p:cNvPr id="856" name="Google Shape;856;p64"/>
          <p:cNvSpPr txBox="1"/>
          <p:nvPr/>
        </p:nvSpPr>
        <p:spPr>
          <a:xfrm>
            <a:off x="1042987" y="4370387"/>
            <a:ext cx="2063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Linker/loader code</a:t>
            </a:r>
            <a:endParaRPr/>
          </a:p>
        </p:txBody>
      </p:sp>
      <p:sp>
        <p:nvSpPr>
          <p:cNvPr id="857" name="Google Shape;857;p64"/>
          <p:cNvSpPr txBox="1"/>
          <p:nvPr/>
        </p:nvSpPr>
        <p:spPr>
          <a:xfrm>
            <a:off x="1042987" y="5233987"/>
            <a:ext cx="1568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mapped code</a:t>
            </a:r>
            <a:endParaRPr/>
          </a:p>
        </p:txBody>
      </p:sp>
      <p:pic>
        <p:nvPicPr>
          <p:cNvPr id="858" name="Google Shape;85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3350" y="1233487"/>
            <a:ext cx="4013200" cy="50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1995487"/>
            <a:ext cx="6045200" cy="269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69" name="Google Shape;869;p6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Starting Java Applications</a:t>
            </a:r>
            <a:endParaRPr/>
          </a:p>
        </p:txBody>
      </p:sp>
      <p:sp>
        <p:nvSpPr>
          <p:cNvPr id="870" name="Google Shape;870;p65"/>
          <p:cNvSpPr/>
          <p:nvPr/>
        </p:nvSpPr>
        <p:spPr>
          <a:xfrm>
            <a:off x="6003925" y="1844675"/>
            <a:ext cx="1939925" cy="906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5771" y="-13129"/>
                </a:moveTo>
                <a:lnTo>
                  <a:pt x="3269" y="-1018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portable instruction set for the JVM</a:t>
            </a:r>
            <a:endParaRPr/>
          </a:p>
        </p:txBody>
      </p:sp>
      <p:sp>
        <p:nvSpPr>
          <p:cNvPr id="871" name="Google Shape;871;p65"/>
          <p:cNvSpPr/>
          <p:nvPr/>
        </p:nvSpPr>
        <p:spPr>
          <a:xfrm>
            <a:off x="7156450" y="4149725"/>
            <a:ext cx="15843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098" y="-15401"/>
                </a:moveTo>
                <a:lnTo>
                  <a:pt x="4574" y="-1247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Interprets bytecodes</a:t>
            </a:r>
            <a:endParaRPr/>
          </a:p>
        </p:txBody>
      </p:sp>
      <p:sp>
        <p:nvSpPr>
          <p:cNvPr id="872" name="Google Shape;872;p65"/>
          <p:cNvSpPr/>
          <p:nvPr/>
        </p:nvSpPr>
        <p:spPr>
          <a:xfrm>
            <a:off x="179387" y="4005262"/>
            <a:ext cx="1704975" cy="1728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523" y="33136"/>
                </a:moveTo>
                <a:lnTo>
                  <a:pt x="1714" y="27078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Compiles bytecodes of “hot” methods into native code for host machine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82" name="Google Shape;882;p6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Sort Example</a:t>
            </a:r>
            <a:endParaRPr/>
          </a:p>
        </p:txBody>
      </p:sp>
      <p:sp>
        <p:nvSpPr>
          <p:cNvPr id="883" name="Google Shape;883;p66"/>
          <p:cNvSpPr txBox="1"/>
          <p:nvPr>
            <p:ph idx="1" type="body"/>
          </p:nvPr>
        </p:nvSpPr>
        <p:spPr>
          <a:xfrm>
            <a:off x="684212" y="1125537"/>
            <a:ext cx="78216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Illustrates use of assembly instructions for a C bubble sort function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 procedure (leaf)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void swap(long long int v[],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	     long long int k)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long long int temp;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temp = v[k];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v[k] = v[k+1];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v[k+1] = temp;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in x10, k in x11, temp in x5</a:t>
            </a:r>
            <a:endParaRPr/>
          </a:p>
        </p:txBody>
      </p:sp>
      <p:sp>
        <p:nvSpPr>
          <p:cNvPr id="884" name="Google Shape;884;p66"/>
          <p:cNvSpPr txBox="1"/>
          <p:nvPr/>
        </p:nvSpPr>
        <p:spPr>
          <a:xfrm rot="5400000">
            <a:off x="6569868" y="2207418"/>
            <a:ext cx="47815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§2.13 A C Sort Example to Put It All Together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7"/>
          <p:cNvSpPr txBox="1"/>
          <p:nvPr>
            <p:ph idx="1" type="body"/>
          </p:nvPr>
        </p:nvSpPr>
        <p:spPr>
          <a:xfrm>
            <a:off x="684212" y="1268412"/>
            <a:ext cx="8270875" cy="496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swap: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slli x6,x11,3    // reg x6 = k * 8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add  x6,x10,x6   // reg x6 = v + (k * 8)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ld   x5,0(x6)    // reg x5 (temp) = v[k]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ld   x7,8(x6)    // reg x7 = v[k + 1]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x7,0(x6)    // v[k] = reg x7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x5,8(x6)    // v[k+1] = reg x5 (temp)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jalr x0,0(x1)    // return to calling routine</a:t>
            </a:r>
            <a:endParaRPr/>
          </a:p>
        </p:txBody>
      </p:sp>
      <p:sp>
        <p:nvSpPr>
          <p:cNvPr id="894" name="Google Shape;894;p6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95" name="Google Shape;895;p6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Procedure Swap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05" name="Google Shape;905;p6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Sort Procedure in C</a:t>
            </a:r>
            <a:endParaRPr/>
          </a:p>
        </p:txBody>
      </p:sp>
      <p:sp>
        <p:nvSpPr>
          <p:cNvPr id="906" name="Google Shape;906;p6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Non-leaf (calls swap)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void sort (long long int v[], size_t n)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size_t i, j;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for (i = 0; i &lt; n; i += 1) 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for (j = i – 1;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   j &gt;= 0 &amp;&amp; v[j] &gt; v[j + 1];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   j -= 1) 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swap(v,j);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in x10, n in x11, i in x19, j in x20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9"/>
          <p:cNvSpPr txBox="1"/>
          <p:nvPr>
            <p:ph idx="1" type="body"/>
          </p:nvPr>
        </p:nvSpPr>
        <p:spPr>
          <a:xfrm>
            <a:off x="684212" y="10874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Skeleton of outer 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(i = 0; i &lt;n; i += 1) {</a:t>
            </a:r>
            <a:endParaRPr b="0" i="0" sz="20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li   x19,0	      // i =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for1tst: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bge  x19,x11,exit1   // go to exit1 if x19 ≥ x11 (i≥n)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(body of outer for-loop)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x19,x19,1	     // i +=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    for1tst	     // branch to test of outer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exit1:</a:t>
            </a:r>
            <a:endParaRPr/>
          </a:p>
        </p:txBody>
      </p:sp>
      <p:sp>
        <p:nvSpPr>
          <p:cNvPr id="916" name="Google Shape;916;p6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7" name="Google Shape;917;p6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Outer Loop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0"/>
          <p:cNvSpPr txBox="1"/>
          <p:nvPr>
            <p:ph idx="1" type="body"/>
          </p:nvPr>
        </p:nvSpPr>
        <p:spPr>
          <a:xfrm>
            <a:off x="684212" y="10874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Skeleton of inner 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(j = i − 1; j &gt;= 0 &amp;&amp; v[j] &gt; v[j + 1]; j − = 1)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addi x20,x19,-1    // j = i −1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for2tst: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blt  x20,x0,exit2  // go to exit2 if X20 &lt; 0 (j &lt; 0)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slli x5,x20,3      // reg x5 = j * 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 x5,x10,x5     // reg x5 = v + (j * 8)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x6,0(x5)      // reg x6 = v[j]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x7,8(x5)      // reg x7 = v[j + 1]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ble  x6,x7,exit2   // go to exit2 if x6 ≤ x7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x21, x10      // copy parameter x10 into x21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x22, x11      // copy parameter x11 into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x10, x21      // first swap parameter is v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x11, x20      // second swap parameter is j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jal  x1,swap	  // call swap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addi x20,x20,-1	  // j –=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j    for2tst	  // branch to test of inner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exit2:</a:t>
            </a:r>
            <a:endParaRPr/>
          </a:p>
        </p:txBody>
      </p:sp>
      <p:sp>
        <p:nvSpPr>
          <p:cNvPr id="927" name="Google Shape;927;p7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28" name="Google Shape;928;p7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Inner Loop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"/>
          <p:cNvSpPr txBox="1"/>
          <p:nvPr>
            <p:ph idx="1" type="body"/>
          </p:nvPr>
        </p:nvSpPr>
        <p:spPr>
          <a:xfrm>
            <a:off x="684212" y="1268412"/>
            <a:ext cx="8270875" cy="496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saved registers: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sp,sp,-40  // make room on stack for 5 regs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x1,32(sp)  // save x1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x22,24(sp) // save x22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x21,16(sp) // save x21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x20,8(sp)  // save x20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x19,0(sp)  // save x19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Restore saved registers: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exit1: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x19,0(sp) 	 // restore x19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x20,8(sp)  // restore x20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x21,16(sp) // restore x21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x22,24(sp) // restore x22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x1,32(sp)  // restore x1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 40  // restore stack pointer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jalr x0,0(x1)</a:t>
            </a:r>
            <a:endParaRPr/>
          </a:p>
        </p:txBody>
      </p:sp>
      <p:sp>
        <p:nvSpPr>
          <p:cNvPr id="938" name="Google Shape;938;p7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39" name="Google Shape;939;p7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Preserving Registers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49" name="Google Shape;949;p7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 of Compiler Optimization</a:t>
            </a:r>
            <a:endParaRPr/>
          </a:p>
        </p:txBody>
      </p:sp>
      <p:graphicFrame>
        <p:nvGraphicFramePr>
          <p:cNvPr id="950" name="Google Shape;950;p72"/>
          <p:cNvGraphicFramePr/>
          <p:nvPr/>
        </p:nvGraphicFramePr>
        <p:xfrm>
          <a:off x="400050" y="1774825"/>
          <a:ext cx="3829050" cy="2333625"/>
        </p:xfrm>
        <a:graphic>
          <a:graphicData uri="http://schemas.openxmlformats.org/presentationml/2006/ole">
            <mc:AlternateContent>
              <mc:Choice Requires="v">
                <p:oleObj r:id="rId4" imgH="2333625" imgW="3829050" progId="MSGraph.Chart.8" spid="_x0000_s1">
                  <p:embed/>
                </p:oleObj>
              </mc:Choice>
              <mc:Fallback>
                <p:oleObj r:id="rId5" imgH="2333625" imgW="3829050" progId="MSGraph.Chart.8">
                  <p:embed/>
                  <p:pic>
                    <p:nvPicPr>
                      <p:cNvPr id="950" name="Google Shape;950;p7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0050" y="17748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" name="Google Shape;951;p72"/>
          <p:cNvGraphicFramePr/>
          <p:nvPr/>
        </p:nvGraphicFramePr>
        <p:xfrm>
          <a:off x="400050" y="4044950"/>
          <a:ext cx="3771900" cy="2333625"/>
        </p:xfrm>
        <a:graphic>
          <a:graphicData uri="http://schemas.openxmlformats.org/presentationml/2006/ole">
            <mc:AlternateContent>
              <mc:Choice Requires="v">
                <p:oleObj r:id="rId7" imgH="2333625" imgW="3771900" progId="MSGraph.Chart.8" spid="_x0000_s2">
                  <p:embed/>
                </p:oleObj>
              </mc:Choice>
              <mc:Fallback>
                <p:oleObj r:id="rId8" imgH="2333625" imgW="3771900" progId="MSGraph.Chart.8">
                  <p:embed/>
                  <p:pic>
                    <p:nvPicPr>
                      <p:cNvPr id="951" name="Google Shape;951;p7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0050" y="4044950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" name="Google Shape;952;p72"/>
          <p:cNvGraphicFramePr/>
          <p:nvPr/>
        </p:nvGraphicFramePr>
        <p:xfrm>
          <a:off x="4284662" y="1773237"/>
          <a:ext cx="3771900" cy="2333625"/>
        </p:xfrm>
        <a:graphic>
          <a:graphicData uri="http://schemas.openxmlformats.org/presentationml/2006/ole">
            <mc:AlternateContent>
              <mc:Choice Requires="v">
                <p:oleObj r:id="rId10" imgH="2333625" imgW="3771900" progId="MSGraph.Chart.8" spid="_x0000_s3">
                  <p:embed/>
                </p:oleObj>
              </mc:Choice>
              <mc:Fallback>
                <p:oleObj r:id="rId11" imgH="2333625" imgW="3771900" progId="MSGraph.Chart.8">
                  <p:embed/>
                  <p:pic>
                    <p:nvPicPr>
                      <p:cNvPr id="952" name="Google Shape;952;p72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284662" y="1773237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" name="Google Shape;953;p72"/>
          <p:cNvGraphicFramePr/>
          <p:nvPr/>
        </p:nvGraphicFramePr>
        <p:xfrm>
          <a:off x="4427537" y="4048125"/>
          <a:ext cx="3829050" cy="2333625"/>
        </p:xfrm>
        <a:graphic>
          <a:graphicData uri="http://schemas.openxmlformats.org/presentationml/2006/ole">
            <mc:AlternateContent>
              <mc:Choice Requires="v">
                <p:oleObj r:id="rId13" imgH="2333625" imgW="3829050" progId="MSGraph.Chart.8" spid="_x0000_s4">
                  <p:embed/>
                </p:oleObj>
              </mc:Choice>
              <mc:Fallback>
                <p:oleObj r:id="rId14" imgH="2333625" imgW="3829050" progId="MSGraph.Chart.8">
                  <p:embed/>
                  <p:pic>
                    <p:nvPicPr>
                      <p:cNvPr id="953" name="Google Shape;953;p72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427537" y="40481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" name="Google Shape;954;p72"/>
          <p:cNvSpPr txBox="1"/>
          <p:nvPr/>
        </p:nvSpPr>
        <p:spPr>
          <a:xfrm>
            <a:off x="1908175" y="1268412"/>
            <a:ext cx="4730750" cy="3762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Compiled with gcc for Pentium 4 under Linux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64" name="Google Shape;964;p73"/>
          <p:cNvSpPr txBox="1"/>
          <p:nvPr>
            <p:ph type="title"/>
          </p:nvPr>
        </p:nvSpPr>
        <p:spPr>
          <a:xfrm>
            <a:off x="684212" y="266700"/>
            <a:ext cx="82597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 of Language and Algorithm</a:t>
            </a:r>
            <a:endParaRPr/>
          </a:p>
        </p:txBody>
      </p:sp>
      <p:graphicFrame>
        <p:nvGraphicFramePr>
          <p:cNvPr id="965" name="Google Shape;965;p73"/>
          <p:cNvGraphicFramePr/>
          <p:nvPr/>
        </p:nvGraphicFramePr>
        <p:xfrm>
          <a:off x="1647825" y="1125537"/>
          <a:ext cx="5086350" cy="1798637"/>
        </p:xfrm>
        <a:graphic>
          <a:graphicData uri="http://schemas.openxmlformats.org/presentationml/2006/ole">
            <mc:AlternateContent>
              <mc:Choice Requires="v">
                <p:oleObj r:id="rId4" imgH="1798637" imgW="5086350" progId="MSGraph.Chart.8" spid="_x0000_s1">
                  <p:embed/>
                </p:oleObj>
              </mc:Choice>
              <mc:Fallback>
                <p:oleObj r:id="rId5" imgH="1798637" imgW="5086350" progId="MSGraph.Chart.8">
                  <p:embed/>
                  <p:pic>
                    <p:nvPicPr>
                      <p:cNvPr id="965" name="Google Shape;965;p7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47825" y="1125537"/>
                        <a:ext cx="5086350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" name="Google Shape;966;p73"/>
          <p:cNvGraphicFramePr/>
          <p:nvPr/>
        </p:nvGraphicFramePr>
        <p:xfrm>
          <a:off x="1647825" y="2852737"/>
          <a:ext cx="5086350" cy="1800225"/>
        </p:xfrm>
        <a:graphic>
          <a:graphicData uri="http://schemas.openxmlformats.org/presentationml/2006/ole">
            <mc:AlternateContent>
              <mc:Choice Requires="v">
                <p:oleObj r:id="rId7" imgH="1800225" imgW="5086350" progId="MSGraph.Chart.8" spid="_x0000_s2">
                  <p:embed/>
                </p:oleObj>
              </mc:Choice>
              <mc:Fallback>
                <p:oleObj r:id="rId8" imgH="1800225" imgW="5086350" progId="MSGraph.Chart.8">
                  <p:embed/>
                  <p:pic>
                    <p:nvPicPr>
                      <p:cNvPr id="966" name="Google Shape;966;p7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47825" y="2852737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" name="Google Shape;967;p73"/>
          <p:cNvGraphicFramePr/>
          <p:nvPr/>
        </p:nvGraphicFramePr>
        <p:xfrm>
          <a:off x="1619250" y="4652962"/>
          <a:ext cx="5086350" cy="1800225"/>
        </p:xfrm>
        <a:graphic>
          <a:graphicData uri="http://schemas.openxmlformats.org/presentationml/2006/ole">
            <mc:AlternateContent>
              <mc:Choice Requires="v">
                <p:oleObj r:id="rId10" imgH="1800225" imgW="5086350" progId="MSGraph.Chart.8" spid="_x0000_s3">
                  <p:embed/>
                </p:oleObj>
              </mc:Choice>
              <mc:Fallback>
                <p:oleObj r:id="rId11" imgH="1800225" imgW="5086350" progId="MSGraph.Chart.8">
                  <p:embed/>
                  <p:pic>
                    <p:nvPicPr>
                      <p:cNvPr id="967" name="Google Shape;967;p7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19250" y="4652962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77" name="Google Shape;977;p7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Lessons Learnt</a:t>
            </a:r>
            <a:endParaRPr/>
          </a:p>
        </p:txBody>
      </p:sp>
      <p:sp>
        <p:nvSpPr>
          <p:cNvPr id="978" name="Google Shape;978;p7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 and CPI are not good performance indicators in isolation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optimizations are sensitive to the algorithm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Java/JIT compiled code is significantly faster than JVM interpreted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to optimized C in some cases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Nothing can fix a dumb algorithm!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8" name="Google Shape;988;p7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Arrays vs. Pointers</a:t>
            </a:r>
            <a:endParaRPr/>
          </a:p>
        </p:txBody>
      </p:sp>
      <p:sp>
        <p:nvSpPr>
          <p:cNvPr id="989" name="Google Shape;989;p75"/>
          <p:cNvSpPr txBox="1"/>
          <p:nvPr>
            <p:ph idx="1" type="body"/>
          </p:nvPr>
        </p:nvSpPr>
        <p:spPr>
          <a:xfrm>
            <a:off x="684212" y="1125537"/>
            <a:ext cx="78978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indexing involves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Multiplying index by element size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to array base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correspond directly to memory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avoid indexing complexity</a:t>
            </a:r>
            <a:endParaRPr/>
          </a:p>
        </p:txBody>
      </p:sp>
      <p:sp>
        <p:nvSpPr>
          <p:cNvPr id="990" name="Google Shape;990;p75"/>
          <p:cNvSpPr txBox="1"/>
          <p:nvPr/>
        </p:nvSpPr>
        <p:spPr>
          <a:xfrm rot="5400000">
            <a:off x="7401718" y="1375568"/>
            <a:ext cx="3117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§2.14 Arrays versus Pointers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00" name="Google Shape;1000;p7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Clearing an Array</a:t>
            </a:r>
            <a:endParaRPr/>
          </a:p>
        </p:txBody>
      </p:sp>
      <p:graphicFrame>
        <p:nvGraphicFramePr>
          <p:cNvPr id="1001" name="Google Shape;1001;p76"/>
          <p:cNvGraphicFramePr/>
          <p:nvPr/>
        </p:nvGraphicFramePr>
        <p:xfrm>
          <a:off x="107950" y="145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{D51E91ED-E7B9-44A4-AFF3-EAC92480F7D8}</a:tableStyleId>
              </a:tblPr>
              <a:tblGrid>
                <a:gridCol w="4392600"/>
                <a:gridCol w="4535475"/>
              </a:tblGrid>
              <a:tr h="145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clear1(int array[], int size)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int i;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for (i = 0; i &lt; size; i += 1)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array[i] = 0;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clear2(int *array, int size)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int *p;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for (p = &amp;array[0]; p &lt; &amp;array[size];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p = p + 1)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*p = 0;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7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li   x5,0       // i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loop1: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slli x6,x5,3    // x6 = i *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  x7,x10,x6  // x7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 // of array[i]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sd   x0,0(x7)   // array[i]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addi x5,x5,1    // i = i + 1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blt  x5,x11,loop1  // if (i&lt;size)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    // go to loop1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mv x5,x10      // p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of array[0]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slli x6,x11,3  // x6 = size *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 x7,x10,x6  // x7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of array[size]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loop2: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sd x0,0(x5)    // Memory[p]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addi x5,x5,8   // p = p + 8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bltu x5,x7,loop2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if (p&lt;&amp;array[size])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go to loop2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Comparison of Array vs. Ptr</a:t>
            </a:r>
            <a:endParaRPr/>
          </a:p>
        </p:txBody>
      </p:sp>
      <p:sp>
        <p:nvSpPr>
          <p:cNvPr id="1012" name="Google Shape;1012;p7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 “strength reduced” to shift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version requires shift to be inside loop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of index calculation for incremented 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incrementing pointer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can achieve same effect as manual use of pointers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Induction variable elimination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to make program clearer and safer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MIPS Instructions</a:t>
            </a:r>
            <a:endParaRPr/>
          </a:p>
        </p:txBody>
      </p:sp>
      <p:sp>
        <p:nvSpPr>
          <p:cNvPr id="1022" name="Google Shape;1022;p7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commercial predecessor to RISC-V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basic set of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general purpose registers, register 0 is always 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floating-point registers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accessed only by load/store instructions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 use of addressing modes for all data sizes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conditional branches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&lt;, &lt;=, &gt;, &gt;=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blt, bge, bltu, bgeu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slt, sltu (set less than, result is 0 or 1)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use beq, bne to complete the branch</a:t>
            </a:r>
            <a:endParaRPr/>
          </a:p>
          <a:p>
            <a:pPr indent="-187959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7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24" name="Google Shape;1024;p78"/>
          <p:cNvSpPr txBox="1"/>
          <p:nvPr/>
        </p:nvSpPr>
        <p:spPr>
          <a:xfrm rot="5400000">
            <a:off x="7074693" y="1659731"/>
            <a:ext cx="377190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§2.16 Real Stuff: MIPS Instructions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4" name="Google Shape;1034;p7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Encoding</a:t>
            </a:r>
            <a:endParaRPr/>
          </a:p>
        </p:txBody>
      </p:sp>
      <p:pic>
        <p:nvPicPr>
          <p:cNvPr id="1035" name="Google Shape;103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365250"/>
            <a:ext cx="7772400" cy="436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45" name="Google Shape;1045;p8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46" name="Google Shape;1046;p8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Evolution with backward compatibility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 (1974): 8-bit microprocessor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Accumulator, plus 3 index-register pairs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8086 (1978): 16-bit extension to 8080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 set (CISC)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8087 (1980): floating-point coprocessor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 FP instructions and register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80286 (1982): 24-bit addresses, MMU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Segmented memory mapping and protection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80386 (1985): 32-bit extension (now IA-32)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addressing modes and operations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Paged memory mapping as well as segments</a:t>
            </a:r>
            <a:endParaRPr/>
          </a:p>
        </p:txBody>
      </p:sp>
      <p:sp>
        <p:nvSpPr>
          <p:cNvPr id="1047" name="Google Shape;1047;p80"/>
          <p:cNvSpPr txBox="1"/>
          <p:nvPr/>
        </p:nvSpPr>
        <p:spPr>
          <a:xfrm rot="5400000">
            <a:off x="7106443" y="1589881"/>
            <a:ext cx="370840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§2.19 Real Stuff: x86 Instructions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7" name="Google Shape;1057;p8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58" name="Google Shape;1058;p8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 evolution…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i486 (1989): pipelined, on-chip caches and FPU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Compatible competitors: AMD, Cyrix, 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(1993): superscalar, 64-bit datapath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Later versions added MMX (Multi-Media eXtension) instructions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infamous FDIV bug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Pro (1995), Pentium II (1997)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microarchitecture (see Colwell,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Pentium Chronicles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III (1999)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 (Streaming SIMD Extensions) and associated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4 (2001)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microarchitecture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SSE2 instructions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8" name="Google Shape;1068;p8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69" name="Google Shape;1069;p8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further…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AMD64 (2003): extended architecture to 64 bits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EM64T – Extended Memory 64 Technology (2004)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AMD64 adopted by Intel (with refinements)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SSE3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 Core (2006)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SSE4 instructions, virtual machine support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AMD64 (announced 2007): SSE5 instructions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Intel declined to follow, instead…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Vector Extension (announced 2008)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Longer SSE registers, more instructions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Intel didn’t extend with compatibility, its competitors would!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elegance ≠ market success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79" name="Google Shape;1079;p8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x86 Registers</a:t>
            </a:r>
            <a:endParaRPr/>
          </a:p>
        </p:txBody>
      </p:sp>
      <p:pic>
        <p:nvPicPr>
          <p:cNvPr descr="f02-36-P374493" id="1080" name="Google Shape;108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1196975"/>
            <a:ext cx="5024437" cy="50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90" name="Google Shape;1090;p8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x86 Addressing Modes</a:t>
            </a:r>
            <a:endParaRPr/>
          </a:p>
        </p:txBody>
      </p:sp>
      <p:sp>
        <p:nvSpPr>
          <p:cNvPr id="1091" name="Google Shape;1091;p84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operands per instruction</a:t>
            </a:r>
            <a:endParaRPr/>
          </a:p>
        </p:txBody>
      </p:sp>
      <p:graphicFrame>
        <p:nvGraphicFramePr>
          <p:cNvPr id="1092" name="Google Shape;1092;p84"/>
          <p:cNvGraphicFramePr/>
          <p:nvPr/>
        </p:nvGraphicFramePr>
        <p:xfrm>
          <a:off x="1187450" y="1700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{D51E91ED-E7B9-44A4-AFF3-EAC92480F7D8}</a:tableStyleId>
              </a:tblPr>
              <a:tblGrid>
                <a:gridCol w="3349625"/>
                <a:gridCol w="334802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Source/dest operand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 source operand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3" name="Google Shape;1093;p84"/>
          <p:cNvSpPr txBox="1"/>
          <p:nvPr/>
        </p:nvSpPr>
        <p:spPr>
          <a:xfrm>
            <a:off x="684212" y="3933825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addressing modes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in register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displacement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(scale = 0, 1, 2, or 3)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displacement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3" name="Google Shape;1103;p8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x86 Instruction Encoding</a:t>
            </a:r>
            <a:endParaRPr/>
          </a:p>
        </p:txBody>
      </p:sp>
      <p:sp>
        <p:nvSpPr>
          <p:cNvPr id="1104" name="Google Shape;1104;p85"/>
          <p:cNvSpPr txBox="1"/>
          <p:nvPr>
            <p:ph idx="1" type="body"/>
          </p:nvPr>
        </p:nvSpPr>
        <p:spPr>
          <a:xfrm>
            <a:off x="4572000" y="1125537"/>
            <a:ext cx="43830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length encoding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Postfix bytes specify addressing mode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Prefix bytes modify operation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 length, repetition, locking, …</a:t>
            </a:r>
            <a:endParaRPr/>
          </a:p>
        </p:txBody>
      </p:sp>
      <p:pic>
        <p:nvPicPr>
          <p:cNvPr descr="f02-41-P374493" id="1105" name="Google Shape;110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341437"/>
            <a:ext cx="4410075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15" name="Google Shape;1115;p8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Implementing IA-32</a:t>
            </a:r>
            <a:endParaRPr/>
          </a:p>
        </p:txBody>
      </p:sp>
      <p:sp>
        <p:nvSpPr>
          <p:cNvPr id="1116" name="Google Shape;1116;p8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 set makes implementation difficult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translates instructions to simpler microoperations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instructions: 1–1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instructions: 1–many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Microengine similar to RISC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 share makes this economically viable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performance to RISC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 avoid complex instructions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7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RISC-V Instructions</a:t>
            </a:r>
            <a:endParaRPr/>
          </a:p>
        </p:txBody>
      </p:sp>
      <p:sp>
        <p:nvSpPr>
          <p:cNvPr id="1122" name="Google Shape;1122;p8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integer instructions (RV64I)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Those previously described, plus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auipc rd, immed  // rd = (imm&lt;&lt;12) + pc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 by jalr (adds 12-bit immed) for long jump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slt, sltu, slti, sltui: set less than (like MIPS)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addw, subw, addiw: 32-bit add/sub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sllw, srlw, srlw, slliw, srliw, sraiw: 32-bit shift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variant: RV32I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32-bits wide, 32-bit operations</a:t>
            </a:r>
            <a:endParaRPr/>
          </a:p>
        </p:txBody>
      </p:sp>
      <p:sp>
        <p:nvSpPr>
          <p:cNvPr id="1123" name="Google Shape;1123;p8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24" name="Google Shape;1124;p87"/>
          <p:cNvSpPr txBox="1"/>
          <p:nvPr/>
        </p:nvSpPr>
        <p:spPr>
          <a:xfrm rot="5400000">
            <a:off x="6572250" y="2208212"/>
            <a:ext cx="4784725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§2.20 The Rest of the RISC-V Instruction Set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 Extensions</a:t>
            </a:r>
            <a:endParaRPr/>
          </a:p>
        </p:txBody>
      </p:sp>
      <p:sp>
        <p:nvSpPr>
          <p:cNvPr id="1130" name="Google Shape;1130;p8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M: integer multiply, divide, remainder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atomic memory operations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F: single-precision floating point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D: double-precision floating point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compressed 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16-bit encoding for frequently used instructions</a:t>
            </a:r>
            <a:endParaRPr/>
          </a:p>
        </p:txBody>
      </p:sp>
      <p:sp>
        <p:nvSpPr>
          <p:cNvPr id="1131" name="Google Shape;1131;p8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1" name="Google Shape;1141;p8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Fallacies</a:t>
            </a:r>
            <a:endParaRPr/>
          </a:p>
        </p:txBody>
      </p:sp>
      <p:sp>
        <p:nvSpPr>
          <p:cNvPr id="1142" name="Google Shape;1142;p8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Powerful instruction ⇒ higher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instructions required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complex instructions are hard to implement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slow down all instructions, including simple ones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 are good at making fast code from simple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assembly code for high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modern compilers are better at dealing with modern processors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lines of code ⇒ more errors and less productivity</a:t>
            </a:r>
            <a:endParaRPr/>
          </a:p>
        </p:txBody>
      </p:sp>
      <p:sp>
        <p:nvSpPr>
          <p:cNvPr id="1143" name="Google Shape;1143;p89"/>
          <p:cNvSpPr txBox="1"/>
          <p:nvPr/>
        </p:nvSpPr>
        <p:spPr>
          <a:xfrm rot="5400000">
            <a:off x="7495381" y="1266031"/>
            <a:ext cx="293052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§2.22 Fallacies and Pitfalls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53" name="Google Shape;1153;p9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Fallacies</a:t>
            </a:r>
            <a:endParaRPr/>
          </a:p>
        </p:txBody>
      </p:sp>
      <p:sp>
        <p:nvSpPr>
          <p:cNvPr id="1154" name="Google Shape;1154;p90"/>
          <p:cNvSpPr txBox="1"/>
          <p:nvPr>
            <p:ph idx="1" type="body"/>
          </p:nvPr>
        </p:nvSpPr>
        <p:spPr>
          <a:xfrm>
            <a:off x="684212" y="1125537"/>
            <a:ext cx="8270875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compatibility ⇒ instruction set doesn’t change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they do accrete more instructions</a:t>
            </a:r>
            <a:endParaRPr/>
          </a:p>
        </p:txBody>
      </p:sp>
      <p:sp>
        <p:nvSpPr>
          <p:cNvPr id="1155" name="Google Shape;1155;p90"/>
          <p:cNvSpPr txBox="1"/>
          <p:nvPr/>
        </p:nvSpPr>
        <p:spPr>
          <a:xfrm>
            <a:off x="6300787" y="4149725"/>
            <a:ext cx="2035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x86 instruction set</a:t>
            </a:r>
            <a:endParaRPr/>
          </a:p>
        </p:txBody>
      </p:sp>
      <p:pic>
        <p:nvPicPr>
          <p:cNvPr id="1156" name="Google Shape;115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2636837"/>
            <a:ext cx="47529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66" name="Google Shape;1166;p9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Pitfalls</a:t>
            </a:r>
            <a:endParaRPr/>
          </a:p>
        </p:txBody>
      </p:sp>
      <p:sp>
        <p:nvSpPr>
          <p:cNvPr id="1167" name="Google Shape;1167;p9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words are not at sequential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4, not by 1!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Keeping a pointer to an automatic variable after procedure returns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passing pointer back via an argument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becomes invalid when stack popped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77" name="Google Shape;1177;p9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1178" name="Google Shape;1178;p9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Simplicity favors regularity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Good design demands good compromises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 of software/hardware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Compiler, assembler,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typical of RISC ISAs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</a:t>
            </a:r>
            <a:endParaRPr/>
          </a:p>
        </p:txBody>
      </p:sp>
      <p:sp>
        <p:nvSpPr>
          <p:cNvPr id="1179" name="Google Shape;1179;p92"/>
          <p:cNvSpPr txBox="1"/>
          <p:nvPr/>
        </p:nvSpPr>
        <p:spPr>
          <a:xfrm rot="5400000">
            <a:off x="7477125" y="1295400"/>
            <a:ext cx="296703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§2.23 Concluding Remarks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2008-07-27T22:34:41Z</dcterms:created>
  <dc:creator>Peter Ashenden</dc:creator>
</cp:coreProperties>
</file>