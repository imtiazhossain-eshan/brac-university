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9144000"/>
  <p:notesSz cx="7099300" cy="10234600"/>
  <p:embeddedFontLst>
    <p:embeddedFont>
      <p:font typeface="Corbel"/>
      <p:regular r:id="rId33"/>
      <p:bold r:id="rId34"/>
      <p:italic r:id="rId35"/>
      <p:boldItalic r:id="rId36"/>
    </p:embeddedFont>
    <p:embeddedFont>
      <p:font typeface="Tahoma"/>
      <p:regular r:id="rId37"/>
      <p:bold r:id="rId38"/>
    </p:embeddedFont>
    <p:embeddedFont>
      <p:font typeface="Arial Black"/>
      <p:regular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Corbel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Corbel-italic.fntdata"/><Relationship Id="rId12" Type="http://schemas.openxmlformats.org/officeDocument/2006/relationships/slide" Target="slides/slide6.xml"/><Relationship Id="rId34" Type="http://schemas.openxmlformats.org/officeDocument/2006/relationships/font" Target="fonts/Corbel-bold.fntdata"/><Relationship Id="rId15" Type="http://schemas.openxmlformats.org/officeDocument/2006/relationships/slide" Target="slides/slide9.xml"/><Relationship Id="rId37" Type="http://schemas.openxmlformats.org/officeDocument/2006/relationships/font" Target="fonts/Tahoma-regular.fntdata"/><Relationship Id="rId14" Type="http://schemas.openxmlformats.org/officeDocument/2006/relationships/slide" Target="slides/slide8.xml"/><Relationship Id="rId36" Type="http://schemas.openxmlformats.org/officeDocument/2006/relationships/font" Target="fonts/Corbel-boldItalic.fntdata"/><Relationship Id="rId17" Type="http://schemas.openxmlformats.org/officeDocument/2006/relationships/slide" Target="slides/slide11.xml"/><Relationship Id="rId39" Type="http://schemas.openxmlformats.org/officeDocument/2006/relationships/font" Target="fonts/ArialBlack-regular.fntdata"/><Relationship Id="rId16" Type="http://schemas.openxmlformats.org/officeDocument/2006/relationships/slide" Target="slides/slide10.xml"/><Relationship Id="rId38" Type="http://schemas.openxmlformats.org/officeDocument/2006/relationships/font" Target="fonts/Tahoma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1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1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1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2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2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2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2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2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2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2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3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3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3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3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p3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5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5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5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5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5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5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 — Arithmetic for Computers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5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p5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" type="subTitle"/>
          </p:nvPr>
        </p:nvSpPr>
        <p:spPr>
          <a:xfrm>
            <a:off x="2409825" y="2924175"/>
            <a:ext cx="5832475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 rot="5400000">
            <a:off x="4876007" y="2158206"/>
            <a:ext cx="609123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 rot="5400000">
            <a:off x="664369" y="165894"/>
            <a:ext cx="6091238" cy="605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 rot="5400000">
            <a:off x="2263774" y="-454025"/>
            <a:ext cx="5111750" cy="827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6" name="Google Shape;66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7" name="Google Shape;67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8" name="Google Shape;68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9" name="Google Shape;69;p11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684213" y="1125538"/>
            <a:ext cx="405923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3" name="Google Shape;73;p12"/>
          <p:cNvSpPr txBox="1"/>
          <p:nvPr>
            <p:ph idx="2" type="body"/>
          </p:nvPr>
        </p:nvSpPr>
        <p:spPr>
          <a:xfrm>
            <a:off x="4895850" y="1125538"/>
            <a:ext cx="40592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1619250" y="1125537"/>
            <a:ext cx="28575" cy="573246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981200" y="19875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1763712" y="2708275"/>
            <a:ext cx="7380287" cy="73025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0" y="0"/>
            <a:ext cx="9144000" cy="112553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0" y="1125537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1619250" y="549275"/>
            <a:ext cx="28575" cy="576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 (2).png"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50825" y="261937"/>
            <a:ext cx="1155700" cy="64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"/>
          <p:cNvGrpSpPr/>
          <p:nvPr/>
        </p:nvGrpSpPr>
        <p:grpSpPr>
          <a:xfrm>
            <a:off x="1774825" y="104775"/>
            <a:ext cx="6084887" cy="868362"/>
            <a:chOff x="1774113" y="104757"/>
            <a:chExt cx="6084936" cy="868541"/>
          </a:xfrm>
        </p:grpSpPr>
        <p:sp>
          <p:nvSpPr>
            <p:cNvPr id="18" name="Google Shape;18;p1"/>
            <p:cNvSpPr txBox="1"/>
            <p:nvPr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COMPUTER ORGANIZATION AND DESIGN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 txBox="1"/>
            <p:nvPr/>
          </p:nvSpPr>
          <p:spPr>
            <a:xfrm>
              <a:off x="2844096" y="573166"/>
              <a:ext cx="3957669" cy="4001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Hardware/Software Interface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1"/>
          <p:cNvGrpSpPr/>
          <p:nvPr/>
        </p:nvGrpSpPr>
        <p:grpSpPr>
          <a:xfrm>
            <a:off x="8007350" y="92075"/>
            <a:ext cx="935037" cy="935037"/>
            <a:chOff x="8007350" y="92075"/>
            <a:chExt cx="935038" cy="935038"/>
          </a:xfrm>
        </p:grpSpPr>
        <p:sp>
          <p:nvSpPr>
            <p:cNvPr id="21" name="Google Shape;21;p1"/>
            <p:cNvSpPr/>
            <p:nvPr/>
          </p:nvSpPr>
          <p:spPr>
            <a:xfrm>
              <a:off x="8007350" y="92075"/>
              <a:ext cx="935038" cy="935038"/>
            </a:xfrm>
            <a:prstGeom prst="star32">
              <a:avLst>
                <a:gd fmla="val 37500" name="adj"/>
              </a:avLst>
            </a:pr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 txBox="1"/>
            <p:nvPr/>
          </p:nvSpPr>
          <p:spPr>
            <a:xfrm>
              <a:off x="8020050" y="293688"/>
              <a:ext cx="909638" cy="614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 Black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RISC-V</a:t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3" name="Google Shape;23;p1"/>
            <p:cNvSpPr txBox="1"/>
            <p:nvPr/>
          </p:nvSpPr>
          <p:spPr>
            <a:xfrm>
              <a:off x="8115300" y="492125"/>
              <a:ext cx="731838" cy="30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Edition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/>
        </p:nvSpPr>
        <p:spPr>
          <a:xfrm>
            <a:off x="468312" y="2603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3"/>
          <p:cNvSpPr txBox="1"/>
          <p:nvPr/>
        </p:nvSpPr>
        <p:spPr>
          <a:xfrm>
            <a:off x="250825" y="981075"/>
            <a:ext cx="8569325" cy="71437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.jpg" id="35" name="Google Shape;35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70625"/>
            <a:ext cx="1619250" cy="590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1" i="0" lang="en-US" sz="44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Chapter 3</a:t>
            </a:r>
            <a:endParaRPr/>
          </a:p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2409825" y="2924175"/>
            <a:ext cx="5832475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Arithmetic for Computers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Arithmetic for Computers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on integers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 and subtraction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Multiplication and division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Dealing with overflow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Floating-point real numbers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Representation and operations 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 rot="5400000">
            <a:off x="8017668" y="759618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§3.1 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3-01-P374493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2" y="1844675"/>
            <a:ext cx="6938962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Integer Addition</a:t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684212" y="1125537"/>
            <a:ext cx="8270875" cy="67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7 + 6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 rot="5400000">
            <a:off x="7369968" y="1407318"/>
            <a:ext cx="31813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§3.2 Addition and Subtraction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684212" y="3644900"/>
            <a:ext cx="7772400" cy="2592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out of range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+ve and –ve operands, no overflow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two +ve operands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two –ve operands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Integer Subtraction</a:t>
            </a:r>
            <a:endParaRPr/>
          </a:p>
        </p:txBody>
      </p:sp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negation of second operand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7 – 6 = 7 + (–6)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+7:	0000 0000 … 0000 0111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–6:	1111 1111 … 1111 1010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+1:	0000 0000 … 0000 0001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out of range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Subtracting two +ve or two –ve operands, no overflow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Subtracting +ve from –ve operand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Subtracting –ve from +ve operand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Overflow if result sign is 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Multiplication</a:t>
            </a:r>
            <a:endParaRPr/>
          </a:p>
        </p:txBody>
      </p:sp>
      <p:sp>
        <p:nvSpPr>
          <p:cNvPr id="136" name="Google Shape;136;p18"/>
          <p:cNvSpPr txBox="1"/>
          <p:nvPr>
            <p:ph idx="1" type="body"/>
          </p:nvPr>
        </p:nvSpPr>
        <p:spPr>
          <a:xfrm>
            <a:off x="684212" y="1125537"/>
            <a:ext cx="8270875" cy="766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 with long-multiplication approach</a:t>
            </a:r>
            <a:endParaRPr/>
          </a:p>
        </p:txBody>
      </p:sp>
      <p:grpSp>
        <p:nvGrpSpPr>
          <p:cNvPr id="137" name="Google Shape;137;p18"/>
          <p:cNvGrpSpPr/>
          <p:nvPr/>
        </p:nvGrpSpPr>
        <p:grpSpPr>
          <a:xfrm>
            <a:off x="1808162" y="2349500"/>
            <a:ext cx="1428750" cy="2381250"/>
            <a:chOff x="703" y="1616"/>
            <a:chExt cx="900" cy="1500"/>
          </a:xfrm>
        </p:grpSpPr>
        <p:sp>
          <p:nvSpPr>
            <p:cNvPr id="138" name="Google Shape;138;p18"/>
            <p:cNvSpPr txBox="1"/>
            <p:nvPr/>
          </p:nvSpPr>
          <p:spPr>
            <a:xfrm>
              <a:off x="703" y="1616"/>
              <a:ext cx="900" cy="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1000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×  1001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1000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0000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0000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1000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Oi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1001000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9" name="Google Shape;139;p18"/>
            <p:cNvCxnSpPr/>
            <p:nvPr/>
          </p:nvCxnSpPr>
          <p:spPr>
            <a:xfrm rot="10800000">
              <a:off x="703" y="2024"/>
              <a:ext cx="77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" name="Google Shape;140;p18"/>
            <p:cNvCxnSpPr/>
            <p:nvPr/>
          </p:nvCxnSpPr>
          <p:spPr>
            <a:xfrm rot="10800000">
              <a:off x="703" y="2795"/>
              <a:ext cx="77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1" name="Google Shape;141;p18"/>
          <p:cNvSpPr txBox="1"/>
          <p:nvPr/>
        </p:nvSpPr>
        <p:spPr>
          <a:xfrm>
            <a:off x="682625" y="4803775"/>
            <a:ext cx="2305050" cy="92551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 of product is the sum of operand lengths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179387" y="2090737"/>
            <a:ext cx="1439862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31528" y="37552"/>
                </a:moveTo>
                <a:lnTo>
                  <a:pt x="8972" y="2729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179387" y="2565400"/>
            <a:ext cx="1439862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7945" y="38009"/>
                </a:moveTo>
                <a:lnTo>
                  <a:pt x="8972" y="2729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179387" y="4149725"/>
            <a:ext cx="1150937" cy="358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5139" y="37468"/>
                </a:moveTo>
                <a:lnTo>
                  <a:pt x="8257" y="27636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 rot="5400000">
            <a:off x="7954168" y="823118"/>
            <a:ext cx="2012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§3.3 Multiplication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5212" y="2276475"/>
            <a:ext cx="5197475" cy="2976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Multiplication Hardware</a:t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6156325" y="5589587"/>
            <a:ext cx="1439862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43490" y="-10459"/>
                </a:moveTo>
                <a:lnTo>
                  <a:pt x="8972" y="-137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Initially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987" y="1438275"/>
            <a:ext cx="3484562" cy="4713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1275" y="2060575"/>
            <a:ext cx="5199062" cy="2976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Optimized Multiplier</a:t>
            </a:r>
            <a:endParaRPr/>
          </a:p>
        </p:txBody>
      </p:sp>
      <p:sp>
        <p:nvSpPr>
          <p:cNvPr id="170" name="Google Shape;170;p20"/>
          <p:cNvSpPr txBox="1"/>
          <p:nvPr>
            <p:ph idx="1" type="body"/>
          </p:nvPr>
        </p:nvSpPr>
        <p:spPr>
          <a:xfrm>
            <a:off x="684212" y="1125537"/>
            <a:ext cx="8270875" cy="7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steps in parallel: add/shift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684212" y="5013325"/>
            <a:ext cx="8270875" cy="1150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cycle per partial-product addition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That’s ok, if frequency of multiplications is 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8175" y="1992312"/>
            <a:ext cx="5616575" cy="2868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Multiplication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Four multiply instructions: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mul:  multiply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lower 64 bits of the product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mulh:  multiply high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upper 64 bits of the product, assuming the operands are signed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mulhu:  multiply high unsigned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upper 64 bits of the product, assuming the operands are unsigned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mulhsu:  multiply high signed/unsigned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 the upper 64 bits of the product, assuming one operand is signed and the other unsigned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mulh result to check for 64-bit overflow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 Point</a:t>
            </a:r>
            <a:endParaRPr/>
          </a:p>
        </p:txBody>
      </p:sp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Representation for non-integral numbers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Including very small and very large numbers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Like scientific notation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–2.34 × 10</a:t>
            </a:r>
            <a:r>
              <a:rPr baseline="30000" i="0" lang="en-US" sz="2800" u="none">
                <a:solidFill>
                  <a:schemeClr val="dk1"/>
                </a:solidFill>
              </a:rPr>
              <a:t>56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+0.002 × 10</a:t>
            </a:r>
            <a:r>
              <a:rPr baseline="30000" i="0" lang="en-US" sz="2800" u="none">
                <a:solidFill>
                  <a:schemeClr val="dk1"/>
                </a:solidFill>
              </a:rPr>
              <a:t>–4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+987.02 × 10</a:t>
            </a:r>
            <a:r>
              <a:rPr baseline="30000" i="0" lang="en-US" sz="2800" u="none">
                <a:solidFill>
                  <a:schemeClr val="dk1"/>
                </a:solidFill>
              </a:rPr>
              <a:t>9</a:t>
            </a:r>
            <a:endParaRPr i="0" sz="2800" u="none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In binary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±1.</a:t>
            </a:r>
            <a:r>
              <a:rPr i="1" lang="en-US" sz="2800" u="none">
                <a:solidFill>
                  <a:schemeClr val="dk1"/>
                </a:solidFill>
              </a:rPr>
              <a:t>xxxxxxx</a:t>
            </a:r>
            <a:r>
              <a:rPr baseline="-25000" i="0" lang="en-US" sz="2800" u="none">
                <a:solidFill>
                  <a:schemeClr val="dk1"/>
                </a:solidFill>
              </a:rPr>
              <a:t>2</a:t>
            </a:r>
            <a:r>
              <a:rPr i="0" lang="en-US" sz="2800" u="none">
                <a:solidFill>
                  <a:schemeClr val="dk1"/>
                </a:solidFill>
              </a:rPr>
              <a:t> × 2</a:t>
            </a:r>
            <a:r>
              <a:rPr baseline="30000" i="1" lang="en-US" sz="2800" u="none">
                <a:solidFill>
                  <a:schemeClr val="dk1"/>
                </a:solidFill>
              </a:rPr>
              <a:t>yyyy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Types float and double in C</a:t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5219700" y="2924175"/>
            <a:ext cx="1508125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7376" y="-23600"/>
                </a:moveTo>
                <a:lnTo>
                  <a:pt x="7376" y="-1309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5651500" y="3573462"/>
            <a:ext cx="1944687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614" y="-22619"/>
                </a:moveTo>
                <a:lnTo>
                  <a:pt x="7376" y="-1015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normalized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p22"/>
          <p:cNvCxnSpPr/>
          <p:nvPr/>
        </p:nvCxnSpPr>
        <p:spPr>
          <a:xfrm flipH="1">
            <a:off x="4067175" y="3790950"/>
            <a:ext cx="1512887" cy="215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8" name="Google Shape;198;p22"/>
          <p:cNvSpPr txBox="1"/>
          <p:nvPr/>
        </p:nvSpPr>
        <p:spPr>
          <a:xfrm rot="5400000">
            <a:off x="7916068" y="861218"/>
            <a:ext cx="20891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§3.5 Floating 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 Point Standard</a:t>
            </a:r>
            <a:endParaRPr/>
          </a:p>
        </p:txBody>
      </p:sp>
      <p:sp>
        <p:nvSpPr>
          <p:cNvPr id="209" name="Google Shape;209;p2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Defined by IEEE Std 754-1985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Developed in response to divergence of representations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Portability issues for scientific code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almost universally adopted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representations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 precision (32-bit)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precision (64-bit)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IEEE Floating-Point Format</a:t>
            </a:r>
            <a:endParaRPr/>
          </a:p>
        </p:txBody>
      </p:sp>
      <p:sp>
        <p:nvSpPr>
          <p:cNvPr id="220" name="Google Shape;220;p24"/>
          <p:cNvSpPr txBox="1"/>
          <p:nvPr>
            <p:ph idx="1" type="body"/>
          </p:nvPr>
        </p:nvSpPr>
        <p:spPr>
          <a:xfrm>
            <a:off x="684212" y="3573462"/>
            <a:ext cx="8270875" cy="2663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S: sign bit (0 ⇒ non-negative, 1 ⇒ negative)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 significand: 1.0 ≤ |significand| &lt; 2.0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Always has a leading pre-binary-point 1 bit, so no need to represent it explicitly (hidden bit)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Significand is Fraction with the “1.” restored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excess representation: actual exponent + Bias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Ensures exponent is unsigned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Bias = 127; Double: Bias = 1203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1549400" y="1917700"/>
            <a:ext cx="358775" cy="469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4"/>
          <p:cNvSpPr txBox="1"/>
          <p:nvPr/>
        </p:nvSpPr>
        <p:spPr>
          <a:xfrm>
            <a:off x="1908175" y="1917700"/>
            <a:ext cx="1584325" cy="469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3494087" y="1917700"/>
            <a:ext cx="3671887" cy="4699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1371597" y="1196975"/>
            <a:ext cx="2322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single: 8 bits</a:t>
            </a:r>
            <a:b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double: 11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4427519" y="1196975"/>
            <a:ext cx="2738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single: 23 bits</a:t>
            </a:r>
            <a:b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double: 52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375" y="2667000"/>
            <a:ext cx="5867400" cy="54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Single-Precision Range</a:t>
            </a:r>
            <a:endParaRPr/>
          </a:p>
        </p:txBody>
      </p:sp>
      <p:sp>
        <p:nvSpPr>
          <p:cNvPr id="237" name="Google Shape;237;p2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Exponents 00000000 and 11111111 reserved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00000001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1 – 127 = –126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000…00 ⇒ significand = 1.0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±1.0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–126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±1.2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–38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11111110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254 – 127 = +127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111…11 ⇒ significand ≈ 2.0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±2.0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+127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±3.4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+38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Double-Precision Range</a:t>
            </a:r>
            <a:endParaRPr/>
          </a:p>
        </p:txBody>
      </p:sp>
      <p:sp>
        <p:nvSpPr>
          <p:cNvPr id="248" name="Google Shape;248;p2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Exponents 0000…00 and 1111…11 reserved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00000000001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1 – 1023 = –1022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000…00 ⇒ significand = 1.0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±1.0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–1022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±2.2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–308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Largest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Exponent: 11111111110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⇒ actual exponent = 2046 – 1023 = +1023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Fraction: 111…11 ⇒ significand ≈ 2.0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±2.0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+1023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≈ ±1.8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+308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Precision</a:t>
            </a:r>
            <a:endParaRPr/>
          </a:p>
        </p:txBody>
      </p:sp>
      <p:sp>
        <p:nvSpPr>
          <p:cNvPr id="259" name="Google Shape;259;p2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Relative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fraction bits are significant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approx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–23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23 × log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≈ 23 × 0.3 ≈ 6 decimal digits of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Double: approx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–52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to 52 × log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≈ 52 × 0.3 ≈ 16 decimal digits of precision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Example</a:t>
            </a:r>
            <a:endParaRPr/>
          </a:p>
        </p:txBody>
      </p:sp>
      <p:sp>
        <p:nvSpPr>
          <p:cNvPr id="270" name="Google Shape;270;p2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 –0.75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–0.75 = (–1)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1.1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</a:t>
            </a: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 =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1000…00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800" u="non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 = –1 + Bias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–1 + 127 = 126 = </a:t>
            </a:r>
            <a:r>
              <a:rPr b="0" i="0" lang="en-US" sz="24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Double: –1 + 1023 = 1022 = </a:t>
            </a:r>
            <a:r>
              <a:rPr b="0" i="0" lang="en-US" sz="24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01111111110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Single: </a:t>
            </a:r>
            <a:r>
              <a:rPr b="0" i="0" lang="en-US" sz="32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01111110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1000…00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Double: </a:t>
            </a:r>
            <a:r>
              <a:rPr b="0" i="0" lang="en-US" sz="32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01111111110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1000…00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Example</a:t>
            </a:r>
            <a:endParaRPr/>
          </a:p>
        </p:txBody>
      </p:sp>
      <p:sp>
        <p:nvSpPr>
          <p:cNvPr id="281" name="Google Shape;281;p2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number is represented by the single-precision float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	1</a:t>
            </a:r>
            <a:r>
              <a:rPr b="0" i="0" lang="en-US" sz="32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10000001</a:t>
            </a: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01000…00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</a:t>
            </a: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 =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01000…00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800" u="non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Fxponent = </a:t>
            </a:r>
            <a:r>
              <a:rPr b="0" i="0" lang="en-US" sz="28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10000001</a:t>
            </a:r>
            <a:r>
              <a:rPr b="0" baseline="-25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129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= (–1)</a:t>
            </a:r>
            <a:r>
              <a:rPr b="0" baseline="30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(1 + 01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× 2</a:t>
            </a:r>
            <a:r>
              <a:rPr b="0" baseline="30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(129 – 127)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 (–1) × 1.25 ×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= –5.0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Infinities and NaNs</a:t>
            </a:r>
            <a:endParaRPr/>
          </a:p>
        </p:txBody>
      </p:sp>
      <p:sp>
        <p:nvSpPr>
          <p:cNvPr id="292" name="Google Shape;292;p3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 = 111...1, Fraction = 000...0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±Infinity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used in subsequent calculations, avoiding need for overflow check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 = 111...1, Fraction ≠ 000...0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Not-a-Number (NaN)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Indicates illegal or undefined result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0.0 / 0.0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used in subsequent calculations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Addition</a:t>
            </a:r>
            <a:endParaRPr/>
          </a:p>
        </p:txBody>
      </p:sp>
      <p:sp>
        <p:nvSpPr>
          <p:cNvPr id="303" name="Google Shape;303;p3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a 4-digit decimal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9.999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+ 1.610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Align decimal points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number with smaller exponent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9.999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+ 0.016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Add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9.999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+ 0.016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10.015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1.0015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1.002 × 10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Addition</a:t>
            </a:r>
            <a:endParaRPr/>
          </a:p>
        </p:txBody>
      </p:sp>
      <p:sp>
        <p:nvSpPr>
          <p:cNvPr id="314" name="Google Shape;314;p3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consider a 4-digit binary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–1.110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(0.5 + –0.4375)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Align binary points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number with smaller exponent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–0.111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Add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–0.111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= 0.001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–4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with no over/underflow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–4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change)  = 0.0625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Multiplication</a:t>
            </a:r>
            <a:endParaRPr/>
          </a:p>
        </p:txBody>
      </p:sp>
      <p:sp>
        <p:nvSpPr>
          <p:cNvPr id="325" name="Google Shape;325;p3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a 4-digit decimal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9.200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–5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Add exponents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biased exponents, subtract bias from sum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exponent = 10 + –5 = 5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Multiply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 × 9.200 = 10.212  ⇒  10.212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baseline="3000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1.0212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1.021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Determine sign of result from signs of operands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+1.021 × 10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Floating-Point Multiplication</a:t>
            </a:r>
            <a:endParaRPr/>
          </a:p>
        </p:txBody>
      </p:sp>
      <p:sp>
        <p:nvSpPr>
          <p:cNvPr id="336" name="Google Shape;336;p3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consider a 4-digit binary example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–1.110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(0.5 × –0.4375)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Add exponents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Unbiased: –1 + –2 = –3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Biased: (–1 + 127) + (–2 + 127) = –3 + 254 – 127 = –3 + 127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Multiply significands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1.000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1.1102  ⇒  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Normalize result &amp; check for over/underflow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change) with no over/underflow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Round and renormalize if necessary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change)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Determine sign: +ve × –ve ⇒ –ve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–1.110</a:t>
            </a:r>
            <a:r>
              <a:rPr b="0" baseline="-25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–3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= –0.21875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FP Arithmetic Hardware</a:t>
            </a:r>
            <a:endParaRPr/>
          </a:p>
        </p:txBody>
      </p:sp>
      <p:sp>
        <p:nvSpPr>
          <p:cNvPr id="347" name="Google Shape;347;p3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 multiplier is of similar complexity to FP adder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uses a multiplier for significands instead of an adder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 arithmetic hardware usually does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Addition, subtraction, multiplication, division, reciprocal, square-root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 ↔ integer conversion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usually takes several cycles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pipelined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FP Instructions in RISC-V</a:t>
            </a:r>
            <a:endParaRPr/>
          </a:p>
        </p:txBody>
      </p:sp>
      <p:sp>
        <p:nvSpPr>
          <p:cNvPr id="358" name="Google Shape;358;p3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Separate FP registers: f0, …, f31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double-precision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single-precision values stored in the lower 32 bits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FP instructions operate only on FP registers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Programs generally don’t do integer ops on FP data, or vice versa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More registers with minimal code-size impact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FP load and store instructions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flw, fld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fsw, fsd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i="0" sz="2400" u="non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FP Instructions in RISC-V</a:t>
            </a:r>
            <a:endParaRPr/>
          </a:p>
        </p:txBody>
      </p:sp>
      <p:sp>
        <p:nvSpPr>
          <p:cNvPr id="369" name="Google Shape;369;p3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Single-precision arithmetic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fadd.s, fsub.s, fmul.s, fdiv.s, fsqrt.s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i="0" lang="en-US" sz="2000" u="none">
                <a:solidFill>
                  <a:schemeClr val="dk1"/>
                </a:solidFill>
              </a:rPr>
              <a:t>e.g., fadds.s f2, f4, f6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Double-precision arithmetic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fadd.d, fsub.d, fmul.d, fdiv.d, fsqrt.d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i="0" lang="en-US" sz="2000" u="none">
                <a:solidFill>
                  <a:schemeClr val="dk1"/>
                </a:solidFill>
              </a:rPr>
              <a:t>e.g., fadd.d f2, f4, f6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Single- and double-precision comparison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feq.s, flt.s, fle.s</a:t>
            </a:r>
            <a:endParaRPr i="0" sz="2400" u="none">
              <a:solidFill>
                <a:schemeClr val="dk1"/>
              </a:solidFill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feq.d, flt.d, fle.d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Result is 0 or 1 in integer destination register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Arial"/>
              <a:buChar char="■"/>
            </a:pPr>
            <a:r>
              <a:rPr i="0" lang="en-US" sz="2000" u="none">
                <a:solidFill>
                  <a:schemeClr val="dk1"/>
                </a:solidFill>
              </a:rPr>
              <a:t>Use beq, bne to branch on comparison result</a:t>
            </a:r>
            <a:endParaRPr/>
          </a:p>
          <a:p>
            <a:pPr indent="-1651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None/>
            </a:pPr>
            <a:r>
              <a:t/>
            </a:r>
            <a:endParaRPr i="0" sz="2000" u="none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Branch on FP condition code true or false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B.cond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Concluding Remarks</a:t>
            </a:r>
            <a:endParaRPr/>
          </a:p>
        </p:txBody>
      </p:sp>
      <p:sp>
        <p:nvSpPr>
          <p:cNvPr id="380" name="Google Shape;380;p3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Bits have no inherent meaning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Interpretation depends on the instructions applied</a:t>
            </a:r>
            <a:endParaRPr/>
          </a:p>
          <a:p>
            <a:pPr indent="-187959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representations of numbers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Finite range and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to account for this in programs</a:t>
            </a:r>
            <a:endParaRPr/>
          </a:p>
        </p:txBody>
      </p:sp>
      <p:sp>
        <p:nvSpPr>
          <p:cNvPr id="381" name="Google Shape;381;p38"/>
          <p:cNvSpPr txBox="1"/>
          <p:nvPr/>
        </p:nvSpPr>
        <p:spPr>
          <a:xfrm rot="5400000">
            <a:off x="7481093" y="1299368"/>
            <a:ext cx="2967037" cy="3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§3.10 Concluding Remarks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3 — Arithmetic for Computers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Concluding Remarks</a:t>
            </a:r>
            <a:endParaRPr/>
          </a:p>
        </p:txBody>
      </p:sp>
      <p:sp>
        <p:nvSpPr>
          <p:cNvPr id="392" name="Google Shape;392;p3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ISAs support arithmetic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Signed and unsigned integers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Floating-point approximation to reals</a:t>
            </a:r>
            <a:endParaRPr/>
          </a:p>
          <a:p>
            <a:pPr indent="-187959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Bounded range and precision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Operations can overflow and underflow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