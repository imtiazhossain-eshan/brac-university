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inzel" panose="020B0604020202020204" charset="0"/>
      <p:regular r:id="rId18"/>
    </p:embeddedFont>
    <p:embeddedFont>
      <p:font typeface="Cinzel Bold" panose="020B0604020202020204" charset="0"/>
      <p:regular r:id="rId19"/>
    </p:embeddedFont>
    <p:embeddedFont>
      <p:font typeface="Raleway" panose="020B0604020202020204" charset="0"/>
      <p:regular r:id="rId20"/>
    </p:embeddedFont>
    <p:embeddedFont>
      <p:font typeface="Raleway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32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Catherine_Howard" TargetMode="External"/><Relationship Id="rId3" Type="http://schemas.openxmlformats.org/officeDocument/2006/relationships/image" Target="../media/image5.svg"/><Relationship Id="rId7" Type="http://schemas.openxmlformats.org/officeDocument/2006/relationships/hyperlink" Target="https://en.wikipedia.org/wiki/Anne_Boley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Catherine_of_Aragon" TargetMode="Externa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hyperlink" Target="https://en.wikipedia.org/wiki/Jane_Seymour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96714" y="4427518"/>
            <a:ext cx="4128898" cy="5145064"/>
            <a:chOff x="0" y="0"/>
            <a:chExt cx="5505197" cy="68600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05196" cy="6860032"/>
            </a:xfrm>
            <a:custGeom>
              <a:avLst/>
              <a:gdLst/>
              <a:ahLst/>
              <a:cxnLst/>
              <a:rect l="l" t="t" r="r" b="b"/>
              <a:pathLst>
                <a:path w="5505196" h="6860032">
                  <a:moveTo>
                    <a:pt x="0" y="0"/>
                  </a:moveTo>
                  <a:lnTo>
                    <a:pt x="5505196" y="0"/>
                  </a:lnTo>
                  <a:lnTo>
                    <a:pt x="5505196" y="6860032"/>
                  </a:lnTo>
                  <a:lnTo>
                    <a:pt x="0" y="6860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96" r="-1180" b="-2907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3646170" y="9239250"/>
            <a:ext cx="6530340" cy="38100"/>
            <a:chOff x="0" y="0"/>
            <a:chExt cx="8707120" cy="50800"/>
          </a:xfrm>
        </p:grpSpPr>
        <p:sp>
          <p:nvSpPr>
            <p:cNvPr id="5" name="Freeform 5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336595" y="971550"/>
            <a:ext cx="6530340" cy="38100"/>
            <a:chOff x="0" y="0"/>
            <a:chExt cx="8707120" cy="50800"/>
          </a:xfrm>
        </p:grpSpPr>
        <p:sp>
          <p:nvSpPr>
            <p:cNvPr id="7" name="Freeform 7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720465" y="4221084"/>
            <a:ext cx="4875378" cy="5557931"/>
            <a:chOff x="0" y="0"/>
            <a:chExt cx="6500504" cy="74105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500495" cy="7410577"/>
            </a:xfrm>
            <a:custGeom>
              <a:avLst/>
              <a:gdLst/>
              <a:ahLst/>
              <a:cxnLst/>
              <a:rect l="l" t="t" r="r" b="b"/>
              <a:pathLst>
                <a:path w="6500495" h="7410577">
                  <a:moveTo>
                    <a:pt x="0" y="0"/>
                  </a:moveTo>
                  <a:lnTo>
                    <a:pt x="6500495" y="0"/>
                  </a:lnTo>
                  <a:lnTo>
                    <a:pt x="6500495" y="7410577"/>
                  </a:lnTo>
                  <a:lnTo>
                    <a:pt x="0" y="7410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479" b="-847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800100"/>
            <a:ext cx="17036009" cy="397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8"/>
              </a:lnSpc>
            </a:pPr>
            <a:r>
              <a:rPr lang="en-US" sz="549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Modest Proposal for preventing the children of poor people in Ireland from being a burden on their parents or country, and for making them beneficial to the public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287840"/>
            <a:ext cx="18288000" cy="7970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3"/>
              </a:lnSpc>
            </a:pP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 satire, </a:t>
            </a:r>
            <a:r>
              <a:rPr lang="en-US" sz="4952" b="1" spc="-8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evil, folly, and weakness </a:t>
            </a: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are held up to </a:t>
            </a:r>
            <a:r>
              <a:rPr lang="en-US" sz="4952" b="1" spc="-8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ridicule </a:t>
            </a: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– to the delight of some and the outrage of others. </a:t>
            </a:r>
          </a:p>
          <a:p>
            <a:pPr algn="ctr">
              <a:lnSpc>
                <a:spcPts val="6933"/>
              </a:lnSpc>
            </a:pPr>
            <a:endParaRPr lang="en-US" sz="4952" spc="-8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ctr">
              <a:lnSpc>
                <a:spcPts val="6933"/>
              </a:lnSpc>
            </a:pP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Satire may claim the higher purpose of </a:t>
            </a:r>
            <a:r>
              <a:rPr lang="en-US" sz="4952" b="1" spc="-8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social critique </a:t>
            </a: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or </a:t>
            </a:r>
            <a:r>
              <a:rPr lang="en-US" sz="4952" b="1" spc="-8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moral reform</a:t>
            </a: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or it may </a:t>
            </a:r>
            <a:r>
              <a:rPr lang="en-US" sz="4952" b="1" spc="-8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simply revel </a:t>
            </a: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 its own transgressive laughter.</a:t>
            </a:r>
          </a:p>
          <a:p>
            <a:pPr algn="ctr">
              <a:lnSpc>
                <a:spcPts val="6933"/>
              </a:lnSpc>
            </a:pP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  <a:p>
            <a:pPr algn="ctr">
              <a:lnSpc>
                <a:spcPts val="6933"/>
              </a:lnSpc>
            </a:pP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 </a:t>
            </a:r>
            <a:r>
              <a:rPr lang="en-US" sz="4952" b="1" spc="-89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exposes frauds, debunks ideals, binds communities, starts arguments,</a:t>
            </a:r>
            <a:r>
              <a:rPr lang="en-US" sz="4952" spc="-8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and evokes unconscious fantasies.</a:t>
            </a:r>
          </a:p>
          <a:p>
            <a:pPr algn="ctr">
              <a:lnSpc>
                <a:spcPts val="6933"/>
              </a:lnSpc>
            </a:pPr>
            <a:endParaRPr lang="en-US" sz="4952" spc="-8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7120" y="4229769"/>
            <a:ext cx="5754949" cy="5526928"/>
            <a:chOff x="0" y="0"/>
            <a:chExt cx="7673266" cy="73692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73205" cy="7369169"/>
            </a:xfrm>
            <a:custGeom>
              <a:avLst/>
              <a:gdLst/>
              <a:ahLst/>
              <a:cxnLst/>
              <a:rect l="l" t="t" r="r" b="b"/>
              <a:pathLst>
                <a:path w="7673205" h="7369169">
                  <a:moveTo>
                    <a:pt x="0" y="0"/>
                  </a:moveTo>
                  <a:lnTo>
                    <a:pt x="7673205" y="0"/>
                  </a:lnTo>
                  <a:lnTo>
                    <a:pt x="7673205" y="7369169"/>
                  </a:lnTo>
                  <a:lnTo>
                    <a:pt x="0" y="7369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161" t="-12129" r="-5418" b="-9235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014765" y="161798"/>
            <a:ext cx="7333852" cy="357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Is satire supposed to be funny?</a:t>
            </a:r>
          </a:p>
          <a:p>
            <a:pPr algn="l">
              <a:lnSpc>
                <a:spcPts val="5598"/>
              </a:lnSpc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--Not necessarily. </a:t>
            </a:r>
          </a:p>
          <a:p>
            <a:pPr algn="l">
              <a:lnSpc>
                <a:spcPts val="5598"/>
              </a:lnSpc>
            </a:pPr>
            <a:endParaRPr lang="en-US" sz="39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5598"/>
              </a:lnSpc>
            </a:pPr>
            <a:r>
              <a:rPr lang="en-US" sz="3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Even the FUNNIEST Satires evoke serious thoughts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3646170" y="9239250"/>
            <a:ext cx="6530340" cy="38100"/>
            <a:chOff x="0" y="0"/>
            <a:chExt cx="8707120" cy="50800"/>
          </a:xfrm>
        </p:grpSpPr>
        <p:sp>
          <p:nvSpPr>
            <p:cNvPr id="6" name="Freeform 6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5336595" y="971550"/>
            <a:ext cx="6530340" cy="38100"/>
            <a:chOff x="0" y="0"/>
            <a:chExt cx="8707120" cy="50800"/>
          </a:xfrm>
        </p:grpSpPr>
        <p:sp>
          <p:nvSpPr>
            <p:cNvPr id="8" name="Freeform 8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638166" y="3956885"/>
            <a:ext cx="6133781" cy="397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8"/>
              </a:lnSpc>
            </a:pPr>
            <a:r>
              <a:rPr lang="en-US" sz="549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 should make you </a:t>
            </a:r>
            <a:r>
              <a:rPr lang="en-US" sz="549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wince</a:t>
            </a:r>
            <a:r>
              <a:rPr lang="en-US" sz="549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</a:t>
            </a:r>
          </a:p>
          <a:p>
            <a:pPr algn="ctr">
              <a:lnSpc>
                <a:spcPts val="7698"/>
              </a:lnSpc>
            </a:pPr>
            <a:r>
              <a:rPr lang="en-US" sz="549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after or during you laugh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1095050" cy="181181"/>
          </a:xfrm>
          <a:custGeom>
            <a:avLst/>
            <a:gdLst/>
            <a:ahLst/>
            <a:cxnLst/>
            <a:rect l="l" t="t" r="r" b="b"/>
            <a:pathLst>
              <a:path w="1095050" h="181181">
                <a:moveTo>
                  <a:pt x="0" y="0"/>
                </a:moveTo>
                <a:lnTo>
                  <a:pt x="1095050" y="0"/>
                </a:lnTo>
                <a:lnTo>
                  <a:pt x="1095050" y="181181"/>
                </a:lnTo>
                <a:lnTo>
                  <a:pt x="0" y="181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56" b="-255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336595" y="971550"/>
            <a:ext cx="6530340" cy="38100"/>
            <a:chOff x="0" y="0"/>
            <a:chExt cx="8707120" cy="50800"/>
          </a:xfrm>
        </p:grpSpPr>
        <p:sp>
          <p:nvSpPr>
            <p:cNvPr id="4" name="Freeform 4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3646170" y="9239250"/>
            <a:ext cx="6530340" cy="38100"/>
            <a:chOff x="0" y="0"/>
            <a:chExt cx="8707120" cy="50800"/>
          </a:xfrm>
        </p:grpSpPr>
        <p:sp>
          <p:nvSpPr>
            <p:cNvPr id="6" name="Freeform 6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2163357" y="4013071"/>
            <a:ext cx="4459736" cy="2092022"/>
          </a:xfrm>
          <a:custGeom>
            <a:avLst/>
            <a:gdLst/>
            <a:ahLst/>
            <a:cxnLst/>
            <a:rect l="l" t="t" r="r" b="b"/>
            <a:pathLst>
              <a:path w="4459736" h="2092022">
                <a:moveTo>
                  <a:pt x="0" y="0"/>
                </a:moveTo>
                <a:lnTo>
                  <a:pt x="4459736" y="0"/>
                </a:lnTo>
                <a:lnTo>
                  <a:pt x="4459736" y="2092022"/>
                </a:lnTo>
                <a:lnTo>
                  <a:pt x="0" y="209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914132" y="6633097"/>
            <a:ext cx="4459736" cy="2092022"/>
          </a:xfrm>
          <a:custGeom>
            <a:avLst/>
            <a:gdLst/>
            <a:ahLst/>
            <a:cxnLst/>
            <a:rect l="l" t="t" r="r" b="b"/>
            <a:pathLst>
              <a:path w="4459736" h="2092022">
                <a:moveTo>
                  <a:pt x="0" y="0"/>
                </a:moveTo>
                <a:lnTo>
                  <a:pt x="4459736" y="0"/>
                </a:lnTo>
                <a:lnTo>
                  <a:pt x="4459736" y="2092022"/>
                </a:lnTo>
                <a:lnTo>
                  <a:pt x="0" y="209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163357" y="6633097"/>
            <a:ext cx="4459736" cy="2092022"/>
          </a:xfrm>
          <a:custGeom>
            <a:avLst/>
            <a:gdLst/>
            <a:ahLst/>
            <a:cxnLst/>
            <a:rect l="l" t="t" r="r" b="b"/>
            <a:pathLst>
              <a:path w="4459736" h="2092022">
                <a:moveTo>
                  <a:pt x="0" y="0"/>
                </a:moveTo>
                <a:lnTo>
                  <a:pt x="4459736" y="0"/>
                </a:lnTo>
                <a:lnTo>
                  <a:pt x="4459736" y="2092022"/>
                </a:lnTo>
                <a:lnTo>
                  <a:pt x="0" y="209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64907" y="4013071"/>
            <a:ext cx="4459736" cy="2092022"/>
          </a:xfrm>
          <a:custGeom>
            <a:avLst/>
            <a:gdLst/>
            <a:ahLst/>
            <a:cxnLst/>
            <a:rect l="l" t="t" r="r" b="b"/>
            <a:pathLst>
              <a:path w="4459736" h="2092022">
                <a:moveTo>
                  <a:pt x="0" y="0"/>
                </a:moveTo>
                <a:lnTo>
                  <a:pt x="4459736" y="0"/>
                </a:lnTo>
                <a:lnTo>
                  <a:pt x="4459736" y="2092022"/>
                </a:lnTo>
                <a:lnTo>
                  <a:pt x="0" y="209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023179" y="4738457"/>
            <a:ext cx="3743192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99" u="sng" spc="749" dirty="0">
                <a:solidFill>
                  <a:srgbClr val="00B050"/>
                </a:solidFill>
                <a:latin typeface="Raleway"/>
                <a:ea typeface="Raleway"/>
                <a:cs typeface="Raleway"/>
                <a:sym typeface="Raleway"/>
                <a:hlinkClick r:id="rId6" tooltip="https://en.wikipedia.org/wiki/Catherine_of_Arag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Catherine of </a:t>
            </a:r>
            <a:r>
              <a:rPr lang="en-US" sz="2499" u="sng" spc="749" dirty="0">
                <a:solidFill>
                  <a:srgbClr val="00B050"/>
                </a:solidFill>
                <a:latin typeface="Raleway"/>
                <a:ea typeface="Raleway"/>
                <a:cs typeface="Raleway"/>
                <a:sym typeface="Raleway"/>
                <a:hlinkClick r:id="rId6" tooltip="https://en.wikipedia.org/wiki/Catherine_of_Arag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Aragon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64907" y="6633097"/>
            <a:ext cx="4459736" cy="2092022"/>
          </a:xfrm>
          <a:custGeom>
            <a:avLst/>
            <a:gdLst/>
            <a:ahLst/>
            <a:cxnLst/>
            <a:rect l="l" t="t" r="r" b="b"/>
            <a:pathLst>
              <a:path w="4459736" h="2092022">
                <a:moveTo>
                  <a:pt x="0" y="0"/>
                </a:moveTo>
                <a:lnTo>
                  <a:pt x="4459736" y="0"/>
                </a:lnTo>
                <a:lnTo>
                  <a:pt x="4459736" y="2092022"/>
                </a:lnTo>
                <a:lnTo>
                  <a:pt x="0" y="209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03755" y="7353086"/>
            <a:ext cx="398204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99" spc="749">
                <a:solidFill>
                  <a:srgbClr val="00BF63"/>
                </a:solidFill>
                <a:latin typeface="Raleway"/>
                <a:ea typeface="Raleway"/>
                <a:cs typeface="Raleway"/>
                <a:sym typeface="Raleway"/>
              </a:rPr>
              <a:t>Anne of Cleaves</a:t>
            </a:r>
          </a:p>
        </p:txBody>
      </p:sp>
      <p:sp>
        <p:nvSpPr>
          <p:cNvPr id="14" name="Freeform 14"/>
          <p:cNvSpPr/>
          <p:nvPr/>
        </p:nvSpPr>
        <p:spPr>
          <a:xfrm>
            <a:off x="6914132" y="4013071"/>
            <a:ext cx="4459736" cy="2092022"/>
          </a:xfrm>
          <a:custGeom>
            <a:avLst/>
            <a:gdLst/>
            <a:ahLst/>
            <a:cxnLst/>
            <a:rect l="l" t="t" r="r" b="b"/>
            <a:pathLst>
              <a:path w="4459736" h="2092022">
                <a:moveTo>
                  <a:pt x="0" y="0"/>
                </a:moveTo>
                <a:lnTo>
                  <a:pt x="4459736" y="0"/>
                </a:lnTo>
                <a:lnTo>
                  <a:pt x="4459736" y="2092022"/>
                </a:lnTo>
                <a:lnTo>
                  <a:pt x="0" y="209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203480" y="4738457"/>
            <a:ext cx="3881039" cy="413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99" u="sng" spc="749" dirty="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  <a:hlinkClick r:id="rId7" tooltip="https://en.wikipedia.org/wiki/Anne_Boley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Anne</a:t>
            </a:r>
            <a:r>
              <a:rPr lang="en-US" sz="2499" u="sng" spc="749" dirty="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  <a:hlinkClick r:id="rId7" tooltip="https://en.wikipedia.org/wiki/Anne_Boley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Boleyn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91828" y="7353086"/>
            <a:ext cx="3504343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99" u="sng" spc="749" dirty="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  <a:hlinkClick r:id="rId8" tooltip="https://en.wikipedia.org/wiki/Catherine_How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Catherine </a:t>
            </a:r>
            <a:r>
              <a:rPr lang="en-US" sz="2499" u="sng" spc="749" dirty="0">
                <a:solidFill>
                  <a:srgbClr val="FF0000"/>
                </a:solidFill>
                <a:latin typeface="Raleway"/>
                <a:ea typeface="Raleway"/>
                <a:cs typeface="Raleway"/>
                <a:sym typeface="Raleway"/>
                <a:hlinkClick r:id="rId8" tooltip="https://en.wikipedia.org/wiki/Catherine_How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Howard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40153" y="4738457"/>
            <a:ext cx="3706145" cy="413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99" u="sng" spc="749" dirty="0">
                <a:solidFill>
                  <a:schemeClr val="accent6">
                    <a:lumMod val="75000"/>
                  </a:schemeClr>
                </a:solidFill>
                <a:latin typeface="Raleway"/>
                <a:ea typeface="Raleway"/>
                <a:cs typeface="Raleway"/>
                <a:sym typeface="Raleway"/>
                <a:hlinkClick r:id="rId9" tooltip="https://en.wikipedia.org/wiki/Jane_Seym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Jane</a:t>
            </a:r>
            <a:r>
              <a:rPr lang="en-US" sz="2499" u="sng" spc="749" dirty="0">
                <a:solidFill>
                  <a:schemeClr val="accent6">
                    <a:lumMod val="75000"/>
                  </a:schemeClr>
                </a:solidFill>
                <a:latin typeface="Raleway"/>
                <a:ea typeface="Raleway"/>
                <a:cs typeface="Raleway"/>
                <a:sym typeface="Raleway"/>
                <a:hlinkClick r:id="rId9" tooltip="https://en.wikipedia.org/wiki/Jane_Seymou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Seymour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41053" y="7363879"/>
            <a:ext cx="3504343" cy="413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499" u="sng" spc="749" dirty="0">
                <a:solidFill>
                  <a:srgbClr val="7030A0"/>
                </a:solidFill>
                <a:latin typeface="Raleway"/>
                <a:ea typeface="Raleway"/>
                <a:cs typeface="Raleway"/>
                <a:sym typeface="Raleway"/>
                <a:hlinkClick r:id="rId8" tooltip="https://en.wikipedia.org/wiki/Catherine_Howar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Catherine P</a:t>
            </a:r>
            <a:r>
              <a:rPr lang="en-US" sz="2499" spc="749" dirty="0">
                <a:solidFill>
                  <a:srgbClr val="7030A0"/>
                </a:solidFill>
                <a:latin typeface="Raleway"/>
                <a:ea typeface="Raleway"/>
                <a:cs typeface="Raleway"/>
                <a:sym typeface="Raleway"/>
              </a:rPr>
              <a:t>arr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42603" y="1625736"/>
            <a:ext cx="1400279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spc="100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Name of his wives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602146" y="9105900"/>
            <a:ext cx="1657154" cy="755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98"/>
              </a:lnSpc>
            </a:pPr>
            <a:r>
              <a:rPr lang="en-US" sz="3999">
                <a:solidFill>
                  <a:srgbClr val="6D5038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 rot="840563">
            <a:off x="8916106" y="4031311"/>
            <a:ext cx="2878733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spc="74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Mary Boleyn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093593"/>
            <a:ext cx="18419054" cy="6193407"/>
          </a:xfrm>
          <a:custGeom>
            <a:avLst/>
            <a:gdLst/>
            <a:ahLst/>
            <a:cxnLst/>
            <a:rect l="l" t="t" r="r" b="b"/>
            <a:pathLst>
              <a:path w="18419054" h="6193407">
                <a:moveTo>
                  <a:pt x="0" y="0"/>
                </a:moveTo>
                <a:lnTo>
                  <a:pt x="18419054" y="0"/>
                </a:lnTo>
                <a:lnTo>
                  <a:pt x="18419054" y="6193407"/>
                </a:lnTo>
                <a:lnTo>
                  <a:pt x="0" y="6193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81423"/>
            <a:ext cx="2338721" cy="4361353"/>
          </a:xfrm>
          <a:custGeom>
            <a:avLst/>
            <a:gdLst/>
            <a:ahLst/>
            <a:cxnLst/>
            <a:rect l="l" t="t" r="r" b="b"/>
            <a:pathLst>
              <a:path w="2338721" h="4361353">
                <a:moveTo>
                  <a:pt x="0" y="0"/>
                </a:moveTo>
                <a:lnTo>
                  <a:pt x="2338721" y="0"/>
                </a:lnTo>
                <a:lnTo>
                  <a:pt x="2338721" y="4361353"/>
                </a:lnTo>
                <a:lnTo>
                  <a:pt x="0" y="4361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41438" y="3560579"/>
            <a:ext cx="7002576" cy="5220031"/>
            <a:chOff x="0" y="0"/>
            <a:chExt cx="9336768" cy="69600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336777" cy="6959981"/>
            </a:xfrm>
            <a:custGeom>
              <a:avLst/>
              <a:gdLst/>
              <a:ahLst/>
              <a:cxnLst/>
              <a:rect l="l" t="t" r="r" b="b"/>
              <a:pathLst>
                <a:path w="9336777" h="6959981">
                  <a:moveTo>
                    <a:pt x="0" y="0"/>
                  </a:moveTo>
                  <a:lnTo>
                    <a:pt x="9336777" y="0"/>
                  </a:lnTo>
                  <a:lnTo>
                    <a:pt x="9336777" y="6959981"/>
                  </a:lnTo>
                  <a:lnTo>
                    <a:pt x="0" y="69599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06" b="-30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3646170" y="9239250"/>
            <a:ext cx="6530340" cy="38100"/>
            <a:chOff x="0" y="0"/>
            <a:chExt cx="8707120" cy="50800"/>
          </a:xfrm>
        </p:grpSpPr>
        <p:sp>
          <p:nvSpPr>
            <p:cNvPr id="6" name="Freeform 6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82280" y="477160"/>
            <a:ext cx="9490250" cy="935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3" b="1" spc="-4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Tudor conquest</a:t>
            </a:r>
            <a:r>
              <a:rPr lang="en-US" sz="2553" spc="-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(1500s): Real colonization accelerated under the Tudors (Henry VIII, Elizabeth I). Ireland was brought under direct English control. The English imposed Protestant rule over a largely Catholic population.</a:t>
            </a:r>
          </a:p>
          <a:p>
            <a:pPr algn="l">
              <a:lnSpc>
                <a:spcPts val="3064"/>
              </a:lnSpc>
            </a:pPr>
            <a:endParaRPr lang="en-US" sz="2553" spc="-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64"/>
              </a:lnSpc>
            </a:pPr>
            <a:r>
              <a:rPr lang="en-US" sz="2553" b="1" spc="-4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Plantations (1500s–1600s):</a:t>
            </a:r>
            <a:r>
              <a:rPr lang="en-US" sz="2553" spc="-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Land confiscated from Irish Catholics was “planted” with English and Scottish Protestant settlers, especially in Ulster. </a:t>
            </a:r>
          </a:p>
          <a:p>
            <a:pPr algn="l">
              <a:lnSpc>
                <a:spcPts val="3064"/>
              </a:lnSpc>
            </a:pPr>
            <a:endParaRPr lang="en-US" sz="2553" spc="-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64"/>
              </a:lnSpc>
            </a:pPr>
            <a:r>
              <a:rPr lang="en-US" sz="2553" b="1" spc="-4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17th century: </a:t>
            </a:r>
            <a:r>
              <a:rPr lang="en-US" sz="2553" spc="-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Repeated wars, including Cromwell’s brutal conquest of Ireland (1649–1653), which killed huge numbers of Irish and led to mass land confiscations. </a:t>
            </a:r>
          </a:p>
          <a:p>
            <a:pPr algn="l">
              <a:lnSpc>
                <a:spcPts val="3064"/>
              </a:lnSpc>
            </a:pPr>
            <a:endParaRPr lang="en-US" sz="2553" spc="-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64"/>
              </a:lnSpc>
            </a:pPr>
            <a:r>
              <a:rPr lang="en-US" sz="2553" b="1" spc="-4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18th century (Swift’s time):</a:t>
            </a:r>
            <a:r>
              <a:rPr lang="en-US" sz="2553" spc="-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Ireland was legally a kingdom but subordinate to Britain.</a:t>
            </a:r>
          </a:p>
          <a:p>
            <a:pPr algn="l">
              <a:lnSpc>
                <a:spcPts val="3064"/>
              </a:lnSpc>
            </a:pPr>
            <a:endParaRPr lang="en-US" sz="2553" spc="-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64"/>
              </a:lnSpc>
            </a:pPr>
            <a:r>
              <a:rPr lang="en-US" sz="2553" spc="-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Harsh Penal Laws oppressed Catholics (couldn’t vote, hold office, own land freely, or practice religion openly).</a:t>
            </a:r>
          </a:p>
          <a:p>
            <a:pPr algn="l">
              <a:lnSpc>
                <a:spcPts val="3064"/>
              </a:lnSpc>
            </a:pPr>
            <a:endParaRPr lang="en-US" sz="2553" spc="-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64"/>
              </a:lnSpc>
            </a:pPr>
            <a:r>
              <a:rPr lang="en-US" sz="2553" spc="-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Absentee landlords (mostly English) extracted wealth, leaving Irish peasants impoverished.</a:t>
            </a:r>
          </a:p>
          <a:p>
            <a:pPr algn="l">
              <a:lnSpc>
                <a:spcPts val="3064"/>
              </a:lnSpc>
            </a:pPr>
            <a:endParaRPr lang="en-US" sz="2553" spc="-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64"/>
              </a:lnSpc>
            </a:pPr>
            <a:r>
              <a:rPr lang="en-US" sz="2553" spc="-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Frequent famine and poverty.</a:t>
            </a:r>
          </a:p>
          <a:p>
            <a:pPr algn="l">
              <a:lnSpc>
                <a:spcPts val="3064"/>
              </a:lnSpc>
            </a:pPr>
            <a:endParaRPr lang="en-US" sz="2553" spc="-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8073" y="596437"/>
            <a:ext cx="8879802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 spc="149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Historical Background of irish suffering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8076" cy="6947338"/>
            <a:chOff x="0" y="0"/>
            <a:chExt cx="11084319" cy="85581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84260" cy="8558145"/>
            </a:xfrm>
            <a:custGeom>
              <a:avLst/>
              <a:gdLst/>
              <a:ahLst/>
              <a:cxnLst/>
              <a:rect l="l" t="t" r="r" b="b"/>
              <a:pathLst>
                <a:path w="11084260" h="8558145">
                  <a:moveTo>
                    <a:pt x="0" y="0"/>
                  </a:moveTo>
                  <a:lnTo>
                    <a:pt x="11084260" y="0"/>
                  </a:lnTo>
                  <a:lnTo>
                    <a:pt x="11084260" y="8558145"/>
                  </a:lnTo>
                  <a:lnTo>
                    <a:pt x="0" y="8558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42" t="-11816" r="-65827" b="-1021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998076" y="5143500"/>
            <a:ext cx="8706605" cy="5143500"/>
            <a:chOff x="0" y="0"/>
            <a:chExt cx="4991056" cy="29485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91029" cy="2948545"/>
            </a:xfrm>
            <a:custGeom>
              <a:avLst/>
              <a:gdLst/>
              <a:ahLst/>
              <a:cxnLst/>
              <a:rect l="l" t="t" r="r" b="b"/>
              <a:pathLst>
                <a:path w="4991029" h="2948545">
                  <a:moveTo>
                    <a:pt x="0" y="0"/>
                  </a:moveTo>
                  <a:lnTo>
                    <a:pt x="4991029" y="0"/>
                  </a:lnTo>
                  <a:lnTo>
                    <a:pt x="4991029" y="2948545"/>
                  </a:lnTo>
                  <a:lnTo>
                    <a:pt x="0" y="2948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11" r="-9460" b="-2111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3646170" y="9239250"/>
            <a:ext cx="6530340" cy="38100"/>
            <a:chOff x="0" y="0"/>
            <a:chExt cx="8707120" cy="50800"/>
          </a:xfrm>
        </p:grpSpPr>
        <p:sp>
          <p:nvSpPr>
            <p:cNvPr id="7" name="Freeform 7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5412" y="356343"/>
            <a:ext cx="1229376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 b="1" spc="194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LITERARY ELEMENTS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7088" y="2509145"/>
            <a:ext cx="17313823" cy="6677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24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Theme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main theme is the dehumanization of the poor and the moral blindness of the ruling class.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Swift criticizes British colonial exploitation and society’s indifference to suffering.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Beneath the irony, the essay calls for genuine compassion and justice for Ireland.</a:t>
            </a:r>
          </a:p>
          <a:p>
            <a:pPr marL="512087" lvl="2" indent="-170696" algn="l">
              <a:lnSpc>
                <a:spcPts val="3135"/>
              </a:lnSpc>
            </a:pPr>
            <a:endParaRPr lang="en-US" sz="22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12087" lvl="2" indent="-170696" algn="l">
              <a:lnSpc>
                <a:spcPts val="3135"/>
              </a:lnSpc>
            </a:pPr>
            <a:endParaRPr lang="en-US" sz="22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12087" lvl="2" indent="-170696" algn="l">
              <a:lnSpc>
                <a:spcPts val="3135"/>
              </a:lnSpc>
            </a:pPr>
            <a:r>
              <a:rPr lang="en-US" sz="224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Tone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tone is calm, rational, and detached — deliberately at odds with the shocking content.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Swift maintains a fake seriousness to heighten the irony and expose hypocrisy.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underlying tone, however, is bitterly angry and morally outraged.</a:t>
            </a:r>
          </a:p>
          <a:p>
            <a:pPr marL="512087" lvl="2" indent="-170696" algn="l">
              <a:lnSpc>
                <a:spcPts val="3135"/>
              </a:lnSpc>
            </a:pPr>
            <a:endParaRPr lang="en-US" sz="22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12087" lvl="2" indent="-170696" algn="l">
              <a:lnSpc>
                <a:spcPts val="3135"/>
              </a:lnSpc>
            </a:pPr>
            <a:endParaRPr lang="en-US" sz="22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12087" lvl="2" indent="-170696" algn="l">
              <a:lnSpc>
                <a:spcPts val="3135"/>
              </a:lnSpc>
            </a:pPr>
            <a:r>
              <a:rPr lang="en-US" sz="224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Style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Written in a formal, polished, and logical style.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Mimics the tone and structure of economic and political pamphlets of the time.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Uses statistical reasoning, polite diction, and mock professionalism to parody real reform proposals.</a:t>
            </a:r>
          </a:p>
          <a:p>
            <a:pPr marL="512087" lvl="2" indent="-170696" algn="l">
              <a:lnSpc>
                <a:spcPts val="3135"/>
              </a:lnSpc>
            </a:pPr>
            <a:endParaRPr lang="en-US" sz="224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336595" y="971550"/>
            <a:ext cx="6530340" cy="38100"/>
            <a:chOff x="0" y="0"/>
            <a:chExt cx="8707120" cy="50800"/>
          </a:xfrm>
        </p:grpSpPr>
        <p:sp>
          <p:nvSpPr>
            <p:cNvPr id="5" name="Freeform 5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5602146" y="9105900"/>
            <a:ext cx="1657154" cy="755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98"/>
              </a:lnSpc>
            </a:pPr>
            <a:r>
              <a:rPr lang="en-US" sz="3999">
                <a:solidFill>
                  <a:srgbClr val="6D5038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5412" y="356343"/>
            <a:ext cx="1229376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 b="1" spc="194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LITERARY ELEMENTS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7088" y="2509145"/>
            <a:ext cx="17313823" cy="706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224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Narrative Voice / Point of View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Told in the first person through an invented persona…a “rational economist.”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narrator is unreliable, because he speaks logically but without any humanity.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Swift uses this false voice to satirize those who reduce people to numbers and profits.</a:t>
            </a:r>
          </a:p>
          <a:p>
            <a:pPr marL="512087" lvl="2" indent="-170696" algn="l">
              <a:lnSpc>
                <a:spcPts val="3135"/>
              </a:lnSpc>
            </a:pPr>
            <a:endParaRPr lang="en-US" sz="224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12087" lvl="2" indent="-170696" algn="l">
              <a:lnSpc>
                <a:spcPts val="3135"/>
              </a:lnSpc>
            </a:pPr>
            <a:r>
              <a:rPr lang="en-US" sz="224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Setting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Ireland in the early 18th century (around 1729).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period marked by poverty, famine, unemployment, and British domination.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setting underscores the real social and political crisis behind the satire.</a:t>
            </a:r>
          </a:p>
          <a:p>
            <a:pPr marL="512087" lvl="2" indent="-170696" algn="l">
              <a:lnSpc>
                <a:spcPts val="3135"/>
              </a:lnSpc>
            </a:pPr>
            <a:endParaRPr lang="en-US" sz="224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12087" lvl="2" indent="-170696" algn="l">
              <a:lnSpc>
                <a:spcPts val="3135"/>
              </a:lnSpc>
            </a:pPr>
            <a:r>
              <a:rPr lang="en-US" sz="224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Plot / Structure</a:t>
            </a:r>
          </a:p>
          <a:p>
            <a:pPr marL="512087" lvl="2" indent="-170696" algn="l">
              <a:lnSpc>
                <a:spcPts val="3135"/>
              </a:lnSpc>
              <a:buFont typeface="Arial"/>
              <a:buChar char="⚬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essay follows a logical argumentative structure:</a:t>
            </a:r>
          </a:p>
          <a:p>
            <a:pPr marL="915139" lvl="3" indent="-228785" algn="l">
              <a:lnSpc>
                <a:spcPts val="3135"/>
              </a:lnSpc>
              <a:buFont typeface="Arial"/>
              <a:buChar char="￭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(a) Describes the problem of poverty in Ireland.</a:t>
            </a:r>
          </a:p>
          <a:p>
            <a:pPr marL="915139" lvl="3" indent="-228785" algn="l">
              <a:lnSpc>
                <a:spcPts val="3135"/>
              </a:lnSpc>
              <a:buFont typeface="Arial"/>
              <a:buChar char="￭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(b) Proposes an outrageous “</a:t>
            </a:r>
            <a:r>
              <a:rPr lang="en-US" sz="2240" dirty="0" err="1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solution”:eating</a:t>
            </a: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children.</a:t>
            </a:r>
          </a:p>
          <a:p>
            <a:pPr marL="915139" lvl="3" indent="-228785" algn="l">
              <a:lnSpc>
                <a:spcPts val="3135"/>
              </a:lnSpc>
              <a:buFont typeface="Arial"/>
              <a:buChar char="￭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(c) Justifies it with economic reasoning.</a:t>
            </a:r>
          </a:p>
          <a:p>
            <a:pPr marL="915139" lvl="3" indent="-228785" algn="l">
              <a:lnSpc>
                <a:spcPts val="3135"/>
              </a:lnSpc>
              <a:buFont typeface="Arial"/>
              <a:buChar char="￭"/>
            </a:pPr>
            <a:r>
              <a:rPr lang="en-US" sz="224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(d) Ends with fake humility and moral disclaimers.</a:t>
            </a:r>
          </a:p>
          <a:p>
            <a:pPr marL="915139" lvl="3" indent="-228785" algn="l">
              <a:lnSpc>
                <a:spcPts val="3135"/>
              </a:lnSpc>
            </a:pPr>
            <a:endParaRPr lang="en-US" sz="224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915139" lvl="3" indent="-228785" algn="l">
              <a:lnSpc>
                <a:spcPts val="3135"/>
              </a:lnSpc>
            </a:pPr>
            <a:endParaRPr lang="en-US" sz="224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336595" y="971550"/>
            <a:ext cx="6530340" cy="38100"/>
            <a:chOff x="0" y="0"/>
            <a:chExt cx="8707120" cy="50800"/>
          </a:xfrm>
        </p:grpSpPr>
        <p:sp>
          <p:nvSpPr>
            <p:cNvPr id="5" name="Freeform 5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5602146" y="9105900"/>
            <a:ext cx="1657154" cy="755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98"/>
              </a:lnSpc>
            </a:pPr>
            <a:r>
              <a:rPr lang="en-US" sz="3999">
                <a:solidFill>
                  <a:srgbClr val="6D5038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1275"/>
            <a:ext cx="1229376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 b="1" spc="194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LITERARY ELEMENTS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0827" y="1210418"/>
            <a:ext cx="17313823" cy="970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Imagery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Uses vivid and grotesque images of cooking and eating children.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shocking sensory detail forces readers to feel disgust and moral alarm.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This imagery is meant to wake readers up to the real horror of poverty and exploitation.</a:t>
            </a:r>
          </a:p>
          <a:p>
            <a:pPr marL="617220" lvl="2" indent="-205740" algn="l">
              <a:lnSpc>
                <a:spcPts val="3779"/>
              </a:lnSpc>
            </a:pPr>
            <a:endParaRPr lang="en-US" sz="27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617220" lvl="2" indent="-205740" algn="l">
              <a:lnSpc>
                <a:spcPts val="3779"/>
              </a:lnSpc>
            </a:pPr>
            <a:r>
              <a:rPr lang="en-US" sz="27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Irony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central technique of the essay.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Swift never says outright that he’s joking! The entire “proposal” is ironic.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lang="en-US" sz="2700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serious tone and logical reasoning </a:t>
            </a: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make the absurdity even more powerful.</a:t>
            </a:r>
          </a:p>
          <a:p>
            <a:pPr marL="617220" lvl="2" indent="-205740" algn="l">
              <a:lnSpc>
                <a:spcPts val="3779"/>
              </a:lnSpc>
            </a:pPr>
            <a:endParaRPr lang="en-US" sz="27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617220" lvl="2" indent="-205740" algn="l">
              <a:lnSpc>
                <a:spcPts val="3779"/>
              </a:lnSpc>
            </a:pPr>
            <a:r>
              <a:rPr lang="en-US" sz="27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Symbolism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idea of “children as food” symbolizes how the poor are consumed by the rich…economically, socially, and politically.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It also symbolizes the loss of humanity under systems driven purely by profit.</a:t>
            </a:r>
          </a:p>
          <a:p>
            <a:pPr marL="617220" lvl="2" indent="-205740" algn="l">
              <a:lnSpc>
                <a:spcPts val="3779"/>
              </a:lnSpc>
            </a:pPr>
            <a:endParaRPr lang="en-US" sz="27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617220" lvl="2" indent="-205740" algn="l">
              <a:lnSpc>
                <a:spcPts val="3779"/>
              </a:lnSpc>
            </a:pPr>
            <a:r>
              <a:rPr lang="en-US" sz="27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Mood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mood begins as calm and rational but quickly turns to shock, horror, and moral disgust.</a:t>
            </a:r>
          </a:p>
          <a:p>
            <a:pPr marL="617220" lvl="2" indent="-205740" algn="l">
              <a:lnSpc>
                <a:spcPts val="3779"/>
              </a:lnSpc>
              <a:buFont typeface="Arial"/>
              <a:buChar char="⚬"/>
            </a:pPr>
            <a:r>
              <a:rPr lang="en-US" sz="27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Swift manipulates the reader’s emotions to move them from amusement to outrage.</a:t>
            </a:r>
          </a:p>
          <a:p>
            <a:pPr marL="617220" lvl="2" indent="-205740" algn="l">
              <a:lnSpc>
                <a:spcPts val="3779"/>
              </a:lnSpc>
            </a:pPr>
            <a:endParaRPr lang="en-US" sz="27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617220" lvl="2" indent="-205740" algn="l">
              <a:lnSpc>
                <a:spcPts val="3779"/>
              </a:lnSpc>
            </a:pPr>
            <a:endParaRPr lang="en-US" sz="2700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336595" y="971550"/>
            <a:ext cx="6530340" cy="38100"/>
            <a:chOff x="0" y="0"/>
            <a:chExt cx="8707120" cy="50800"/>
          </a:xfrm>
        </p:grpSpPr>
        <p:sp>
          <p:nvSpPr>
            <p:cNvPr id="5" name="Freeform 5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41275"/>
            <a:ext cx="12293760" cy="96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999" b="1" spc="194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LITERARY ELEMENTS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1110" y="1605601"/>
            <a:ext cx="17313823" cy="8929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35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Irony: </a:t>
            </a:r>
          </a:p>
          <a:p>
            <a:pPr algn="l">
              <a:lnSpc>
                <a:spcPts val="5036"/>
              </a:lnSpc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When there’s a difference between </a:t>
            </a:r>
            <a:r>
              <a:rPr lang="en-US" sz="35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what appears to be true </a:t>
            </a: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lang="en-US" sz="35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what is actually true,</a:t>
            </a: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or between </a:t>
            </a:r>
            <a:r>
              <a:rPr lang="en-US" sz="35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what someone</a:t>
            </a: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35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says</a:t>
            </a: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and </a:t>
            </a:r>
            <a:r>
              <a:rPr lang="en-US" sz="35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what they really mean.</a:t>
            </a:r>
          </a:p>
          <a:p>
            <a:pPr algn="l">
              <a:lnSpc>
                <a:spcPts val="5036"/>
              </a:lnSpc>
            </a:pPr>
            <a:endParaRPr lang="en-US" sz="3599" b="1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marL="822498" lvl="1" indent="-411249" algn="l">
              <a:lnSpc>
                <a:spcPts val="5036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Verbal irony: </a:t>
            </a: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when someone says the opposite of what they really mean.</a:t>
            </a:r>
          </a:p>
          <a:p>
            <a:pPr algn="l">
              <a:lnSpc>
                <a:spcPts val="5036"/>
              </a:lnSpc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Example: Saying “Great weather!” during a storm.</a:t>
            </a:r>
          </a:p>
          <a:p>
            <a:pPr algn="l">
              <a:lnSpc>
                <a:spcPts val="5036"/>
              </a:lnSpc>
            </a:pPr>
            <a:endParaRPr lang="en-US" sz="35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822498" lvl="1" indent="-411249" algn="l">
              <a:lnSpc>
                <a:spcPts val="5036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Situational irony:</a:t>
            </a: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when the opposite of what is expected happens.</a:t>
            </a:r>
          </a:p>
          <a:p>
            <a:pPr algn="l">
              <a:lnSpc>
                <a:spcPts val="5036"/>
              </a:lnSpc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Example: A fire station burns down.</a:t>
            </a:r>
          </a:p>
          <a:p>
            <a:pPr algn="l">
              <a:lnSpc>
                <a:spcPts val="5036"/>
              </a:lnSpc>
            </a:pPr>
            <a:endParaRPr lang="en-US" sz="35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822498" lvl="1" indent="-411249" algn="l">
              <a:lnSpc>
                <a:spcPts val="5036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Dramatic irony:</a:t>
            </a: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when the audience knows something the characters do not.</a:t>
            </a:r>
          </a:p>
          <a:p>
            <a:pPr algn="l">
              <a:lnSpc>
                <a:spcPts val="5036"/>
              </a:lnSpc>
            </a:pPr>
            <a:r>
              <a:rPr lang="en-US" sz="35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Example: In a play, we know the villain is hiding under the bed, but the hero doesn’t.</a:t>
            </a:r>
          </a:p>
          <a:p>
            <a:pPr marL="822955" lvl="2" indent="-274318" algn="l">
              <a:lnSpc>
                <a:spcPts val="5038"/>
              </a:lnSpc>
            </a:pPr>
            <a:endParaRPr lang="en-US" sz="35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336595" y="971550"/>
            <a:ext cx="6530340" cy="38100"/>
            <a:chOff x="0" y="0"/>
            <a:chExt cx="8707120" cy="50800"/>
          </a:xfrm>
        </p:grpSpPr>
        <p:sp>
          <p:nvSpPr>
            <p:cNvPr id="5" name="Freeform 5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46170" y="9239250"/>
            <a:ext cx="6530340" cy="38100"/>
            <a:chOff x="0" y="0"/>
            <a:chExt cx="8707120" cy="50800"/>
          </a:xfrm>
        </p:grpSpPr>
        <p:sp>
          <p:nvSpPr>
            <p:cNvPr id="3" name="Freeform 3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336595" y="971550"/>
            <a:ext cx="6530340" cy="38100"/>
            <a:chOff x="0" y="0"/>
            <a:chExt cx="8707120" cy="50800"/>
          </a:xfrm>
        </p:grpSpPr>
        <p:sp>
          <p:nvSpPr>
            <p:cNvPr id="5" name="Freeform 5"/>
            <p:cNvSpPr/>
            <p:nvPr/>
          </p:nvSpPr>
          <p:spPr>
            <a:xfrm>
              <a:off x="25400" y="0"/>
              <a:ext cx="8656320" cy="50800"/>
            </a:xfrm>
            <a:custGeom>
              <a:avLst/>
              <a:gdLst/>
              <a:ahLst/>
              <a:cxnLst/>
              <a:rect l="l" t="t" r="r" b="b"/>
              <a:pathLst>
                <a:path w="8656320" h="50800">
                  <a:moveTo>
                    <a:pt x="0" y="0"/>
                  </a:moveTo>
                  <a:lnTo>
                    <a:pt x="8656320" y="0"/>
                  </a:lnTo>
                  <a:lnTo>
                    <a:pt x="86563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028700" y="1028700"/>
            <a:ext cx="1095050" cy="181181"/>
          </a:xfrm>
          <a:custGeom>
            <a:avLst/>
            <a:gdLst/>
            <a:ahLst/>
            <a:cxnLst/>
            <a:rect l="l" t="t" r="r" b="b"/>
            <a:pathLst>
              <a:path w="1095050" h="181181">
                <a:moveTo>
                  <a:pt x="0" y="0"/>
                </a:moveTo>
                <a:lnTo>
                  <a:pt x="1095050" y="0"/>
                </a:lnTo>
                <a:lnTo>
                  <a:pt x="1095050" y="181181"/>
                </a:lnTo>
                <a:lnTo>
                  <a:pt x="0" y="181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556" b="-255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602146" y="9105900"/>
            <a:ext cx="1657154" cy="755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98"/>
              </a:lnSpc>
            </a:pPr>
            <a:r>
              <a:rPr lang="en-US" sz="3999">
                <a:solidFill>
                  <a:srgbClr val="6D5038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4337" y="1749009"/>
            <a:ext cx="17755645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384" lvl="1" indent="-431692" algn="l">
              <a:lnSpc>
                <a:spcPts val="5598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6D5038"/>
                </a:solidFill>
                <a:latin typeface="Raleway"/>
                <a:ea typeface="Raleway"/>
                <a:cs typeface="Raleway"/>
                <a:sym typeface="Raleway"/>
              </a:rPr>
              <a:t>Swift suggests that out of 120,000 poor children, 20,000 be kept for breeding (mostly females, with one male for every four females).</a:t>
            </a: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9">
              <a:solidFill>
                <a:srgbClr val="6D5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863384" lvl="1" indent="-431692" algn="l">
              <a:lnSpc>
                <a:spcPts val="5598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6D5038"/>
                </a:solidFill>
                <a:latin typeface="Raleway"/>
                <a:ea typeface="Raleway"/>
                <a:cs typeface="Raleway"/>
                <a:sym typeface="Raleway"/>
              </a:rPr>
              <a:t>The remaining 100,000 children could be sold as food to rich people, with instructions to fatten them up for cooking.</a:t>
            </a: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9">
              <a:solidFill>
                <a:srgbClr val="6D503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863384" lvl="1" indent="-431692" algn="l">
              <a:lnSpc>
                <a:spcPts val="5598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6D5038"/>
                </a:solidFill>
                <a:latin typeface="Raleway"/>
                <a:ea typeface="Raleway"/>
                <a:cs typeface="Raleway"/>
                <a:sym typeface="Raleway"/>
              </a:rPr>
              <a:t>He even describes how they could be served as meals—two dishes for a big meal, or one-quarter of a child for a smaller family dinner.</a:t>
            </a:r>
          </a:p>
          <a:p>
            <a:pPr algn="l">
              <a:lnSpc>
                <a:spcPts val="5598"/>
              </a:lnSpc>
              <a:spcBef>
                <a:spcPct val="0"/>
              </a:spcBef>
            </a:pPr>
            <a:endParaRPr lang="en-US" sz="3999">
              <a:solidFill>
                <a:srgbClr val="6D503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924</Words>
  <Application>Microsoft Office PowerPoint</Application>
  <PresentationFormat>Custom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Raleway</vt:lpstr>
      <vt:lpstr>Cinzel Bold</vt:lpstr>
      <vt:lpstr>Calibri</vt:lpstr>
      <vt:lpstr>Raleway Bold</vt:lpstr>
      <vt:lpstr>Cinzel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OF CONTENTS</dc:title>
  <cp:lastModifiedBy>Surface</cp:lastModifiedBy>
  <cp:revision>3</cp:revision>
  <dcterms:created xsi:type="dcterms:W3CDTF">2006-08-16T00:00:00Z</dcterms:created>
  <dcterms:modified xsi:type="dcterms:W3CDTF">2025-10-10T19:25:02Z</dcterms:modified>
  <dc:identifier>DAG1aTepvuk</dc:identifier>
</cp:coreProperties>
</file>